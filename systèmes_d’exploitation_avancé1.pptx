
<file path=[Content_Types].xml><?xml version="1.0" encoding="utf-8"?>
<Types xmlns="http://schemas.openxmlformats.org/package/2006/content-types">
  <Default Extension="fntdata" ContentType="application/x-fontdata"/>
  <Default Extension="gif" ContentType="image/gi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14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68" r:id="rId35"/>
    <p:sldId id="269"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2" r:id="rId81"/>
    <p:sldId id="333" r:id="rId82"/>
    <p:sldId id="334" r:id="rId83"/>
    <p:sldId id="335" r:id="rId84"/>
    <p:sldId id="336" r:id="rId85"/>
    <p:sldId id="337" r:id="rId86"/>
    <p:sldId id="338" r:id="rId87"/>
    <p:sldId id="339" r:id="rId88"/>
    <p:sldId id="340" r:id="rId89"/>
    <p:sldId id="341" r:id="rId90"/>
    <p:sldId id="342" r:id="rId91"/>
    <p:sldId id="343" r:id="rId92"/>
    <p:sldId id="344" r:id="rId93"/>
    <p:sldId id="345" r:id="rId94"/>
    <p:sldId id="346" r:id="rId95"/>
    <p:sldId id="347" r:id="rId96"/>
    <p:sldId id="348" r:id="rId97"/>
    <p:sldId id="349" r:id="rId98"/>
    <p:sldId id="350" r:id="rId99"/>
    <p:sldId id="351" r:id="rId100"/>
    <p:sldId id="352" r:id="rId101"/>
    <p:sldId id="353" r:id="rId102"/>
    <p:sldId id="354" r:id="rId103"/>
    <p:sldId id="355" r:id="rId104"/>
    <p:sldId id="356" r:id="rId105"/>
    <p:sldId id="357" r:id="rId106"/>
    <p:sldId id="358" r:id="rId107"/>
    <p:sldId id="359" r:id="rId108"/>
    <p:sldId id="360" r:id="rId109"/>
    <p:sldId id="361" r:id="rId110"/>
    <p:sldId id="362" r:id="rId111"/>
    <p:sldId id="363" r:id="rId112"/>
    <p:sldId id="364" r:id="rId113"/>
    <p:sldId id="365" r:id="rId114"/>
    <p:sldId id="366" r:id="rId115"/>
    <p:sldId id="367" r:id="rId116"/>
    <p:sldId id="368" r:id="rId117"/>
    <p:sldId id="369" r:id="rId118"/>
    <p:sldId id="370" r:id="rId119"/>
    <p:sldId id="371" r:id="rId120"/>
    <p:sldId id="372" r:id="rId121"/>
    <p:sldId id="373" r:id="rId122"/>
    <p:sldId id="374" r:id="rId123"/>
    <p:sldId id="375" r:id="rId124"/>
    <p:sldId id="376" r:id="rId125"/>
    <p:sldId id="377" r:id="rId126"/>
    <p:sldId id="378" r:id="rId127"/>
    <p:sldId id="379" r:id="rId128"/>
    <p:sldId id="380" r:id="rId129"/>
    <p:sldId id="381" r:id="rId130"/>
    <p:sldId id="382" r:id="rId131"/>
    <p:sldId id="383" r:id="rId132"/>
    <p:sldId id="384" r:id="rId133"/>
    <p:sldId id="385" r:id="rId134"/>
    <p:sldId id="386" r:id="rId135"/>
    <p:sldId id="387" r:id="rId136"/>
    <p:sldId id="388" r:id="rId137"/>
    <p:sldId id="389" r:id="rId138"/>
    <p:sldId id="390" r:id="rId139"/>
    <p:sldId id="391" r:id="rId140"/>
    <p:sldId id="392" r:id="rId141"/>
    <p:sldId id="393" r:id="rId142"/>
    <p:sldId id="394" r:id="rId143"/>
  </p:sldIdLst>
  <p:sldSz cx="9144000" cy="6858000" type="screen4x3"/>
  <p:notesSz cx="6858000" cy="9144000"/>
  <p:embeddedFontLst>
    <p:embeddedFont>
      <p:font typeface="Century Schoolbook" panose="02040604050505020304" pitchFamily="18" charset="0"/>
      <p:regular r:id="rId145"/>
      <p:bold r:id="rId146"/>
      <p:italic r:id="rId147"/>
      <p:boldItalic r:id="rId148"/>
    </p:embeddedFont>
    <p:embeddedFont>
      <p:font typeface="Consolas" panose="020B0609020204030204" pitchFamily="49" charset="0"/>
      <p:regular r:id="rId149"/>
      <p:bold r:id="rId150"/>
      <p:italic r:id="rId151"/>
      <p:boldItalic r:id="rId152"/>
    </p:embeddedFont>
    <p:embeddedFont>
      <p:font typeface="Georgia" panose="02040502050405020303" pitchFamily="18" charset="0"/>
      <p:regular r:id="rId153"/>
      <p:bold r:id="rId154"/>
      <p:italic r:id="rId155"/>
      <p:boldItalic r:id="rId156"/>
    </p:embeddedFont>
    <p:embeddedFont>
      <p:font typeface="Helvetica Neue" panose="020B0604020202020204" charset="0"/>
      <p:regular r:id="rId157"/>
      <p:bold r:id="rId158"/>
      <p:italic r:id="rId159"/>
      <p:boldItalic r:id="rId160"/>
    </p:embeddedFont>
    <p:embeddedFont>
      <p:font typeface="Lucida Sans" panose="020B0602030504020204" pitchFamily="34" charset="0"/>
      <p:regular r:id="rId161"/>
      <p:bold r:id="rId162"/>
      <p:italic r:id="rId163"/>
      <p:boldItalic r:id="rId16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81A1B49-048D-4330-AD5E-DB0CBA02467A}" v="7" dt="2023-09-17T17:26:53.005"/>
  </p1510:revLst>
</p1510:revInfo>
</file>

<file path=ppt/tableStyles.xml><?xml version="1.0" encoding="utf-8"?>
<a:tblStyleLst xmlns:a="http://schemas.openxmlformats.org/drawingml/2006/main" def="{C209C280-4A58-4425-98AC-BF336C2BF827}">
  <a:tblStyle styleId="{C209C280-4A58-4425-98AC-BF336C2BF827}" styleName="Table_0">
    <a:wholeTbl>
      <a:tcTxStyle b="off" i="off">
        <a:font>
          <a:latin typeface="Calibri"/>
          <a:ea typeface="Calibri"/>
          <a:cs typeface="Calibri"/>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font" Target="fonts/font15.fntdata"/><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font" Target="fonts/font5.fntdata"/><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font" Target="fonts/font16.fntdata"/><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font" Target="fonts/font6.fntdata"/><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font" Target="fonts/font1.fntdata"/><Relationship Id="rId161" Type="http://schemas.openxmlformats.org/officeDocument/2006/relationships/font" Target="fonts/font17.fntdata"/><Relationship Id="rId16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font" Target="fonts/font7.fntdata"/><Relationship Id="rId156" Type="http://schemas.openxmlformats.org/officeDocument/2006/relationships/font" Target="fonts/font12.fntdata"/><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font" Target="fonts/font2.fntdata"/><Relationship Id="rId167" Type="http://schemas.openxmlformats.org/officeDocument/2006/relationships/theme" Target="theme/theme1.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font" Target="fonts/font18.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font" Target="fonts/font13.fntdata"/><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font" Target="fonts/font8.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font" Target="fonts/font3.fntdata"/><Relationship Id="rId168" Type="http://schemas.openxmlformats.org/officeDocument/2006/relationships/tableStyles" Target="tableStyle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font" Target="fonts/font19.fntdata"/><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font" Target="fonts/font14.fntdata"/><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font" Target="fonts/font9.fntdata"/><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font" Target="fonts/font4.fntdata"/><Relationship Id="rId164" Type="http://schemas.openxmlformats.org/officeDocument/2006/relationships/font" Target="fonts/font20.fntdata"/><Relationship Id="rId169"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font" Target="fonts/font10.fntdata"/><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notesMaster" Target="notesMasters/notesMaster1.xml"/><Relationship Id="rId90" Type="http://schemas.openxmlformats.org/officeDocument/2006/relationships/slide" Target="slides/slide86.xml"/><Relationship Id="rId165" Type="http://schemas.openxmlformats.org/officeDocument/2006/relationships/presProps" Target="presProps.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font" Target="fonts/font11.fntdata"/><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fr-FR" sz="1200" b="0" i="0" u="none" strike="noStrike" cap="none">
                <a:solidFill>
                  <a:schemeClr val="dk1"/>
                </a:solidFill>
                <a:latin typeface="Calibri"/>
                <a:ea typeface="Calibri"/>
                <a:cs typeface="Calibri"/>
                <a:sym typeface="Calibri"/>
              </a:rPr>
              <a:t>‹N°›</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fr-FR"/>
              <a:t>  </a:t>
            </a:r>
            <a:endParaRPr/>
          </a:p>
        </p:txBody>
      </p:sp>
      <p:sp>
        <p:nvSpPr>
          <p:cNvPr id="87" name="Google Shape;8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2:notes"/>
          <p:cNvSpPr>
            <a:spLocks noGrp="1" noRot="1" noChangeAspect="1"/>
          </p:cNvSpPr>
          <p:nvPr>
            <p:ph type="sldImg" idx="2"/>
          </p:nvPr>
        </p:nvSpPr>
        <p:spPr>
          <a:xfrm>
            <a:off x="14478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 name="Google Shape;9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a:p>
            <a:pPr marL="0" lvl="0" indent="0" algn="l" rtl="0">
              <a:lnSpc>
                <a:spcPct val="100000"/>
              </a:lnSpc>
              <a:spcBef>
                <a:spcPts val="0"/>
              </a:spcBef>
              <a:spcAft>
                <a:spcPts val="0"/>
              </a:spcAft>
              <a:buSzPts val="1400"/>
              <a:buNone/>
            </a:pPr>
            <a:endParaRPr/>
          </a:p>
        </p:txBody>
      </p:sp>
      <p:sp>
        <p:nvSpPr>
          <p:cNvPr id="96" name="Google Shape;9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 name="Google Shape;104;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a:p>
            <a:pPr marL="0" lvl="0" indent="0" algn="l" rtl="0">
              <a:lnSpc>
                <a:spcPct val="100000"/>
              </a:lnSpc>
              <a:spcBef>
                <a:spcPts val="0"/>
              </a:spcBef>
              <a:spcAft>
                <a:spcPts val="0"/>
              </a:spcAft>
              <a:buSzPts val="1400"/>
              <a:buNone/>
            </a:pPr>
            <a:endParaRPr/>
          </a:p>
        </p:txBody>
      </p:sp>
      <p:sp>
        <p:nvSpPr>
          <p:cNvPr id="105" name="Google Shape;105;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3</a:t>
            </a:fld>
            <a:endParaRPr>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7" name="Google Shape;11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p:txBody>
      </p:sp>
      <p:sp>
        <p:nvSpPr>
          <p:cNvPr id="118" name="Google Shape;11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0" name="Google Shape;130;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fr-FR"/>
              <a:t>.</a:t>
            </a:r>
            <a:endParaRPr/>
          </a:p>
        </p:txBody>
      </p:sp>
      <p:sp>
        <p:nvSpPr>
          <p:cNvPr id="131" name="Google Shape;131;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7" name="Google Shape;14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6" name="Google Shape;16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a:t>
            </a:r>
            <a:endParaRPr/>
          </a:p>
        </p:txBody>
      </p:sp>
      <p:sp>
        <p:nvSpPr>
          <p:cNvPr id="167" name="Google Shape;167;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4" name="Google Shape;17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175" name="Google Shape;17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1" name="Google Shape;191;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192" name="Google Shape;192;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1" name="Google Shape;201;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202" name="Google Shape;202;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1" name="Google Shape;211;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212" name="Google Shape;212;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222" name="Google Shape;222;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8" name="Google Shape;258;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2" name="Google Shape;292;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12700" marR="5080" lvl="0" indent="0" algn="l" rtl="0">
              <a:lnSpc>
                <a:spcPct val="101899"/>
              </a:lnSpc>
              <a:spcBef>
                <a:spcPts val="0"/>
              </a:spcBef>
              <a:spcAft>
                <a:spcPts val="0"/>
              </a:spcAft>
              <a:buSzPts val="1400"/>
              <a:buNone/>
            </a:pPr>
            <a:endParaRPr sz="1200">
              <a:latin typeface="Arial"/>
              <a:ea typeface="Arial"/>
              <a:cs typeface="Arial"/>
              <a:sym typeface="Arial"/>
            </a:endParaRPr>
          </a:p>
        </p:txBody>
      </p:sp>
      <p:sp>
        <p:nvSpPr>
          <p:cNvPr id="293" name="Google Shape;29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4" name="Google Shape;324;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9" name="Google Shape;369;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1"/>
        <p:cNvGrpSpPr/>
        <p:nvPr/>
      </p:nvGrpSpPr>
      <p:grpSpPr>
        <a:xfrm>
          <a:off x="0" y="0"/>
          <a:ext cx="0" cy="0"/>
          <a:chOff x="0" y="0"/>
          <a:chExt cx="0" cy="0"/>
        </a:xfrm>
      </p:grpSpPr>
      <p:sp>
        <p:nvSpPr>
          <p:cNvPr id="662" name="Google Shape;662;p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3" name="Google Shape;663;p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p:cNvGrpSpPr/>
        <p:nvPr/>
      </p:nvGrpSpPr>
      <p:grpSpPr>
        <a:xfrm>
          <a:off x="0" y="0"/>
          <a:ext cx="0" cy="0"/>
          <a:chOff x="0" y="0"/>
          <a:chExt cx="0" cy="0"/>
        </a:xfrm>
      </p:grpSpPr>
      <p:sp>
        <p:nvSpPr>
          <p:cNvPr id="669" name="Google Shape;669;p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0" name="Google Shape;670;p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1" name="Google Shape;671;p2: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p3:notes"/>
          <p:cNvSpPr txBox="1">
            <a:spLocks noGrp="1"/>
          </p:cNvSpPr>
          <p:nvPr>
            <p:ph type="sldNum" idx="12"/>
          </p:nvPr>
        </p:nvSpPr>
        <p:spPr>
          <a:xfrm>
            <a:off x="5180013" y="6513513"/>
            <a:ext cx="3962400" cy="3444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21</a:t>
            </a:fld>
            <a:endParaRPr>
              <a:solidFill>
                <a:srgbClr val="000000"/>
              </a:solidFill>
            </a:endParaRPr>
          </a:p>
        </p:txBody>
      </p:sp>
      <p:sp>
        <p:nvSpPr>
          <p:cNvPr id="678" name="Google Shape;678;p3:notes"/>
          <p:cNvSpPr>
            <a:spLocks noGrp="1" noRot="1" noChangeAspect="1"/>
          </p:cNvSpPr>
          <p:nvPr>
            <p:ph type="sldImg" idx="2"/>
          </p:nvPr>
        </p:nvSpPr>
        <p:spPr>
          <a:xfrm>
            <a:off x="1370013" y="763588"/>
            <a:ext cx="5030787"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79" name="Google Shape;679;p3: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fr-FR"/>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5"/>
        <p:cNvGrpSpPr/>
        <p:nvPr/>
      </p:nvGrpSpPr>
      <p:grpSpPr>
        <a:xfrm>
          <a:off x="0" y="0"/>
          <a:ext cx="0" cy="0"/>
          <a:chOff x="0" y="0"/>
          <a:chExt cx="0" cy="0"/>
        </a:xfrm>
      </p:grpSpPr>
      <p:sp>
        <p:nvSpPr>
          <p:cNvPr id="686" name="Google Shape;686;p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22</a:t>
            </a:fld>
            <a:endParaRPr>
              <a:solidFill>
                <a:srgbClr val="000000"/>
              </a:solidFill>
            </a:endParaRPr>
          </a:p>
        </p:txBody>
      </p:sp>
      <p:sp>
        <p:nvSpPr>
          <p:cNvPr id="687" name="Google Shape;687;p4:notes"/>
          <p:cNvSpPr>
            <a:spLocks noGrp="1" noRot="1" noChangeAspect="1"/>
          </p:cNvSpPr>
          <p:nvPr>
            <p:ph type="sldImg" idx="2"/>
          </p:nvPr>
        </p:nvSpPr>
        <p:spPr>
          <a:xfrm>
            <a:off x="1370013" y="763588"/>
            <a:ext cx="5030787"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688" name="Google Shape;688;p4:notes"/>
          <p:cNvSpPr txBox="1">
            <a:spLocks noGrp="1"/>
          </p:cNvSpPr>
          <p:nvPr>
            <p:ph type="body" idx="1"/>
          </p:nvPr>
        </p:nvSpPr>
        <p:spPr>
          <a:xfrm>
            <a:off x="777875" y="4776788"/>
            <a:ext cx="6218238" cy="4525962"/>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p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7" name="Google Shape;697;p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p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6" name="Google Shape;736;p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7" name="Google Shape;737;p6: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24</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p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p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fr-FR"/>
              <a:t> </a:t>
            </a:r>
            <a:endParaRPr/>
          </a:p>
        </p:txBody>
      </p:sp>
      <p:sp>
        <p:nvSpPr>
          <p:cNvPr id="748" name="Google Shape;748;p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25</a:t>
            </a:fld>
            <a:endParaRPr>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p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p8: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26</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p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p9: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27</a:t>
            </a:fld>
            <a:endParaRPr>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3"/>
        <p:cNvGrpSpPr/>
        <p:nvPr/>
      </p:nvGrpSpPr>
      <p:grpSpPr>
        <a:xfrm>
          <a:off x="0" y="0"/>
          <a:ext cx="0" cy="0"/>
          <a:chOff x="0" y="0"/>
          <a:chExt cx="0" cy="0"/>
        </a:xfrm>
      </p:grpSpPr>
      <p:sp>
        <p:nvSpPr>
          <p:cNvPr id="794" name="Google Shape;794;p1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5" name="Google Shape;795;p1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6" name="Google Shape;796;p1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28</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p1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3" name="Google Shape;823;p1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7"/>
        <p:cNvGrpSpPr/>
        <p:nvPr/>
      </p:nvGrpSpPr>
      <p:grpSpPr>
        <a:xfrm>
          <a:off x="0" y="0"/>
          <a:ext cx="0" cy="0"/>
          <a:chOff x="0" y="0"/>
          <a:chExt cx="0" cy="0"/>
        </a:xfrm>
      </p:grpSpPr>
      <p:sp>
        <p:nvSpPr>
          <p:cNvPr id="848" name="Google Shape;848;p1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9" name="Google Shape;849;p1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7"/>
        <p:cNvGrpSpPr/>
        <p:nvPr/>
      </p:nvGrpSpPr>
      <p:grpSpPr>
        <a:xfrm>
          <a:off x="0" y="0"/>
          <a:ext cx="0" cy="0"/>
          <a:chOff x="0" y="0"/>
          <a:chExt cx="0" cy="0"/>
        </a:xfrm>
      </p:grpSpPr>
      <p:sp>
        <p:nvSpPr>
          <p:cNvPr id="878" name="Google Shape;878;p1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9" name="Google Shape;879;p1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7"/>
        <p:cNvGrpSpPr/>
        <p:nvPr/>
      </p:nvGrpSpPr>
      <p:grpSpPr>
        <a:xfrm>
          <a:off x="0" y="0"/>
          <a:ext cx="0" cy="0"/>
          <a:chOff x="0" y="0"/>
          <a:chExt cx="0" cy="0"/>
        </a:xfrm>
      </p:grpSpPr>
      <p:sp>
        <p:nvSpPr>
          <p:cNvPr id="908" name="Google Shape;908;p1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9" name="Google Shape;909;p1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0" name="Google Shape;910;p1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32</a:t>
            </a:fld>
            <a:endParaRPr>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p1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9" name="Google Shape;919;p1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0" name="Google Shape;920;p1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33</a:t>
            </a:fld>
            <a:endParaRPr>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p1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9" name="Google Shape;939;p1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1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1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Le système d'ordonnancement gère une file des processus (bloc de contrôle) prêts et une file des</a:t>
            </a:r>
            <a:endParaRPr/>
          </a:p>
          <a:p>
            <a:pPr marL="0" lvl="0" indent="0" algn="l" rtl="0">
              <a:lnSpc>
                <a:spcPct val="100000"/>
              </a:lnSpc>
              <a:spcBef>
                <a:spcPts val="0"/>
              </a:spcBef>
              <a:spcAft>
                <a:spcPts val="0"/>
              </a:spcAft>
              <a:buSzPts val="1400"/>
              <a:buNone/>
            </a:pPr>
            <a:r>
              <a:rPr lang="fr-FR"/>
              <a:t>processus bloqués. La file des processus prêts est classée selon une politique d'ordonnancement qui</a:t>
            </a:r>
            <a:endParaRPr/>
          </a:p>
          <a:p>
            <a:pPr marL="0" lvl="0" indent="0" algn="l" rtl="0">
              <a:lnSpc>
                <a:spcPct val="100000"/>
              </a:lnSpc>
              <a:spcBef>
                <a:spcPts val="0"/>
              </a:spcBef>
              <a:spcAft>
                <a:spcPts val="0"/>
              </a:spcAft>
              <a:buSzPts val="1400"/>
              <a:buNone/>
            </a:pPr>
            <a:r>
              <a:rPr lang="fr-FR"/>
              <a:t>assure que le processus en tête de file est le prochain processus à élire au regard de la politique mise en</a:t>
            </a:r>
            <a:endParaRPr/>
          </a:p>
          <a:p>
            <a:pPr marL="0" lvl="0" indent="0" algn="l" rtl="0">
              <a:lnSpc>
                <a:spcPct val="100000"/>
              </a:lnSpc>
              <a:spcBef>
                <a:spcPts val="0"/>
              </a:spcBef>
              <a:spcAft>
                <a:spcPts val="0"/>
              </a:spcAft>
              <a:buSzPts val="1400"/>
              <a:buNone/>
            </a:pPr>
            <a:r>
              <a:rPr lang="fr-FR"/>
              <a:t>oeuvre. Ce classement est effectué par l' ordonnanceur et est réactualisé à chaque fois qu'un processus</a:t>
            </a:r>
            <a:endParaRPr/>
          </a:p>
          <a:p>
            <a:pPr marL="0" lvl="0" indent="0" algn="l" rtl="0">
              <a:lnSpc>
                <a:spcPct val="100000"/>
              </a:lnSpc>
              <a:spcBef>
                <a:spcPts val="0"/>
              </a:spcBef>
              <a:spcAft>
                <a:spcPts val="0"/>
              </a:spcAft>
              <a:buSzPts val="1400"/>
              <a:buNone/>
            </a:pPr>
            <a:r>
              <a:rPr lang="fr-FR"/>
              <a:t>est préempté ou qu'un processus est débloqué (ajout d'un nouvel élément prêt). C'est le répartiteur qui élit</a:t>
            </a:r>
            <a:endParaRPr/>
          </a:p>
          <a:p>
            <a:pPr marL="0" lvl="0" indent="0" algn="l" rtl="0">
              <a:lnSpc>
                <a:spcPct val="100000"/>
              </a:lnSpc>
              <a:spcBef>
                <a:spcPts val="0"/>
              </a:spcBef>
              <a:spcAft>
                <a:spcPts val="0"/>
              </a:spcAft>
              <a:buSzPts val="1400"/>
              <a:buNone/>
            </a:pPr>
            <a:r>
              <a:rPr lang="fr-FR"/>
              <a:t>le processus en tête de file, c'est-à-dire qui lui alloue un processeur libre. La figure montre le cas d'un</a:t>
            </a:r>
            <a:endParaRPr/>
          </a:p>
          <a:p>
            <a:pPr marL="0" lvl="0" indent="0" algn="l" rtl="0">
              <a:lnSpc>
                <a:spcPct val="100000"/>
              </a:lnSpc>
              <a:spcBef>
                <a:spcPts val="0"/>
              </a:spcBef>
              <a:spcAft>
                <a:spcPts val="0"/>
              </a:spcAft>
              <a:buSzPts val="1400"/>
              <a:buNone/>
            </a:pPr>
            <a:r>
              <a:rPr lang="fr-FR"/>
              <a:t>système multiprocesseur ; le répartiteur doit alors choisir quel processeur allouer. Dans un système</a:t>
            </a:r>
            <a:endParaRPr/>
          </a:p>
          <a:p>
            <a:pPr marL="0" lvl="0" indent="0" algn="l" rtl="0">
              <a:lnSpc>
                <a:spcPct val="100000"/>
              </a:lnSpc>
              <a:spcBef>
                <a:spcPts val="0"/>
              </a:spcBef>
              <a:spcAft>
                <a:spcPts val="0"/>
              </a:spcAft>
              <a:buSzPts val="1400"/>
              <a:buNone/>
            </a:pPr>
            <a:r>
              <a:rPr lang="fr-FR"/>
              <a:t>monoprocesseur, cette question ne se pose évidemment pas et souvent alors, ordonnanceur et répartiteur </a:t>
            </a:r>
            <a:endParaRPr/>
          </a:p>
          <a:p>
            <a:pPr marL="0" lvl="0" indent="0" algn="l" rtl="0">
              <a:lnSpc>
                <a:spcPct val="100000"/>
              </a:lnSpc>
              <a:spcBef>
                <a:spcPts val="0"/>
              </a:spcBef>
              <a:spcAft>
                <a:spcPts val="0"/>
              </a:spcAft>
              <a:buSzPts val="1400"/>
              <a:buNone/>
            </a:pPr>
            <a:r>
              <a:rPr lang="fr-FR"/>
              <a:t>sont confondus. Une fois élu par le répartiteur, le processus s'exécute. S'il quitte le processeur, sur</a:t>
            </a:r>
            <a:endParaRPr/>
          </a:p>
          <a:p>
            <a:pPr marL="0" lvl="0" indent="0" algn="l" rtl="0">
              <a:lnSpc>
                <a:spcPct val="100000"/>
              </a:lnSpc>
              <a:spcBef>
                <a:spcPts val="0"/>
              </a:spcBef>
              <a:spcAft>
                <a:spcPts val="0"/>
              </a:spcAft>
              <a:buSzPts val="1400"/>
              <a:buNone/>
            </a:pPr>
            <a:r>
              <a:rPr lang="fr-FR"/>
              <a:t>préemption, il réintègre la file des processus prêts ; au contraire, s'il quitte le processeur sur un blocage, il</a:t>
            </a:r>
            <a:endParaRPr/>
          </a:p>
          <a:p>
            <a:pPr marL="0" lvl="0" indent="0" algn="l" rtl="0">
              <a:lnSpc>
                <a:spcPct val="100000"/>
              </a:lnSpc>
              <a:spcBef>
                <a:spcPts val="0"/>
              </a:spcBef>
              <a:spcAft>
                <a:spcPts val="0"/>
              </a:spcAft>
              <a:buSzPts val="1400"/>
              <a:buNone/>
            </a:pPr>
            <a:r>
              <a:rPr lang="fr-FR"/>
              <a:t>intègre la file des processus bloqués.   la file d'attente des processus bloqués est souvent organisée en files</a:t>
            </a:r>
            <a:endParaRPr/>
          </a:p>
          <a:p>
            <a:pPr marL="0" lvl="0" indent="0" algn="l" rtl="0">
              <a:lnSpc>
                <a:spcPct val="100000"/>
              </a:lnSpc>
              <a:spcBef>
                <a:spcPts val="0"/>
              </a:spcBef>
              <a:spcAft>
                <a:spcPts val="0"/>
              </a:spcAft>
              <a:buSzPts val="1400"/>
              <a:buNone/>
            </a:pPr>
            <a:r>
              <a:rPr lang="fr-FR"/>
              <a:t>multiniveaux, chaque niveau correspondant à une attente d'un événement/ ressource particulier auquel</a:t>
            </a:r>
            <a:endParaRPr/>
          </a:p>
          <a:p>
            <a:pPr marL="0" lvl="0" indent="0" algn="l" rtl="0">
              <a:lnSpc>
                <a:spcPct val="100000"/>
              </a:lnSpc>
              <a:spcBef>
                <a:spcPts val="0"/>
              </a:spcBef>
              <a:spcAft>
                <a:spcPts val="0"/>
              </a:spcAft>
              <a:buSzPts val="1400"/>
              <a:buNone/>
            </a:pPr>
            <a:r>
              <a:rPr lang="fr-FR"/>
              <a:t>peut être éventuellement associé une priorité. Dans le cas où des événements se produisent</a:t>
            </a:r>
            <a:endParaRPr/>
          </a:p>
          <a:p>
            <a:pPr marL="0" lvl="0" indent="0" algn="l" rtl="0">
              <a:lnSpc>
                <a:spcPct val="100000"/>
              </a:lnSpc>
              <a:spcBef>
                <a:spcPts val="0"/>
              </a:spcBef>
              <a:spcAft>
                <a:spcPts val="0"/>
              </a:spcAft>
              <a:buSzPts val="1400"/>
              <a:buNone/>
            </a:pPr>
            <a:r>
              <a:rPr lang="fr-FR"/>
              <a:t>simultanément, cette priorité sert alors à déterminer quel événement doit être traité en premier. </a:t>
            </a:r>
            <a:endParaRPr/>
          </a:p>
        </p:txBody>
      </p:sp>
      <p:sp>
        <p:nvSpPr>
          <p:cNvPr id="947" name="Google Shape;947;p1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35</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6"/>
        <p:cNvGrpSpPr/>
        <p:nvPr/>
      </p:nvGrpSpPr>
      <p:grpSpPr>
        <a:xfrm>
          <a:off x="0" y="0"/>
          <a:ext cx="0" cy="0"/>
          <a:chOff x="0" y="0"/>
          <a:chExt cx="0" cy="0"/>
        </a:xfrm>
      </p:grpSpPr>
      <p:sp>
        <p:nvSpPr>
          <p:cNvPr id="1017" name="Google Shape;1017;p1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8" name="Google Shape;1018;p1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1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p1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1025" name="Google Shape;1025;p19: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37</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p2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6" name="Google Shape;1036;p2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7" name="Google Shape;1037;p2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38</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2"/>
        <p:cNvGrpSpPr/>
        <p:nvPr/>
      </p:nvGrpSpPr>
      <p:grpSpPr>
        <a:xfrm>
          <a:off x="0" y="0"/>
          <a:ext cx="0" cy="0"/>
          <a:chOff x="0" y="0"/>
          <a:chExt cx="0" cy="0"/>
        </a:xfrm>
      </p:grpSpPr>
      <p:sp>
        <p:nvSpPr>
          <p:cNvPr id="1043" name="Google Shape;1043;p2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4" name="Google Shape;1044;p2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C'est une politique à l'ancienneté, sans réquisition ; l'unité centrale est allouée selon l'ordre de soumission</a:t>
            </a:r>
            <a:endParaRPr/>
          </a:p>
          <a:p>
            <a:pPr marL="0" lvl="0" indent="0" algn="l" rtl="0">
              <a:lnSpc>
                <a:spcPct val="100000"/>
              </a:lnSpc>
              <a:spcBef>
                <a:spcPts val="0"/>
              </a:spcBef>
              <a:spcAft>
                <a:spcPts val="0"/>
              </a:spcAft>
              <a:buSzPts val="1400"/>
              <a:buNone/>
            </a:pPr>
            <a:r>
              <a:rPr lang="fr-FR"/>
              <a:t>des processus</a:t>
            </a:r>
            <a:endParaRPr/>
          </a:p>
        </p:txBody>
      </p:sp>
      <p:sp>
        <p:nvSpPr>
          <p:cNvPr id="1045" name="Google Shape;1045;p21: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39</a:t>
            </a:fld>
            <a:endParaRPr>
              <a:solidFill>
                <a:srgbClr val="000000"/>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p2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78" name="Google Shape;1078;p2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9" name="Google Shape;1079;p22: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40</a:t>
            </a:fld>
            <a:endParaRPr>
              <a:solidFill>
                <a:srgbClr val="000000"/>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7"/>
        <p:cNvGrpSpPr/>
        <p:nvPr/>
      </p:nvGrpSpPr>
      <p:grpSpPr>
        <a:xfrm>
          <a:off x="0" y="0"/>
          <a:ext cx="0" cy="0"/>
          <a:chOff x="0" y="0"/>
          <a:chExt cx="0" cy="0"/>
        </a:xfrm>
      </p:grpSpPr>
      <p:sp>
        <p:nvSpPr>
          <p:cNvPr id="1108" name="Google Shape;1108;p2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9" name="Google Shape;1109;p2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0" name="Google Shape;1110;p23: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41</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9"/>
        <p:cNvGrpSpPr/>
        <p:nvPr/>
      </p:nvGrpSpPr>
      <p:grpSpPr>
        <a:xfrm>
          <a:off x="0" y="0"/>
          <a:ext cx="0" cy="0"/>
          <a:chOff x="0" y="0"/>
          <a:chExt cx="0" cy="0"/>
        </a:xfrm>
      </p:grpSpPr>
      <p:sp>
        <p:nvSpPr>
          <p:cNvPr id="1120" name="Google Shape;1120;p2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p2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p2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36" name="Google Shape;1136;p2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p2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7" name="Google Shape;1167;p2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p2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86" name="Google Shape;1186;p2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1"/>
        <p:cNvGrpSpPr/>
        <p:nvPr/>
      </p:nvGrpSpPr>
      <p:grpSpPr>
        <a:xfrm>
          <a:off x="0" y="0"/>
          <a:ext cx="0" cy="0"/>
          <a:chOff x="0" y="0"/>
          <a:chExt cx="0" cy="0"/>
        </a:xfrm>
      </p:grpSpPr>
      <p:sp>
        <p:nvSpPr>
          <p:cNvPr id="1192" name="Google Shape;1192;p2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93" name="Google Shape;1193;p2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4" name="Google Shape;1194;p28: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46</a:t>
            </a:fld>
            <a:endParaRPr>
              <a:solidFill>
                <a:srgbClr val="000000"/>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7"/>
        <p:cNvGrpSpPr/>
        <p:nvPr/>
      </p:nvGrpSpPr>
      <p:grpSpPr>
        <a:xfrm>
          <a:off x="0" y="0"/>
          <a:ext cx="0" cy="0"/>
          <a:chOff x="0" y="0"/>
          <a:chExt cx="0" cy="0"/>
        </a:xfrm>
      </p:grpSpPr>
      <p:sp>
        <p:nvSpPr>
          <p:cNvPr id="1228" name="Google Shape;1228;p2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29" name="Google Shape;1229;p2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0" name="Google Shape;1230;p29: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47</a:t>
            </a:fld>
            <a:endParaRPr>
              <a:solidFill>
                <a:srgbClr val="000000"/>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6"/>
        <p:cNvGrpSpPr/>
        <p:nvPr/>
      </p:nvGrpSpPr>
      <p:grpSpPr>
        <a:xfrm>
          <a:off x="0" y="0"/>
          <a:ext cx="0" cy="0"/>
          <a:chOff x="0" y="0"/>
          <a:chExt cx="0" cy="0"/>
        </a:xfrm>
      </p:grpSpPr>
      <p:sp>
        <p:nvSpPr>
          <p:cNvPr id="1277" name="Google Shape;1277;p3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78" name="Google Shape;1278;p3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79" name="Google Shape;1279;p30: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48</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0"/>
        <p:cNvGrpSpPr/>
        <p:nvPr/>
      </p:nvGrpSpPr>
      <p:grpSpPr>
        <a:xfrm>
          <a:off x="0" y="0"/>
          <a:ext cx="0" cy="0"/>
          <a:chOff x="0" y="0"/>
          <a:chExt cx="0" cy="0"/>
        </a:xfrm>
      </p:grpSpPr>
      <p:sp>
        <p:nvSpPr>
          <p:cNvPr id="1291" name="Google Shape;1291;p3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2" name="Google Shape;1292;p3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3"/>
        <p:cNvGrpSpPr/>
        <p:nvPr/>
      </p:nvGrpSpPr>
      <p:grpSpPr>
        <a:xfrm>
          <a:off x="0" y="0"/>
          <a:ext cx="0" cy="0"/>
          <a:chOff x="0" y="0"/>
          <a:chExt cx="0" cy="0"/>
        </a:xfrm>
      </p:grpSpPr>
      <p:sp>
        <p:nvSpPr>
          <p:cNvPr id="1314" name="Google Shape;1314;p3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15" name="Google Shape;1315;p3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p3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35" name="Google Shape;1335;p3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3"/>
        <p:cNvGrpSpPr/>
        <p:nvPr/>
      </p:nvGrpSpPr>
      <p:grpSpPr>
        <a:xfrm>
          <a:off x="0" y="0"/>
          <a:ext cx="0" cy="0"/>
          <a:chOff x="0" y="0"/>
          <a:chExt cx="0" cy="0"/>
        </a:xfrm>
      </p:grpSpPr>
      <p:sp>
        <p:nvSpPr>
          <p:cNvPr id="1354" name="Google Shape;1354;p3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5" name="Google Shape;1355;p3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p3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75" name="Google Shape;1375;p3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76" name="Google Shape;1376;p3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53</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1"/>
        <p:cNvGrpSpPr/>
        <p:nvPr/>
      </p:nvGrpSpPr>
      <p:grpSpPr>
        <a:xfrm>
          <a:off x="0" y="0"/>
          <a:ext cx="0" cy="0"/>
          <a:chOff x="0" y="0"/>
          <a:chExt cx="0" cy="0"/>
        </a:xfrm>
      </p:grpSpPr>
      <p:sp>
        <p:nvSpPr>
          <p:cNvPr id="1382" name="Google Shape;1382;p3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83" name="Google Shape;1383;p3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9"/>
        <p:cNvGrpSpPr/>
        <p:nvPr/>
      </p:nvGrpSpPr>
      <p:grpSpPr>
        <a:xfrm>
          <a:off x="0" y="0"/>
          <a:ext cx="0" cy="0"/>
          <a:chOff x="0" y="0"/>
          <a:chExt cx="0" cy="0"/>
        </a:xfrm>
      </p:grpSpPr>
      <p:sp>
        <p:nvSpPr>
          <p:cNvPr id="1390" name="Google Shape;1390;p3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1" name="Google Shape;1391;p3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92" name="Google Shape;1392;p37: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55</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8"/>
        <p:cNvGrpSpPr/>
        <p:nvPr/>
      </p:nvGrpSpPr>
      <p:grpSpPr>
        <a:xfrm>
          <a:off x="0" y="0"/>
          <a:ext cx="0" cy="0"/>
          <a:chOff x="0" y="0"/>
          <a:chExt cx="0" cy="0"/>
        </a:xfrm>
      </p:grpSpPr>
      <p:sp>
        <p:nvSpPr>
          <p:cNvPr id="1449" name="Google Shape;1449;p3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50" name="Google Shape;1450;p3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9"/>
        <p:cNvGrpSpPr/>
        <p:nvPr/>
      </p:nvGrpSpPr>
      <p:grpSpPr>
        <a:xfrm>
          <a:off x="0" y="0"/>
          <a:ext cx="0" cy="0"/>
          <a:chOff x="0" y="0"/>
          <a:chExt cx="0" cy="0"/>
        </a:xfrm>
      </p:grpSpPr>
      <p:sp>
        <p:nvSpPr>
          <p:cNvPr id="1470" name="Google Shape;1470;p3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1" name="Google Shape;1471;p3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8"/>
        <p:cNvGrpSpPr/>
        <p:nvPr/>
      </p:nvGrpSpPr>
      <p:grpSpPr>
        <a:xfrm>
          <a:off x="0" y="0"/>
          <a:ext cx="0" cy="0"/>
          <a:chOff x="0" y="0"/>
          <a:chExt cx="0" cy="0"/>
        </a:xfrm>
      </p:grpSpPr>
      <p:sp>
        <p:nvSpPr>
          <p:cNvPr id="1509" name="Google Shape;1509;p4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0" name="Google Shape;1510;p4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1"/>
        <p:cNvGrpSpPr/>
        <p:nvPr/>
      </p:nvGrpSpPr>
      <p:grpSpPr>
        <a:xfrm>
          <a:off x="0" y="0"/>
          <a:ext cx="0" cy="0"/>
          <a:chOff x="0" y="0"/>
          <a:chExt cx="0" cy="0"/>
        </a:xfrm>
      </p:grpSpPr>
      <p:sp>
        <p:nvSpPr>
          <p:cNvPr id="1552" name="Google Shape;1552;p4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53" name="Google Shape;1553;p4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6"/>
        <p:cNvGrpSpPr/>
        <p:nvPr/>
      </p:nvGrpSpPr>
      <p:grpSpPr>
        <a:xfrm>
          <a:off x="0" y="0"/>
          <a:ext cx="0" cy="0"/>
          <a:chOff x="0" y="0"/>
          <a:chExt cx="0" cy="0"/>
        </a:xfrm>
      </p:grpSpPr>
      <p:sp>
        <p:nvSpPr>
          <p:cNvPr id="1627" name="Google Shape;1627;p4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8" name="Google Shape;1628;p4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8"/>
        <p:cNvGrpSpPr/>
        <p:nvPr/>
      </p:nvGrpSpPr>
      <p:grpSpPr>
        <a:xfrm>
          <a:off x="0" y="0"/>
          <a:ext cx="0" cy="0"/>
          <a:chOff x="0" y="0"/>
          <a:chExt cx="0" cy="0"/>
        </a:xfrm>
      </p:grpSpPr>
      <p:sp>
        <p:nvSpPr>
          <p:cNvPr id="1669" name="Google Shape;1669;p4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70" name="Google Shape;1670;p4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71" name="Google Shape;1671;p43: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61</a:t>
            </a:fld>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8"/>
        <p:cNvGrpSpPr/>
        <p:nvPr/>
      </p:nvGrpSpPr>
      <p:grpSpPr>
        <a:xfrm>
          <a:off x="0" y="0"/>
          <a:ext cx="0" cy="0"/>
          <a:chOff x="0" y="0"/>
          <a:chExt cx="0" cy="0"/>
        </a:xfrm>
      </p:grpSpPr>
      <p:sp>
        <p:nvSpPr>
          <p:cNvPr id="1679" name="Google Shape;1679;p4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0" name="Google Shape;1680;p4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1" name="Google Shape;1681;p44: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62</a:t>
            </a:fld>
            <a:endParaRPr>
              <a:solidFill>
                <a:srgbClr val="000000"/>
              </a:solidFill>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4"/>
        <p:cNvGrpSpPr/>
        <p:nvPr/>
      </p:nvGrpSpPr>
      <p:grpSpPr>
        <a:xfrm>
          <a:off x="0" y="0"/>
          <a:ext cx="0" cy="0"/>
          <a:chOff x="0" y="0"/>
          <a:chExt cx="0" cy="0"/>
        </a:xfrm>
      </p:grpSpPr>
      <p:sp>
        <p:nvSpPr>
          <p:cNvPr id="1715" name="Google Shape;1715;p45: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16" name="Google Shape;1716;p45: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7" name="Google Shape;1717;p45:notes"/>
          <p:cNvSpPr txBox="1">
            <a:spLocks noGrp="1"/>
          </p:cNvSpPr>
          <p:nvPr>
            <p:ph type="sldNum" idx="12"/>
          </p:nvPr>
        </p:nvSpPr>
        <p:spPr>
          <a:xfrm>
            <a:off x="5180013" y="6513513"/>
            <a:ext cx="3962400" cy="3444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solidFill>
                  <a:srgbClr val="000000"/>
                </a:solidFill>
              </a:rPr>
              <a:t>63</a:t>
            </a:fld>
            <a:endParaRPr>
              <a:solidFill>
                <a:srgbClr val="000000"/>
              </a:solidFill>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8"/>
        <p:cNvGrpSpPr/>
        <p:nvPr/>
      </p:nvGrpSpPr>
      <p:grpSpPr>
        <a:xfrm>
          <a:off x="0" y="0"/>
          <a:ext cx="0" cy="0"/>
          <a:chOff x="0" y="0"/>
          <a:chExt cx="0" cy="0"/>
        </a:xfrm>
      </p:grpSpPr>
      <p:sp>
        <p:nvSpPr>
          <p:cNvPr id="1759" name="Google Shape;1759;p46: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0" name="Google Shape;1760;p46: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5"/>
        <p:cNvGrpSpPr/>
        <p:nvPr/>
      </p:nvGrpSpPr>
      <p:grpSpPr>
        <a:xfrm>
          <a:off x="0" y="0"/>
          <a:ext cx="0" cy="0"/>
          <a:chOff x="0" y="0"/>
          <a:chExt cx="0" cy="0"/>
        </a:xfrm>
      </p:grpSpPr>
      <p:sp>
        <p:nvSpPr>
          <p:cNvPr id="1766" name="Google Shape;1766;p47: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67" name="Google Shape;1767;p47: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2"/>
        <p:cNvGrpSpPr/>
        <p:nvPr/>
      </p:nvGrpSpPr>
      <p:grpSpPr>
        <a:xfrm>
          <a:off x="0" y="0"/>
          <a:ext cx="0" cy="0"/>
          <a:chOff x="0" y="0"/>
          <a:chExt cx="0" cy="0"/>
        </a:xfrm>
      </p:grpSpPr>
      <p:sp>
        <p:nvSpPr>
          <p:cNvPr id="1773" name="Google Shape;1773;p48: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74" name="Google Shape;1774;p48: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2"/>
        <p:cNvGrpSpPr/>
        <p:nvPr/>
      </p:nvGrpSpPr>
      <p:grpSpPr>
        <a:xfrm>
          <a:off x="0" y="0"/>
          <a:ext cx="0" cy="0"/>
          <a:chOff x="0" y="0"/>
          <a:chExt cx="0" cy="0"/>
        </a:xfrm>
      </p:grpSpPr>
      <p:sp>
        <p:nvSpPr>
          <p:cNvPr id="1783" name="Google Shape;1783;p49: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4" name="Google Shape;1784;p49: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0"/>
        <p:cNvGrpSpPr/>
        <p:nvPr/>
      </p:nvGrpSpPr>
      <p:grpSpPr>
        <a:xfrm>
          <a:off x="0" y="0"/>
          <a:ext cx="0" cy="0"/>
          <a:chOff x="0" y="0"/>
          <a:chExt cx="0" cy="0"/>
        </a:xfrm>
      </p:grpSpPr>
      <p:sp>
        <p:nvSpPr>
          <p:cNvPr id="1791" name="Google Shape;1791;p50: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2" name="Google Shape;1792;p50: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9"/>
        <p:cNvGrpSpPr/>
        <p:nvPr/>
      </p:nvGrpSpPr>
      <p:grpSpPr>
        <a:xfrm>
          <a:off x="0" y="0"/>
          <a:ext cx="0" cy="0"/>
          <a:chOff x="0" y="0"/>
          <a:chExt cx="0" cy="0"/>
        </a:xfrm>
      </p:grpSpPr>
      <p:sp>
        <p:nvSpPr>
          <p:cNvPr id="1800" name="Google Shape;1800;p51: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1" name="Google Shape;1801;p51: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7"/>
        <p:cNvGrpSpPr/>
        <p:nvPr/>
      </p:nvGrpSpPr>
      <p:grpSpPr>
        <a:xfrm>
          <a:off x="0" y="0"/>
          <a:ext cx="0" cy="0"/>
          <a:chOff x="0" y="0"/>
          <a:chExt cx="0" cy="0"/>
        </a:xfrm>
      </p:grpSpPr>
      <p:sp>
        <p:nvSpPr>
          <p:cNvPr id="1808" name="Google Shape;1808;p52: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9" name="Google Shape;1809;p52: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5"/>
        <p:cNvGrpSpPr/>
        <p:nvPr/>
      </p:nvGrpSpPr>
      <p:grpSpPr>
        <a:xfrm>
          <a:off x="0" y="0"/>
          <a:ext cx="0" cy="0"/>
          <a:chOff x="0" y="0"/>
          <a:chExt cx="0" cy="0"/>
        </a:xfrm>
      </p:grpSpPr>
      <p:sp>
        <p:nvSpPr>
          <p:cNvPr id="1816" name="Google Shape;1816;p53: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7" name="Google Shape;1817;p53: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3"/>
        <p:cNvGrpSpPr/>
        <p:nvPr/>
      </p:nvGrpSpPr>
      <p:grpSpPr>
        <a:xfrm>
          <a:off x="0" y="0"/>
          <a:ext cx="0" cy="0"/>
          <a:chOff x="0" y="0"/>
          <a:chExt cx="0" cy="0"/>
        </a:xfrm>
      </p:grpSpPr>
      <p:sp>
        <p:nvSpPr>
          <p:cNvPr id="1824" name="Google Shape;1824;p54:notes"/>
          <p:cNvSpPr txBox="1">
            <a:spLocks noGrp="1"/>
          </p:cNvSpPr>
          <p:nvPr>
            <p:ph type="body" idx="1"/>
          </p:nvPr>
        </p:nvSpPr>
        <p:spPr>
          <a:xfrm>
            <a:off x="914400" y="3300413"/>
            <a:ext cx="7315200" cy="2700337"/>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25" name="Google Shape;1825;p54:notes"/>
          <p:cNvSpPr>
            <a:spLocks noGrp="1" noRot="1" noChangeAspect="1"/>
          </p:cNvSpPr>
          <p:nvPr>
            <p:ph type="sldImg" idx="2"/>
          </p:nvPr>
        </p:nvSpPr>
        <p:spPr>
          <a:xfrm>
            <a:off x="3028950" y="857250"/>
            <a:ext cx="3086100" cy="231457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 name="Google Shape;86;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87" name="Google Shape;87;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111</a:t>
            </a:fld>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 name="Google Shape;92;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93" name="Google Shape;93;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112</a:t>
            </a:fld>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100" name="Google Shape;100;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113</a:t>
            </a:fld>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107" name="Google Shape;107;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algn="l"/>
            <a:r>
              <a:rPr lang="fr-FR" sz="1800" dirty="0">
                <a:solidFill>
                  <a:schemeClr val="dk1"/>
                </a:solidFill>
                <a:latin typeface="Calibri"/>
                <a:ea typeface="Calibri"/>
                <a:cs typeface="Calibri"/>
                <a:sym typeface="Calibri"/>
              </a:rPr>
              <a:t> </a:t>
            </a:r>
            <a:r>
              <a:rPr lang="fr-FR" sz="2800" b="0" i="0" dirty="0">
                <a:solidFill>
                  <a:srgbClr val="0D0D0D"/>
                </a:solidFill>
                <a:effectLst/>
                <a:latin typeface="Söhne"/>
              </a:rPr>
              <a:t>Voici un bref aperçu de la manière dont cela fonctionne :</a:t>
            </a:r>
          </a:p>
          <a:p>
            <a:pPr algn="l">
              <a:buFont typeface="+mj-lt"/>
              <a:buAutoNum type="arabicPeriod"/>
            </a:pPr>
            <a:r>
              <a:rPr lang="fr-FR" sz="2800" b="0" i="0" dirty="0">
                <a:solidFill>
                  <a:srgbClr val="0D0D0D"/>
                </a:solidFill>
                <a:effectLst/>
                <a:latin typeface="Söhne"/>
              </a:rPr>
              <a:t>Lorsqu'un processus ouvre un fichier à l'aide d'appels système comme open() en C ou </a:t>
            </a:r>
            <a:r>
              <a:rPr lang="fr-FR" sz="2800" b="0" i="0" dirty="0" err="1">
                <a:solidFill>
                  <a:srgbClr val="0D0D0D"/>
                </a:solidFill>
                <a:effectLst/>
                <a:latin typeface="Söhne"/>
              </a:rPr>
              <a:t>fs.open</a:t>
            </a:r>
            <a:r>
              <a:rPr lang="fr-FR" sz="2800" b="0" i="0" dirty="0">
                <a:solidFill>
                  <a:srgbClr val="0D0D0D"/>
                </a:solidFill>
                <a:effectLst/>
                <a:latin typeface="Söhne"/>
              </a:rPr>
              <a:t>() en Node.js, le système d'exploitation alloue un descripteur de fichier pour ce fichier et retourne cet identifiant au processus.</a:t>
            </a:r>
          </a:p>
          <a:p>
            <a:pPr algn="l">
              <a:buFont typeface="+mj-lt"/>
              <a:buAutoNum type="arabicPeriod"/>
            </a:pPr>
            <a:r>
              <a:rPr lang="fr-FR" sz="2800" b="0" i="0" dirty="0">
                <a:solidFill>
                  <a:srgbClr val="0D0D0D"/>
                </a:solidFill>
                <a:effectLst/>
                <a:latin typeface="Söhne"/>
              </a:rPr>
              <a:t>Le processus peut utiliser ce descripteur de fichier pour effectuer des opérations de lecture, d'écriture ou d'autres opérations sur le fichier.</a:t>
            </a:r>
          </a:p>
          <a:p>
            <a:pPr algn="l">
              <a:buFont typeface="+mj-lt"/>
              <a:buAutoNum type="arabicPeriod"/>
            </a:pPr>
            <a:r>
              <a:rPr lang="fr-FR" sz="2800" b="0" i="0" dirty="0">
                <a:solidFill>
                  <a:srgbClr val="0D0D0D"/>
                </a:solidFill>
                <a:effectLst/>
                <a:latin typeface="Söhne"/>
              </a:rPr>
              <a:t>Chaque processus a sa propre table de descripteurs de fichiers, ce qui signifie que deux processus différents peuvent avoir des descripteurs de fichier portant le même numéro, mais ils pointent vers des fichiers différents.</a:t>
            </a:r>
          </a:p>
          <a:p>
            <a:pPr algn="l">
              <a:buFont typeface="+mj-lt"/>
              <a:buAutoNum type="arabicPeriod"/>
            </a:pPr>
            <a:r>
              <a:rPr lang="fr-FR" sz="2800" b="0" i="0" dirty="0">
                <a:solidFill>
                  <a:srgbClr val="0D0D0D"/>
                </a:solidFill>
                <a:effectLst/>
                <a:latin typeface="Söhne"/>
              </a:rPr>
              <a:t>Lorsque le processus ferme un fichier à l'aide de l'appel système close() ou lorsqu'il se termine, le descripteur de fichier est libéré et peut être réutilisé ultérieurement.</a:t>
            </a:r>
          </a:p>
          <a:p>
            <a:pPr marL="0" lvl="0" indent="0" algn="l" rtl="0">
              <a:lnSpc>
                <a:spcPct val="100000"/>
              </a:lnSpc>
              <a:spcBef>
                <a:spcPts val="0"/>
              </a:spcBef>
              <a:spcAft>
                <a:spcPts val="0"/>
              </a:spcAft>
              <a:buSzPts val="1400"/>
              <a:buNone/>
            </a:pPr>
            <a:endParaRPr sz="1800" dirty="0"/>
          </a:p>
        </p:txBody>
      </p:sp>
      <p:sp>
        <p:nvSpPr>
          <p:cNvPr id="127" name="Google Shape;127;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116</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800">
                <a:solidFill>
                  <a:schemeClr val="dk1"/>
                </a:solidFill>
                <a:latin typeface="Calibri"/>
                <a:ea typeface="Calibri"/>
                <a:cs typeface="Calibri"/>
                <a:sym typeface="Calibri"/>
              </a:rPr>
              <a:t> </a:t>
            </a:r>
            <a:endParaRPr sz="1800"/>
          </a:p>
        </p:txBody>
      </p:sp>
      <p:sp>
        <p:nvSpPr>
          <p:cNvPr id="114" name="Google Shape;114;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117</a:t>
            </a:fld>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4" name="Google Shape;134;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a:p>
            <a:pPr marL="0" lvl="0" indent="0" algn="l" rtl="0">
              <a:lnSpc>
                <a:spcPct val="100000"/>
              </a:lnSpc>
              <a:spcBef>
                <a:spcPts val="0"/>
              </a:spcBef>
              <a:spcAft>
                <a:spcPts val="0"/>
              </a:spcAft>
              <a:buSzPts val="1400"/>
              <a:buNone/>
            </a:pPr>
            <a:r>
              <a:rPr lang="fr-FR" b="0" i="0" dirty="0">
                <a:solidFill>
                  <a:srgbClr val="0D0D0D"/>
                </a:solidFill>
                <a:effectLst/>
                <a:latin typeface="Söhne"/>
              </a:rPr>
              <a:t>La communication par sockets est utilisée dans de nombreux scénarios, y compris les applications client-serveur, les services web, les jeux en ligne, etc. Elle fournit une infrastructure de communication flexible et puissante pour les applications distribuées.</a:t>
            </a:r>
          </a:p>
          <a:p>
            <a:pPr marL="0" lvl="0" indent="0" algn="l" rtl="0">
              <a:lnSpc>
                <a:spcPct val="100000"/>
              </a:lnSpc>
              <a:spcBef>
                <a:spcPts val="0"/>
              </a:spcBef>
              <a:spcAft>
                <a:spcPts val="0"/>
              </a:spcAft>
              <a:buSzPts val="1400"/>
              <a:buNone/>
            </a:pPr>
            <a:endParaRPr lang="fr-FR" b="0" i="0" dirty="0">
              <a:solidFill>
                <a:srgbClr val="0D0D0D"/>
              </a:solidFill>
              <a:effectLst/>
              <a:latin typeface="Söhne"/>
            </a:endParaRPr>
          </a:p>
          <a:p>
            <a:pPr marL="0" lvl="0" indent="0" algn="l" rtl="0">
              <a:lnSpc>
                <a:spcPct val="100000"/>
              </a:lnSpc>
              <a:spcBef>
                <a:spcPts val="0"/>
              </a:spcBef>
              <a:spcAft>
                <a:spcPts val="0"/>
              </a:spcAft>
              <a:buSzPts val="1400"/>
              <a:buNone/>
            </a:pPr>
            <a:r>
              <a:rPr lang="fr-FR" b="0" i="0" dirty="0">
                <a:solidFill>
                  <a:srgbClr val="0D0D0D"/>
                </a:solidFill>
                <a:effectLst/>
                <a:latin typeface="Söhne"/>
              </a:rPr>
              <a:t>En résumé, les pipes anonymes sont utilisés pour la communication entre processus apparentés, tandis que les pipes nommés sont utilisés pour la communication entre processus non apparentés en utilisant un nom de fichier comme point de contact.</a:t>
            </a:r>
            <a:endParaRPr dirty="0"/>
          </a:p>
        </p:txBody>
      </p:sp>
      <p:sp>
        <p:nvSpPr>
          <p:cNvPr id="135" name="Google Shape;135;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119</a:t>
            </a:fld>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fr-FR"/>
              <a:t> Ce "tube" est représenté par la barre verticale "|".</a:t>
            </a:r>
            <a:endParaRPr/>
          </a:p>
          <a:p>
            <a:pPr marL="0" lvl="0" indent="0" algn="l" rtl="0">
              <a:lnSpc>
                <a:spcPct val="100000"/>
              </a:lnSpc>
              <a:spcBef>
                <a:spcPts val="0"/>
              </a:spcBef>
              <a:spcAft>
                <a:spcPts val="0"/>
              </a:spcAft>
              <a:buSzPts val="1400"/>
              <a:buNone/>
            </a:pPr>
            <a:endParaRPr/>
          </a:p>
        </p:txBody>
      </p:sp>
      <p:sp>
        <p:nvSpPr>
          <p:cNvPr id="142" name="Google Shape;142;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121</a:t>
            </a:fld>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fr-FR"/>
              <a:t> </a:t>
            </a:r>
            <a:endParaRPr/>
          </a:p>
        </p:txBody>
      </p:sp>
      <p:sp>
        <p:nvSpPr>
          <p:cNvPr id="149" name="Google Shape;149;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122</a:t>
            </a:fld>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5" name="Google Shape;15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a:t> </a:t>
            </a:r>
            <a:endParaRPr/>
          </a:p>
        </p:txBody>
      </p:sp>
      <p:sp>
        <p:nvSpPr>
          <p:cNvPr id="156" name="Google Shape;156;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123</a:t>
            </a:fld>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4892970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93" name="Google Shape;193;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0" name="Google Shape;200;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131</a:t>
            </a:fld>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8" name="Google Shape;21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4" name="Google Shape;224;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fr-FR" sz="1200" b="0" i="0">
                <a:solidFill>
                  <a:schemeClr val="dk1"/>
                </a:solidFill>
                <a:latin typeface="Calibri"/>
                <a:ea typeface="Calibri"/>
                <a:cs typeface="Calibri"/>
                <a:sym typeface="Calibri"/>
              </a:rPr>
              <a:t> </a:t>
            </a:r>
            <a:endParaRPr/>
          </a:p>
        </p:txBody>
      </p:sp>
      <p:sp>
        <p:nvSpPr>
          <p:cNvPr id="225" name="Google Shape;225;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fr-FR"/>
              <a:t>134</a:t>
            </a:fld>
            <a:endParaRPr/>
          </a:p>
        </p:txBody>
      </p:sp>
    </p:spTree>
    <p:extLst>
      <p:ext uri="{BB962C8B-B14F-4D97-AF65-F5344CB8AC3E}">
        <p14:creationId xmlns:p14="http://schemas.microsoft.com/office/powerpoint/2010/main" val="8474313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1" name="Google Shape;23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2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7" name="Google Shape;23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3" name="Google Shape;243;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p2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8" name="Google Shape;248;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3" name="Google Shape;25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8" name="Google Shape;28;p4"/>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29" name="Google Shape;29;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2"/>
        <p:cNvGrpSpPr/>
        <p:nvPr/>
      </p:nvGrpSpPr>
      <p:grpSpPr>
        <a:xfrm>
          <a:off x="0" y="0"/>
          <a:ext cx="0" cy="0"/>
          <a:chOff x="0" y="0"/>
          <a:chExt cx="0" cy="0"/>
        </a:xfrm>
      </p:grpSpPr>
      <p:sp>
        <p:nvSpPr>
          <p:cNvPr id="33" name="Google Shape;33;p5"/>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5"/>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35" name="Google Shape;35;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41" name="Google Shape;41;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4"/>
        <p:cNvGrpSpPr/>
        <p:nvPr/>
      </p:nvGrpSpPr>
      <p:grpSpPr>
        <a:xfrm>
          <a:off x="0" y="0"/>
          <a:ext cx="0" cy="0"/>
          <a:chOff x="0" y="0"/>
          <a:chExt cx="0" cy="0"/>
        </a:xfrm>
      </p:grpSpPr>
      <p:sp>
        <p:nvSpPr>
          <p:cNvPr id="45" name="Google Shape;45;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7" name="Google Shape;47;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8" name="Google Shape;48;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9" name="Google Shape;49;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50" name="Google Shape;50;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3"/>
        <p:cNvGrpSpPr/>
        <p:nvPr/>
      </p:nvGrpSpPr>
      <p:grpSpPr>
        <a:xfrm>
          <a:off x="0" y="0"/>
          <a:ext cx="0" cy="0"/>
          <a:chOff x="0" y="0"/>
          <a:chExt cx="0" cy="0"/>
        </a:xfrm>
      </p:grpSpPr>
      <p:sp>
        <p:nvSpPr>
          <p:cNvPr id="54" name="Google Shape;54;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2" name="Google Shape;62;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1792288" y="612775"/>
            <a:ext cx="5486400" cy="4114800"/>
          </a:xfrm>
          <a:prstGeom prst="rect">
            <a:avLst/>
          </a:prstGeom>
          <a:noFill/>
          <a:ln>
            <a:noFill/>
          </a:ln>
        </p:spPr>
      </p:sp>
      <p:sp>
        <p:nvSpPr>
          <p:cNvPr id="68" name="Google Shape;68;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9" name="Google Shape;69;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10/28/2024</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4463151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1_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10/28/2024</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extLst>
      <p:ext uri="{BB962C8B-B14F-4D97-AF65-F5344CB8AC3E}">
        <p14:creationId xmlns:p14="http://schemas.microsoft.com/office/powerpoint/2010/main" val="3756337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fr-FR"/>
              <a:t>‹N°›</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6.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8" Type="http://schemas.openxmlformats.org/officeDocument/2006/relationships/image" Target="../media/image17.jpeg"/><Relationship Id="rId3" Type="http://schemas.openxmlformats.org/officeDocument/2006/relationships/image" Target="../media/image12.gif"/><Relationship Id="rId7" Type="http://schemas.openxmlformats.org/officeDocument/2006/relationships/image" Target="../media/image16.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gif"/><Relationship Id="rId4" Type="http://schemas.openxmlformats.org/officeDocument/2006/relationships/image" Target="../media/image13.jpeg"/><Relationship Id="rId9" Type="http://schemas.openxmlformats.org/officeDocument/2006/relationships/image" Target="../media/image18.jpeg"/></Relationships>
</file>

<file path=ppt/slides/_rels/slide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6.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3.png"/><Relationship Id="rId4" Type="http://schemas.openxmlformats.org/officeDocument/2006/relationships/image" Target="../media/image27.png"/><Relationship Id="rId9" Type="http://schemas.openxmlformats.org/officeDocument/2006/relationships/image" Target="../media/image1.png"/></Relationships>
</file>

<file path=ppt/slides/_rels/slide15.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2.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22.png"/><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3.png"/><Relationship Id="rId7" Type="http://schemas.openxmlformats.org/officeDocument/2006/relationships/image" Target="../media/image37.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0" Type="http://schemas.openxmlformats.org/officeDocument/2006/relationships/image" Target="../media/image40.png"/><Relationship Id="rId4" Type="http://schemas.openxmlformats.org/officeDocument/2006/relationships/image" Target="../media/image34.png"/><Relationship Id="rId9" Type="http://schemas.openxmlformats.org/officeDocument/2006/relationships/image" Target="../media/image3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4.gif"/></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43.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59.png"/><Relationship Id="rId3" Type="http://schemas.openxmlformats.org/officeDocument/2006/relationships/image" Target="../media/image48.png"/><Relationship Id="rId7" Type="http://schemas.openxmlformats.org/officeDocument/2006/relationships/image" Target="../media/image53.png"/><Relationship Id="rId12"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52.png"/><Relationship Id="rId11" Type="http://schemas.openxmlformats.org/officeDocument/2006/relationships/image" Target="../media/image57.png"/><Relationship Id="rId5" Type="http://schemas.openxmlformats.org/officeDocument/2006/relationships/image" Target="../media/image51.png"/><Relationship Id="rId10" Type="http://schemas.openxmlformats.org/officeDocument/2006/relationships/image" Target="../media/image56.png"/><Relationship Id="rId4" Type="http://schemas.openxmlformats.org/officeDocument/2006/relationships/image" Target="../media/image49.png"/><Relationship Id="rId9" Type="http://schemas.openxmlformats.org/officeDocument/2006/relationships/image" Target="../media/image55.png"/></Relationships>
</file>

<file path=ppt/slides/_rels/slide44.xml.rels><?xml version="1.0" encoding="UTF-8" standalone="yes"?>
<Relationships xmlns="http://schemas.openxmlformats.org/package/2006/relationships"><Relationship Id="rId3" Type="http://schemas.openxmlformats.org/officeDocument/2006/relationships/image" Target="../media/image48.png"/><Relationship Id="rId7" Type="http://schemas.openxmlformats.org/officeDocument/2006/relationships/image" Target="../media/image56.png"/><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49.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2.xml"/><Relationship Id="rId5" Type="http://schemas.openxmlformats.org/officeDocument/2006/relationships/image" Target="../media/image64.png"/><Relationship Id="rId4" Type="http://schemas.openxmlformats.org/officeDocument/2006/relationships/image" Target="../media/image63.png"/></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7" Type="http://schemas.openxmlformats.org/officeDocument/2006/relationships/image" Target="../media/image68.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5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5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5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56.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58.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10" Type="http://schemas.openxmlformats.org/officeDocument/2006/relationships/image" Target="../media/image78.png"/><Relationship Id="rId4" Type="http://schemas.openxmlformats.org/officeDocument/2006/relationships/image" Target="../media/image71.png"/><Relationship Id="rId9" Type="http://schemas.openxmlformats.org/officeDocument/2006/relationships/image" Target="../media/image77.png"/></Relationships>
</file>

<file path=ppt/slides/_rels/slide59.xml.rels><?xml version="1.0" encoding="UTF-8" standalone="yes"?>
<Relationships xmlns="http://schemas.openxmlformats.org/package/2006/relationships"><Relationship Id="rId8" Type="http://schemas.openxmlformats.org/officeDocument/2006/relationships/image" Target="../media/image79.png"/><Relationship Id="rId13" Type="http://schemas.openxmlformats.org/officeDocument/2006/relationships/image" Target="../media/image83.png"/><Relationship Id="rId18" Type="http://schemas.openxmlformats.org/officeDocument/2006/relationships/image" Target="../media/image88.png"/><Relationship Id="rId3" Type="http://schemas.openxmlformats.org/officeDocument/2006/relationships/image" Target="../media/image70.png"/><Relationship Id="rId21" Type="http://schemas.openxmlformats.org/officeDocument/2006/relationships/image" Target="../media/image91.png"/><Relationship Id="rId7" Type="http://schemas.openxmlformats.org/officeDocument/2006/relationships/image" Target="../media/image74.png"/><Relationship Id="rId12" Type="http://schemas.openxmlformats.org/officeDocument/2006/relationships/image" Target="../media/image82.png"/><Relationship Id="rId17" Type="http://schemas.openxmlformats.org/officeDocument/2006/relationships/image" Target="../media/image87.png"/><Relationship Id="rId2" Type="http://schemas.openxmlformats.org/officeDocument/2006/relationships/notesSlide" Target="../notesSlides/notesSlide58.xml"/><Relationship Id="rId16" Type="http://schemas.openxmlformats.org/officeDocument/2006/relationships/image" Target="../media/image86.png"/><Relationship Id="rId20"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78.png"/><Relationship Id="rId24" Type="http://schemas.openxmlformats.org/officeDocument/2006/relationships/image" Target="../media/image94.png"/><Relationship Id="rId5" Type="http://schemas.openxmlformats.org/officeDocument/2006/relationships/image" Target="../media/image72.png"/><Relationship Id="rId15" Type="http://schemas.openxmlformats.org/officeDocument/2006/relationships/image" Target="../media/image85.png"/><Relationship Id="rId23" Type="http://schemas.openxmlformats.org/officeDocument/2006/relationships/image" Target="../media/image93.png"/><Relationship Id="rId10" Type="http://schemas.openxmlformats.org/officeDocument/2006/relationships/image" Target="../media/image81.png"/><Relationship Id="rId19" Type="http://schemas.openxmlformats.org/officeDocument/2006/relationships/image" Target="../media/image89.png"/><Relationship Id="rId4" Type="http://schemas.openxmlformats.org/officeDocument/2006/relationships/image" Target="../media/image71.png"/><Relationship Id="rId9" Type="http://schemas.openxmlformats.org/officeDocument/2006/relationships/image" Target="../media/image80.png"/><Relationship Id="rId14" Type="http://schemas.openxmlformats.org/officeDocument/2006/relationships/image" Target="../media/image84.png"/><Relationship Id="rId22" Type="http://schemas.openxmlformats.org/officeDocument/2006/relationships/image" Target="../media/image92.png"/></Relationships>
</file>

<file path=ppt/slides/_rels/slide60.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70.png"/><Relationship Id="rId7" Type="http://schemas.openxmlformats.org/officeDocument/2006/relationships/image" Target="../media/image74.png"/><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73.png"/><Relationship Id="rId11" Type="http://schemas.openxmlformats.org/officeDocument/2006/relationships/image" Target="../media/image83.png"/><Relationship Id="rId5" Type="http://schemas.openxmlformats.org/officeDocument/2006/relationships/image" Target="../media/image72.png"/><Relationship Id="rId10" Type="http://schemas.openxmlformats.org/officeDocument/2006/relationships/image" Target="../media/image96.png"/><Relationship Id="rId4" Type="http://schemas.openxmlformats.org/officeDocument/2006/relationships/image" Target="../media/image71.png"/><Relationship Id="rId9" Type="http://schemas.openxmlformats.org/officeDocument/2006/relationships/image" Target="../media/image85.pn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65.xml"/><Relationship Id="rId1" Type="http://schemas.openxmlformats.org/officeDocument/2006/relationships/slideLayout" Target="../slideLayouts/slideLayout2.xml"/><Relationship Id="rId4" Type="http://schemas.openxmlformats.org/officeDocument/2006/relationships/image" Target="../media/image98.png"/></Relationships>
</file>

<file path=ppt/slides/_rels/slide67.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70.xml"/><Relationship Id="rId1" Type="http://schemas.openxmlformats.org/officeDocument/2006/relationships/slideLayout" Target="../slideLayouts/slideLayout2.xml"/><Relationship Id="rId4" Type="http://schemas.openxmlformats.org/officeDocument/2006/relationships/image" Target="../media/image103.png"/></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104.jp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3" Type="http://schemas.openxmlformats.org/officeDocument/2006/relationships/image" Target="../media/image106.jpg"/><Relationship Id="rId2" Type="http://schemas.openxmlformats.org/officeDocument/2006/relationships/image" Target="../media/image105.jp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07.jp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08.jp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09.jp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111.jpg"/><Relationship Id="rId2" Type="http://schemas.openxmlformats.org/officeDocument/2006/relationships/image" Target="../media/image110.jp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12.jp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13.jp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14.jp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3" Type="http://schemas.openxmlformats.org/officeDocument/2006/relationships/image" Target="../media/image116.jpg"/><Relationship Id="rId2" Type="http://schemas.openxmlformats.org/officeDocument/2006/relationships/image" Target="../media/image115.jpg"/><Relationship Id="rId1" Type="http://schemas.openxmlformats.org/officeDocument/2006/relationships/slideLayout" Target="../slideLayouts/slideLayout12.xml"/><Relationship Id="rId4" Type="http://schemas.openxmlformats.org/officeDocument/2006/relationships/image" Target="../media/image117.jpg"/></Relationships>
</file>

<file path=ppt/slides/_rels/slide84.xml.rels><?xml version="1.0" encoding="UTF-8" standalone="yes"?>
<Relationships xmlns="http://schemas.openxmlformats.org/package/2006/relationships"><Relationship Id="rId2" Type="http://schemas.openxmlformats.org/officeDocument/2006/relationships/image" Target="../media/image118.jp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20.jpg"/><Relationship Id="rId2" Type="http://schemas.openxmlformats.org/officeDocument/2006/relationships/image" Target="../media/image119.jpg"/><Relationship Id="rId1" Type="http://schemas.openxmlformats.org/officeDocument/2006/relationships/slideLayout" Target="../slideLayouts/slideLayout12.xml"/><Relationship Id="rId4" Type="http://schemas.openxmlformats.org/officeDocument/2006/relationships/image" Target="../media/image121.jpg"/></Relationships>
</file>

<file path=ppt/slides/_rels/slide86.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124.jpg"/><Relationship Id="rId2" Type="http://schemas.openxmlformats.org/officeDocument/2006/relationships/image" Target="../media/image123.jp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image" Target="../media/image125.jp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126.jpg"/><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127.jpg"/><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2" Type="http://schemas.openxmlformats.org/officeDocument/2006/relationships/image" Target="../media/image128.jpg"/><Relationship Id="rId1" Type="http://schemas.openxmlformats.org/officeDocument/2006/relationships/slideLayout" Target="../slideLayouts/slideLayout13.xml"/></Relationships>
</file>

<file path=ppt/slides/_rels/slide93.xml.rels><?xml version="1.0" encoding="UTF-8" standalone="yes"?>
<Relationships xmlns="http://schemas.openxmlformats.org/package/2006/relationships"><Relationship Id="rId3" Type="http://schemas.openxmlformats.org/officeDocument/2006/relationships/image" Target="../media/image130.jpg"/><Relationship Id="rId2" Type="http://schemas.openxmlformats.org/officeDocument/2006/relationships/image" Target="../media/image129.jpg"/><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3" Type="http://schemas.openxmlformats.org/officeDocument/2006/relationships/image" Target="../media/image132.jpg"/><Relationship Id="rId2" Type="http://schemas.openxmlformats.org/officeDocument/2006/relationships/image" Target="../media/image131.jpg"/><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2" Type="http://schemas.openxmlformats.org/officeDocument/2006/relationships/image" Target="../media/image133.jpg"/><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134.jpg"/><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image" Target="../media/image135.jp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image" Target="../media/image136.jp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137.jp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image" Target="../media/image138.jpg"/><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image" Target="../media/image139.jp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image" Target="../media/image140.jpg"/><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image" Target="../media/image141.jpg"/><Relationship Id="rId1" Type="http://schemas.openxmlformats.org/officeDocument/2006/relationships/slideLayout" Target="../slideLayouts/slideLayout12.xml"/></Relationships>
</file>

<file path=ppt/slides/_rels/slide105.xml.rels><?xml version="1.0" encoding="UTF-8" standalone="yes"?>
<Relationships xmlns="http://schemas.openxmlformats.org/package/2006/relationships"><Relationship Id="rId2" Type="http://schemas.openxmlformats.org/officeDocument/2006/relationships/image" Target="../media/image142.jp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143.jp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3" Type="http://schemas.openxmlformats.org/officeDocument/2006/relationships/image" Target="../media/image145.jpg"/><Relationship Id="rId2" Type="http://schemas.openxmlformats.org/officeDocument/2006/relationships/image" Target="../media/image144.jpg"/><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146.jpg"/><Relationship Id="rId1" Type="http://schemas.openxmlformats.org/officeDocument/2006/relationships/slideLayout" Target="../slideLayouts/slideLayout13.xml"/></Relationships>
</file>

<file path=ppt/slides/_rels/slide109.xml.rels><?xml version="1.0" encoding="UTF-8" standalone="yes"?>
<Relationships xmlns="http://schemas.openxmlformats.org/package/2006/relationships"><Relationship Id="rId3" Type="http://schemas.openxmlformats.org/officeDocument/2006/relationships/image" Target="../media/image148.jpg"/><Relationship Id="rId2" Type="http://schemas.openxmlformats.org/officeDocument/2006/relationships/image" Target="../media/image147.jpg"/><Relationship Id="rId1" Type="http://schemas.openxmlformats.org/officeDocument/2006/relationships/slideLayout" Target="../slideLayouts/slideLayout13.xml"/><Relationship Id="rId5" Type="http://schemas.openxmlformats.org/officeDocument/2006/relationships/image" Target="../media/image150.jpg"/><Relationship Id="rId4" Type="http://schemas.openxmlformats.org/officeDocument/2006/relationships/image" Target="../media/image149.jpg"/></Relationships>
</file>

<file path=ppt/slides/_rels/slide110.xml.rels><?xml version="1.0" encoding="UTF-8" standalone="yes"?>
<Relationships xmlns="http://schemas.openxmlformats.org/package/2006/relationships"><Relationship Id="rId2" Type="http://schemas.openxmlformats.org/officeDocument/2006/relationships/image" Target="../media/image151.jpg"/><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4.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52.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5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59.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62.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67.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46.jp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40.jp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p:nvPr/>
        </p:nvSpPr>
        <p:spPr>
          <a:xfrm>
            <a:off x="3048000" y="2667000"/>
            <a:ext cx="4800600" cy="737061"/>
          </a:xfrm>
          <a:prstGeom prst="rect">
            <a:avLst/>
          </a:prstGeom>
          <a:noFill/>
          <a:ln>
            <a:noFill/>
          </a:ln>
        </p:spPr>
        <p:txBody>
          <a:bodyPr spcFirstLastPara="1" wrap="square" lIns="0" tIns="12700" rIns="0" bIns="0" anchor="t" anchorCtr="0">
            <a:spAutoFit/>
          </a:bodyPr>
          <a:lstStyle/>
          <a:p>
            <a:pPr marL="69850" marR="5080" lvl="0" indent="-57785" algn="l" rtl="0">
              <a:lnSpc>
                <a:spcPct val="149500"/>
              </a:lnSpc>
              <a:spcBef>
                <a:spcPts val="0"/>
              </a:spcBef>
              <a:spcAft>
                <a:spcPts val="0"/>
              </a:spcAft>
              <a:buClr>
                <a:srgbClr val="000000"/>
              </a:buClr>
              <a:buSzPts val="3600"/>
              <a:buFont typeface="Arial"/>
              <a:buNone/>
            </a:pPr>
            <a:r>
              <a:rPr lang="fr-FR" sz="3600" b="1" i="0" u="none" strike="noStrike" cap="none">
                <a:solidFill>
                  <a:srgbClr val="565F6C"/>
                </a:solidFill>
                <a:latin typeface="Century Schoolbook"/>
                <a:ea typeface="Century Schoolbook"/>
                <a:cs typeface="Century Schoolbook"/>
                <a:sym typeface="Century Schoolbook"/>
              </a:rPr>
              <a:t>  </a:t>
            </a:r>
            <a:endParaRPr sz="3600" b="1" i="0" u="none" strike="noStrike" cap="none">
              <a:solidFill>
                <a:srgbClr val="565F6C"/>
              </a:solidFill>
              <a:latin typeface="Century Schoolbook"/>
              <a:ea typeface="Century Schoolbook"/>
              <a:cs typeface="Century Schoolbook"/>
              <a:sym typeface="Century Schoolbook"/>
            </a:endParaRPr>
          </a:p>
        </p:txBody>
      </p:sp>
      <p:sp>
        <p:nvSpPr>
          <p:cNvPr id="90" name="Google Shape;90;p13"/>
          <p:cNvSpPr txBox="1"/>
          <p:nvPr/>
        </p:nvSpPr>
        <p:spPr>
          <a:xfrm>
            <a:off x="2668016" y="0"/>
            <a:ext cx="5582920" cy="322845"/>
          </a:xfrm>
          <a:prstGeom prst="rect">
            <a:avLst/>
          </a:prstGeom>
          <a:noFill/>
          <a:ln>
            <a:noFill/>
          </a:ln>
        </p:spPr>
        <p:txBody>
          <a:bodyPr spcFirstLastPara="1" wrap="square" lIns="0" tIns="12700" rIns="0" bIns="0" anchor="t" anchorCtr="0">
            <a:spAutoFit/>
          </a:bodyPr>
          <a:lstStyle/>
          <a:p>
            <a:pPr marL="857885" marR="859155" lvl="0" indent="0" algn="ctr" rtl="0">
              <a:lnSpc>
                <a:spcPct val="125200"/>
              </a:lnSpc>
              <a:spcBef>
                <a:spcPts val="0"/>
              </a:spcBef>
              <a:spcAft>
                <a:spcPts val="0"/>
              </a:spcAft>
              <a:buClr>
                <a:srgbClr val="000000"/>
              </a:buClr>
              <a:buSzPts val="1800"/>
              <a:buFont typeface="Arial"/>
              <a:buNone/>
            </a:pPr>
            <a:r>
              <a:rPr lang="fr-FR" sz="1800" b="1" i="0" u="none" strike="noStrike" cap="none">
                <a:solidFill>
                  <a:srgbClr val="565F6C"/>
                </a:solidFill>
                <a:latin typeface="Century Schoolbook"/>
                <a:ea typeface="Century Schoolbook"/>
                <a:cs typeface="Century Schoolbook"/>
                <a:sym typeface="Century Schoolbook"/>
              </a:rPr>
              <a:t> </a:t>
            </a:r>
            <a:endParaRPr sz="2000" b="0" i="0" u="none" strike="noStrike" cap="none">
              <a:solidFill>
                <a:schemeClr val="dk1"/>
              </a:solidFill>
              <a:latin typeface="Century Schoolbook"/>
              <a:ea typeface="Century Schoolbook"/>
              <a:cs typeface="Century Schoolbook"/>
              <a:sym typeface="Century Schoolbook"/>
            </a:endParaRPr>
          </a:p>
        </p:txBody>
      </p:sp>
      <p:sp>
        <p:nvSpPr>
          <p:cNvPr id="91" name="Google Shape;91;p13"/>
          <p:cNvSpPr txBox="1"/>
          <p:nvPr/>
        </p:nvSpPr>
        <p:spPr>
          <a:xfrm>
            <a:off x="228600" y="1718785"/>
            <a:ext cx="8610600" cy="1446550"/>
          </a:xfrm>
          <a:prstGeom prst="rect">
            <a:avLst/>
          </a:prstGeom>
          <a:solidFill>
            <a:schemeClr val="accent2"/>
          </a:solidFill>
          <a:ln w="38100" cap="flat" cmpd="sng">
            <a:solidFill>
              <a:schemeClr val="lt1"/>
            </a:solidFill>
            <a:prstDash val="solid"/>
            <a:round/>
            <a:headEnd type="none" w="sm" len="sm"/>
            <a:tailEnd type="none" w="sm" len="sm"/>
          </a:ln>
          <a:effectLst>
            <a:outerShdw blurRad="40000" dist="20000" dir="5400000" rotWithShape="0">
              <a:srgbClr val="000000">
                <a:alpha val="37254"/>
              </a:srgbClr>
            </a:outerShdw>
          </a:effectLst>
        </p:spPr>
        <p:txBody>
          <a:bodyPr spcFirstLastPara="1" wrap="square" lIns="91425" tIns="45700" rIns="91425" bIns="45700" anchor="t" anchorCtr="0">
            <a:spAutoFit/>
          </a:bodyPr>
          <a:lstStyle/>
          <a:p>
            <a:pPr marL="12700" marR="0" lvl="0" indent="0" algn="ctr" rtl="0">
              <a:lnSpc>
                <a:spcPct val="100000"/>
              </a:lnSpc>
              <a:spcBef>
                <a:spcPts val="0"/>
              </a:spcBef>
              <a:spcAft>
                <a:spcPts val="0"/>
              </a:spcAft>
              <a:buClr>
                <a:srgbClr val="000000"/>
              </a:buClr>
              <a:buSzPts val="4400"/>
              <a:buFont typeface="Arial"/>
              <a:buNone/>
            </a:pPr>
            <a:r>
              <a:rPr lang="fr-FR" sz="4400" b="0" i="0" u="none" strike="noStrike" cap="none">
                <a:solidFill>
                  <a:schemeClr val="lt1"/>
                </a:solidFill>
                <a:latin typeface="Century Schoolbook"/>
                <a:ea typeface="Century Schoolbook"/>
                <a:cs typeface="Century Schoolbook"/>
                <a:sym typeface="Century Schoolbook"/>
              </a:rPr>
              <a:t>Introduction Générale aux Systèmes d’Exploitation </a:t>
            </a:r>
            <a:endParaRPr sz="1400" b="0" i="0" u="none" strike="noStrike" cap="none">
              <a:solidFill>
                <a:srgbClr val="000000"/>
              </a:solidFill>
              <a:latin typeface="Arial"/>
              <a:ea typeface="Arial"/>
              <a:cs typeface="Arial"/>
              <a:sym typeface="Arial"/>
            </a:endParaRPr>
          </a:p>
        </p:txBody>
      </p:sp>
      <p:pic>
        <p:nvPicPr>
          <p:cNvPr id="92" name="Google Shape;92;p13"/>
          <p:cNvPicPr preferRelativeResize="0"/>
          <p:nvPr/>
        </p:nvPicPr>
        <p:blipFill rotWithShape="1">
          <a:blip r:embed="rId3">
            <a:alphaModFix/>
          </a:blip>
          <a:srcRect/>
          <a:stretch/>
        </p:blipFill>
        <p:spPr>
          <a:xfrm>
            <a:off x="80706" y="29780"/>
            <a:ext cx="3115187" cy="104176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2</a:t>
            </a:fld>
            <a:endParaRPr/>
          </a:p>
        </p:txBody>
      </p:sp>
      <p:sp>
        <p:nvSpPr>
          <p:cNvPr id="99" name="Google Shape;99;p14"/>
          <p:cNvSpPr txBox="1">
            <a:spLocks noGrp="1"/>
          </p:cNvSpPr>
          <p:nvPr>
            <p:ph type="title"/>
          </p:nvPr>
        </p:nvSpPr>
        <p:spPr>
          <a:xfrm>
            <a:off x="457200" y="274638"/>
            <a:ext cx="8229600" cy="7921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a:t>Plan</a:t>
            </a:r>
            <a:endParaRPr/>
          </a:p>
        </p:txBody>
      </p:sp>
      <p:sp>
        <p:nvSpPr>
          <p:cNvPr id="100" name="Google Shape;100;p1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533400" lvl="0" indent="-533400" algn="l" rtl="0">
              <a:lnSpc>
                <a:spcPct val="100000"/>
              </a:lnSpc>
              <a:spcBef>
                <a:spcPts val="0"/>
              </a:spcBef>
              <a:spcAft>
                <a:spcPts val="0"/>
              </a:spcAft>
              <a:buClr>
                <a:srgbClr val="000000"/>
              </a:buClr>
              <a:buSzPts val="2800"/>
              <a:buFont typeface="Noto Sans Symbols"/>
              <a:buAutoNum type="arabicPeriod"/>
            </a:pPr>
            <a:r>
              <a:rPr lang="fr-FR" sz="2800">
                <a:solidFill>
                  <a:srgbClr val="000000"/>
                </a:solidFill>
                <a:latin typeface="Times New Roman"/>
                <a:ea typeface="Times New Roman"/>
                <a:cs typeface="Times New Roman"/>
                <a:sym typeface="Times New Roman"/>
              </a:rPr>
              <a:t>Définition</a:t>
            </a:r>
            <a:endParaRPr/>
          </a:p>
          <a:p>
            <a:pPr marL="533400" lvl="0" indent="-533400" algn="l" rtl="0">
              <a:lnSpc>
                <a:spcPct val="100000"/>
              </a:lnSpc>
              <a:spcBef>
                <a:spcPts val="560"/>
              </a:spcBef>
              <a:spcAft>
                <a:spcPts val="0"/>
              </a:spcAft>
              <a:buClr>
                <a:srgbClr val="000000"/>
              </a:buClr>
              <a:buSzPts val="2800"/>
              <a:buFont typeface="Noto Sans Symbols"/>
              <a:buAutoNum type="arabicPeriod"/>
            </a:pPr>
            <a:r>
              <a:rPr lang="fr-FR" sz="2800">
                <a:solidFill>
                  <a:srgbClr val="000000"/>
                </a:solidFill>
                <a:latin typeface="Times New Roman"/>
                <a:ea typeface="Times New Roman"/>
                <a:cs typeface="Times New Roman"/>
                <a:sym typeface="Times New Roman"/>
              </a:rPr>
              <a:t>Les différents types de système d’exploitation.</a:t>
            </a:r>
            <a:endParaRPr/>
          </a:p>
          <a:p>
            <a:pPr marL="533400" lvl="0" indent="-533400" algn="l" rtl="0">
              <a:lnSpc>
                <a:spcPct val="100000"/>
              </a:lnSpc>
              <a:spcBef>
                <a:spcPts val="560"/>
              </a:spcBef>
              <a:spcAft>
                <a:spcPts val="0"/>
              </a:spcAft>
              <a:buClr>
                <a:srgbClr val="000000"/>
              </a:buClr>
              <a:buSzPts val="2800"/>
              <a:buFont typeface="Noto Sans Symbols"/>
              <a:buAutoNum type="arabicPeriod"/>
            </a:pPr>
            <a:r>
              <a:rPr lang="fr-FR" sz="2800">
                <a:solidFill>
                  <a:srgbClr val="000000"/>
                </a:solidFill>
                <a:latin typeface="Times New Roman"/>
                <a:ea typeface="Times New Roman"/>
                <a:cs typeface="Times New Roman"/>
                <a:sym typeface="Times New Roman"/>
              </a:rPr>
              <a:t>Rôles du système d’exploitation</a:t>
            </a:r>
            <a:endParaRPr/>
          </a:p>
          <a:p>
            <a:pPr marL="533400" lvl="0" indent="-533400" algn="l" rtl="0">
              <a:lnSpc>
                <a:spcPct val="100000"/>
              </a:lnSpc>
              <a:spcBef>
                <a:spcPts val="560"/>
              </a:spcBef>
              <a:spcAft>
                <a:spcPts val="0"/>
              </a:spcAft>
              <a:buClr>
                <a:srgbClr val="000000"/>
              </a:buClr>
              <a:buSzPts val="2800"/>
              <a:buFont typeface="Noto Sans Symbols"/>
              <a:buAutoNum type="arabicPeriod"/>
            </a:pPr>
            <a:r>
              <a:rPr lang="fr-FR" sz="2800">
                <a:solidFill>
                  <a:srgbClr val="000000"/>
                </a:solidFill>
                <a:latin typeface="Times New Roman"/>
                <a:ea typeface="Times New Roman"/>
                <a:cs typeface="Times New Roman"/>
                <a:sym typeface="Times New Roman"/>
              </a:rPr>
              <a:t>Historique</a:t>
            </a:r>
            <a:endParaRPr/>
          </a:p>
          <a:p>
            <a:pPr marL="533400" lvl="0" indent="-533400" algn="l" rtl="0">
              <a:lnSpc>
                <a:spcPct val="100000"/>
              </a:lnSpc>
              <a:spcBef>
                <a:spcPts val="560"/>
              </a:spcBef>
              <a:spcAft>
                <a:spcPts val="0"/>
              </a:spcAft>
              <a:buClr>
                <a:srgbClr val="000000"/>
              </a:buClr>
              <a:buSzPts val="2800"/>
              <a:buFont typeface="Noto Sans Symbols"/>
              <a:buAutoNum type="arabicPeriod"/>
            </a:pPr>
            <a:r>
              <a:rPr lang="fr-FR" sz="2800">
                <a:solidFill>
                  <a:srgbClr val="000000"/>
                </a:solidFill>
                <a:latin typeface="Times New Roman"/>
                <a:ea typeface="Times New Roman"/>
                <a:cs typeface="Times New Roman"/>
                <a:sym typeface="Times New Roman"/>
              </a:rPr>
              <a:t>Structure des systèmes d’exploitation </a:t>
            </a:r>
            <a:endParaRPr/>
          </a:p>
          <a:p>
            <a:pPr marL="533400" lvl="0" indent="-330200" algn="l" rtl="0">
              <a:lnSpc>
                <a:spcPct val="100000"/>
              </a:lnSpc>
              <a:spcBef>
                <a:spcPts val="640"/>
              </a:spcBef>
              <a:spcAft>
                <a:spcPts val="0"/>
              </a:spcAft>
              <a:buClr>
                <a:schemeClr val="dk1"/>
              </a:buClr>
              <a:buSzPts val="3200"/>
              <a:buFont typeface="Noto Sans Symbols"/>
              <a:buNone/>
            </a:pPr>
            <a:endParaRPr b="1">
              <a:solidFill>
                <a:srgbClr val="1919F9"/>
              </a:solidFill>
              <a:latin typeface="Georgia"/>
              <a:ea typeface="Georgia"/>
              <a:cs typeface="Georgia"/>
              <a:sym typeface="Georgia"/>
            </a:endParaRPr>
          </a:p>
          <a:p>
            <a:pPr marL="533400" lvl="0" indent="-330200" algn="l" rtl="0">
              <a:lnSpc>
                <a:spcPct val="100000"/>
              </a:lnSpc>
              <a:spcBef>
                <a:spcPts val="640"/>
              </a:spcBef>
              <a:spcAft>
                <a:spcPts val="0"/>
              </a:spcAft>
              <a:buClr>
                <a:schemeClr val="dk1"/>
              </a:buClr>
              <a:buSzPts val="3200"/>
              <a:buFont typeface="Noto Sans Symbols"/>
              <a:buNone/>
            </a:pPr>
            <a:endParaRPr b="1" u="sng">
              <a:solidFill>
                <a:srgbClr val="1919F9"/>
              </a:solidFill>
              <a:latin typeface="Georgia"/>
              <a:ea typeface="Georgia"/>
              <a:cs typeface="Georgia"/>
              <a:sym typeface="Georgia"/>
            </a:endParaRPr>
          </a:p>
          <a:p>
            <a:pPr marL="0" lvl="0" indent="0" algn="l" rtl="0">
              <a:lnSpc>
                <a:spcPct val="100000"/>
              </a:lnSpc>
              <a:spcBef>
                <a:spcPts val="640"/>
              </a:spcBef>
              <a:spcAft>
                <a:spcPts val="0"/>
              </a:spcAft>
              <a:buClr>
                <a:schemeClr val="dk1"/>
              </a:buClr>
              <a:buSzPts val="3200"/>
              <a:buNone/>
            </a:pPr>
            <a:endParaRPr b="1" u="sng">
              <a:solidFill>
                <a:srgbClr val="1919F9"/>
              </a:solidFill>
              <a:latin typeface="Georgia"/>
              <a:ea typeface="Georgia"/>
              <a:cs typeface="Georgia"/>
              <a:sym typeface="Georgia"/>
            </a:endParaRPr>
          </a:p>
          <a:p>
            <a:pPr marL="533400" lvl="0" indent="-330200" algn="l" rtl="0">
              <a:lnSpc>
                <a:spcPct val="100000"/>
              </a:lnSpc>
              <a:spcBef>
                <a:spcPts val="640"/>
              </a:spcBef>
              <a:spcAft>
                <a:spcPts val="0"/>
              </a:spcAft>
              <a:buClr>
                <a:schemeClr val="dk1"/>
              </a:buClr>
              <a:buSzPts val="3200"/>
              <a:buFont typeface="Noto Sans Symbols"/>
              <a:buNone/>
            </a:pPr>
            <a:endParaRPr/>
          </a:p>
        </p:txBody>
      </p:sp>
      <p:pic>
        <p:nvPicPr>
          <p:cNvPr id="101" name="Google Shape;101;p14"/>
          <p:cNvPicPr preferRelativeResize="0"/>
          <p:nvPr/>
        </p:nvPicPr>
        <p:blipFill rotWithShape="1">
          <a:blip r:embed="rId3">
            <a:alphaModFix/>
          </a:blip>
          <a:srcRect/>
          <a:stretch/>
        </p:blipFill>
        <p:spPr>
          <a:xfrm>
            <a:off x="80706" y="29780"/>
            <a:ext cx="3115187" cy="104176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15"/>
          <p:cNvSpPr/>
          <p:nvPr/>
        </p:nvSpPr>
        <p:spPr>
          <a:xfrm>
            <a:off x="717577" y="4233990"/>
            <a:ext cx="201336" cy="201336"/>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566"/>
              <a:buFont typeface="Arial"/>
              <a:buNone/>
            </a:pPr>
            <a:endParaRPr sz="3566" b="0" i="0" u="none" strike="noStrike" cap="none">
              <a:solidFill>
                <a:srgbClr val="000000"/>
              </a:solidFill>
              <a:latin typeface="Calibri"/>
              <a:ea typeface="Calibri"/>
              <a:cs typeface="Calibri"/>
              <a:sym typeface="Calibri"/>
            </a:endParaRPr>
          </a:p>
        </p:txBody>
      </p:sp>
      <p:sp>
        <p:nvSpPr>
          <p:cNvPr id="108" name="Google Shape;108;p15"/>
          <p:cNvSpPr/>
          <p:nvPr/>
        </p:nvSpPr>
        <p:spPr>
          <a:xfrm>
            <a:off x="8523013" y="1907435"/>
            <a:ext cx="0" cy="25167"/>
          </a:xfrm>
          <a:custGeom>
            <a:avLst/>
            <a:gdLst/>
            <a:ahLst/>
            <a:cxnLst/>
            <a:rect l="l" t="t" r="r" b="b"/>
            <a:pathLst>
              <a:path w="120000" h="12700" extrusionOk="0">
                <a:moveTo>
                  <a:pt x="0" y="12700"/>
                </a:moveTo>
                <a:lnTo>
                  <a:pt x="0" y="0"/>
                </a:lnTo>
              </a:path>
            </a:pathLst>
          </a:custGeom>
          <a:noFill/>
          <a:ln w="9525" cap="flat" cmpd="sng">
            <a:solidFill>
              <a:srgbClr val="AFAFA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566"/>
              <a:buFont typeface="Arial"/>
              <a:buNone/>
            </a:pPr>
            <a:endParaRPr sz="3566" b="0" i="0" u="none" strike="noStrike" cap="none">
              <a:solidFill>
                <a:srgbClr val="000000"/>
              </a:solidFill>
              <a:latin typeface="Calibri"/>
              <a:ea typeface="Calibri"/>
              <a:cs typeface="Calibri"/>
              <a:sym typeface="Calibri"/>
            </a:endParaRPr>
          </a:p>
        </p:txBody>
      </p:sp>
      <p:sp>
        <p:nvSpPr>
          <p:cNvPr id="109" name="Google Shape;109;p15"/>
          <p:cNvSpPr/>
          <p:nvPr/>
        </p:nvSpPr>
        <p:spPr>
          <a:xfrm>
            <a:off x="8523013" y="1882268"/>
            <a:ext cx="0" cy="25167"/>
          </a:xfrm>
          <a:custGeom>
            <a:avLst/>
            <a:gdLst/>
            <a:ahLst/>
            <a:cxnLst/>
            <a:rect l="l" t="t" r="r" b="b"/>
            <a:pathLst>
              <a:path w="120000" h="12700" extrusionOk="0">
                <a:moveTo>
                  <a:pt x="0" y="12700"/>
                </a:moveTo>
                <a:lnTo>
                  <a:pt x="0" y="0"/>
                </a:lnTo>
              </a:path>
            </a:pathLst>
          </a:custGeom>
          <a:noFill/>
          <a:ln w="9525" cap="flat" cmpd="sng">
            <a:solidFill>
              <a:srgbClr val="CECECE"/>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566"/>
              <a:buFont typeface="Arial"/>
              <a:buNone/>
            </a:pPr>
            <a:endParaRPr sz="3566" b="0" i="0" u="none" strike="noStrike" cap="none">
              <a:solidFill>
                <a:srgbClr val="000000"/>
              </a:solidFill>
              <a:latin typeface="Calibri"/>
              <a:ea typeface="Calibri"/>
              <a:cs typeface="Calibri"/>
              <a:sym typeface="Calibri"/>
            </a:endParaRPr>
          </a:p>
        </p:txBody>
      </p:sp>
      <p:sp>
        <p:nvSpPr>
          <p:cNvPr id="110" name="Google Shape;110;p15"/>
          <p:cNvSpPr/>
          <p:nvPr/>
        </p:nvSpPr>
        <p:spPr>
          <a:xfrm>
            <a:off x="8523013" y="1857101"/>
            <a:ext cx="0" cy="25167"/>
          </a:xfrm>
          <a:custGeom>
            <a:avLst/>
            <a:gdLst/>
            <a:ahLst/>
            <a:cxnLst/>
            <a:rect l="l" t="t" r="r" b="b"/>
            <a:pathLst>
              <a:path w="120000" h="12700" extrusionOk="0">
                <a:moveTo>
                  <a:pt x="0" y="12700"/>
                </a:moveTo>
                <a:lnTo>
                  <a:pt x="0" y="0"/>
                </a:lnTo>
              </a:path>
            </a:pathLst>
          </a:custGeom>
          <a:noFill/>
          <a:ln w="9525" cap="flat" cmpd="sng">
            <a:solidFill>
              <a:srgbClr val="EFEFE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3566"/>
              <a:buFont typeface="Arial"/>
              <a:buNone/>
            </a:pPr>
            <a:endParaRPr sz="3566" b="0" i="0" u="none" strike="noStrike" cap="none">
              <a:solidFill>
                <a:srgbClr val="000000"/>
              </a:solidFill>
              <a:latin typeface="Calibri"/>
              <a:ea typeface="Calibri"/>
              <a:cs typeface="Calibri"/>
              <a:sym typeface="Calibri"/>
            </a:endParaRPr>
          </a:p>
        </p:txBody>
      </p:sp>
      <p:sp>
        <p:nvSpPr>
          <p:cNvPr id="111" name="Google Shape;111;p15"/>
          <p:cNvSpPr txBox="1"/>
          <p:nvPr/>
        </p:nvSpPr>
        <p:spPr>
          <a:xfrm>
            <a:off x="152400" y="441825"/>
            <a:ext cx="8800050" cy="2721774"/>
          </a:xfrm>
          <a:prstGeom prst="rect">
            <a:avLst/>
          </a:prstGeom>
          <a:noFill/>
          <a:ln>
            <a:noFill/>
          </a:ln>
        </p:spPr>
        <p:txBody>
          <a:bodyPr spcFirstLastPara="1" wrap="square" lIns="0" tIns="33975" rIns="0" bIns="0" anchor="t" anchorCtr="0">
            <a:spAutoFit/>
          </a:bodyPr>
          <a:lstStyle/>
          <a:p>
            <a:pPr marL="1895120" marR="0" lvl="0" indent="0" algn="l" rtl="0">
              <a:lnSpc>
                <a:spcPct val="100000"/>
              </a:lnSpc>
              <a:spcBef>
                <a:spcPts val="0"/>
              </a:spcBef>
              <a:spcAft>
                <a:spcPts val="0"/>
              </a:spcAft>
              <a:buClr>
                <a:srgbClr val="000000"/>
              </a:buClr>
              <a:buSzPts val="2800"/>
              <a:buFont typeface="Arial"/>
              <a:buNone/>
            </a:pPr>
            <a:r>
              <a:rPr lang="fr-FR" sz="2800" b="1" i="0" u="sng" strike="noStrike" cap="none">
                <a:solidFill>
                  <a:schemeClr val="dk1"/>
                </a:solidFill>
                <a:latin typeface="Calibri"/>
                <a:ea typeface="Calibri"/>
                <a:cs typeface="Calibri"/>
                <a:sym typeface="Calibri"/>
              </a:rPr>
              <a:t>Système d’exploitation</a:t>
            </a:r>
            <a:endParaRPr sz="1400" b="0" i="0" u="none" strike="noStrike" cap="none">
              <a:solidFill>
                <a:srgbClr val="000000"/>
              </a:solidFill>
              <a:latin typeface="Arial"/>
              <a:ea typeface="Arial"/>
              <a:cs typeface="Arial"/>
              <a:sym typeface="Arial"/>
            </a:endParaRPr>
          </a:p>
          <a:p>
            <a:pPr marL="25168" marR="0" lvl="0" indent="0" algn="l" rtl="0">
              <a:lnSpc>
                <a:spcPct val="100000"/>
              </a:lnSpc>
              <a:spcBef>
                <a:spcPts val="2715"/>
              </a:spcBef>
              <a:spcAft>
                <a:spcPts val="0"/>
              </a:spcAft>
              <a:buClr>
                <a:srgbClr val="000000"/>
              </a:buClr>
              <a:buSzPts val="2180"/>
              <a:buFont typeface="Arial"/>
              <a:buNone/>
            </a:pPr>
            <a:r>
              <a:rPr lang="fr-FR" sz="2180" b="1" i="0" u="sng" strike="noStrike" cap="none">
                <a:solidFill>
                  <a:srgbClr val="1919F9"/>
                </a:solidFill>
                <a:latin typeface="Georgia"/>
                <a:ea typeface="Georgia"/>
                <a:cs typeface="Georgia"/>
                <a:sym typeface="Georgia"/>
              </a:rPr>
              <a:t>Déftnition   </a:t>
            </a:r>
            <a:endParaRPr sz="2180" b="0" i="0" u="sng" strike="noStrike" cap="none">
              <a:solidFill>
                <a:srgbClr val="000000"/>
              </a:solidFill>
              <a:latin typeface="Georgia"/>
              <a:ea typeface="Georgia"/>
              <a:cs typeface="Georgia"/>
              <a:sym typeface="Georgia"/>
            </a:endParaRPr>
          </a:p>
          <a:p>
            <a:pPr marL="25168" marR="10067" lvl="0" indent="0" algn="just" rtl="0">
              <a:lnSpc>
                <a:spcPct val="102600"/>
              </a:lnSpc>
              <a:spcBef>
                <a:spcPts val="761"/>
              </a:spcBef>
              <a:spcAft>
                <a:spcPts val="0"/>
              </a:spcAft>
              <a:buClr>
                <a:srgbClr val="000000"/>
              </a:buClr>
              <a:buSzPts val="2378"/>
              <a:buFont typeface="Arial"/>
              <a:buNone/>
            </a:pPr>
            <a:r>
              <a:rPr lang="fr-FR" sz="2378" b="0" i="0" u="none" strike="noStrike" cap="none">
                <a:solidFill>
                  <a:srgbClr val="000000"/>
                </a:solidFill>
                <a:latin typeface="Times New Roman"/>
                <a:ea typeface="Times New Roman"/>
                <a:cs typeface="Times New Roman"/>
                <a:sym typeface="Times New Roman"/>
              </a:rPr>
              <a:t>Un système d’exploitation (</a:t>
            </a:r>
            <a:r>
              <a:rPr lang="fr-FR" sz="2378" b="1" i="0" u="none" strike="noStrike" cap="none">
                <a:solidFill>
                  <a:srgbClr val="000000"/>
                </a:solidFill>
                <a:latin typeface="Times New Roman"/>
                <a:ea typeface="Times New Roman"/>
                <a:cs typeface="Times New Roman"/>
                <a:sym typeface="Times New Roman"/>
              </a:rPr>
              <a:t>SE</a:t>
            </a:r>
            <a:r>
              <a:rPr lang="fr-FR" sz="2378" b="0" i="0" u="none" strike="noStrike" cap="none">
                <a:solidFill>
                  <a:srgbClr val="000000"/>
                </a:solidFill>
                <a:latin typeface="Times New Roman"/>
                <a:ea typeface="Times New Roman"/>
                <a:cs typeface="Times New Roman"/>
                <a:sym typeface="Times New Roman"/>
              </a:rPr>
              <a:t>) en anglais (operating system) est un ensemble de programmes  responsables de la liaison entre les ressources matérielles d’un ordinateur et les applications informatiques de l’utilisateur</a:t>
            </a:r>
            <a:endParaRPr sz="2378" b="0" i="0" u="none" strike="noStrike" cap="none">
              <a:solidFill>
                <a:srgbClr val="000000"/>
              </a:solidFill>
              <a:latin typeface="Times New Roman"/>
              <a:ea typeface="Times New Roman"/>
              <a:cs typeface="Times New Roman"/>
              <a:sym typeface="Times New Roman"/>
            </a:endParaRPr>
          </a:p>
          <a:p>
            <a:pPr marL="25168" marR="10067" lvl="0" indent="0" algn="just" rtl="0">
              <a:lnSpc>
                <a:spcPct val="102600"/>
              </a:lnSpc>
              <a:spcBef>
                <a:spcPts val="0"/>
              </a:spcBef>
              <a:spcAft>
                <a:spcPts val="0"/>
              </a:spcAft>
              <a:buClr>
                <a:srgbClr val="000000"/>
              </a:buClr>
              <a:buSzPts val="2180"/>
              <a:buFont typeface="Arial"/>
              <a:buNone/>
            </a:pPr>
            <a:r>
              <a:rPr lang="fr-FR" sz="2180" b="0" i="0" u="none" strike="noStrike" cap="none">
                <a:solidFill>
                  <a:srgbClr val="000000"/>
                </a:solidFill>
                <a:latin typeface="Georgia"/>
                <a:ea typeface="Georgia"/>
                <a:cs typeface="Georgia"/>
                <a:sym typeface="Georgia"/>
              </a:rPr>
              <a:t> </a:t>
            </a:r>
            <a:endParaRPr sz="2180" b="0" i="0" u="none" strike="noStrike" cap="none">
              <a:solidFill>
                <a:srgbClr val="000000"/>
              </a:solidFill>
              <a:latin typeface="Georgia"/>
              <a:ea typeface="Georgia"/>
              <a:cs typeface="Georgia"/>
              <a:sym typeface="Georgia"/>
            </a:endParaRPr>
          </a:p>
        </p:txBody>
      </p:sp>
      <p:sp>
        <p:nvSpPr>
          <p:cNvPr id="112" name="Google Shape;112;p15"/>
          <p:cNvSpPr/>
          <p:nvPr/>
        </p:nvSpPr>
        <p:spPr>
          <a:xfrm>
            <a:off x="4191000" y="3431660"/>
            <a:ext cx="4567806" cy="1922001"/>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378"/>
              <a:buFont typeface="Arial"/>
              <a:buNone/>
            </a:pPr>
            <a:r>
              <a:rPr lang="fr-FR" sz="2378" b="0" i="0" u="none" strike="noStrike" cap="none">
                <a:solidFill>
                  <a:srgbClr val="000000"/>
                </a:solidFill>
                <a:latin typeface="Times New Roman"/>
                <a:ea typeface="Times New Roman"/>
                <a:cs typeface="Times New Roman"/>
                <a:sym typeface="Times New Roman"/>
              </a:rPr>
              <a:t>L’utilisateur travaille avec ses logiciels.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378"/>
              <a:buFont typeface="Arial"/>
              <a:buNone/>
            </a:pPr>
            <a:r>
              <a:rPr lang="fr-FR" sz="2378" b="0" i="0" u="none" strike="noStrike" cap="none">
                <a:solidFill>
                  <a:srgbClr val="000000"/>
                </a:solidFill>
                <a:latin typeface="Times New Roman"/>
                <a:ea typeface="Times New Roman"/>
                <a:cs typeface="Times New Roman"/>
                <a:sym typeface="Times New Roman"/>
              </a:rPr>
              <a:t>Les logiciels communiquent avec l’OS.</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378"/>
              <a:buFont typeface="Arial"/>
              <a:buNone/>
            </a:pPr>
            <a:r>
              <a:rPr lang="fr-FR" sz="2378" b="0" i="0" u="none" strike="noStrike" cap="none">
                <a:solidFill>
                  <a:srgbClr val="000000"/>
                </a:solidFill>
                <a:latin typeface="Times New Roman"/>
                <a:ea typeface="Times New Roman"/>
                <a:cs typeface="Times New Roman"/>
                <a:sym typeface="Times New Roman"/>
              </a:rPr>
              <a:t>L’OS échange avec l’ordinateur.</a:t>
            </a:r>
            <a:endParaRPr sz="1400" b="0" i="0" u="none" strike="noStrike" cap="none">
              <a:solidFill>
                <a:srgbClr val="000000"/>
              </a:solidFill>
              <a:latin typeface="Arial"/>
              <a:ea typeface="Arial"/>
              <a:cs typeface="Arial"/>
              <a:sym typeface="Arial"/>
            </a:endParaRPr>
          </a:p>
        </p:txBody>
      </p:sp>
      <p:pic>
        <p:nvPicPr>
          <p:cNvPr id="113" name="Google Shape;113;p15"/>
          <p:cNvPicPr preferRelativeResize="0"/>
          <p:nvPr/>
        </p:nvPicPr>
        <p:blipFill rotWithShape="1">
          <a:blip r:embed="rId4">
            <a:alphaModFix/>
          </a:blip>
          <a:srcRect/>
          <a:stretch/>
        </p:blipFill>
        <p:spPr>
          <a:xfrm>
            <a:off x="343950" y="3431660"/>
            <a:ext cx="3710329" cy="2884837"/>
          </a:xfrm>
          <a:prstGeom prst="rect">
            <a:avLst/>
          </a:prstGeom>
          <a:noFill/>
          <a:ln>
            <a:noFill/>
          </a:ln>
        </p:spPr>
      </p:pic>
      <p:pic>
        <p:nvPicPr>
          <p:cNvPr id="114" name="Google Shape;114;p15"/>
          <p:cNvPicPr preferRelativeResize="0"/>
          <p:nvPr/>
        </p:nvPicPr>
        <p:blipFill rotWithShape="1">
          <a:blip r:embed="rId5">
            <a:alphaModFix/>
          </a:blip>
          <a:srcRect/>
          <a:stretch/>
        </p:blipFill>
        <p:spPr>
          <a:xfrm>
            <a:off x="80707" y="29780"/>
            <a:ext cx="1824293" cy="1041766"/>
          </a:xfrm>
          <a:prstGeom prst="rect">
            <a:avLst/>
          </a:prstGeom>
          <a:noFill/>
          <a:ln>
            <a:noFill/>
          </a:ln>
        </p:spPr>
      </p:pic>
    </p:spTree>
  </p:cSld>
  <p:clrMapOvr>
    <a:masterClrMapping/>
  </p:clrMapOvr>
  <p:transition>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16"/>
          <p:cNvSpPr/>
          <p:nvPr/>
        </p:nvSpPr>
        <p:spPr>
          <a:xfrm>
            <a:off x="0" y="2896899"/>
            <a:ext cx="9010672" cy="2504981"/>
          </a:xfrm>
          <a:prstGeom prst="rect">
            <a:avLst/>
          </a:prstGeom>
          <a:noFill/>
          <a:ln>
            <a:noFill/>
          </a:ln>
        </p:spPr>
        <p:txBody>
          <a:bodyPr spcFirstLastPara="1" wrap="square" lIns="91425" tIns="45700" rIns="91425" bIns="45700" anchor="t" anchorCtr="0">
            <a:noAutofit/>
          </a:bodyPr>
          <a:lstStyle/>
          <a:p>
            <a:pPr marL="712200" marR="0" lvl="0" indent="0" algn="l" rtl="0">
              <a:lnSpc>
                <a:spcPct val="100000"/>
              </a:lnSpc>
              <a:spcBef>
                <a:spcPts val="0"/>
              </a:spcBef>
              <a:spcAft>
                <a:spcPts val="0"/>
              </a:spcAft>
              <a:buClr>
                <a:srgbClr val="000000"/>
              </a:buClr>
              <a:buSzPts val="2378"/>
              <a:buFont typeface="Arial"/>
              <a:buNone/>
            </a:pPr>
            <a:r>
              <a:rPr lang="fr-FR" sz="2378" b="1" i="0" u="sng" strike="noStrike" cap="none">
                <a:solidFill>
                  <a:srgbClr val="145AC2"/>
                </a:solidFill>
                <a:latin typeface="Times New Roman"/>
                <a:ea typeface="Times New Roman"/>
                <a:cs typeface="Times New Roman"/>
                <a:sym typeface="Times New Roman"/>
              </a:rPr>
              <a:t>Multi tâches « coopératif »   </a:t>
            </a:r>
            <a:endParaRPr sz="2398" b="0" i="0" u="none" strike="noStrike" cap="none">
              <a:solidFill>
                <a:schemeClr val="dk1"/>
              </a:solidFill>
              <a:latin typeface="Calibri"/>
              <a:ea typeface="Calibri"/>
              <a:cs typeface="Calibri"/>
              <a:sym typeface="Calibri"/>
            </a:endParaRPr>
          </a:p>
          <a:p>
            <a:pPr marL="712200" marR="0" lvl="0" indent="0" algn="l" rtl="0">
              <a:lnSpc>
                <a:spcPct val="100000"/>
              </a:lnSpc>
              <a:spcBef>
                <a:spcPts val="600"/>
              </a:spcBef>
              <a:spcAft>
                <a:spcPts val="0"/>
              </a:spcAft>
              <a:buClr>
                <a:srgbClr val="000000"/>
              </a:buClr>
              <a:buSzPts val="2000"/>
              <a:buFont typeface="Arial"/>
              <a:buNone/>
            </a:pPr>
            <a:r>
              <a:rPr lang="fr-FR" sz="2000" b="0" i="0" u="none" strike="noStrike" cap="none">
                <a:solidFill>
                  <a:schemeClr val="dk1"/>
                </a:solidFill>
                <a:latin typeface="Times New Roman"/>
                <a:ea typeface="Times New Roman"/>
                <a:cs typeface="Times New Roman"/>
                <a:sym typeface="Times New Roman"/>
              </a:rPr>
              <a:t>Le passage de l’exécution d’un processus à un autre est appelé commutation de contexte. Ces commutations  sont initiées par les processus  eux-mêmes </a:t>
            </a:r>
            <a:r>
              <a:rPr lang="fr-FR" sz="1800" b="1" i="0" u="none" strike="noStrike" cap="none">
                <a:solidFill>
                  <a:schemeClr val="dk1"/>
                </a:solidFill>
                <a:latin typeface="Times New Roman"/>
                <a:ea typeface="Times New Roman"/>
                <a:cs typeface="Times New Roman"/>
                <a:sym typeface="Times New Roman"/>
              </a:rPr>
              <a:t>Inconvénients </a:t>
            </a:r>
            <a:r>
              <a:rPr lang="fr-FR" sz="1400" b="0" i="0" u="none" strike="noStrike" cap="none">
                <a:solidFill>
                  <a:schemeClr val="dk1"/>
                </a:solidFill>
                <a:latin typeface="Times New Roman"/>
                <a:ea typeface="Times New Roman"/>
                <a:cs typeface="Times New Roman"/>
                <a:sym typeface="Times New Roman"/>
              </a:rPr>
              <a:t>:</a:t>
            </a:r>
            <a:endParaRPr sz="1400" b="0" i="0" u="none" strike="noStrike" cap="none">
              <a:solidFill>
                <a:srgbClr val="000000"/>
              </a:solidFill>
              <a:latin typeface="Arial"/>
              <a:ea typeface="Arial"/>
              <a:cs typeface="Arial"/>
              <a:sym typeface="Arial"/>
            </a:endParaRPr>
          </a:p>
          <a:p>
            <a:pPr marL="1437085" marR="0" lvl="0" indent="-275995" algn="l" rtl="0">
              <a:lnSpc>
                <a:spcPct val="100000"/>
              </a:lnSpc>
              <a:spcBef>
                <a:spcPts val="600"/>
              </a:spcBef>
              <a:spcAft>
                <a:spcPts val="0"/>
              </a:spcAft>
              <a:buClr>
                <a:schemeClr val="dk1"/>
              </a:buClr>
              <a:buSzPts val="2000"/>
              <a:buFont typeface="Arial"/>
              <a:buChar char="•"/>
            </a:pPr>
            <a:r>
              <a:rPr lang="fr-FR" sz="2000" b="0" i="0" u="none" strike="noStrike" cap="none">
                <a:solidFill>
                  <a:schemeClr val="dk1"/>
                </a:solidFill>
                <a:latin typeface="Times New Roman"/>
                <a:ea typeface="Times New Roman"/>
                <a:cs typeface="Times New Roman"/>
                <a:sym typeface="Times New Roman"/>
              </a:rPr>
              <a:t>Processus en cours bloqué = système bloqué</a:t>
            </a:r>
            <a:endParaRPr sz="1400" b="0" i="0" u="none" strike="noStrike" cap="none">
              <a:solidFill>
                <a:srgbClr val="000000"/>
              </a:solidFill>
              <a:latin typeface="Arial"/>
              <a:ea typeface="Arial"/>
              <a:cs typeface="Arial"/>
              <a:sym typeface="Arial"/>
            </a:endParaRPr>
          </a:p>
          <a:p>
            <a:pPr marL="1437085" marR="0" lvl="0" indent="-275995" algn="l" rtl="0">
              <a:lnSpc>
                <a:spcPct val="100000"/>
              </a:lnSpc>
              <a:spcBef>
                <a:spcPts val="600"/>
              </a:spcBef>
              <a:spcAft>
                <a:spcPts val="0"/>
              </a:spcAft>
              <a:buClr>
                <a:schemeClr val="dk1"/>
              </a:buClr>
              <a:buSzPts val="2000"/>
              <a:buFont typeface="Arial"/>
              <a:buChar char="•"/>
            </a:pPr>
            <a:r>
              <a:rPr lang="fr-FR" sz="2000" b="0" i="0" u="none" strike="noStrike" cap="none">
                <a:solidFill>
                  <a:schemeClr val="dk1"/>
                </a:solidFill>
                <a:latin typeface="Times New Roman"/>
                <a:ea typeface="Times New Roman"/>
                <a:cs typeface="Times New Roman"/>
                <a:sym typeface="Times New Roman"/>
              </a:rPr>
              <a:t>Le partage des ressources (temps CPU, mémoire, accès disque, etc.) peut être inefficace. </a:t>
            </a:r>
            <a:endParaRPr sz="1400" b="0" i="0" u="none" strike="noStrike" cap="none">
              <a:solidFill>
                <a:srgbClr val="000000"/>
              </a:solidFill>
              <a:latin typeface="Arial"/>
              <a:ea typeface="Arial"/>
              <a:cs typeface="Arial"/>
              <a:sym typeface="Arial"/>
            </a:endParaRPr>
          </a:p>
        </p:txBody>
      </p:sp>
      <p:pic>
        <p:nvPicPr>
          <p:cNvPr id="121" name="Google Shape;121;p16" descr="Microsoft Windows.svg"/>
          <p:cNvPicPr preferRelativeResize="0"/>
          <p:nvPr/>
        </p:nvPicPr>
        <p:blipFill rotWithShape="1">
          <a:blip r:embed="rId3">
            <a:alphaModFix/>
          </a:blip>
          <a:srcRect/>
          <a:stretch/>
        </p:blipFill>
        <p:spPr>
          <a:xfrm>
            <a:off x="1063387" y="5791200"/>
            <a:ext cx="1261872" cy="875188"/>
          </a:xfrm>
          <a:prstGeom prst="rect">
            <a:avLst/>
          </a:prstGeom>
          <a:noFill/>
          <a:ln>
            <a:noFill/>
          </a:ln>
        </p:spPr>
      </p:pic>
      <p:sp>
        <p:nvSpPr>
          <p:cNvPr id="122" name="Google Shape;122;p16"/>
          <p:cNvSpPr txBox="1"/>
          <p:nvPr/>
        </p:nvSpPr>
        <p:spPr>
          <a:xfrm>
            <a:off x="1088563" y="5485506"/>
            <a:ext cx="1387175" cy="36920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799"/>
              <a:buFont typeface="Arial"/>
              <a:buNone/>
            </a:pPr>
            <a:r>
              <a:rPr lang="fr-FR" sz="1799" b="0" i="0" u="none" strike="noStrike" cap="none">
                <a:solidFill>
                  <a:schemeClr val="dk1"/>
                </a:solidFill>
                <a:latin typeface="Calibri"/>
                <a:ea typeface="Calibri"/>
                <a:cs typeface="Calibri"/>
                <a:sym typeface="Calibri"/>
              </a:rPr>
              <a:t>Windows 3.x</a:t>
            </a:r>
            <a:endParaRPr sz="1400" b="0" i="0" u="none" strike="noStrike" cap="none">
              <a:solidFill>
                <a:srgbClr val="000000"/>
              </a:solidFill>
              <a:latin typeface="Arial"/>
              <a:ea typeface="Arial"/>
              <a:cs typeface="Arial"/>
              <a:sym typeface="Arial"/>
            </a:endParaRPr>
          </a:p>
        </p:txBody>
      </p:sp>
      <p:pic>
        <p:nvPicPr>
          <p:cNvPr id="123" name="Google Shape;123;p16"/>
          <p:cNvPicPr preferRelativeResize="0"/>
          <p:nvPr/>
        </p:nvPicPr>
        <p:blipFill rotWithShape="1">
          <a:blip r:embed="rId4">
            <a:alphaModFix/>
          </a:blip>
          <a:srcRect/>
          <a:stretch/>
        </p:blipFill>
        <p:spPr>
          <a:xfrm>
            <a:off x="5791200" y="5602366"/>
            <a:ext cx="2230622" cy="1172497"/>
          </a:xfrm>
          <a:prstGeom prst="rect">
            <a:avLst/>
          </a:prstGeom>
          <a:noFill/>
          <a:ln>
            <a:noFill/>
          </a:ln>
        </p:spPr>
      </p:pic>
      <p:pic>
        <p:nvPicPr>
          <p:cNvPr id="124" name="Google Shape;124;p16" descr="http://www.gizmodo.fr/wp-content/uploads/2011/11/Windows-95.jpg"/>
          <p:cNvPicPr preferRelativeResize="0"/>
          <p:nvPr/>
        </p:nvPicPr>
        <p:blipFill rotWithShape="1">
          <a:blip r:embed="rId5">
            <a:alphaModFix/>
          </a:blip>
          <a:srcRect l="22777" t="14601" r="19014" b="12066"/>
          <a:stretch/>
        </p:blipFill>
        <p:spPr>
          <a:xfrm>
            <a:off x="3548088" y="5602366"/>
            <a:ext cx="1654665" cy="1172497"/>
          </a:xfrm>
          <a:prstGeom prst="rect">
            <a:avLst/>
          </a:prstGeom>
          <a:noFill/>
          <a:ln>
            <a:noFill/>
          </a:ln>
        </p:spPr>
      </p:pic>
      <p:sp>
        <p:nvSpPr>
          <p:cNvPr id="125" name="Google Shape;125;p16"/>
          <p:cNvSpPr/>
          <p:nvPr/>
        </p:nvSpPr>
        <p:spPr>
          <a:xfrm>
            <a:off x="4194" y="-51064"/>
            <a:ext cx="9010672" cy="4236994"/>
          </a:xfrm>
          <a:prstGeom prst="rect">
            <a:avLst/>
          </a:prstGeom>
          <a:noFill/>
          <a:ln>
            <a:noFill/>
          </a:ln>
        </p:spPr>
        <p:txBody>
          <a:bodyPr spcFirstLastPara="1" wrap="square" lIns="91425" tIns="45700" rIns="91425" bIns="45700" anchor="t" anchorCtr="0">
            <a:noAutofit/>
          </a:bodyPr>
          <a:lstStyle/>
          <a:p>
            <a:pPr marL="1895120" marR="0" lvl="0" indent="0" algn="l" rtl="0">
              <a:lnSpc>
                <a:spcPct val="100000"/>
              </a:lnSpc>
              <a:spcBef>
                <a:spcPts val="0"/>
              </a:spcBef>
              <a:spcAft>
                <a:spcPts val="0"/>
              </a:spcAft>
              <a:buClr>
                <a:srgbClr val="000000"/>
              </a:buClr>
              <a:buSzPts val="2398"/>
              <a:buFont typeface="Arial"/>
              <a:buNone/>
            </a:pPr>
            <a:r>
              <a:rPr lang="fr-FR" sz="2398" b="0" i="0" u="none" strike="noStrike" cap="none">
                <a:solidFill>
                  <a:schemeClr val="dk1"/>
                </a:solidFill>
                <a:latin typeface="Calibri"/>
                <a:ea typeface="Calibri"/>
                <a:cs typeface="Calibri"/>
                <a:sym typeface="Calibri"/>
              </a:rPr>
              <a:t> </a:t>
            </a:r>
            <a:r>
              <a:rPr lang="fr-FR" sz="2800" b="1" i="0" u="sng" strike="noStrike" cap="none">
                <a:solidFill>
                  <a:schemeClr val="dk1"/>
                </a:solidFill>
                <a:latin typeface="Calibri"/>
                <a:ea typeface="Calibri"/>
                <a:cs typeface="Calibri"/>
                <a:sym typeface="Calibri"/>
              </a:rPr>
              <a:t>Les différents types de système d’exploitation</a:t>
            </a:r>
            <a:endParaRPr sz="1400" b="0" i="0" u="none" strike="noStrike" cap="none">
              <a:solidFill>
                <a:srgbClr val="000000"/>
              </a:solidFill>
              <a:latin typeface="Arial"/>
              <a:ea typeface="Arial"/>
              <a:cs typeface="Arial"/>
              <a:sym typeface="Arial"/>
            </a:endParaRPr>
          </a:p>
          <a:p>
            <a:pPr marL="712200" marR="0" lvl="0" indent="0" algn="l" rtl="0">
              <a:lnSpc>
                <a:spcPct val="100000"/>
              </a:lnSpc>
              <a:spcBef>
                <a:spcPts val="600"/>
              </a:spcBef>
              <a:spcAft>
                <a:spcPts val="0"/>
              </a:spcAft>
              <a:buClr>
                <a:srgbClr val="000000"/>
              </a:buClr>
              <a:buSzPts val="2378"/>
              <a:buFont typeface="Arial"/>
              <a:buNone/>
            </a:pPr>
            <a:endParaRPr sz="2378" b="1" i="0" u="sng" strike="noStrike" cap="none">
              <a:solidFill>
                <a:srgbClr val="145AC2"/>
              </a:solidFill>
              <a:latin typeface="Times New Roman"/>
              <a:ea typeface="Times New Roman"/>
              <a:cs typeface="Times New Roman"/>
              <a:sym typeface="Times New Roman"/>
            </a:endParaRPr>
          </a:p>
          <a:p>
            <a:pPr marL="712200" marR="0" lvl="0" indent="0" algn="l" rtl="0">
              <a:lnSpc>
                <a:spcPct val="100000"/>
              </a:lnSpc>
              <a:spcBef>
                <a:spcPts val="600"/>
              </a:spcBef>
              <a:spcAft>
                <a:spcPts val="0"/>
              </a:spcAft>
              <a:buClr>
                <a:srgbClr val="000000"/>
              </a:buClr>
              <a:buSzPts val="2378"/>
              <a:buFont typeface="Arial"/>
              <a:buNone/>
            </a:pPr>
            <a:endParaRPr sz="2378" b="1" i="0" u="sng" strike="noStrike" cap="none">
              <a:solidFill>
                <a:srgbClr val="145AC2"/>
              </a:solidFill>
              <a:latin typeface="Times New Roman"/>
              <a:ea typeface="Times New Roman"/>
              <a:cs typeface="Times New Roman"/>
              <a:sym typeface="Times New Roman"/>
            </a:endParaRPr>
          </a:p>
          <a:p>
            <a:pPr marL="712200" marR="0" lvl="0" indent="0" algn="l" rtl="0">
              <a:lnSpc>
                <a:spcPct val="100000"/>
              </a:lnSpc>
              <a:spcBef>
                <a:spcPts val="600"/>
              </a:spcBef>
              <a:spcAft>
                <a:spcPts val="0"/>
              </a:spcAft>
              <a:buClr>
                <a:srgbClr val="000000"/>
              </a:buClr>
              <a:buSzPts val="2378"/>
              <a:buFont typeface="Arial"/>
              <a:buNone/>
            </a:pPr>
            <a:r>
              <a:rPr lang="fr-FR" sz="2378" b="1" i="0" u="sng" strike="noStrike" cap="none">
                <a:solidFill>
                  <a:srgbClr val="145AC2"/>
                </a:solidFill>
                <a:latin typeface="Times New Roman"/>
                <a:ea typeface="Times New Roman"/>
                <a:cs typeface="Times New Roman"/>
                <a:sym typeface="Times New Roman"/>
              </a:rPr>
              <a:t>Multi tâches</a:t>
            </a:r>
            <a:endParaRPr sz="1400" b="0" i="0" u="none" strike="noStrike" cap="none">
              <a:solidFill>
                <a:srgbClr val="000000"/>
              </a:solidFill>
              <a:latin typeface="Arial"/>
              <a:ea typeface="Arial"/>
              <a:cs typeface="Arial"/>
              <a:sym typeface="Arial"/>
            </a:endParaRPr>
          </a:p>
          <a:p>
            <a:pPr marL="712200" marR="0" lvl="0" indent="0" algn="just" rtl="0">
              <a:lnSpc>
                <a:spcPct val="100000"/>
              </a:lnSpc>
              <a:spcBef>
                <a:spcPts val="600"/>
              </a:spcBef>
              <a:spcAft>
                <a:spcPts val="0"/>
              </a:spcAft>
              <a:buClr>
                <a:srgbClr val="000000"/>
              </a:buClr>
              <a:buSzPts val="2000"/>
              <a:buFont typeface="Arial"/>
              <a:buNone/>
            </a:pPr>
            <a:r>
              <a:rPr lang="fr-FR" sz="2000" b="0" i="0" u="none" strike="noStrike" cap="none">
                <a:solidFill>
                  <a:schemeClr val="dk1"/>
                </a:solidFill>
                <a:latin typeface="Times New Roman"/>
                <a:ea typeface="Times New Roman"/>
                <a:cs typeface="Times New Roman"/>
                <a:sym typeface="Times New Roman"/>
              </a:rPr>
              <a:t>Un système d'exploitation est multitâche  s’il permet d’exécuter, de façon apparemment simultanée, plusieurs programmes informatiques. On parle également de la  multiprogrammation.</a:t>
            </a:r>
            <a:endParaRPr sz="1400" b="0" i="0" u="none" strike="noStrike" cap="none">
              <a:solidFill>
                <a:srgbClr val="000000"/>
              </a:solidFill>
              <a:latin typeface="Arial"/>
              <a:ea typeface="Arial"/>
              <a:cs typeface="Arial"/>
              <a:sym typeface="Arial"/>
            </a:endParaRPr>
          </a:p>
          <a:p>
            <a:pPr marL="712200" marR="0" lvl="0" indent="0" algn="just" rtl="0">
              <a:lnSpc>
                <a:spcPct val="100000"/>
              </a:lnSpc>
              <a:spcBef>
                <a:spcPts val="60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712200" marR="0" lvl="0" indent="0" algn="l" rtl="0">
              <a:lnSpc>
                <a:spcPct val="100000"/>
              </a:lnSpc>
              <a:spcBef>
                <a:spcPts val="60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712200" marR="0" lvl="0" indent="0" algn="l" rtl="0">
              <a:lnSpc>
                <a:spcPct val="100000"/>
              </a:lnSpc>
              <a:spcBef>
                <a:spcPts val="600"/>
              </a:spcBef>
              <a:spcAft>
                <a:spcPts val="0"/>
              </a:spcAft>
              <a:buClr>
                <a:srgbClr val="000000"/>
              </a:buClr>
              <a:buSzPts val="2000"/>
              <a:buFont typeface="Arial"/>
              <a:buNone/>
            </a:pPr>
            <a:endParaRPr sz="2000" b="0" i="0" u="none" strike="noStrike" cap="none">
              <a:solidFill>
                <a:schemeClr val="dk1"/>
              </a:solidFill>
              <a:latin typeface="Times New Roman"/>
              <a:ea typeface="Times New Roman"/>
              <a:cs typeface="Times New Roman"/>
              <a:sym typeface="Times New Roman"/>
            </a:endParaRPr>
          </a:p>
          <a:p>
            <a:pPr marL="1161088" marR="0" lvl="0" indent="0" algn="l" rtl="0">
              <a:lnSpc>
                <a:spcPct val="100000"/>
              </a:lnSpc>
              <a:spcBef>
                <a:spcPts val="600"/>
              </a:spcBef>
              <a:spcAft>
                <a:spcPts val="0"/>
              </a:spcAft>
              <a:buClr>
                <a:srgbClr val="000000"/>
              </a:buClr>
              <a:buSzPts val="999"/>
              <a:buFont typeface="Arial"/>
              <a:buNone/>
            </a:pPr>
            <a:endParaRPr sz="999" b="0" i="0" u="none" strike="noStrike" cap="none">
              <a:solidFill>
                <a:schemeClr val="dk1"/>
              </a:solidFill>
              <a:latin typeface="Calibri"/>
              <a:ea typeface="Calibri"/>
              <a:cs typeface="Calibri"/>
              <a:sym typeface="Calibri"/>
            </a:endParaRPr>
          </a:p>
        </p:txBody>
      </p:sp>
      <p:sp>
        <p:nvSpPr>
          <p:cNvPr id="126" name="Google Shape;126;p16"/>
          <p:cNvSpPr/>
          <p:nvPr/>
        </p:nvSpPr>
        <p:spPr>
          <a:xfrm>
            <a:off x="-33287" y="381000"/>
            <a:ext cx="8782072" cy="1242841"/>
          </a:xfrm>
          <a:prstGeom prst="rect">
            <a:avLst/>
          </a:prstGeom>
          <a:noFill/>
          <a:ln>
            <a:noFill/>
          </a:ln>
        </p:spPr>
        <p:txBody>
          <a:bodyPr spcFirstLastPara="1" wrap="square" lIns="91425" tIns="45700" rIns="91425" bIns="45700" anchor="t" anchorCtr="0">
            <a:noAutofit/>
          </a:bodyPr>
          <a:lstStyle/>
          <a:p>
            <a:pPr marL="353720" marR="0" lvl="0" indent="0" algn="l" rtl="0">
              <a:lnSpc>
                <a:spcPct val="100000"/>
              </a:lnSpc>
              <a:spcBef>
                <a:spcPts val="0"/>
              </a:spcBef>
              <a:spcAft>
                <a:spcPts val="0"/>
              </a:spcAft>
              <a:buClr>
                <a:srgbClr val="000000"/>
              </a:buClr>
              <a:buSzPts val="799"/>
              <a:buFont typeface="Arial"/>
              <a:buNone/>
            </a:pPr>
            <a:endParaRPr sz="799" b="1" i="0" u="none" strike="noStrike" cap="none">
              <a:solidFill>
                <a:schemeClr val="dk1"/>
              </a:solidFill>
              <a:latin typeface="Calibri"/>
              <a:ea typeface="Calibri"/>
              <a:cs typeface="Calibri"/>
              <a:sym typeface="Calibri"/>
            </a:endParaRPr>
          </a:p>
          <a:p>
            <a:pPr marL="712200" marR="0" lvl="0" indent="0" algn="l" rtl="0">
              <a:lnSpc>
                <a:spcPct val="100000"/>
              </a:lnSpc>
              <a:spcBef>
                <a:spcPts val="600"/>
              </a:spcBef>
              <a:spcAft>
                <a:spcPts val="0"/>
              </a:spcAft>
              <a:buClr>
                <a:srgbClr val="000000"/>
              </a:buClr>
              <a:buSzPts val="2378"/>
              <a:buFont typeface="Arial"/>
              <a:buNone/>
            </a:pPr>
            <a:r>
              <a:rPr lang="fr-FR" sz="2378" b="1" i="0" u="sng" strike="noStrike" cap="none">
                <a:solidFill>
                  <a:srgbClr val="145AC2"/>
                </a:solidFill>
                <a:latin typeface="Times New Roman"/>
                <a:ea typeface="Times New Roman"/>
                <a:cs typeface="Times New Roman"/>
                <a:sym typeface="Times New Roman"/>
              </a:rPr>
              <a:t>Multi utilisateurs</a:t>
            </a:r>
            <a:endParaRPr sz="1400" b="0" i="0" u="none" strike="noStrike" cap="none">
              <a:solidFill>
                <a:srgbClr val="000000"/>
              </a:solidFill>
              <a:latin typeface="Arial"/>
              <a:ea typeface="Arial"/>
              <a:cs typeface="Arial"/>
              <a:sym typeface="Arial"/>
            </a:endParaRPr>
          </a:p>
          <a:p>
            <a:pPr marL="712200" marR="0" lvl="0" indent="0"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Un système d’exploitation  qui peut  supporter plusieurs sessions en même temps.</a:t>
            </a:r>
            <a:endParaRPr sz="1800" b="0" i="0" u="none" strike="noStrike" cap="none">
              <a:solidFill>
                <a:schemeClr val="dk1"/>
              </a:solidFill>
              <a:latin typeface="Times New Roman"/>
              <a:ea typeface="Times New Roman"/>
              <a:cs typeface="Times New Roman"/>
              <a:sym typeface="Times New Roman"/>
            </a:endParaRPr>
          </a:p>
          <a:p>
            <a:pPr marL="1527498" marR="0" lvl="0" indent="-302973" algn="l" rtl="0">
              <a:lnSpc>
                <a:spcPct val="100000"/>
              </a:lnSpc>
              <a:spcBef>
                <a:spcPts val="600"/>
              </a:spcBef>
              <a:spcAft>
                <a:spcPts val="0"/>
              </a:spcAft>
              <a:buClr>
                <a:schemeClr val="dk1"/>
              </a:buClr>
              <a:buSzPts val="999"/>
              <a:buFont typeface="Arial"/>
              <a:buNone/>
            </a:pPr>
            <a:endParaRPr sz="999" b="0" i="0" u="none" strike="noStrike" cap="none">
              <a:solidFill>
                <a:schemeClr val="dk1"/>
              </a:solidFill>
              <a:latin typeface="Calibri"/>
              <a:ea typeface="Calibri"/>
              <a:cs typeface="Calibri"/>
              <a:sym typeface="Calibri"/>
            </a:endParaRPr>
          </a:p>
        </p:txBody>
      </p:sp>
      <p:pic>
        <p:nvPicPr>
          <p:cNvPr id="127" name="Google Shape;127;p16"/>
          <p:cNvPicPr preferRelativeResize="0"/>
          <p:nvPr/>
        </p:nvPicPr>
        <p:blipFill rotWithShape="1">
          <a:blip r:embed="rId6">
            <a:alphaModFix/>
          </a:blip>
          <a:srcRect/>
          <a:stretch/>
        </p:blipFill>
        <p:spPr>
          <a:xfrm>
            <a:off x="80707" y="29780"/>
            <a:ext cx="1824293" cy="60544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17"/>
          <p:cNvSpPr/>
          <p:nvPr/>
        </p:nvSpPr>
        <p:spPr>
          <a:xfrm>
            <a:off x="-96666" y="114397"/>
            <a:ext cx="9010672" cy="2151038"/>
          </a:xfrm>
          <a:prstGeom prst="rect">
            <a:avLst/>
          </a:prstGeom>
          <a:noFill/>
          <a:ln>
            <a:noFill/>
          </a:ln>
        </p:spPr>
        <p:txBody>
          <a:bodyPr spcFirstLastPara="1" wrap="square" lIns="91425" tIns="45700" rIns="91425" bIns="45700" anchor="t" anchorCtr="0">
            <a:noAutofit/>
          </a:bodyPr>
          <a:lstStyle/>
          <a:p>
            <a:pPr marL="712200" marR="0" lvl="0" indent="0" algn="l" rtl="0">
              <a:lnSpc>
                <a:spcPct val="100000"/>
              </a:lnSpc>
              <a:spcBef>
                <a:spcPts val="0"/>
              </a:spcBef>
              <a:spcAft>
                <a:spcPts val="0"/>
              </a:spcAft>
              <a:buClr>
                <a:srgbClr val="000000"/>
              </a:buClr>
              <a:buSzPts val="2378"/>
              <a:buFont typeface="Arial"/>
              <a:buNone/>
            </a:pPr>
            <a:r>
              <a:rPr lang="fr-FR" sz="2378" b="1" i="0" u="sng" strike="noStrike" cap="none">
                <a:solidFill>
                  <a:srgbClr val="145AC2"/>
                </a:solidFill>
                <a:latin typeface="Times New Roman"/>
                <a:ea typeface="Times New Roman"/>
                <a:cs typeface="Times New Roman"/>
                <a:sym typeface="Times New Roman"/>
              </a:rPr>
              <a:t>Multi tâches « préemptif » </a:t>
            </a:r>
            <a:endParaRPr sz="1400" b="0" i="0" u="none" strike="noStrike" cap="none">
              <a:solidFill>
                <a:srgbClr val="000000"/>
              </a:solidFill>
              <a:latin typeface="Arial"/>
              <a:ea typeface="Arial"/>
              <a:cs typeface="Arial"/>
              <a:sym typeface="Arial"/>
            </a:endParaRPr>
          </a:p>
          <a:p>
            <a:pPr marL="712200" marR="0" lvl="0" indent="0"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le processeur signale au système d’exploitation que le processus en cours d’exécution doit être mis en pause pour permettre l’exécution d’un autre processus.</a:t>
            </a:r>
            <a:endParaRPr sz="1400" b="0" i="0" u="none" strike="noStrike" cap="none">
              <a:solidFill>
                <a:srgbClr val="000000"/>
              </a:solidFill>
              <a:latin typeface="Arial"/>
              <a:ea typeface="Arial"/>
              <a:cs typeface="Arial"/>
              <a:sym typeface="Arial"/>
            </a:endParaRPr>
          </a:p>
          <a:p>
            <a:pPr marL="1887563" marR="0" lvl="0" indent="-275997"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Sauvegarde de l’état   </a:t>
            </a:r>
            <a:endParaRPr sz="1400" b="0" i="0" u="none" strike="noStrike" cap="none">
              <a:solidFill>
                <a:srgbClr val="000000"/>
              </a:solidFill>
              <a:latin typeface="Arial"/>
              <a:ea typeface="Arial"/>
              <a:cs typeface="Arial"/>
              <a:sym typeface="Arial"/>
            </a:endParaRPr>
          </a:p>
          <a:p>
            <a:pPr marL="1887563" marR="0" lvl="0" indent="-275997"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File d’attente</a:t>
            </a:r>
            <a:endParaRPr sz="1400" b="0" i="0" u="none" strike="noStrike" cap="none">
              <a:solidFill>
                <a:srgbClr val="000000"/>
              </a:solidFill>
              <a:latin typeface="Arial"/>
              <a:ea typeface="Arial"/>
              <a:cs typeface="Arial"/>
              <a:sym typeface="Arial"/>
            </a:endParaRPr>
          </a:p>
          <a:p>
            <a:pPr marL="1887563" marR="0" lvl="0" indent="-275997"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Restauration du contexte d’exécution </a:t>
            </a:r>
            <a:endParaRPr sz="1400" b="0" i="0" u="none" strike="noStrike" cap="none">
              <a:solidFill>
                <a:srgbClr val="000000"/>
              </a:solidFill>
              <a:latin typeface="Arial"/>
              <a:ea typeface="Arial"/>
              <a:cs typeface="Arial"/>
              <a:sym typeface="Arial"/>
            </a:endParaRPr>
          </a:p>
        </p:txBody>
      </p:sp>
      <p:sp>
        <p:nvSpPr>
          <p:cNvPr id="134" name="Google Shape;134;p17" descr="data:image/jpeg;base64,/9j/4AAQSkZJRgABAQAAAQABAAD/2wCEAAkGBhAQEBUUEBAVFBAQFxQVFhQXEhAUDxUPFBUVFBcQFRUXHCgeGBkjGRQVHy8iIycpLCwtFh4xNTAqNSYrLCkBCQoKDgwOGg8PGjEkHSQsLTI1NCk1LCktLDUsLCwpKjAsLCwuLCwsLCwsLCksLCosLSwsKSk1LywsKSksKSwsL//AABEIAOcA2wMBIgACEQEDEQH/xAAbAAEAAgMBAQAAAAAAAAAAAAAAAQYDBAUHAv/EAEAQAAICAQEFBQUHAgMHBQAAAAECAAMRBAUSITFBBhMiUWEyUnGBkRQjQnKCobEzYgeS8ENzssHC0eEVJGOi8f/EABkBAQADAQEAAAAAAAAAAAAAAAABAwQCBf/EACYRAQACAgEEAQQDAQAAAAAAAAABAgMREgQhMUEiMlGh8CNhkRT/2gAMAwEAAhEDEQA/APcYiICJBnP2jtyug4YOzc8JWzfU+yPmYHRiVqztn7umsx5s9K/srMZ3KdaGUHGN4A/WBsxMX2gR9oEDLEx9+I74f6xAyRMffCT3ogfcT470f6zJ7wQPqJ894PON8ecD6ifO+POTvCBMSN6MwJiRJgIiICIiAiIgIiIAyi7fbGpt5gZHHwgY3F6y9Tzjtq2G1BHMYPI5wAmePThmBrU6kODhhwJB8eceWcemD85fNH/TT8q/8InmXZq/fqfGchzkgDjlV4ZPlPT9N/TT8q/wJMxohg1m0q68gsN8DITIBJ5gE8h85Oz9clqZV1Zl4Pu5wr4BIweI+fTEo3aTVPTqrVbgHPeKTzZGxg5PkRu/plh7D6vvNMRukbljAt0ct494HqQCF+U6msRXbmJ76WKIiVuiIiAiIkhGYkwGYzEQkyY3jEiB9bxjfM+YgSbsdf3n0LT5zidqX1IoP2U4t3l5NWpK4clQX4Z4fGb+ze87te9BFm74gd3ezk8yOBOMSddtud99OnQciZJi0/KZZCSIiAiIgDKF2hUHUWg4IY4ILcCCigjEvsou3B/7izn7XkPdXrA5NOnRFwiqo8hvYz5/sJftN7C/lX+BKQc46/VRLvR7C/lX+BAl6FYgsqkrnBKqSM88E8sya6lUYVQqjkAABx48hPqJATXu19SNuvaiseOGdVbHngmbEr23Ngamxy+n1CKHwWqtqD1lgAuQw8QyAOE7pETOpnSLTMR2h3a9Qjey6n4Mp/gzKFlDSlUsFWq0iJc3sEYNNuOJ7t/e/tPGZm02lAyKMY6ZxL/+ffif3/VE54jyu+6fI/SfLNjmQM+fAzzfU5LBadMGdjgLmxj58csB0mZOxWutI7waepOo8LNjqPAv/VOp6eK/VbSK9RN/prt6HExaWncRU3i24qrvH2m3VAyfXhn5zJMjUkKfKRKR2p2Fr3tZ6ESxSxKsLClwXAxWQxwcdMfScvRPrfEpuvrsqwWrd71YK2QGHjwRkEcppr08WjcWhmvn4Tqay9LzEomnXWuOGtuHzU/8UyHR6osVOv1TMOao3iHxCKSvzxJnp9ebQiOpifESu8mcHYGzdRXZvPbe1ZQhlvtWwmzK7rJzK4AbOeeRwneme0anUTtorbcb1pr63QJcu64yuQcZYeIZwcg+pn3pNKtSBF4KowBkk49SeJmaJyln0/KZZi0/KZYCIiAiIgJ552oZhdaUNYIdSTZvd2KwFLsxHLC5noRnm/bMZa5e578PYimkuqh1YqDxPBSOeT5QOZsnaFl++xRRSABXYEbFp4lnVW8W57IBPPiRw4n0un2V+C/wJ5rsq/UnfGorCgYKMb1tdgSQVdkAXIwOOPjPSqR4V+A/iB9xEmEoiTEDU2ps1NRUa24ZwVYe0lq8VtX+4Hj/APsqWuRnrLEBbQWSxRyW9D4sf2ngw9GEu84G2dLu3BvwaoCtvIahAe7f9Sgp8Qkvw34zpRmpFqq5snaO5ZXb+BG3bB5VuNwv+kkH4Az0LE8yKCnUFGGa7c8OnHgw+n8y7dmNcbKdxzmzTkVsTzZAM12H4pj5q0v6um9Xhm6O+t459OvESZhegSu9oLlW8H3NPZvfB7a9xfqj4+csJI68B59Meco2r1Ztc2Bd43MjInvDimlpPx8Vp8g3pL8Fd22pzW1Xs6GytO9hFakrgBrrBwZd7iKUPR2HEn8K+pEs2n06VqFRQqjoOXx+PrzmHZezxRWEB3jxZ26va3F3+Z5eQAHSbU4yX5SnHjildJkSZErWJiIgZ9PymWYtPymWAiIgIiIAzzDt6QO+ZkDKliMQzpWgwy+NnbkBnPXiBwM9PM8+7Q6cPqGyoIW1X4qSPDxB9cHB/TA5Ww7C9AfdVRYXsAR0srw7FiQ4GDklmwOWcdDPRqvZHwH8ShaeoqG3kVcu5ChSfCWJB6cT7RHmTL7UPCPgP4ED7iIhJERAia+0NELqmrY43xwYc1cEFXHqGAPymxEROu6FA25pmuqD4xchIdfd1FfB1HocZHowmTs7tUK6W58L4qt9FY/dufyucfB2nc2xpd27P4NXhD5DVIvgb9aAr8UXzlPrrFN7VsPu7c4Hx4MP9ec9PFMZKTV5eaJxZIyQ9Qic3YGtNlIDnNlX3bnqSAN2z9SkH458p0p5toms6l6cTuNw43abWAV91k/fZ3yOY06YNh+LZCD1f0ml2a0Rsta5wMVllXyN7DFjD0RcVD9c0Ndqmvt3k9q5lSnPIICe7JHlwsvPoElv0OjSmta09lAAM8z/AHE9STkk+ZMvt/HTj7lTHzvv1DPECJnXkiTIgTERAz6flMsxaflMsBERAREQBnnXaiovbYgcp3lgQsrMtgQ8W3T0YqpAPTOek9FnnPatGZ7FTeDtaoRldAUsBDC3DcMLukkdRkdYHP2XoRQWrV2NWFdA9rOyZyrIGbiVyAwzyJbpjHo6ch8B/AnmXZ6537xrLGst3ihYUrVSUrZ0HdLk5XfFmWJyTnoBPTl5D4D+IExIiEkRJgRJxAkwhq7S0IuqasnG8ODdVdSGWweqsAflKNt2hrahaFxdWSHUfhvr8NifA8x6FZ6FK9tnSBLs/wCz1eEPkuqRfA360BT4qs0YL8bKM1OddOV2Z2qA6vnw2AVv5Zzmt/kxI/WfKd/tJrd2vu8nNud7HtChcb5HqchB6v6Tz91bT3OmMpZnA6ceBX9/3nbWq6xlRrS+pt3ELnHgCgkYx7ib7k9WKzVlxRNov6Y8GaYrOOfLs9l9Fvs17AcN6uvHs9Ba6+mVFY9Kz5yyCYtNp1rRUQYRFCqPJVGBMswXtynb0a14xoEQInDokSYgIiTAzaflMsxUcplgIiICIiBBnn/aOpmssCWGuzvPA+4j7tgzg7p9oYzwPSegmebdsbK1NrWB8C0bm4ha3v8AJ7rcA5tv4wDwzjPDMDX2dswUKEViVSuutQU8Q3d4tYzA+JmZsny5cZ6GvITzLYBsJtbUOv2ltwWUjIShQH3EQgneUglt7PEkz00ch8ICTEQkjESYQREQE1tpaEX1NWxxvjgw5q44o49VYA/KbM+bLFUFmOFUEk9Ao4k/STH9Cj668bi2uMPgiwdBcjFHAHlvA4+In12b1AW+p24izvKifdst3Cp+Zr3P1Ccrbt7OFGMbzGxh5WaiwulZ9QGGZOjPd2Gmz8Q4Een4h6g/uJ60U3j193j2ycc3KPEPTImpsvWG2sFsb48L45d4vMj0PBh6MJtzyZjU6evE7jcAiBAEhJJMYiAiIgZqOUyzFRymWAiIgIiICUTaqA3vnHCwke0MMCcHyzxMvZlG2kfvrPzv+LHU+cDUWsBiw5sFBwwPBSxHP8x+su4lMAPr9FMukBIkyICTIkwERECJxO0ur4LVjO/47B51KQFr/W+6vw3p2bLAoLMcKoJJPIKOJP0lKvL6m0AZWzUsPjXSF4fApUSfz3CXYa7nc+IV5LajUeZbWzezy6ut3uJ3WJ7pgSMWA+LVjzO+MLngFT+6cfb9TtWtxXF9DMtoHIWIcPj0Iw49GE9DppVFCoMKgCqByCqMAfIASv7d0YW4HH3erHdt5DU1qTW36k3k+KpLceaearJhjhph7M7S4rx8NuFP+8A+7b5jeT5JLSBPM9jN3Vj0MSAD4T1Ckgqw9VbB/TPRNnavvawx4NxVx0Fi8GHwzxHoRHVU1blHtx0uTdeM+YbAEmImRsIiICIiBmo5TLMVHKZYCIiAiIgQZSNo/wBazifbfqp/Eehl4MpO0B97Z+d+in8R+cDW3fMfVT/IlzlNQDI5DiPeUy5GAkSZEBJkSYCJE+NRetaM7nCICzHyUDJMDj9pdYCBUBnew9g86wcJV+t8D8qtMfZXSbwbUNxNuVrPnUGy1n63yfyqk49yWam0IcrZqWy/nXXujI9O7qIX89su1VQVQFGFUAADgAoGAB6ATRf4UivuVNflbl6h9YmptXQd/S9ed1mGVb3bVIZH+TKDNyJRE6na7y8z25kirVBd0+zYvusG3HQ/lcH5S0dnteN4cfDcMenfIPCf1ICP0DzmvtzQAXWIR93q1axfIXoAtq/qTdf9LThdnbiN6lm3XQgAnoykMlnyO6f2no9smPX2/fw8228WXf3ekxNfQ6vva1bGCchh7rqd1k+TAibE82Y09KO5ERAREQM1HKZZio5TLAREQEREAZStoD76z87dPU9Rxl1MpWvX72z87fhPmeogYEPEYPX3j/BlwlQQ8R8uoP8AMt5gJEmRASZEmAnA7Ra7eYVLxWvdewdC5P3NHzYb59FHnOrtPXCisuRvHgqoOb2NwWsfE/QZPSU/VI7Hug+brWAdx11Fx3WceiJnHkFEvw03O5UZr8Y1Hl2uyeiyrXnibcqhPM0qTl/12Fm+G55Swz4pqVFCoMIgCqPJVGAPoBPuVXtyna2teMaIiJy6c3b+ha2k92PvqiLav94nHc+DDKfqlF2oQlteor/p3Af5W4rn1ByD8J6ZKXtnZQzdRjwH7+r0S0nfQfltyf1zX02TjOmXqcfOrrbD1eHx+G7iPS5R4h+pMH4o3nO9KHsG9mq3c4sQjdPQWocqT6Z4H0Yy66LVi2sOBjOcqeauDhkPqCCPlOeopxsdNk5VZ4iJmaiIiBmo5TLMVHKZYCIiAiIgDKXrx97Z+dveHU9RLoZTNd/Vfp4394fiPygYEGSOvEeTfvLcZU0HEZ8x0z18xLYYCRJxJAgQBNHae26NN/VsG+fZrHiuY+SoOJM+9r02PS4pJFhAxht1sZ8Sqx9liuQD0JEoem7P7RR2On0VVIb8dlyPew8y+STLsWOtu9p0qyXmviNu419l1ne3Dc3ciqrIbuw3Au562EcOHBRkdTOSmr7q8PjJSwPu8N5l4ggeu6xx8JsL2Y2seeooX0y5/iuG7HbRb2tRp2+KOf8Apmys467jlDHeuW0xMR4W3Q7ZouGa7lY9VyA49CrYIPym7PO9V2D1x5NpSfjcDjy8SkSxdj9h6nTK/wBodPHu7qIzsoI3t58sAATkDA92ZcmOlY3W22ul7zOrV0sURB/n6/ETOuaG0dvabT576+tCPwlhv/5Rk/tKvqNtfaLTdulKVrNVW/wd95w72kdF8CgfOal/+HOqLg13aZN3/ad1YbnPvuWJ8R64MzD/AAztbjbtBiTz3af+bOZupXDTvNu7Jec1u0Q1tNqq62JLjxHPn0xOnoe0laWZWxTv43kLBd4gYDqW4B8AAg8GwOIPPCv+FlfXW3n4LSP5Bnzb/hRURw1l3zWlh/AllsmC/aZ/CnHgy0nsuGk2nXbwUkNjO6wKvjqQDwYeqkibUp/Zv/DsaPULcdU9ndht1N0Im86lCx8RzwJ5Y6eUuEw5IrE/Gdw315a+RERK3TNRymWYqOUywEREBERASma3+q/526kfiPnwlzlN1h+8f8zdcdT0PCBirXiPiOmOvmOEthEqlQwR04jzU8/pLXAREQE5+3dRdVp7H04rNtas4FpcVlVBZgSnHOBwnQnL7UvjQ6k//Bd+9bCBr9je0X/qGir1DIEd99XrGfBajFGTjx6dfOaOx+1F+q2nqtOi1rpdF3YLFLDda7h1O4d4KqrYjDOD7P05uxdcNm6zalLD7tQNo1L1YWpu2qPjagHxPrMXZrSXabX6ytAr6hNBozhjhH1X3zEs3QG1jk+sD0HHp+0ATznbWl+yWbLNl+9tO3V0i+zvG37KrUsFqhcjFG8AqrgDgOGczpdnNDVtbS2anVKLF1b3rUGzijS12NSgq9xyULlxhiWHQDAWXbu2atFprdRcSK6VLHHtHkAg9SSAPjOXodBr76hbdrH099gDimqvTtp6d7itbixC1rAYDHeXjnG7znB/xM0rVbL0lLWNYq6nQ1XWN7T1pkF39SyqT6mehNzPxMCjt24sNHdWblOvGsq0FpGGqrssORqkDc0asFlDdeBzjj2dNsrVUausrqLrdK6Wi5bnrcpaN012Id0MMnfBUcOXCVG3szTtHam19Pbnumr0JLLjeTVKh3LB03gC3yJHWbfZnaO0dn66rZ+0LBqadQrnS6rlaWqG8arM8Sd3zyeXEg8A2+3es1ejto1C6y2vQPalWqRU0xNSP4VuR3rLKu9wbJPPhjM3tXp79TtFlq1l9Wm09ad8tZqCtqX8aVoxQlMV+NsHj3ies6Pa7ufsN4vQvW9ZTcHtu9mErrT+8uyAepE4P+F1zV0W6PUADW6G0rccljaLPFXqN48WDLgAnog9BAusREBERAzUcplmKjlMsBERARPh7AOcxHXJ5wNiUnaV6o1jMcKpdjwJ8IJJ8PX5S2/b085T9pqHFq7oYP3g3CxUMDvDdz0z5gwMmnIyuDz3TwyuQcdDLVKtpVxuDBXAQbpbLDG7wOeZ9RLTAREQEr3b3aSU6C7fzm5TUiqru7O3MAKCeAyflLDMWpZgvgJByo4DJ3SwBOPRST8oFU23sQ67W6DV6ds0YsW8gY39KCuoqVgwBwbql+s57bUtXa2tup01772jWupjptSKbNXR3j93vlMY6ZOAeh4iXNNTeVOa/EoXnkbxOM46efXpPm2684wmB9Tg7wxz6cD6wPNjrWt0uz7q9Lqbnr1em1Gtt7iwXNqAro6KhGbMM5A3fCihQOeJYOymrfZlbaO/Tagqllj6Zq6LLlsouc2iotXlUtVnZSGIHXOOMtm/fu8snhxOCSN0HjxHXP0EK9+eKgLg8t3O9u8uJ5b38CBp9odhLtHQ2UXA1m9B1VmqtGHU5HAlWA5Hjx4zS0faLV11ivUaDUPrEG6TUqtpbnAx3q3kha1bmQ+6VyeBxx6qjU8T4d4heGVKhgBnHpzn01d54ZXqPw8RkY6cDjPzECrafs/rNIE1IT7Rq7NU+o1ddbqu9XZU9IppLkBhUGTdDEZweWZ1V0dmr1lF9lD01aIWlBZ3ffWX3KK97dRm3EVA3M5JbkMceq1d+cBhjHpjgRwJxnJUkfEZkHS3k8beHx45zxPBccuEDlbS0utu1tBOnr+xaawvk6gd69hTdS/u9zGE3nIXOSSDkYmptfYOu/8AVK9ZpFoCpUabVe61W1FJIYAhaiEKNnByc4HThLAlFxHicghj1HFeA+XIyRorOtx5+bDzzyPw+kDdiQgOBnicDPx85MBERAzUcplmKjlMsBERA+LKg3OaN2ygeU6MQOBboWXpmV3U6U77FXZHJOQD4T8a24HpxE9AKgzV1Wzq7BhlB+I/1iBUNE1odVYKQSPEvhwfWtv+RlvnNOwNwgoxwD7J8Q8+BPETfy/u/v8A+IH3E+MWe6PqY3LPJfo0D7ifIqs/t/yn/vHc2eY/y/8AmB9RI+z2e9+yx9lf3/2WBMSPsje+f/r/ANpP2M++31/8QESfsX9zf5jH2Ee83+Zv+8BiMSfsC+v1MfYE8oHzGR5z7GhTyH0En7Gnuj6CBi3x5j6iR3q+8PqJnGkT3R9BJ+zr5QNbvl94fUR3y+Ym33Q8pPdjygfGnORMsgCTAREQEREBERAREQEREBERAREQEREBERAREQEREBERAREQEREBERA//9k="/>
          <p:cNvSpPr/>
          <p:nvPr/>
        </p:nvSpPr>
        <p:spPr>
          <a:xfrm>
            <a:off x="159628" y="-1046812"/>
            <a:ext cx="2084061" cy="2198256"/>
          </a:xfrm>
          <a:prstGeom prst="rect">
            <a:avLst/>
          </a:prstGeom>
          <a:noFill/>
          <a:ln>
            <a:noFill/>
          </a:ln>
        </p:spPr>
        <p:txBody>
          <a:bodyPr spcFirstLastPara="1" wrap="square" lIns="91350" tIns="45675" rIns="91350" bIns="45675" anchor="t" anchorCtr="0">
            <a:noAutofit/>
          </a:bodyPr>
          <a:lstStyle/>
          <a:p>
            <a:pPr marL="0" marR="0" lvl="0" indent="0" algn="l" rtl="0">
              <a:lnSpc>
                <a:spcPct val="100000"/>
              </a:lnSpc>
              <a:spcBef>
                <a:spcPts val="0"/>
              </a:spcBef>
              <a:spcAft>
                <a:spcPts val="0"/>
              </a:spcAft>
              <a:buClr>
                <a:srgbClr val="000000"/>
              </a:buClr>
              <a:buSzPts val="1799"/>
              <a:buFont typeface="Arial"/>
              <a:buNone/>
            </a:pPr>
            <a:endParaRPr sz="1799" b="0" i="0" u="none" strike="noStrike" cap="none">
              <a:solidFill>
                <a:schemeClr val="dk1"/>
              </a:solidFill>
              <a:latin typeface="Calibri"/>
              <a:ea typeface="Calibri"/>
              <a:cs typeface="Calibri"/>
              <a:sym typeface="Calibri"/>
            </a:endParaRPr>
          </a:p>
        </p:txBody>
      </p:sp>
      <p:grpSp>
        <p:nvGrpSpPr>
          <p:cNvPr id="135" name="Google Shape;135;p17"/>
          <p:cNvGrpSpPr/>
          <p:nvPr/>
        </p:nvGrpSpPr>
        <p:grpSpPr>
          <a:xfrm>
            <a:off x="838200" y="2514600"/>
            <a:ext cx="7315200" cy="1041384"/>
            <a:chOff x="183750" y="5130445"/>
            <a:chExt cx="8579250" cy="1473539"/>
          </a:xfrm>
        </p:grpSpPr>
        <p:pic>
          <p:nvPicPr>
            <p:cNvPr id="136" name="Google Shape;136;p17" descr="Le manchot Tux, mascotte de Linux, est dessiné de face, assis et souriant."/>
            <p:cNvPicPr preferRelativeResize="0"/>
            <p:nvPr/>
          </p:nvPicPr>
          <p:blipFill rotWithShape="1">
            <a:blip r:embed="rId3">
              <a:alphaModFix/>
            </a:blip>
            <a:srcRect/>
            <a:stretch/>
          </p:blipFill>
          <p:spPr>
            <a:xfrm>
              <a:off x="2256324" y="5130445"/>
              <a:ext cx="1371877" cy="1473539"/>
            </a:xfrm>
            <a:prstGeom prst="rect">
              <a:avLst/>
            </a:prstGeom>
            <a:noFill/>
            <a:ln>
              <a:noFill/>
            </a:ln>
          </p:spPr>
        </p:pic>
        <p:pic>
          <p:nvPicPr>
            <p:cNvPr id="137" name="Google Shape;137;p17" descr="https://encrypted-tbn0.gstatic.com/images?q=tbn:ANd9GcRzWyHtznzdq9AHEzc0o2kRb_7EUV9AGGPPX3YU2TaWpC9qQD9OCg"/>
            <p:cNvPicPr preferRelativeResize="0"/>
            <p:nvPr/>
          </p:nvPicPr>
          <p:blipFill rotWithShape="1">
            <a:blip r:embed="rId4">
              <a:alphaModFix/>
            </a:blip>
            <a:srcRect/>
            <a:stretch/>
          </p:blipFill>
          <p:spPr>
            <a:xfrm>
              <a:off x="183750" y="5696645"/>
              <a:ext cx="2072574" cy="907339"/>
            </a:xfrm>
            <a:prstGeom prst="rect">
              <a:avLst/>
            </a:prstGeom>
            <a:noFill/>
            <a:ln>
              <a:noFill/>
            </a:ln>
          </p:spPr>
        </p:pic>
        <p:pic>
          <p:nvPicPr>
            <p:cNvPr id="138" name="Google Shape;138;p17" descr="http://www.maclife.com/files/u32/0203_osx_300.jpg"/>
            <p:cNvPicPr preferRelativeResize="0"/>
            <p:nvPr/>
          </p:nvPicPr>
          <p:blipFill rotWithShape="1">
            <a:blip r:embed="rId5">
              <a:alphaModFix/>
            </a:blip>
            <a:srcRect/>
            <a:stretch/>
          </p:blipFill>
          <p:spPr>
            <a:xfrm>
              <a:off x="7513150" y="5157037"/>
              <a:ext cx="1249850" cy="1446947"/>
            </a:xfrm>
            <a:prstGeom prst="rect">
              <a:avLst/>
            </a:prstGeom>
            <a:noFill/>
            <a:ln>
              <a:noFill/>
            </a:ln>
          </p:spPr>
        </p:pic>
        <p:pic>
          <p:nvPicPr>
            <p:cNvPr id="139" name="Google Shape;139;p17"/>
            <p:cNvPicPr preferRelativeResize="0"/>
            <p:nvPr/>
          </p:nvPicPr>
          <p:blipFill rotWithShape="1">
            <a:blip r:embed="rId6">
              <a:alphaModFix/>
            </a:blip>
            <a:srcRect/>
            <a:stretch/>
          </p:blipFill>
          <p:spPr>
            <a:xfrm>
              <a:off x="3628201" y="5248288"/>
              <a:ext cx="1560939" cy="1355696"/>
            </a:xfrm>
            <a:prstGeom prst="rect">
              <a:avLst/>
            </a:prstGeom>
            <a:noFill/>
            <a:ln>
              <a:noFill/>
            </a:ln>
          </p:spPr>
        </p:pic>
        <p:pic>
          <p:nvPicPr>
            <p:cNvPr id="140" name="Google Shape;140;p17"/>
            <p:cNvPicPr preferRelativeResize="0"/>
            <p:nvPr/>
          </p:nvPicPr>
          <p:blipFill rotWithShape="1">
            <a:blip r:embed="rId7">
              <a:alphaModFix/>
            </a:blip>
            <a:srcRect/>
            <a:stretch/>
          </p:blipFill>
          <p:spPr>
            <a:xfrm>
              <a:off x="5513178" y="5384461"/>
              <a:ext cx="1675934" cy="1179683"/>
            </a:xfrm>
            <a:prstGeom prst="rect">
              <a:avLst/>
            </a:prstGeom>
            <a:noFill/>
            <a:ln>
              <a:noFill/>
            </a:ln>
          </p:spPr>
        </p:pic>
      </p:grpSp>
      <p:sp>
        <p:nvSpPr>
          <p:cNvPr id="141" name="Google Shape;141;p17"/>
          <p:cNvSpPr/>
          <p:nvPr/>
        </p:nvSpPr>
        <p:spPr>
          <a:xfrm>
            <a:off x="-96666" y="3555984"/>
            <a:ext cx="9010672" cy="244297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799"/>
              <a:buFont typeface="Arial"/>
              <a:buNone/>
            </a:pPr>
            <a:endParaRPr sz="799" b="1" i="0" u="none" strike="noStrike" cap="none">
              <a:solidFill>
                <a:schemeClr val="dk1"/>
              </a:solidFill>
              <a:latin typeface="Calibri"/>
              <a:ea typeface="Calibri"/>
              <a:cs typeface="Calibri"/>
              <a:sym typeface="Calibri"/>
            </a:endParaRPr>
          </a:p>
          <a:p>
            <a:pPr marL="712200" marR="0" lvl="0" indent="0" algn="l" rtl="0">
              <a:lnSpc>
                <a:spcPct val="100000"/>
              </a:lnSpc>
              <a:spcBef>
                <a:spcPts val="600"/>
              </a:spcBef>
              <a:spcAft>
                <a:spcPts val="0"/>
              </a:spcAft>
              <a:buClr>
                <a:srgbClr val="000000"/>
              </a:buClr>
              <a:buSzPts val="2378"/>
              <a:buFont typeface="Arial"/>
              <a:buNone/>
            </a:pPr>
            <a:r>
              <a:rPr lang="fr-FR" sz="2378" b="1" i="0" u="sng" strike="noStrike" cap="none">
                <a:solidFill>
                  <a:srgbClr val="145AC2"/>
                </a:solidFill>
                <a:latin typeface="Times New Roman"/>
                <a:ea typeface="Times New Roman"/>
                <a:cs typeface="Times New Roman"/>
                <a:sym typeface="Times New Roman"/>
              </a:rPr>
              <a:t>Multi processeurs</a:t>
            </a:r>
            <a:endParaRPr sz="1400" b="0" i="0" u="none" strike="noStrike" cap="none">
              <a:solidFill>
                <a:srgbClr val="000000"/>
              </a:solidFill>
              <a:latin typeface="Arial"/>
              <a:ea typeface="Arial"/>
              <a:cs typeface="Arial"/>
              <a:sym typeface="Arial"/>
            </a:endParaRPr>
          </a:p>
          <a:p>
            <a:pPr marL="712200" marR="0" lvl="0" indent="0"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Système avec plusieurs processeurs en parallèle.</a:t>
            </a:r>
            <a:endParaRPr sz="1400" b="0" i="0" u="none" strike="noStrike" cap="none">
              <a:solidFill>
                <a:srgbClr val="000000"/>
              </a:solidFill>
              <a:latin typeface="Arial"/>
              <a:ea typeface="Arial"/>
              <a:cs typeface="Arial"/>
              <a:sym typeface="Arial"/>
            </a:endParaRPr>
          </a:p>
          <a:p>
            <a:pPr marL="712200" marR="0" lvl="0" indent="0"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vrai multitâches ( Exécution de  plusieurs processus en même temps).</a:t>
            </a:r>
            <a:endParaRPr sz="1800" b="0" i="0" u="none" strike="noStrike" cap="none">
              <a:solidFill>
                <a:schemeClr val="dk1"/>
              </a:solidFill>
              <a:latin typeface="Times New Roman"/>
              <a:ea typeface="Times New Roman"/>
              <a:cs typeface="Times New Roman"/>
              <a:sym typeface="Times New Roman"/>
            </a:endParaRPr>
          </a:p>
          <a:p>
            <a:pPr marL="712200" marR="0" lvl="0" indent="0"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Puissance de calcul plus importante.</a:t>
            </a:r>
            <a:endParaRPr sz="1400" b="0" i="0" u="none" strike="noStrike" cap="none">
              <a:solidFill>
                <a:srgbClr val="000000"/>
              </a:solidFill>
              <a:latin typeface="Arial"/>
              <a:ea typeface="Arial"/>
              <a:cs typeface="Arial"/>
              <a:sym typeface="Arial"/>
            </a:endParaRPr>
          </a:p>
          <a:p>
            <a:pPr marL="712200" marR="0" lvl="0" indent="0"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Disponibilité du système (en cas de panne d'un processeur)</a:t>
            </a:r>
            <a:endParaRPr sz="999"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398"/>
              <a:buFont typeface="Arial"/>
              <a:buNone/>
            </a:pPr>
            <a:endParaRPr sz="2398" b="0" i="0" u="none" strike="noStrike" cap="none">
              <a:solidFill>
                <a:schemeClr val="dk1"/>
              </a:solidFill>
              <a:latin typeface="Calibri"/>
              <a:ea typeface="Calibri"/>
              <a:cs typeface="Calibri"/>
              <a:sym typeface="Calibri"/>
            </a:endParaRPr>
          </a:p>
        </p:txBody>
      </p:sp>
      <p:cxnSp>
        <p:nvCxnSpPr>
          <p:cNvPr id="142" name="Google Shape;142;p17"/>
          <p:cNvCxnSpPr/>
          <p:nvPr/>
        </p:nvCxnSpPr>
        <p:spPr>
          <a:xfrm>
            <a:off x="762000" y="4724400"/>
            <a:ext cx="152400" cy="0"/>
          </a:xfrm>
          <a:prstGeom prst="straightConnector1">
            <a:avLst/>
          </a:prstGeom>
          <a:noFill/>
          <a:ln w="9525" cap="flat" cmpd="sng">
            <a:solidFill>
              <a:srgbClr val="4A7DBA"/>
            </a:solidFill>
            <a:prstDash val="solid"/>
            <a:round/>
            <a:headEnd type="none" w="sm" len="sm"/>
            <a:tailEnd type="triangle" w="med" len="med"/>
          </a:ln>
        </p:spPr>
      </p:cxnSp>
      <p:cxnSp>
        <p:nvCxnSpPr>
          <p:cNvPr id="143" name="Google Shape;143;p17"/>
          <p:cNvCxnSpPr/>
          <p:nvPr/>
        </p:nvCxnSpPr>
        <p:spPr>
          <a:xfrm>
            <a:off x="762000" y="5105400"/>
            <a:ext cx="152400" cy="0"/>
          </a:xfrm>
          <a:prstGeom prst="straightConnector1">
            <a:avLst/>
          </a:prstGeom>
          <a:noFill/>
          <a:ln w="9525" cap="flat" cmpd="sng">
            <a:solidFill>
              <a:srgbClr val="4A7DBA"/>
            </a:solidFill>
            <a:prstDash val="solid"/>
            <a:round/>
            <a:headEnd type="none" w="sm" len="sm"/>
            <a:tailEnd type="triangle" w="med" len="med"/>
          </a:ln>
        </p:spPr>
      </p:cxnSp>
      <p:cxnSp>
        <p:nvCxnSpPr>
          <p:cNvPr id="144" name="Google Shape;144;p17"/>
          <p:cNvCxnSpPr/>
          <p:nvPr/>
        </p:nvCxnSpPr>
        <p:spPr>
          <a:xfrm>
            <a:off x="766864" y="5486400"/>
            <a:ext cx="152400" cy="0"/>
          </a:xfrm>
          <a:prstGeom prst="straightConnector1">
            <a:avLst/>
          </a:prstGeom>
          <a:noFill/>
          <a:ln w="9525" cap="flat" cmpd="sng">
            <a:solidFill>
              <a:srgbClr val="4A7DBA"/>
            </a:solidFill>
            <a:prstDash val="solid"/>
            <a:round/>
            <a:headEnd type="none" w="sm" len="sm"/>
            <a:tailEnd type="triangl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8"/>
          <p:cNvSpPr/>
          <p:nvPr/>
        </p:nvSpPr>
        <p:spPr>
          <a:xfrm>
            <a:off x="-228600" y="152400"/>
            <a:ext cx="9010672" cy="2243050"/>
          </a:xfrm>
          <a:prstGeom prst="rect">
            <a:avLst/>
          </a:prstGeom>
          <a:noFill/>
          <a:ln>
            <a:noFill/>
          </a:ln>
        </p:spPr>
        <p:txBody>
          <a:bodyPr spcFirstLastPara="1" wrap="square" lIns="91425" tIns="45700" rIns="91425" bIns="45700" anchor="t" anchorCtr="0">
            <a:noAutofit/>
          </a:bodyPr>
          <a:lstStyle/>
          <a:p>
            <a:pPr marL="712200" marR="0" lvl="0" indent="0" algn="l" rtl="0">
              <a:lnSpc>
                <a:spcPct val="100000"/>
              </a:lnSpc>
              <a:spcBef>
                <a:spcPts val="0"/>
              </a:spcBef>
              <a:spcAft>
                <a:spcPts val="0"/>
              </a:spcAft>
              <a:buClr>
                <a:srgbClr val="000000"/>
              </a:buClr>
              <a:buSzPts val="2378"/>
              <a:buFont typeface="Arial"/>
              <a:buNone/>
            </a:pPr>
            <a:r>
              <a:rPr lang="fr-FR" sz="2378" b="1" i="0" u="sng" strike="noStrike" cap="none">
                <a:solidFill>
                  <a:srgbClr val="145AC2"/>
                </a:solidFill>
                <a:latin typeface="Times New Roman"/>
                <a:ea typeface="Times New Roman"/>
                <a:cs typeface="Times New Roman"/>
                <a:sym typeface="Times New Roman"/>
              </a:rPr>
              <a:t>Systèmes temps réel</a:t>
            </a:r>
            <a:endParaRPr sz="1400" b="0" i="0" u="none" strike="noStrike" cap="none">
              <a:solidFill>
                <a:srgbClr val="000000"/>
              </a:solidFill>
              <a:latin typeface="Arial"/>
              <a:ea typeface="Arial"/>
              <a:cs typeface="Arial"/>
              <a:sym typeface="Arial"/>
            </a:endParaRPr>
          </a:p>
          <a:p>
            <a:pPr marL="712200" marR="0" lvl="0" indent="0"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prévus pour traiter des informations de manière fiable dans un temps donnés :</a:t>
            </a:r>
            <a:endParaRPr sz="1400" b="0" i="0" u="none" strike="noStrike" cap="none">
              <a:solidFill>
                <a:srgbClr val="000000"/>
              </a:solidFill>
              <a:latin typeface="Arial"/>
              <a:ea typeface="Arial"/>
              <a:cs typeface="Arial"/>
              <a:sym typeface="Arial"/>
            </a:endParaRPr>
          </a:p>
          <a:p>
            <a:pPr marL="1527498" marR="0" lvl="0" indent="-364823"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Applications industrielles,</a:t>
            </a:r>
            <a:endParaRPr sz="1800" b="0" i="0" u="none" strike="noStrike" cap="none">
              <a:solidFill>
                <a:schemeClr val="dk1"/>
              </a:solidFill>
              <a:latin typeface="Times New Roman"/>
              <a:ea typeface="Times New Roman"/>
              <a:cs typeface="Times New Roman"/>
              <a:sym typeface="Times New Roman"/>
            </a:endParaRPr>
          </a:p>
          <a:p>
            <a:pPr marL="1527498" marR="0" lvl="0" indent="-364823"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Robotique,</a:t>
            </a:r>
            <a:endParaRPr sz="1400" b="0" i="0" u="none" strike="noStrike" cap="none">
              <a:solidFill>
                <a:srgbClr val="000000"/>
              </a:solidFill>
              <a:latin typeface="Arial"/>
              <a:ea typeface="Arial"/>
              <a:cs typeface="Arial"/>
              <a:sym typeface="Arial"/>
            </a:endParaRPr>
          </a:p>
          <a:p>
            <a:pPr marL="1527498" marR="0" lvl="0" indent="-364823"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Transports,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98"/>
              <a:buFont typeface="Arial"/>
              <a:buNone/>
            </a:pPr>
            <a:endParaRPr sz="2398" b="0" i="0" u="none" strike="noStrike" cap="none">
              <a:solidFill>
                <a:schemeClr val="dk1"/>
              </a:solidFill>
              <a:latin typeface="Calibri"/>
              <a:ea typeface="Calibri"/>
              <a:cs typeface="Calibri"/>
              <a:sym typeface="Calibri"/>
            </a:endParaRPr>
          </a:p>
        </p:txBody>
      </p:sp>
      <p:grpSp>
        <p:nvGrpSpPr>
          <p:cNvPr id="151" name="Google Shape;151;p18"/>
          <p:cNvGrpSpPr/>
          <p:nvPr/>
        </p:nvGrpSpPr>
        <p:grpSpPr>
          <a:xfrm>
            <a:off x="20858" y="2133600"/>
            <a:ext cx="8511756" cy="1139856"/>
            <a:chOff x="228600" y="4939781"/>
            <a:chExt cx="8816556" cy="1915075"/>
          </a:xfrm>
        </p:grpSpPr>
        <p:pic>
          <p:nvPicPr>
            <p:cNvPr id="152" name="Google Shape;152;p18" descr="http://www.onastick.clara.net/s_os9log.gif"/>
            <p:cNvPicPr preferRelativeResize="0"/>
            <p:nvPr/>
          </p:nvPicPr>
          <p:blipFill rotWithShape="1">
            <a:blip r:embed="rId3">
              <a:alphaModFix/>
            </a:blip>
            <a:srcRect/>
            <a:stretch/>
          </p:blipFill>
          <p:spPr>
            <a:xfrm>
              <a:off x="228600" y="4939781"/>
              <a:ext cx="2624158" cy="1897370"/>
            </a:xfrm>
            <a:prstGeom prst="rect">
              <a:avLst/>
            </a:prstGeom>
            <a:noFill/>
            <a:ln>
              <a:noFill/>
            </a:ln>
          </p:spPr>
        </p:pic>
        <p:pic>
          <p:nvPicPr>
            <p:cNvPr id="153" name="Google Shape;153;p18" descr="http://www.realtimelinuxfoundation.org/icons/rt-tux.jpg"/>
            <p:cNvPicPr preferRelativeResize="0"/>
            <p:nvPr/>
          </p:nvPicPr>
          <p:blipFill rotWithShape="1">
            <a:blip r:embed="rId4">
              <a:alphaModFix/>
            </a:blip>
            <a:srcRect/>
            <a:stretch/>
          </p:blipFill>
          <p:spPr>
            <a:xfrm>
              <a:off x="2701510" y="4984365"/>
              <a:ext cx="1870491" cy="1870491"/>
            </a:xfrm>
            <a:prstGeom prst="rect">
              <a:avLst/>
            </a:prstGeom>
            <a:noFill/>
            <a:ln>
              <a:noFill/>
            </a:ln>
          </p:spPr>
        </p:pic>
        <p:pic>
          <p:nvPicPr>
            <p:cNvPr id="154" name="Google Shape;154;p18"/>
            <p:cNvPicPr preferRelativeResize="0"/>
            <p:nvPr/>
          </p:nvPicPr>
          <p:blipFill rotWithShape="1">
            <a:blip r:embed="rId5">
              <a:alphaModFix/>
            </a:blip>
            <a:srcRect/>
            <a:stretch/>
          </p:blipFill>
          <p:spPr>
            <a:xfrm>
              <a:off x="4787827" y="4939781"/>
              <a:ext cx="1848831" cy="1725576"/>
            </a:xfrm>
            <a:prstGeom prst="rect">
              <a:avLst/>
            </a:prstGeom>
            <a:noFill/>
            <a:ln>
              <a:noFill/>
            </a:ln>
          </p:spPr>
        </p:pic>
        <p:pic>
          <p:nvPicPr>
            <p:cNvPr id="155" name="Google Shape;155;p18" descr="http://www.ueidaq.com/media/catalog/product/cache/1/image/9df78eab33525d08d6e5fb8d27136e95/v/x/vxworks.jpg"/>
            <p:cNvPicPr preferRelativeResize="0"/>
            <p:nvPr/>
          </p:nvPicPr>
          <p:blipFill rotWithShape="1">
            <a:blip r:embed="rId6">
              <a:alphaModFix/>
            </a:blip>
            <a:srcRect t="22376" b="21684"/>
            <a:stretch/>
          </p:blipFill>
          <p:spPr>
            <a:xfrm>
              <a:off x="6730258" y="5083666"/>
              <a:ext cx="2314898" cy="1294956"/>
            </a:xfrm>
            <a:prstGeom prst="rect">
              <a:avLst/>
            </a:prstGeom>
            <a:noFill/>
            <a:ln>
              <a:noFill/>
            </a:ln>
          </p:spPr>
        </p:pic>
      </p:grpSp>
      <p:sp>
        <p:nvSpPr>
          <p:cNvPr id="156" name="Google Shape;156;p18"/>
          <p:cNvSpPr/>
          <p:nvPr/>
        </p:nvSpPr>
        <p:spPr>
          <a:xfrm>
            <a:off x="0" y="3292911"/>
            <a:ext cx="8382000" cy="2520049"/>
          </a:xfrm>
          <a:prstGeom prst="rect">
            <a:avLst/>
          </a:prstGeom>
          <a:noFill/>
          <a:ln>
            <a:noFill/>
          </a:ln>
        </p:spPr>
        <p:txBody>
          <a:bodyPr spcFirstLastPara="1" wrap="square" lIns="91425" tIns="45700" rIns="91425" bIns="45700" anchor="t" anchorCtr="0">
            <a:noAutofit/>
          </a:bodyPr>
          <a:lstStyle/>
          <a:p>
            <a:pPr marL="712200" marR="0" lvl="0" indent="0" algn="l" rtl="0">
              <a:lnSpc>
                <a:spcPct val="100000"/>
              </a:lnSpc>
              <a:spcBef>
                <a:spcPts val="0"/>
              </a:spcBef>
              <a:spcAft>
                <a:spcPts val="0"/>
              </a:spcAft>
              <a:buClr>
                <a:srgbClr val="000000"/>
              </a:buClr>
              <a:buSzPts val="2378"/>
              <a:buFont typeface="Arial"/>
              <a:buNone/>
            </a:pPr>
            <a:r>
              <a:rPr lang="fr-FR" sz="2378" b="1" i="0" u="sng" strike="noStrike" cap="none">
                <a:solidFill>
                  <a:srgbClr val="145AC2"/>
                </a:solidFill>
                <a:latin typeface="Times New Roman"/>
                <a:ea typeface="Times New Roman"/>
                <a:cs typeface="Times New Roman"/>
                <a:sym typeface="Times New Roman"/>
              </a:rPr>
              <a:t>Systèmes embarqués</a:t>
            </a:r>
            <a:endParaRPr sz="1400" b="0" i="0" u="none" strike="noStrike" cap="none">
              <a:solidFill>
                <a:srgbClr val="000000"/>
              </a:solidFill>
              <a:latin typeface="Arial"/>
              <a:ea typeface="Arial"/>
              <a:cs typeface="Arial"/>
              <a:sym typeface="Arial"/>
            </a:endParaRPr>
          </a:p>
          <a:p>
            <a:pPr marL="1169021" marR="0" lvl="0" indent="-6343" algn="l" rtl="0">
              <a:lnSpc>
                <a:spcPct val="100000"/>
              </a:lnSpc>
              <a:spcBef>
                <a:spcPts val="60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prévus pour fonctionner sur :</a:t>
            </a:r>
            <a:endParaRPr sz="1400" b="0" i="0" u="none" strike="noStrike" cap="none">
              <a:solidFill>
                <a:srgbClr val="000000"/>
              </a:solidFill>
              <a:latin typeface="Arial"/>
              <a:ea typeface="Arial"/>
              <a:cs typeface="Arial"/>
              <a:sym typeface="Arial"/>
            </a:endParaRPr>
          </a:p>
          <a:p>
            <a:pPr marL="1527498" marR="0" lvl="0" indent="-364823"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 des machines de petite taille ( , téléphone, …)</a:t>
            </a:r>
            <a:endParaRPr sz="1400" b="0" i="0" u="none" strike="noStrike" cap="none">
              <a:solidFill>
                <a:srgbClr val="000000"/>
              </a:solidFill>
              <a:latin typeface="Arial"/>
              <a:ea typeface="Arial"/>
              <a:cs typeface="Arial"/>
              <a:sym typeface="Arial"/>
            </a:endParaRPr>
          </a:p>
          <a:p>
            <a:pPr marL="1617911" marR="0" lvl="0" indent="-455236" algn="l" rtl="0">
              <a:lnSpc>
                <a:spcPct val="100000"/>
              </a:lnSpc>
              <a:spcBef>
                <a:spcPts val="60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des appareils électroniques autonomes (sondes spatiales, robot, ordinateur de bord de véhicule, …) </a:t>
            </a:r>
            <a:endParaRPr sz="1400" b="0" i="0" u="none" strike="noStrike" cap="none">
              <a:solidFill>
                <a:srgbClr val="000000"/>
              </a:solidFill>
              <a:latin typeface="Arial"/>
              <a:ea typeface="Arial"/>
              <a:cs typeface="Arial"/>
              <a:sym typeface="Arial"/>
            </a:endParaRPr>
          </a:p>
          <a:p>
            <a:pPr marL="1169021" marR="0" lvl="0" indent="-6343" algn="l" rtl="0">
              <a:lnSpc>
                <a:spcPct val="100000"/>
              </a:lnSpc>
              <a:spcBef>
                <a:spcPts val="600"/>
              </a:spcBef>
              <a:spcAft>
                <a:spcPts val="0"/>
              </a:spcAft>
              <a:buClr>
                <a:srgbClr val="000000"/>
              </a:buClr>
              <a:buSzPts val="1800"/>
              <a:buFont typeface="Arial"/>
              <a:buNone/>
            </a:pPr>
            <a:r>
              <a:rPr lang="fr-FR" sz="1800" b="1" i="0" u="none" strike="noStrike" cap="none">
                <a:solidFill>
                  <a:schemeClr val="dk1"/>
                </a:solidFill>
                <a:latin typeface="Times New Roman"/>
                <a:ea typeface="Times New Roman"/>
                <a:cs typeface="Times New Roman"/>
                <a:sym typeface="Times New Roman"/>
              </a:rPr>
              <a:t>Autonomie réduite = gestion avancée de l'énergie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398"/>
              <a:buFont typeface="Arial"/>
              <a:buNone/>
            </a:pPr>
            <a:endParaRPr sz="2398" b="0" i="0" u="none" strike="noStrike" cap="none">
              <a:solidFill>
                <a:schemeClr val="dk1"/>
              </a:solidFill>
              <a:latin typeface="Calibri"/>
              <a:ea typeface="Calibri"/>
              <a:cs typeface="Calibri"/>
              <a:sym typeface="Calibri"/>
            </a:endParaRPr>
          </a:p>
        </p:txBody>
      </p:sp>
      <p:grpSp>
        <p:nvGrpSpPr>
          <p:cNvPr id="157" name="Google Shape;157;p18"/>
          <p:cNvGrpSpPr/>
          <p:nvPr/>
        </p:nvGrpSpPr>
        <p:grpSpPr>
          <a:xfrm>
            <a:off x="304800" y="5787020"/>
            <a:ext cx="8727664" cy="1045040"/>
            <a:chOff x="394144" y="5700759"/>
            <a:chExt cx="8727664" cy="1157242"/>
          </a:xfrm>
        </p:grpSpPr>
        <p:grpSp>
          <p:nvGrpSpPr>
            <p:cNvPr id="158" name="Google Shape;158;p18"/>
            <p:cNvGrpSpPr/>
            <p:nvPr/>
          </p:nvGrpSpPr>
          <p:grpSpPr>
            <a:xfrm>
              <a:off x="394144" y="5700759"/>
              <a:ext cx="6877287" cy="1157242"/>
              <a:chOff x="394144" y="5466320"/>
              <a:chExt cx="6877287" cy="1391681"/>
            </a:xfrm>
          </p:grpSpPr>
          <p:pic>
            <p:nvPicPr>
              <p:cNvPr id="159" name="Google Shape;159;p18" descr="http://www.iphonic.tv/palm_os_logo.jpg"/>
              <p:cNvPicPr preferRelativeResize="0"/>
              <p:nvPr/>
            </p:nvPicPr>
            <p:blipFill rotWithShape="1">
              <a:blip r:embed="rId7">
                <a:alphaModFix/>
              </a:blip>
              <a:srcRect/>
              <a:stretch/>
            </p:blipFill>
            <p:spPr>
              <a:xfrm>
                <a:off x="394144" y="5466320"/>
                <a:ext cx="1227994" cy="1227994"/>
              </a:xfrm>
              <a:prstGeom prst="rect">
                <a:avLst/>
              </a:prstGeom>
              <a:noFill/>
              <a:ln>
                <a:noFill/>
              </a:ln>
            </p:spPr>
          </p:pic>
          <p:pic>
            <p:nvPicPr>
              <p:cNvPr id="160" name="Google Shape;160;p18" descr="http://www.ubergizmo.com/photos/2008/8/windows-ce-update.jpg"/>
              <p:cNvPicPr preferRelativeResize="0"/>
              <p:nvPr/>
            </p:nvPicPr>
            <p:blipFill rotWithShape="1">
              <a:blip r:embed="rId8">
                <a:alphaModFix/>
              </a:blip>
              <a:srcRect/>
              <a:stretch/>
            </p:blipFill>
            <p:spPr>
              <a:xfrm>
                <a:off x="2067696" y="5497731"/>
                <a:ext cx="2097308" cy="1165171"/>
              </a:xfrm>
              <a:prstGeom prst="rect">
                <a:avLst/>
              </a:prstGeom>
              <a:noFill/>
              <a:ln>
                <a:noFill/>
              </a:ln>
            </p:spPr>
          </p:pic>
          <p:pic>
            <p:nvPicPr>
              <p:cNvPr id="161" name="Google Shape;161;p18" descr="http://www.numerama.com/media/attach/symbian.jpg"/>
              <p:cNvPicPr preferRelativeResize="0"/>
              <p:nvPr/>
            </p:nvPicPr>
            <p:blipFill rotWithShape="1">
              <a:blip r:embed="rId9">
                <a:alphaModFix/>
              </a:blip>
              <a:srcRect/>
              <a:stretch/>
            </p:blipFill>
            <p:spPr>
              <a:xfrm>
                <a:off x="5774733" y="5700759"/>
                <a:ext cx="1496698" cy="1123711"/>
              </a:xfrm>
              <a:prstGeom prst="rect">
                <a:avLst/>
              </a:prstGeom>
              <a:noFill/>
              <a:ln>
                <a:noFill/>
              </a:ln>
            </p:spPr>
          </p:pic>
          <p:pic>
            <p:nvPicPr>
              <p:cNvPr id="162" name="Google Shape;162;p18" descr="http://www.eco-conscient.com/wp-content/uploads/2010/05/android_logo1.gif"/>
              <p:cNvPicPr preferRelativeResize="0"/>
              <p:nvPr/>
            </p:nvPicPr>
            <p:blipFill rotWithShape="1">
              <a:blip r:embed="rId10">
                <a:alphaModFix/>
              </a:blip>
              <a:srcRect l="22608" r="20871"/>
              <a:stretch/>
            </p:blipFill>
            <p:spPr>
              <a:xfrm>
                <a:off x="4049021" y="5497731"/>
                <a:ext cx="1170898" cy="1360270"/>
              </a:xfrm>
              <a:prstGeom prst="rect">
                <a:avLst/>
              </a:prstGeom>
              <a:noFill/>
              <a:ln>
                <a:noFill/>
              </a:ln>
            </p:spPr>
          </p:pic>
        </p:grpSp>
        <p:pic>
          <p:nvPicPr>
            <p:cNvPr id="163" name="Google Shape;163;p18"/>
            <p:cNvPicPr preferRelativeResize="0"/>
            <p:nvPr/>
          </p:nvPicPr>
          <p:blipFill rotWithShape="1">
            <a:blip r:embed="rId11">
              <a:alphaModFix/>
            </a:blip>
            <a:srcRect/>
            <a:stretch/>
          </p:blipFill>
          <p:spPr>
            <a:xfrm>
              <a:off x="7339031" y="5700759"/>
              <a:ext cx="1782777" cy="1157241"/>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9"/>
          <p:cNvSpPr txBox="1"/>
          <p:nvPr/>
        </p:nvSpPr>
        <p:spPr>
          <a:xfrm>
            <a:off x="457200" y="0"/>
            <a:ext cx="7239000" cy="523220"/>
          </a:xfrm>
          <a:prstGeom prst="rect">
            <a:avLst/>
          </a:prstGeom>
          <a:noFill/>
          <a:ln>
            <a:noFill/>
          </a:ln>
        </p:spPr>
        <p:txBody>
          <a:bodyPr spcFirstLastPara="1" wrap="square" lIns="91425" tIns="45700" rIns="91425" bIns="45700" anchor="t" anchorCtr="0">
            <a:spAutoFit/>
          </a:bodyPr>
          <a:lstStyle/>
          <a:p>
            <a:pPr marL="1895120" marR="0" lvl="0" indent="0" algn="l" rtl="0">
              <a:lnSpc>
                <a:spcPct val="100000"/>
              </a:lnSpc>
              <a:spcBef>
                <a:spcPts val="0"/>
              </a:spcBef>
              <a:spcAft>
                <a:spcPts val="0"/>
              </a:spcAft>
              <a:buClr>
                <a:srgbClr val="000000"/>
              </a:buClr>
              <a:buSzPts val="2800"/>
              <a:buFont typeface="Arial"/>
              <a:buNone/>
            </a:pPr>
            <a:r>
              <a:rPr lang="fr-FR" sz="2800" b="1" i="0" u="sng" strike="noStrike" cap="none">
                <a:solidFill>
                  <a:schemeClr val="dk1"/>
                </a:solidFill>
                <a:latin typeface="Calibri"/>
                <a:ea typeface="Calibri"/>
                <a:cs typeface="Calibri"/>
                <a:sym typeface="Calibri"/>
              </a:rPr>
              <a:t>Rôles du système d’exploitation</a:t>
            </a:r>
            <a:endParaRPr sz="1400" b="0" i="0" u="none" strike="noStrike" cap="none">
              <a:solidFill>
                <a:srgbClr val="000000"/>
              </a:solidFill>
              <a:latin typeface="Arial"/>
              <a:ea typeface="Arial"/>
              <a:cs typeface="Arial"/>
              <a:sym typeface="Arial"/>
            </a:endParaRPr>
          </a:p>
        </p:txBody>
      </p:sp>
      <p:sp>
        <p:nvSpPr>
          <p:cNvPr id="170" name="Google Shape;170;p19"/>
          <p:cNvSpPr/>
          <p:nvPr/>
        </p:nvSpPr>
        <p:spPr>
          <a:xfrm>
            <a:off x="266700" y="496499"/>
            <a:ext cx="8572500" cy="230832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sng" strike="noStrike" cap="none">
                <a:solidFill>
                  <a:srgbClr val="145AC2"/>
                </a:solidFill>
                <a:latin typeface="Times New Roman"/>
                <a:ea typeface="Times New Roman"/>
                <a:cs typeface="Times New Roman"/>
                <a:sym typeface="Times New Roman"/>
              </a:rPr>
              <a:t>La gestion du processeur</a:t>
            </a:r>
            <a:r>
              <a:rPr lang="fr-FR" sz="1800" b="0" i="0" u="none" strike="noStrike" cap="none">
                <a:solidFill>
                  <a:schemeClr val="dk1"/>
                </a:solidFill>
                <a:latin typeface="Times New Roman"/>
                <a:ea typeface="Times New Roman"/>
                <a:cs typeface="Times New Roman"/>
                <a:sym typeface="Times New Roman"/>
              </a:rPr>
              <a:t>: le système d’exploitation est chargé de gérer l’allocation du processeur entre les différents programmes grâce à un algorithme d’ordonnancement .</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800"/>
              <a:buFont typeface="Arial"/>
              <a:buNone/>
            </a:pPr>
            <a:r>
              <a:rPr lang="fr-FR" sz="1800" b="1" i="0" u="sng" strike="noStrike" cap="none">
                <a:solidFill>
                  <a:srgbClr val="145AC2"/>
                </a:solidFill>
                <a:latin typeface="Times New Roman"/>
                <a:ea typeface="Times New Roman"/>
                <a:cs typeface="Times New Roman"/>
                <a:sym typeface="Times New Roman"/>
              </a:rPr>
              <a:t>Gestion de la mémoire  </a:t>
            </a:r>
            <a:r>
              <a:rPr lang="fr-FR" sz="1800" b="0" i="0" u="none" strike="noStrike" cap="none">
                <a:solidFill>
                  <a:schemeClr val="dk1"/>
                </a:solidFill>
                <a:latin typeface="Times New Roman"/>
                <a:ea typeface="Times New Roman"/>
                <a:cs typeface="Times New Roman"/>
                <a:sym typeface="Times New Roman"/>
              </a:rPr>
              <a:t>: le système d’exploitation est chargé de gérer l’espace mémoire alloué à chaque application.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sng" strike="noStrike" cap="none">
                <a:solidFill>
                  <a:srgbClr val="145AC2"/>
                </a:solidFill>
                <a:latin typeface="Times New Roman"/>
                <a:ea typeface="Times New Roman"/>
                <a:cs typeface="Times New Roman"/>
                <a:sym typeface="Times New Roman"/>
              </a:rPr>
              <a:t>Gestion des entrées/sorties</a:t>
            </a:r>
            <a:r>
              <a:rPr lang="fr-FR" sz="1800" b="0" i="0" u="none" strike="noStrike" cap="none">
                <a:solidFill>
                  <a:schemeClr val="dk1"/>
                </a:solidFill>
                <a:latin typeface="Times New Roman"/>
                <a:ea typeface="Times New Roman"/>
                <a:cs typeface="Times New Roman"/>
                <a:sym typeface="Times New Roman"/>
              </a:rPr>
              <a:t>: le système d’exploitation permet  de contrôler l’accès des programmes aux ressources matérielle par l’intermédiaire des pilotes.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r>
              <a:rPr lang="fr-FR" sz="1800" b="1" i="0" u="sng" strike="noStrike" cap="none">
                <a:solidFill>
                  <a:srgbClr val="145AC2"/>
                </a:solidFill>
                <a:latin typeface="Times New Roman"/>
                <a:ea typeface="Times New Roman"/>
                <a:cs typeface="Times New Roman"/>
                <a:sym typeface="Times New Roman"/>
              </a:rPr>
              <a:t>Gestion des fichiers</a:t>
            </a:r>
            <a:r>
              <a:rPr lang="fr-FR" sz="1800" b="1" i="0" u="none" strike="noStrike" cap="none">
                <a:solidFill>
                  <a:srgbClr val="145AC2"/>
                </a:solidFill>
                <a:latin typeface="Times New Roman"/>
                <a:ea typeface="Times New Roman"/>
                <a:cs typeface="Times New Roman"/>
                <a:sym typeface="Times New Roman"/>
              </a:rPr>
              <a:t> </a:t>
            </a:r>
            <a:r>
              <a:rPr lang="fr-FR" sz="1800" b="0" i="0" u="none" strike="noStrike" cap="none">
                <a:solidFill>
                  <a:schemeClr val="dk1"/>
                </a:solidFill>
                <a:latin typeface="Times New Roman"/>
                <a:ea typeface="Times New Roman"/>
                <a:cs typeface="Times New Roman"/>
                <a:sym typeface="Times New Roman"/>
              </a:rPr>
              <a:t>: le système d’exploitation gère la lecture et l’écriture dan le système de fichier et des droits d’accès aux fichiers par les utilisateurs et les applications.</a:t>
            </a:r>
            <a:endParaRPr sz="1400" b="0" i="0" u="none" strike="noStrike" cap="none">
              <a:solidFill>
                <a:srgbClr val="000000"/>
              </a:solidFill>
              <a:latin typeface="Arial"/>
              <a:ea typeface="Arial"/>
              <a:cs typeface="Arial"/>
              <a:sym typeface="Arial"/>
            </a:endParaRPr>
          </a:p>
        </p:txBody>
      </p:sp>
      <p:pic>
        <p:nvPicPr>
          <p:cNvPr id="171" name="Google Shape;171;p19" descr="Les systèmes d'exploitation - E-Classroom"/>
          <p:cNvPicPr preferRelativeResize="0"/>
          <p:nvPr/>
        </p:nvPicPr>
        <p:blipFill rotWithShape="1">
          <a:blip r:embed="rId3">
            <a:alphaModFix/>
          </a:blip>
          <a:srcRect/>
          <a:stretch/>
        </p:blipFill>
        <p:spPr>
          <a:xfrm>
            <a:off x="1905000" y="3048000"/>
            <a:ext cx="4533900" cy="297487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8</a:t>
            </a:fld>
            <a:endParaRPr/>
          </a:p>
        </p:txBody>
      </p:sp>
      <p:sp>
        <p:nvSpPr>
          <p:cNvPr id="178" name="Google Shape;178;p20"/>
          <p:cNvSpPr txBox="1">
            <a:spLocks noGrp="1"/>
          </p:cNvSpPr>
          <p:nvPr>
            <p:ph type="title"/>
          </p:nvPr>
        </p:nvSpPr>
        <p:spPr>
          <a:xfrm>
            <a:off x="457200" y="274638"/>
            <a:ext cx="8229600" cy="868362"/>
          </a:xfrm>
          <a:prstGeom prst="rect">
            <a:avLst/>
          </a:prstGeom>
          <a:noFill/>
          <a:ln>
            <a:noFill/>
          </a:ln>
        </p:spPr>
        <p:txBody>
          <a:bodyPr spcFirstLastPara="1" wrap="square" lIns="91425" tIns="45700" rIns="91425" bIns="45700" anchor="ctr" anchorCtr="0">
            <a:normAutofit/>
          </a:bodyPr>
          <a:lstStyle/>
          <a:p>
            <a:pPr marL="1895120" lvl="0" indent="0" algn="l" rtl="0">
              <a:lnSpc>
                <a:spcPct val="100000"/>
              </a:lnSpc>
              <a:spcBef>
                <a:spcPts val="0"/>
              </a:spcBef>
              <a:spcAft>
                <a:spcPts val="0"/>
              </a:spcAft>
              <a:buClr>
                <a:schemeClr val="dk1"/>
              </a:buClr>
              <a:buSzPts val="2800"/>
              <a:buFont typeface="Calibri"/>
              <a:buNone/>
            </a:pPr>
            <a:r>
              <a:rPr lang="fr-FR" sz="2800" b="1" u="sng"/>
              <a:t>Historique</a:t>
            </a:r>
            <a:endParaRPr/>
          </a:p>
        </p:txBody>
      </p:sp>
      <p:sp>
        <p:nvSpPr>
          <p:cNvPr id="179" name="Google Shape;179;p20"/>
          <p:cNvSpPr txBox="1">
            <a:spLocks noGrp="1"/>
          </p:cNvSpPr>
          <p:nvPr>
            <p:ph type="body" idx="1"/>
          </p:nvPr>
        </p:nvSpPr>
        <p:spPr>
          <a:xfrm>
            <a:off x="2514600" y="1417960"/>
            <a:ext cx="3429000" cy="740891"/>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lt1"/>
              </a:buClr>
              <a:buSzPts val="2000"/>
              <a:buNone/>
            </a:pPr>
            <a:r>
              <a:rPr lang="fr-FR" sz="2000">
                <a:solidFill>
                  <a:schemeClr val="lt1"/>
                </a:solidFill>
                <a:latin typeface="Calibri"/>
                <a:ea typeface="Calibri"/>
                <a:cs typeface="Calibri"/>
                <a:sym typeface="Calibri"/>
              </a:rPr>
              <a:t> Première génération (1945-1955). </a:t>
            </a:r>
            <a:endParaRPr sz="2000"/>
          </a:p>
        </p:txBody>
      </p:sp>
      <p:sp>
        <p:nvSpPr>
          <p:cNvPr id="180" name="Google Shape;180;p20"/>
          <p:cNvSpPr txBox="1"/>
          <p:nvPr/>
        </p:nvSpPr>
        <p:spPr>
          <a:xfrm>
            <a:off x="457200" y="5536924"/>
            <a:ext cx="8054975" cy="9953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Noto Sans Symbols"/>
              <a:buNone/>
            </a:pPr>
            <a:endParaRPr sz="2000" b="0" i="0" u="none" strike="noStrike" cap="none">
              <a:solidFill>
                <a:schemeClr val="dk1"/>
              </a:solidFill>
              <a:latin typeface="Calibri"/>
              <a:ea typeface="Calibri"/>
              <a:cs typeface="Calibri"/>
              <a:sym typeface="Calibri"/>
            </a:endParaRPr>
          </a:p>
        </p:txBody>
      </p:sp>
      <p:sp>
        <p:nvSpPr>
          <p:cNvPr id="181" name="Google Shape;181;p20"/>
          <p:cNvSpPr/>
          <p:nvPr/>
        </p:nvSpPr>
        <p:spPr>
          <a:xfrm>
            <a:off x="806052" y="1406093"/>
            <a:ext cx="7357269"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82" name="Google Shape;182;p20"/>
          <p:cNvSpPr/>
          <p:nvPr/>
        </p:nvSpPr>
        <p:spPr>
          <a:xfrm>
            <a:off x="2514600" y="2676184"/>
            <a:ext cx="3429000" cy="72274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Deuxième génération (1955-1965) </a:t>
            </a:r>
            <a:br>
              <a:rPr lang="fr-FR" sz="1800" b="0" i="0" u="none" strike="noStrike" cap="none">
                <a:solidFill>
                  <a:schemeClr val="lt1"/>
                </a:solidFill>
                <a:latin typeface="Calibri"/>
                <a:ea typeface="Calibri"/>
                <a:cs typeface="Calibri"/>
                <a:sym typeface="Calibri"/>
              </a:rPr>
            </a:br>
            <a:endParaRPr sz="1800" b="0" i="0" u="none" strike="noStrike" cap="none">
              <a:solidFill>
                <a:schemeClr val="lt1"/>
              </a:solidFill>
              <a:latin typeface="Calibri"/>
              <a:ea typeface="Calibri"/>
              <a:cs typeface="Calibri"/>
              <a:sym typeface="Calibri"/>
            </a:endParaRPr>
          </a:p>
        </p:txBody>
      </p:sp>
      <p:sp>
        <p:nvSpPr>
          <p:cNvPr id="183" name="Google Shape;183;p20"/>
          <p:cNvSpPr/>
          <p:nvPr/>
        </p:nvSpPr>
        <p:spPr>
          <a:xfrm>
            <a:off x="2514600" y="5203536"/>
            <a:ext cx="3429000" cy="72274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La quatrième génération (après les années 1980)</a:t>
            </a:r>
            <a:endParaRPr sz="1800" b="0" i="0" u="none" strike="noStrike" cap="none">
              <a:solidFill>
                <a:schemeClr val="lt1"/>
              </a:solidFill>
              <a:latin typeface="Calibri"/>
              <a:ea typeface="Calibri"/>
              <a:cs typeface="Calibri"/>
              <a:sym typeface="Calibri"/>
            </a:endParaRPr>
          </a:p>
        </p:txBody>
      </p:sp>
      <p:sp>
        <p:nvSpPr>
          <p:cNvPr id="184" name="Google Shape;184;p20"/>
          <p:cNvSpPr/>
          <p:nvPr/>
        </p:nvSpPr>
        <p:spPr>
          <a:xfrm>
            <a:off x="2514600" y="3939860"/>
            <a:ext cx="3429000" cy="722742"/>
          </a:xfrm>
          <a:prstGeom prst="rect">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chemeClr val="lt1"/>
                </a:solidFill>
                <a:latin typeface="Calibri"/>
                <a:ea typeface="Calibri"/>
                <a:cs typeface="Calibri"/>
                <a:sym typeface="Calibri"/>
              </a:rPr>
              <a:t>Troisième génération (1965-1980) </a:t>
            </a:r>
            <a:endParaRPr sz="1400" b="0" i="0" u="none" strike="noStrike" cap="none">
              <a:solidFill>
                <a:srgbClr val="000000"/>
              </a:solidFill>
              <a:latin typeface="Arial"/>
              <a:ea typeface="Arial"/>
              <a:cs typeface="Arial"/>
              <a:sym typeface="Arial"/>
            </a:endParaRPr>
          </a:p>
        </p:txBody>
      </p:sp>
      <p:sp>
        <p:nvSpPr>
          <p:cNvPr id="185" name="Google Shape;185;p20"/>
          <p:cNvSpPr/>
          <p:nvPr/>
        </p:nvSpPr>
        <p:spPr>
          <a:xfrm>
            <a:off x="4061459" y="3398926"/>
            <a:ext cx="167641" cy="540934"/>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6" name="Google Shape;186;p20"/>
          <p:cNvSpPr/>
          <p:nvPr/>
        </p:nvSpPr>
        <p:spPr>
          <a:xfrm>
            <a:off x="4061459" y="2170624"/>
            <a:ext cx="167641" cy="508854"/>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87" name="Google Shape;187;p20"/>
          <p:cNvSpPr/>
          <p:nvPr/>
        </p:nvSpPr>
        <p:spPr>
          <a:xfrm>
            <a:off x="4061459" y="4662602"/>
            <a:ext cx="167641" cy="540934"/>
          </a:xfrm>
          <a:prstGeom prst="down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188" name="Google Shape;188;p20"/>
          <p:cNvPicPr preferRelativeResize="0"/>
          <p:nvPr/>
        </p:nvPicPr>
        <p:blipFill rotWithShape="1">
          <a:blip r:embed="rId3">
            <a:alphaModFix/>
          </a:blip>
          <a:srcRect/>
          <a:stretch/>
        </p:blipFill>
        <p:spPr>
          <a:xfrm>
            <a:off x="80707" y="29780"/>
            <a:ext cx="2281494" cy="104176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2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9</a:t>
            </a:fld>
            <a:endParaRPr/>
          </a:p>
        </p:txBody>
      </p:sp>
      <p:sp>
        <p:nvSpPr>
          <p:cNvPr id="195" name="Google Shape;195;p21"/>
          <p:cNvSpPr txBox="1">
            <a:spLocks noGrp="1"/>
          </p:cNvSpPr>
          <p:nvPr>
            <p:ph type="title"/>
          </p:nvPr>
        </p:nvSpPr>
        <p:spPr>
          <a:xfrm>
            <a:off x="685800" y="161081"/>
            <a:ext cx="8229600" cy="1143000"/>
          </a:xfrm>
          <a:prstGeom prst="rect">
            <a:avLst/>
          </a:prstGeom>
          <a:noFill/>
          <a:ln>
            <a:noFill/>
          </a:ln>
        </p:spPr>
        <p:txBody>
          <a:bodyPr spcFirstLastPara="1" wrap="square" lIns="91425" tIns="45700" rIns="91425" bIns="45700" anchor="ctr" anchorCtr="0">
            <a:normAutofit/>
          </a:bodyPr>
          <a:lstStyle/>
          <a:p>
            <a:pPr marL="712200" lvl="0" indent="0" algn="l" rtl="0">
              <a:lnSpc>
                <a:spcPct val="100000"/>
              </a:lnSpc>
              <a:spcBef>
                <a:spcPts val="0"/>
              </a:spcBef>
              <a:spcAft>
                <a:spcPts val="0"/>
              </a:spcAft>
              <a:buClr>
                <a:srgbClr val="145AC2"/>
              </a:buClr>
              <a:buSzPts val="2378"/>
              <a:buFont typeface="Times New Roman"/>
              <a:buNone/>
            </a:pPr>
            <a:r>
              <a:rPr lang="fr-FR" sz="2378" b="1" u="sng">
                <a:solidFill>
                  <a:srgbClr val="145AC2"/>
                </a:solidFill>
                <a:latin typeface="Times New Roman"/>
                <a:ea typeface="Times New Roman"/>
                <a:cs typeface="Times New Roman"/>
                <a:sym typeface="Times New Roman"/>
              </a:rPr>
              <a:t>Historique: La première génération (1945-1955). </a:t>
            </a:r>
            <a:br>
              <a:rPr lang="fr-FR" sz="2378" b="1" u="sng">
                <a:solidFill>
                  <a:srgbClr val="145AC2"/>
                </a:solidFill>
                <a:latin typeface="Times New Roman"/>
                <a:ea typeface="Times New Roman"/>
                <a:cs typeface="Times New Roman"/>
                <a:sym typeface="Times New Roman"/>
              </a:rPr>
            </a:br>
            <a:endParaRPr sz="2378" b="1" u="sng">
              <a:solidFill>
                <a:srgbClr val="145AC2"/>
              </a:solidFill>
              <a:latin typeface="Times New Roman"/>
              <a:ea typeface="Times New Roman"/>
              <a:cs typeface="Times New Roman"/>
              <a:sym typeface="Times New Roman"/>
            </a:endParaRPr>
          </a:p>
        </p:txBody>
      </p:sp>
      <p:sp>
        <p:nvSpPr>
          <p:cNvPr id="196" name="Google Shape;196;p21"/>
          <p:cNvSpPr txBox="1"/>
          <p:nvPr/>
        </p:nvSpPr>
        <p:spPr>
          <a:xfrm>
            <a:off x="457200" y="5536924"/>
            <a:ext cx="8054975" cy="9953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Noto Sans Symbols"/>
              <a:buNone/>
            </a:pPr>
            <a:endParaRPr sz="2000" b="0" i="0" u="none" strike="noStrike" cap="none">
              <a:solidFill>
                <a:schemeClr val="dk1"/>
              </a:solidFill>
              <a:latin typeface="Calibri"/>
              <a:ea typeface="Calibri"/>
              <a:cs typeface="Calibri"/>
              <a:sym typeface="Calibri"/>
            </a:endParaRPr>
          </a:p>
        </p:txBody>
      </p:sp>
      <p:sp>
        <p:nvSpPr>
          <p:cNvPr id="197" name="Google Shape;197;p21"/>
          <p:cNvSpPr txBox="1">
            <a:spLocks noGrp="1"/>
          </p:cNvSpPr>
          <p:nvPr>
            <p:ph type="body" idx="1"/>
          </p:nvPr>
        </p:nvSpPr>
        <p:spPr>
          <a:xfrm>
            <a:off x="228600" y="1295400"/>
            <a:ext cx="8686800" cy="487176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fr-FR"/>
              <a:t> Moteurs de calcul  utilisant des relais mécaniques (temps de cycles en secondes) remplacés ensuite par des tubes à vide </a:t>
            </a:r>
            <a:endParaRPr/>
          </a:p>
          <a:p>
            <a:pPr marL="342900" lvl="0" indent="-342900" algn="l" rtl="0">
              <a:lnSpc>
                <a:spcPct val="100000"/>
              </a:lnSpc>
              <a:spcBef>
                <a:spcPts val="640"/>
              </a:spcBef>
              <a:spcAft>
                <a:spcPts val="0"/>
              </a:spcAft>
              <a:buClr>
                <a:schemeClr val="dk1"/>
              </a:buClr>
              <a:buSzPts val="3200"/>
              <a:buChar char="•"/>
            </a:pPr>
            <a:r>
              <a:rPr lang="fr-FR"/>
              <a:t>Pas de système d'exploitation.</a:t>
            </a:r>
            <a:endParaRPr/>
          </a:p>
          <a:p>
            <a:pPr marL="342900" lvl="0" indent="-342900" algn="l" rtl="0">
              <a:lnSpc>
                <a:spcPct val="100000"/>
              </a:lnSpc>
              <a:spcBef>
                <a:spcPts val="640"/>
              </a:spcBef>
              <a:spcAft>
                <a:spcPts val="0"/>
              </a:spcAft>
              <a:buClr>
                <a:schemeClr val="dk1"/>
              </a:buClr>
              <a:buSzPts val="3200"/>
              <a:buChar char="•"/>
            </a:pPr>
            <a:r>
              <a:rPr lang="fr-FR"/>
              <a:t>Tout programme était conçu en langage machine (pas de langage abstrait)</a:t>
            </a:r>
            <a:endParaRPr/>
          </a:p>
          <a:p>
            <a:pPr marL="0" lvl="0" indent="0" algn="l" rtl="0">
              <a:lnSpc>
                <a:spcPct val="100000"/>
              </a:lnSpc>
              <a:spcBef>
                <a:spcPts val="640"/>
              </a:spcBef>
              <a:spcAft>
                <a:spcPts val="0"/>
              </a:spcAft>
              <a:buClr>
                <a:schemeClr val="dk1"/>
              </a:buClr>
              <a:buSzPts val="3200"/>
              <a:buNone/>
            </a:pPr>
            <a:endParaRPr/>
          </a:p>
          <a:p>
            <a:pPr marL="0" lvl="0" indent="0" algn="l" rtl="0">
              <a:lnSpc>
                <a:spcPct val="100000"/>
              </a:lnSpc>
              <a:spcBef>
                <a:spcPts val="640"/>
              </a:spcBef>
              <a:spcAft>
                <a:spcPts val="0"/>
              </a:spcAft>
              <a:buClr>
                <a:schemeClr val="dk1"/>
              </a:buClr>
              <a:buSzPts val="3200"/>
              <a:buNone/>
            </a:pPr>
            <a:endParaRPr/>
          </a:p>
        </p:txBody>
      </p:sp>
      <p:pic>
        <p:nvPicPr>
          <p:cNvPr id="198" name="Google Shape;198;p21"/>
          <p:cNvPicPr preferRelativeResize="0"/>
          <p:nvPr/>
        </p:nvPicPr>
        <p:blipFill rotWithShape="1">
          <a:blip r:embed="rId3">
            <a:alphaModFix/>
          </a:blip>
          <a:srcRect/>
          <a:stretch/>
        </p:blipFill>
        <p:spPr>
          <a:xfrm>
            <a:off x="80707" y="29780"/>
            <a:ext cx="1138494" cy="90049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10</a:t>
            </a:fld>
            <a:endParaRPr/>
          </a:p>
        </p:txBody>
      </p:sp>
      <p:sp>
        <p:nvSpPr>
          <p:cNvPr id="205" name="Google Shape;205;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712200" lvl="0" indent="0" algn="l" rtl="0">
              <a:lnSpc>
                <a:spcPct val="100000"/>
              </a:lnSpc>
              <a:spcBef>
                <a:spcPts val="0"/>
              </a:spcBef>
              <a:spcAft>
                <a:spcPts val="0"/>
              </a:spcAft>
              <a:buClr>
                <a:srgbClr val="145AC2"/>
              </a:buClr>
              <a:buSzPts val="2378"/>
              <a:buFont typeface="Times New Roman"/>
              <a:buNone/>
            </a:pPr>
            <a:r>
              <a:rPr lang="fr-FR" sz="2378" b="1" u="sng">
                <a:solidFill>
                  <a:srgbClr val="145AC2"/>
                </a:solidFill>
                <a:latin typeface="Times New Roman"/>
                <a:ea typeface="Times New Roman"/>
                <a:cs typeface="Times New Roman"/>
                <a:sym typeface="Times New Roman"/>
              </a:rPr>
              <a:t>Historique: Deuxième génération (1955-1965)   </a:t>
            </a:r>
            <a:endParaRPr/>
          </a:p>
        </p:txBody>
      </p:sp>
      <p:sp>
        <p:nvSpPr>
          <p:cNvPr id="206" name="Google Shape;206;p22"/>
          <p:cNvSpPr txBox="1"/>
          <p:nvPr/>
        </p:nvSpPr>
        <p:spPr>
          <a:xfrm>
            <a:off x="457200" y="5536924"/>
            <a:ext cx="8054975" cy="9953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Noto Sans Symbols"/>
              <a:buNone/>
            </a:pPr>
            <a:endParaRPr sz="2000" b="0" i="0" u="none" strike="noStrike" cap="none">
              <a:solidFill>
                <a:schemeClr val="dk1"/>
              </a:solidFill>
              <a:latin typeface="Calibri"/>
              <a:ea typeface="Calibri"/>
              <a:cs typeface="Calibri"/>
              <a:sym typeface="Calibri"/>
            </a:endParaRPr>
          </a:p>
        </p:txBody>
      </p:sp>
      <p:sp>
        <p:nvSpPr>
          <p:cNvPr id="207" name="Google Shape;207;p22"/>
          <p:cNvSpPr txBox="1">
            <a:spLocks noGrp="1"/>
          </p:cNvSpPr>
          <p:nvPr>
            <p:ph type="body" idx="1"/>
          </p:nvPr>
        </p:nvSpPr>
        <p:spPr>
          <a:xfrm>
            <a:off x="228600" y="1295400"/>
            <a:ext cx="8686800" cy="4871761"/>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fr-FR"/>
              <a:t> La deuxième génération d'ordinateurs est basée sur l'invention du transistor en 1947. Cela permit de remplacer le fragile et encombrant tube électronique par un composant plus petit et fiable.</a:t>
            </a:r>
            <a:endParaRPr/>
          </a:p>
          <a:p>
            <a:pPr marL="342900" lvl="0" indent="-342900" algn="l" rtl="0">
              <a:lnSpc>
                <a:spcPct val="100000"/>
              </a:lnSpc>
              <a:spcBef>
                <a:spcPts val="640"/>
              </a:spcBef>
              <a:spcAft>
                <a:spcPts val="0"/>
              </a:spcAft>
              <a:buClr>
                <a:schemeClr val="dk1"/>
              </a:buClr>
              <a:buSzPts val="3200"/>
              <a:buChar char="•"/>
            </a:pPr>
            <a:r>
              <a:rPr lang="fr-FR"/>
              <a:t>Programmes écrits en FORTRAN puis codés sur des cartes perforées</a:t>
            </a:r>
            <a:endParaRPr/>
          </a:p>
          <a:p>
            <a:pPr marL="342900" lvl="0" indent="-139700" algn="l" rtl="0">
              <a:lnSpc>
                <a:spcPct val="100000"/>
              </a:lnSpc>
              <a:spcBef>
                <a:spcPts val="640"/>
              </a:spcBef>
              <a:spcAft>
                <a:spcPts val="0"/>
              </a:spcAft>
              <a:buClr>
                <a:schemeClr val="dk1"/>
              </a:buClr>
              <a:buSzPts val="3200"/>
              <a:buNone/>
            </a:pPr>
            <a:endParaRPr/>
          </a:p>
          <a:p>
            <a:pPr marL="342900" lvl="0" indent="-139700" algn="l" rtl="0">
              <a:lnSpc>
                <a:spcPct val="100000"/>
              </a:lnSpc>
              <a:spcBef>
                <a:spcPts val="640"/>
              </a:spcBef>
              <a:spcAft>
                <a:spcPts val="0"/>
              </a:spcAft>
              <a:buClr>
                <a:schemeClr val="dk1"/>
              </a:buClr>
              <a:buSzPts val="3200"/>
              <a:buNone/>
            </a:pPr>
            <a:endParaRPr/>
          </a:p>
          <a:p>
            <a:pPr marL="342900" lvl="0" indent="-139700" algn="l" rtl="0">
              <a:lnSpc>
                <a:spcPct val="100000"/>
              </a:lnSpc>
              <a:spcBef>
                <a:spcPts val="640"/>
              </a:spcBef>
              <a:spcAft>
                <a:spcPts val="0"/>
              </a:spcAft>
              <a:buClr>
                <a:schemeClr val="dk1"/>
              </a:buClr>
              <a:buSzPts val="3200"/>
              <a:buNone/>
            </a:pPr>
            <a:endParaRPr/>
          </a:p>
          <a:p>
            <a:pPr marL="0" lvl="0" indent="0" algn="l" rtl="0">
              <a:lnSpc>
                <a:spcPct val="100000"/>
              </a:lnSpc>
              <a:spcBef>
                <a:spcPts val="640"/>
              </a:spcBef>
              <a:spcAft>
                <a:spcPts val="0"/>
              </a:spcAft>
              <a:buClr>
                <a:schemeClr val="dk1"/>
              </a:buClr>
              <a:buSzPts val="3200"/>
              <a:buNone/>
            </a:pPr>
            <a:endParaRPr/>
          </a:p>
        </p:txBody>
      </p:sp>
      <p:pic>
        <p:nvPicPr>
          <p:cNvPr id="208" name="Google Shape;208;p22"/>
          <p:cNvPicPr preferRelativeResize="0"/>
          <p:nvPr/>
        </p:nvPicPr>
        <p:blipFill rotWithShape="1">
          <a:blip r:embed="rId3">
            <a:alphaModFix/>
          </a:blip>
          <a:srcRect/>
          <a:stretch/>
        </p:blipFill>
        <p:spPr>
          <a:xfrm>
            <a:off x="14990" y="0"/>
            <a:ext cx="1748094" cy="73222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11</a:t>
            </a:fld>
            <a:endParaRPr/>
          </a:p>
        </p:txBody>
      </p:sp>
      <p:sp>
        <p:nvSpPr>
          <p:cNvPr id="215" name="Google Shape;215;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712200" lvl="0" indent="0" algn="l" rtl="0">
              <a:lnSpc>
                <a:spcPct val="100000"/>
              </a:lnSpc>
              <a:spcBef>
                <a:spcPts val="0"/>
              </a:spcBef>
              <a:spcAft>
                <a:spcPts val="0"/>
              </a:spcAft>
              <a:buClr>
                <a:srgbClr val="145AC2"/>
              </a:buClr>
              <a:buSzPct val="100000"/>
              <a:buFont typeface="Times New Roman"/>
              <a:buNone/>
            </a:pPr>
            <a:r>
              <a:rPr lang="fr-FR" sz="2378" b="1" u="sng">
                <a:solidFill>
                  <a:srgbClr val="145AC2"/>
                </a:solidFill>
                <a:latin typeface="Times New Roman"/>
                <a:ea typeface="Times New Roman"/>
                <a:cs typeface="Times New Roman"/>
                <a:sym typeface="Times New Roman"/>
              </a:rPr>
              <a:t>Historique: La Troisième génération (1965-1980) </a:t>
            </a:r>
            <a:br>
              <a:rPr lang="fr-FR" sz="2378" b="1" u="sng">
                <a:solidFill>
                  <a:srgbClr val="145AC2"/>
                </a:solidFill>
                <a:latin typeface="Times New Roman"/>
                <a:ea typeface="Times New Roman"/>
                <a:cs typeface="Times New Roman"/>
                <a:sym typeface="Times New Roman"/>
              </a:rPr>
            </a:br>
            <a:r>
              <a:rPr lang="fr-FR" sz="2378" b="1" u="sng">
                <a:solidFill>
                  <a:srgbClr val="145AC2"/>
                </a:solidFill>
                <a:latin typeface="Times New Roman"/>
                <a:ea typeface="Times New Roman"/>
                <a:cs typeface="Times New Roman"/>
                <a:sym typeface="Times New Roman"/>
              </a:rPr>
              <a:t>  </a:t>
            </a:r>
            <a:br>
              <a:rPr lang="fr-FR" sz="2378" b="1" u="sng">
                <a:solidFill>
                  <a:srgbClr val="145AC2"/>
                </a:solidFill>
                <a:latin typeface="Times New Roman"/>
                <a:ea typeface="Times New Roman"/>
                <a:cs typeface="Times New Roman"/>
                <a:sym typeface="Times New Roman"/>
              </a:rPr>
            </a:br>
            <a:endParaRPr sz="2378" b="1" u="sng">
              <a:solidFill>
                <a:srgbClr val="145AC2"/>
              </a:solidFill>
              <a:latin typeface="Times New Roman"/>
              <a:ea typeface="Times New Roman"/>
              <a:cs typeface="Times New Roman"/>
              <a:sym typeface="Times New Roman"/>
            </a:endParaRPr>
          </a:p>
        </p:txBody>
      </p:sp>
      <p:sp>
        <p:nvSpPr>
          <p:cNvPr id="216" name="Google Shape;216;p23"/>
          <p:cNvSpPr txBox="1"/>
          <p:nvPr/>
        </p:nvSpPr>
        <p:spPr>
          <a:xfrm>
            <a:off x="457200" y="5536924"/>
            <a:ext cx="8054975" cy="9953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Noto Sans Symbols"/>
              <a:buNone/>
            </a:pPr>
            <a:endParaRPr sz="2000" b="0" i="0" u="none" strike="noStrike" cap="none">
              <a:solidFill>
                <a:schemeClr val="dk1"/>
              </a:solidFill>
              <a:latin typeface="Calibri"/>
              <a:ea typeface="Calibri"/>
              <a:cs typeface="Calibri"/>
              <a:sym typeface="Calibri"/>
            </a:endParaRPr>
          </a:p>
        </p:txBody>
      </p:sp>
      <p:sp>
        <p:nvSpPr>
          <p:cNvPr id="217" name="Google Shape;217;p23"/>
          <p:cNvSpPr txBox="1">
            <a:spLocks noGrp="1"/>
          </p:cNvSpPr>
          <p:nvPr>
            <p:ph type="body" idx="1"/>
          </p:nvPr>
        </p:nvSpPr>
        <p:spPr>
          <a:xfrm>
            <a:off x="228600" y="1295400"/>
            <a:ext cx="8686800" cy="4871761"/>
          </a:xfrm>
          <a:prstGeom prst="rect">
            <a:avLst/>
          </a:prstGeom>
          <a:noFill/>
          <a:ln>
            <a:noFill/>
          </a:ln>
        </p:spPr>
        <p:txBody>
          <a:bodyPr spcFirstLastPara="1" wrap="square" lIns="91425" tIns="45700" rIns="91425" bIns="45700" anchor="t" anchorCtr="0">
            <a:normAutofit fontScale="92500" lnSpcReduction="20000"/>
          </a:bodyPr>
          <a:lstStyle/>
          <a:p>
            <a:pPr marL="0" lvl="0" indent="0" algn="l" rtl="0">
              <a:lnSpc>
                <a:spcPct val="100000"/>
              </a:lnSpc>
              <a:spcBef>
                <a:spcPts val="0"/>
              </a:spcBef>
              <a:spcAft>
                <a:spcPts val="0"/>
              </a:spcAft>
              <a:buClr>
                <a:schemeClr val="dk1"/>
              </a:buClr>
              <a:buSzPct val="100000"/>
              <a:buNone/>
            </a:pPr>
            <a:r>
              <a:rPr lang="fr-FR"/>
              <a:t> </a:t>
            </a:r>
            <a:endParaRPr/>
          </a:p>
          <a:p>
            <a:pPr marL="342900" lvl="0" indent="-342900" algn="l" rtl="0">
              <a:lnSpc>
                <a:spcPct val="100000"/>
              </a:lnSpc>
              <a:spcBef>
                <a:spcPts val="592"/>
              </a:spcBef>
              <a:spcAft>
                <a:spcPts val="0"/>
              </a:spcAft>
              <a:buClr>
                <a:schemeClr val="dk1"/>
              </a:buClr>
              <a:buSzPct val="100000"/>
              <a:buChar char="•"/>
            </a:pPr>
            <a:r>
              <a:rPr lang="fr-FR"/>
              <a:t>Circuits intégrés</a:t>
            </a:r>
            <a:endParaRPr/>
          </a:p>
          <a:p>
            <a:pPr marL="342900" lvl="0" indent="-342900" algn="l" rtl="0">
              <a:lnSpc>
                <a:spcPct val="100000"/>
              </a:lnSpc>
              <a:spcBef>
                <a:spcPts val="592"/>
              </a:spcBef>
              <a:spcAft>
                <a:spcPts val="0"/>
              </a:spcAft>
              <a:buClr>
                <a:schemeClr val="dk1"/>
              </a:buClr>
              <a:buSzPct val="100000"/>
              <a:buChar char="•"/>
            </a:pPr>
            <a:r>
              <a:rPr lang="fr-FR"/>
              <a:t>Début 60, des machines pour E/S (IBM 1401) d’autres pour le calcul (IBM 7094)</a:t>
            </a:r>
            <a:endParaRPr/>
          </a:p>
          <a:p>
            <a:pPr marL="342900" lvl="0" indent="-342900" algn="l" rtl="0">
              <a:lnSpc>
                <a:spcPct val="100000"/>
              </a:lnSpc>
              <a:spcBef>
                <a:spcPts val="592"/>
              </a:spcBef>
              <a:spcAft>
                <a:spcPts val="0"/>
              </a:spcAft>
              <a:buClr>
                <a:schemeClr val="dk1"/>
              </a:buClr>
              <a:buSzPct val="100000"/>
              <a:buChar char="•"/>
            </a:pPr>
            <a:r>
              <a:rPr lang="fr-FR"/>
              <a:t>Multiprogrammation</a:t>
            </a:r>
            <a:endParaRPr/>
          </a:p>
          <a:p>
            <a:pPr marL="0" lvl="0" indent="0" algn="l" rtl="0">
              <a:lnSpc>
                <a:spcPct val="100000"/>
              </a:lnSpc>
              <a:spcBef>
                <a:spcPts val="592"/>
              </a:spcBef>
              <a:spcAft>
                <a:spcPts val="0"/>
              </a:spcAft>
              <a:buClr>
                <a:schemeClr val="dk1"/>
              </a:buClr>
              <a:buSzPct val="100000"/>
              <a:buNone/>
            </a:pPr>
            <a:r>
              <a:rPr lang="fr-FR"/>
              <a:t>Plusieurs programmes peuvent tourner en parallèle sur une même machine</a:t>
            </a:r>
            <a:endParaRPr/>
          </a:p>
          <a:p>
            <a:pPr marL="342900" lvl="0" indent="-342900" algn="l" rtl="0">
              <a:lnSpc>
                <a:spcPct val="100000"/>
              </a:lnSpc>
              <a:spcBef>
                <a:spcPts val="592"/>
              </a:spcBef>
              <a:spcAft>
                <a:spcPts val="0"/>
              </a:spcAft>
              <a:buClr>
                <a:schemeClr val="dk1"/>
              </a:buClr>
              <a:buSzPct val="100000"/>
              <a:buChar char="•"/>
            </a:pPr>
            <a:r>
              <a:rPr lang="fr-FR"/>
              <a:t>Mémoire partagée</a:t>
            </a:r>
            <a:endParaRPr/>
          </a:p>
          <a:p>
            <a:pPr marL="342900" lvl="0" indent="-342900" algn="l" rtl="0">
              <a:lnSpc>
                <a:spcPct val="100000"/>
              </a:lnSpc>
              <a:spcBef>
                <a:spcPts val="592"/>
              </a:spcBef>
              <a:spcAft>
                <a:spcPts val="0"/>
              </a:spcAft>
              <a:buClr>
                <a:schemeClr val="dk1"/>
              </a:buClr>
              <a:buSzPct val="100000"/>
              <a:buChar char="•"/>
            </a:pPr>
            <a:r>
              <a:rPr lang="fr-FR"/>
              <a:t>Mécanismes de protection</a:t>
            </a:r>
            <a:endParaRPr/>
          </a:p>
          <a:p>
            <a:pPr marL="342900" lvl="0" indent="-342900" algn="l" rtl="0">
              <a:lnSpc>
                <a:spcPct val="100000"/>
              </a:lnSpc>
              <a:spcBef>
                <a:spcPts val="592"/>
              </a:spcBef>
              <a:spcAft>
                <a:spcPts val="0"/>
              </a:spcAft>
              <a:buClr>
                <a:schemeClr val="dk1"/>
              </a:buClr>
              <a:buSzPct val="100000"/>
              <a:buChar char="•"/>
            </a:pPr>
            <a:r>
              <a:rPr lang="fr-FR"/>
              <a:t>Spool (Simultaneous Peripheral Operation On Line)</a:t>
            </a:r>
            <a:endParaRPr/>
          </a:p>
          <a:p>
            <a:pPr marL="342900" lvl="0" indent="-342900" algn="l" rtl="0">
              <a:lnSpc>
                <a:spcPct val="100000"/>
              </a:lnSpc>
              <a:spcBef>
                <a:spcPts val="592"/>
              </a:spcBef>
              <a:spcAft>
                <a:spcPts val="0"/>
              </a:spcAft>
              <a:buClr>
                <a:schemeClr val="dk1"/>
              </a:buClr>
              <a:buSzPct val="100000"/>
              <a:buChar char="•"/>
            </a:pPr>
            <a:r>
              <a:rPr lang="fr-FR"/>
              <a:t>Systèmes d’exploitation: MULTICS, UNIX</a:t>
            </a:r>
            <a:endParaRPr/>
          </a:p>
          <a:p>
            <a:pPr marL="342900" lvl="0" indent="-154940" algn="l" rtl="0">
              <a:lnSpc>
                <a:spcPct val="100000"/>
              </a:lnSpc>
              <a:spcBef>
                <a:spcPts val="592"/>
              </a:spcBef>
              <a:spcAft>
                <a:spcPts val="0"/>
              </a:spcAft>
              <a:buClr>
                <a:schemeClr val="dk1"/>
              </a:buClr>
              <a:buSzPct val="100000"/>
              <a:buNone/>
            </a:pPr>
            <a:endParaRPr/>
          </a:p>
          <a:p>
            <a:pPr marL="0" lvl="0" indent="0" algn="l" rtl="0">
              <a:lnSpc>
                <a:spcPct val="100000"/>
              </a:lnSpc>
              <a:spcBef>
                <a:spcPts val="592"/>
              </a:spcBef>
              <a:spcAft>
                <a:spcPts val="0"/>
              </a:spcAft>
              <a:buClr>
                <a:schemeClr val="dk1"/>
              </a:buClr>
              <a:buSzPct val="100000"/>
              <a:buNone/>
            </a:pPr>
            <a:endParaRPr/>
          </a:p>
        </p:txBody>
      </p:sp>
      <p:pic>
        <p:nvPicPr>
          <p:cNvPr id="218" name="Google Shape;218;p23"/>
          <p:cNvPicPr preferRelativeResize="0"/>
          <p:nvPr/>
        </p:nvPicPr>
        <p:blipFill rotWithShape="1">
          <a:blip r:embed="rId3">
            <a:alphaModFix/>
          </a:blip>
          <a:srcRect/>
          <a:stretch/>
        </p:blipFill>
        <p:spPr>
          <a:xfrm>
            <a:off x="80707" y="29780"/>
            <a:ext cx="1138494" cy="8084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t>12</a:t>
            </a:fld>
            <a:endParaRPr/>
          </a:p>
        </p:txBody>
      </p:sp>
      <p:sp>
        <p:nvSpPr>
          <p:cNvPr id="225" name="Google Shape;225;p24"/>
          <p:cNvSpPr txBox="1">
            <a:spLocks noGrp="1"/>
          </p:cNvSpPr>
          <p:nvPr>
            <p:ph type="title"/>
          </p:nvPr>
        </p:nvSpPr>
        <p:spPr>
          <a:xfrm>
            <a:off x="-685801" y="23327"/>
            <a:ext cx="9197975" cy="914400"/>
          </a:xfrm>
          <a:prstGeom prst="rect">
            <a:avLst/>
          </a:prstGeom>
          <a:noFill/>
          <a:ln>
            <a:noFill/>
          </a:ln>
        </p:spPr>
        <p:txBody>
          <a:bodyPr spcFirstLastPara="1" wrap="square" lIns="91425" tIns="45700" rIns="91425" bIns="45700" anchor="ctr" anchorCtr="0">
            <a:normAutofit/>
          </a:bodyPr>
          <a:lstStyle/>
          <a:p>
            <a:pPr marL="712200" lvl="0" indent="0" algn="l" rtl="0">
              <a:lnSpc>
                <a:spcPct val="100000"/>
              </a:lnSpc>
              <a:spcBef>
                <a:spcPts val="0"/>
              </a:spcBef>
              <a:spcAft>
                <a:spcPts val="0"/>
              </a:spcAft>
              <a:buClr>
                <a:srgbClr val="145AC2"/>
              </a:buClr>
              <a:buSzPts val="2378"/>
              <a:buFont typeface="Times New Roman"/>
              <a:buNone/>
            </a:pPr>
            <a:r>
              <a:rPr lang="fr-FR" sz="2378" b="1" u="sng">
                <a:solidFill>
                  <a:srgbClr val="145AC2"/>
                </a:solidFill>
                <a:latin typeface="Times New Roman"/>
                <a:ea typeface="Times New Roman"/>
                <a:cs typeface="Times New Roman"/>
                <a:sym typeface="Times New Roman"/>
              </a:rPr>
              <a:t>Historique: La quatrième génération (après les années 1980)</a:t>
            </a:r>
            <a:endParaRPr/>
          </a:p>
        </p:txBody>
      </p:sp>
      <p:sp>
        <p:nvSpPr>
          <p:cNvPr id="226" name="Google Shape;226;p24"/>
          <p:cNvSpPr txBox="1"/>
          <p:nvPr/>
        </p:nvSpPr>
        <p:spPr>
          <a:xfrm>
            <a:off x="457200" y="5536924"/>
            <a:ext cx="8054975" cy="995362"/>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1500"/>
              <a:buFont typeface="Noto Sans Symbols"/>
              <a:buNone/>
            </a:pPr>
            <a:endParaRPr sz="2000" b="0" i="0" u="none" strike="noStrike" cap="none">
              <a:solidFill>
                <a:schemeClr val="dk1"/>
              </a:solidFill>
              <a:latin typeface="Calibri"/>
              <a:ea typeface="Calibri"/>
              <a:cs typeface="Calibri"/>
              <a:sym typeface="Calibri"/>
            </a:endParaRPr>
          </a:p>
        </p:txBody>
      </p:sp>
      <p:sp>
        <p:nvSpPr>
          <p:cNvPr id="227" name="Google Shape;227;p24"/>
          <p:cNvSpPr txBox="1">
            <a:spLocks noGrp="1"/>
          </p:cNvSpPr>
          <p:nvPr>
            <p:ph type="body" idx="1"/>
          </p:nvPr>
        </p:nvSpPr>
        <p:spPr>
          <a:xfrm>
            <a:off x="457200" y="1453733"/>
            <a:ext cx="8229600" cy="4525963"/>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lnSpc>
                <a:spcPct val="100000"/>
              </a:lnSpc>
              <a:spcBef>
                <a:spcPts val="0"/>
              </a:spcBef>
              <a:spcAft>
                <a:spcPts val="0"/>
              </a:spcAft>
              <a:buClr>
                <a:schemeClr val="dk1"/>
              </a:buClr>
              <a:buSzPct val="100000"/>
              <a:buChar char="•"/>
            </a:pPr>
            <a:r>
              <a:rPr lang="fr-FR"/>
              <a:t>Ordinateurs personnels</a:t>
            </a:r>
            <a:endParaRPr/>
          </a:p>
          <a:p>
            <a:pPr marL="342900" lvl="0" indent="-342900" algn="l" rtl="0">
              <a:lnSpc>
                <a:spcPct val="100000"/>
              </a:lnSpc>
              <a:spcBef>
                <a:spcPts val="544"/>
              </a:spcBef>
              <a:spcAft>
                <a:spcPts val="0"/>
              </a:spcAft>
              <a:buClr>
                <a:schemeClr val="dk1"/>
              </a:buClr>
              <a:buSzPct val="100000"/>
              <a:buChar char="•"/>
            </a:pPr>
            <a:r>
              <a:rPr lang="fr-FR"/>
              <a:t>Circuits intégrés à haute densité (Puces contenant des milliers de transistors sur 1mm2 de silicium).</a:t>
            </a:r>
            <a:endParaRPr/>
          </a:p>
          <a:p>
            <a:pPr marL="342900" lvl="0" indent="-342900" algn="l" rtl="0">
              <a:lnSpc>
                <a:spcPct val="100000"/>
              </a:lnSpc>
              <a:spcBef>
                <a:spcPts val="544"/>
              </a:spcBef>
              <a:spcAft>
                <a:spcPts val="0"/>
              </a:spcAft>
              <a:buClr>
                <a:schemeClr val="dk1"/>
              </a:buClr>
              <a:buSzPct val="100000"/>
              <a:buChar char="•"/>
            </a:pPr>
            <a:r>
              <a:rPr lang="fr-FR"/>
              <a:t>Micro-ordinateurs, très peu onéreux comparés aux mini-ordinateurs de type  PDP-11</a:t>
            </a:r>
            <a:endParaRPr/>
          </a:p>
          <a:p>
            <a:pPr marL="342900" lvl="0" indent="-342900" algn="l" rtl="0">
              <a:lnSpc>
                <a:spcPct val="100000"/>
              </a:lnSpc>
              <a:spcBef>
                <a:spcPts val="544"/>
              </a:spcBef>
              <a:spcAft>
                <a:spcPts val="0"/>
              </a:spcAft>
              <a:buClr>
                <a:schemeClr val="dk1"/>
              </a:buClr>
              <a:buSzPct val="100000"/>
              <a:buChar char="•"/>
            </a:pPr>
            <a:r>
              <a:rPr lang="fr-FR"/>
              <a:t>Systèmes d’Exploitation CP/M, MS-DOS, MAC OS X, Windows, UNIX, Linux…</a:t>
            </a:r>
            <a:endParaRPr/>
          </a:p>
          <a:p>
            <a:pPr marL="342900" lvl="0" indent="-170180" algn="l" rtl="0">
              <a:lnSpc>
                <a:spcPct val="100000"/>
              </a:lnSpc>
              <a:spcBef>
                <a:spcPts val="544"/>
              </a:spcBef>
              <a:spcAft>
                <a:spcPts val="0"/>
              </a:spcAft>
              <a:buClr>
                <a:schemeClr val="dk1"/>
              </a:buClr>
              <a:buSzPct val="100000"/>
              <a:buNone/>
            </a:pPr>
            <a:endParaRPr/>
          </a:p>
          <a:p>
            <a:pPr marL="342900" lvl="0" indent="-342900" algn="l" rtl="0">
              <a:lnSpc>
                <a:spcPct val="100000"/>
              </a:lnSpc>
              <a:spcBef>
                <a:spcPts val="544"/>
              </a:spcBef>
              <a:spcAft>
                <a:spcPts val="0"/>
              </a:spcAft>
              <a:buClr>
                <a:schemeClr val="dk1"/>
              </a:buClr>
              <a:buSzPct val="100000"/>
              <a:buChar char="•"/>
            </a:pPr>
            <a:r>
              <a:rPr lang="fr-FR"/>
              <a:t>Avec l’évolution des réseaux de télécommunication de nouvelles catégories de SE ont apparues telles que les SE réseaux et les Systèmes Répartis ou distribués. </a:t>
            </a:r>
            <a:endParaRPr/>
          </a:p>
          <a:p>
            <a:pPr marL="342900" lvl="0" indent="-170180" algn="l" rtl="0">
              <a:lnSpc>
                <a:spcPct val="100000"/>
              </a:lnSpc>
              <a:spcBef>
                <a:spcPts val="544"/>
              </a:spcBef>
              <a:spcAft>
                <a:spcPts val="0"/>
              </a:spcAft>
              <a:buClr>
                <a:schemeClr val="dk1"/>
              </a:buClr>
              <a:buSzPct val="100000"/>
              <a:buNone/>
            </a:pPr>
            <a:endParaRPr/>
          </a:p>
          <a:p>
            <a:pPr marL="342900" lvl="0" indent="-170180" algn="l" rtl="0">
              <a:lnSpc>
                <a:spcPct val="100000"/>
              </a:lnSpc>
              <a:spcBef>
                <a:spcPts val="544"/>
              </a:spcBef>
              <a:spcAft>
                <a:spcPts val="0"/>
              </a:spcAft>
              <a:buClr>
                <a:schemeClr val="dk1"/>
              </a:buClr>
              <a:buSzPct val="100000"/>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7"/>
          <p:cNvSpPr txBox="1">
            <a:spLocks noGrp="1"/>
          </p:cNvSpPr>
          <p:nvPr>
            <p:ph type="title"/>
          </p:nvPr>
        </p:nvSpPr>
        <p:spPr>
          <a:xfrm>
            <a:off x="2074298" y="142010"/>
            <a:ext cx="6579412"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fr-FR"/>
              <a:t>Les Etapes de la compilation</a:t>
            </a:r>
            <a:endParaRPr/>
          </a:p>
        </p:txBody>
      </p:sp>
      <p:sp>
        <p:nvSpPr>
          <p:cNvPr id="262" name="Google Shape;262;p27"/>
          <p:cNvSpPr txBox="1"/>
          <p:nvPr/>
        </p:nvSpPr>
        <p:spPr>
          <a:xfrm>
            <a:off x="358652" y="1495447"/>
            <a:ext cx="4229929" cy="2864374"/>
          </a:xfrm>
          <a:prstGeom prst="rect">
            <a:avLst/>
          </a:prstGeom>
          <a:solidFill>
            <a:schemeClr val="lt1"/>
          </a:solidFill>
          <a:ln w="25400" cap="flat" cmpd="sng">
            <a:solidFill>
              <a:srgbClr val="A5B592"/>
            </a:solidFill>
            <a:prstDash val="solid"/>
            <a:round/>
            <a:headEnd type="none" w="sm" len="sm"/>
            <a:tailEnd type="none" w="sm" len="sm"/>
          </a:ln>
        </p:spPr>
        <p:txBody>
          <a:bodyPr spcFirstLastPara="1" wrap="square" lIns="0" tIns="54600" rIns="0" bIns="0" anchor="t" anchorCtr="0">
            <a:spAutoFit/>
          </a:bodyPr>
          <a:lstStyle/>
          <a:p>
            <a:pPr marL="54610" marR="700405" lvl="0" indent="0" algn="l" rtl="0">
              <a:lnSpc>
                <a:spcPct val="101899"/>
              </a:lnSpc>
              <a:spcBef>
                <a:spcPts val="0"/>
              </a:spcBef>
              <a:spcAft>
                <a:spcPts val="0"/>
              </a:spcAft>
              <a:buClr>
                <a:srgbClr val="000000"/>
              </a:buClr>
              <a:buSzPts val="1800"/>
              <a:buFont typeface="Arial"/>
              <a:buNone/>
            </a:pPr>
            <a:r>
              <a:rPr lang="fr-FR" sz="1800" b="0" i="0" u="none" strike="noStrike" cap="none">
                <a:solidFill>
                  <a:schemeClr val="dk1"/>
                </a:solidFill>
                <a:latin typeface="Arial"/>
                <a:ea typeface="Arial"/>
                <a:cs typeface="Arial"/>
                <a:sym typeface="Arial"/>
              </a:rPr>
              <a:t>gcc effectue quatre étapes pour  produire l’exécutable</a:t>
            </a:r>
            <a:endParaRPr sz="1800" b="0" i="0" u="none" strike="noStrike" cap="none">
              <a:solidFill>
                <a:schemeClr val="dk1"/>
              </a:solidFill>
              <a:latin typeface="Arial"/>
              <a:ea typeface="Arial"/>
              <a:cs typeface="Arial"/>
              <a:sym typeface="Arial"/>
            </a:endParaRPr>
          </a:p>
          <a:p>
            <a:pPr marL="295275" marR="862964" lvl="0" indent="-240665" algn="l" rtl="0">
              <a:lnSpc>
                <a:spcPct val="122222"/>
              </a:lnSpc>
              <a:spcBef>
                <a:spcPts val="80"/>
              </a:spcBef>
              <a:spcAft>
                <a:spcPts val="0"/>
              </a:spcAft>
              <a:buClr>
                <a:schemeClr val="dk1"/>
              </a:buClr>
              <a:buSzPts val="1800"/>
              <a:buFont typeface="Arial"/>
              <a:buAutoNum type="arabicPeriod"/>
            </a:pPr>
            <a:r>
              <a:rPr lang="fr-FR" sz="1800" b="0" i="0" u="none" strike="noStrike" cap="none">
                <a:solidFill>
                  <a:schemeClr val="dk1"/>
                </a:solidFill>
                <a:latin typeface="Arial"/>
                <a:ea typeface="Arial"/>
                <a:cs typeface="Arial"/>
                <a:sym typeface="Arial"/>
              </a:rPr>
              <a:t>Passage au pré-processeur  (</a:t>
            </a:r>
            <a:r>
              <a:rPr lang="fr-FR" sz="1800" b="0" i="1" u="none" strike="noStrike" cap="none">
                <a:solidFill>
                  <a:schemeClr val="dk1"/>
                </a:solidFill>
                <a:latin typeface="Arial"/>
                <a:ea typeface="Arial"/>
                <a:cs typeface="Arial"/>
                <a:sym typeface="Arial"/>
              </a:rPr>
              <a:t>preprocessing</a:t>
            </a:r>
            <a:r>
              <a:rPr lang="fr-FR" sz="1800" b="0" i="0" u="none" strike="noStrike" cap="none">
                <a:solidFill>
                  <a:schemeClr val="dk1"/>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a:p>
            <a:pPr marL="295275" marR="1269365" lvl="0" indent="-240665" algn="l" rtl="0">
              <a:lnSpc>
                <a:spcPct val="122222"/>
              </a:lnSpc>
              <a:spcBef>
                <a:spcPts val="0"/>
              </a:spcBef>
              <a:spcAft>
                <a:spcPts val="0"/>
              </a:spcAft>
              <a:buClr>
                <a:schemeClr val="dk1"/>
              </a:buClr>
              <a:buSzPts val="1800"/>
              <a:buFont typeface="Arial"/>
              <a:buAutoNum type="arabicPeriod"/>
            </a:pPr>
            <a:r>
              <a:rPr lang="fr-FR" sz="1800" b="0" i="0" u="none" strike="noStrike" cap="none">
                <a:solidFill>
                  <a:schemeClr val="dk1"/>
                </a:solidFill>
                <a:latin typeface="Arial"/>
                <a:ea typeface="Arial"/>
                <a:cs typeface="Arial"/>
                <a:sym typeface="Arial"/>
              </a:rPr>
              <a:t>Compilation en langage  assembleur (</a:t>
            </a:r>
            <a:r>
              <a:rPr lang="fr-FR" sz="1800" b="0" i="1" u="none" strike="noStrike" cap="none">
                <a:solidFill>
                  <a:schemeClr val="dk1"/>
                </a:solidFill>
                <a:latin typeface="Arial"/>
                <a:ea typeface="Arial"/>
                <a:cs typeface="Arial"/>
                <a:sym typeface="Arial"/>
              </a:rPr>
              <a:t>compiling</a:t>
            </a:r>
            <a:r>
              <a:rPr lang="fr-FR" sz="1800" b="0" i="0" u="none" strike="noStrike" cap="none">
                <a:solidFill>
                  <a:schemeClr val="dk1"/>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a:p>
            <a:pPr marL="295275" marR="74930" lvl="0" indent="-240665" algn="l" rtl="0">
              <a:lnSpc>
                <a:spcPct val="122222"/>
              </a:lnSpc>
              <a:spcBef>
                <a:spcPts val="0"/>
              </a:spcBef>
              <a:spcAft>
                <a:spcPts val="0"/>
              </a:spcAft>
              <a:buClr>
                <a:schemeClr val="dk1"/>
              </a:buClr>
              <a:buSzPts val="1800"/>
              <a:buFont typeface="Arial"/>
              <a:buAutoNum type="arabicPeriod"/>
            </a:pPr>
            <a:r>
              <a:rPr lang="fr-FR" sz="1800" b="0" i="0" u="none" strike="noStrike" cap="none">
                <a:solidFill>
                  <a:schemeClr val="dk1"/>
                </a:solidFill>
                <a:latin typeface="Arial"/>
                <a:ea typeface="Arial"/>
                <a:cs typeface="Arial"/>
                <a:sym typeface="Arial"/>
              </a:rPr>
              <a:t>Conversion du langage assembleur  en code machine (</a:t>
            </a:r>
            <a:r>
              <a:rPr lang="fr-FR" sz="1800" b="0" i="1" u="none" strike="noStrike" cap="none">
                <a:solidFill>
                  <a:schemeClr val="dk1"/>
                </a:solidFill>
                <a:latin typeface="Arial"/>
                <a:ea typeface="Arial"/>
                <a:cs typeface="Arial"/>
                <a:sym typeface="Arial"/>
              </a:rPr>
              <a:t>assembling</a:t>
            </a:r>
            <a:r>
              <a:rPr lang="fr-FR" sz="1800" b="0" i="0" u="none" strike="noStrike" cap="none">
                <a:solidFill>
                  <a:schemeClr val="dk1"/>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a:p>
            <a:pPr marL="295275" marR="0" lvl="0" indent="-241300" algn="l" rtl="0">
              <a:lnSpc>
                <a:spcPct val="117777"/>
              </a:lnSpc>
              <a:spcBef>
                <a:spcPts val="0"/>
              </a:spcBef>
              <a:spcAft>
                <a:spcPts val="0"/>
              </a:spcAft>
              <a:buClr>
                <a:schemeClr val="dk1"/>
              </a:buClr>
              <a:buSzPts val="1800"/>
              <a:buFont typeface="Arial"/>
              <a:buAutoNum type="arabicPeriod"/>
            </a:pPr>
            <a:r>
              <a:rPr lang="fr-FR" sz="1800" b="0" i="0" u="none" strike="noStrike" cap="none">
                <a:solidFill>
                  <a:schemeClr val="dk1"/>
                </a:solidFill>
                <a:latin typeface="Arial"/>
                <a:ea typeface="Arial"/>
                <a:cs typeface="Arial"/>
                <a:sym typeface="Arial"/>
              </a:rPr>
              <a:t>Edition des liens (</a:t>
            </a:r>
            <a:r>
              <a:rPr lang="fr-FR" sz="1800" b="0" i="1" u="none" strike="noStrike" cap="none">
                <a:solidFill>
                  <a:schemeClr val="dk1"/>
                </a:solidFill>
                <a:latin typeface="Arial"/>
                <a:ea typeface="Arial"/>
                <a:cs typeface="Arial"/>
                <a:sym typeface="Arial"/>
              </a:rPr>
              <a:t>linking</a:t>
            </a:r>
            <a:r>
              <a:rPr lang="fr-FR" sz="1800" b="0" i="0" u="none" strike="noStrike" cap="none">
                <a:solidFill>
                  <a:schemeClr val="dk1"/>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a:p>
            <a:pPr marL="53975" marR="0" lvl="0" indent="0" algn="l" rtl="0">
              <a:lnSpc>
                <a:spcPct val="117777"/>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263" name="Google Shape;263;p27"/>
          <p:cNvGrpSpPr/>
          <p:nvPr/>
        </p:nvGrpSpPr>
        <p:grpSpPr>
          <a:xfrm>
            <a:off x="186189" y="4650068"/>
            <a:ext cx="8642985" cy="1535430"/>
            <a:chOff x="186189" y="4650068"/>
            <a:chExt cx="8642985" cy="1535430"/>
          </a:xfrm>
        </p:grpSpPr>
        <p:sp>
          <p:nvSpPr>
            <p:cNvPr id="264" name="Google Shape;264;p27"/>
            <p:cNvSpPr/>
            <p:nvPr/>
          </p:nvSpPr>
          <p:spPr>
            <a:xfrm>
              <a:off x="186189" y="4650068"/>
              <a:ext cx="8642985" cy="1535430"/>
            </a:xfrm>
            <a:custGeom>
              <a:avLst/>
              <a:gdLst/>
              <a:ahLst/>
              <a:cxnLst/>
              <a:rect l="l" t="t" r="r" b="b"/>
              <a:pathLst>
                <a:path w="8642985" h="1535429" extrusionOk="0">
                  <a:moveTo>
                    <a:pt x="8642616" y="0"/>
                  </a:moveTo>
                  <a:lnTo>
                    <a:pt x="0" y="0"/>
                  </a:lnTo>
                  <a:lnTo>
                    <a:pt x="0" y="1535023"/>
                  </a:lnTo>
                  <a:lnTo>
                    <a:pt x="8642616" y="1535023"/>
                  </a:lnTo>
                  <a:lnTo>
                    <a:pt x="8642616"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65" name="Google Shape;265;p27"/>
            <p:cNvSpPr/>
            <p:nvPr/>
          </p:nvSpPr>
          <p:spPr>
            <a:xfrm>
              <a:off x="210604" y="4705730"/>
              <a:ext cx="8541385" cy="1423670"/>
            </a:xfrm>
            <a:custGeom>
              <a:avLst/>
              <a:gdLst/>
              <a:ahLst/>
              <a:cxnLst/>
              <a:rect l="l" t="t" r="r" b="b"/>
              <a:pathLst>
                <a:path w="8541385" h="1423670" extrusionOk="0">
                  <a:moveTo>
                    <a:pt x="8541017" y="0"/>
                  </a:moveTo>
                  <a:lnTo>
                    <a:pt x="8529625" y="0"/>
                  </a:lnTo>
                  <a:lnTo>
                    <a:pt x="8529625" y="11391"/>
                  </a:lnTo>
                  <a:lnTo>
                    <a:pt x="8529625" y="1412113"/>
                  </a:lnTo>
                  <a:lnTo>
                    <a:pt x="11391" y="1412113"/>
                  </a:lnTo>
                  <a:lnTo>
                    <a:pt x="11391" y="11391"/>
                  </a:lnTo>
                  <a:lnTo>
                    <a:pt x="8529625" y="11391"/>
                  </a:lnTo>
                  <a:lnTo>
                    <a:pt x="8529625" y="0"/>
                  </a:lnTo>
                  <a:lnTo>
                    <a:pt x="11391" y="0"/>
                  </a:lnTo>
                  <a:lnTo>
                    <a:pt x="0" y="0"/>
                  </a:lnTo>
                  <a:lnTo>
                    <a:pt x="0" y="11391"/>
                  </a:lnTo>
                  <a:lnTo>
                    <a:pt x="0" y="1412113"/>
                  </a:lnTo>
                  <a:lnTo>
                    <a:pt x="0" y="1423504"/>
                  </a:lnTo>
                  <a:lnTo>
                    <a:pt x="11391" y="1423504"/>
                  </a:lnTo>
                  <a:lnTo>
                    <a:pt x="8529625" y="1423504"/>
                  </a:lnTo>
                  <a:lnTo>
                    <a:pt x="8541017" y="1423504"/>
                  </a:lnTo>
                  <a:lnTo>
                    <a:pt x="8541017" y="1412113"/>
                  </a:lnTo>
                  <a:lnTo>
                    <a:pt x="8541017" y="11391"/>
                  </a:lnTo>
                  <a:lnTo>
                    <a:pt x="854101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66" name="Google Shape;266;p27"/>
          <p:cNvSpPr txBox="1"/>
          <p:nvPr/>
        </p:nvSpPr>
        <p:spPr>
          <a:xfrm>
            <a:off x="256160" y="4727187"/>
            <a:ext cx="2122805" cy="586105"/>
          </a:xfrm>
          <a:prstGeom prst="rect">
            <a:avLst/>
          </a:prstGeom>
          <a:noFill/>
          <a:ln>
            <a:noFill/>
          </a:ln>
        </p:spPr>
        <p:txBody>
          <a:bodyPr spcFirstLastPara="1" wrap="square" lIns="0" tIns="1205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fr-FR" sz="1350" b="1" i="0" u="none" strike="noStrike" cap="none">
                <a:solidFill>
                  <a:schemeClr val="dk1"/>
                </a:solidFill>
                <a:latin typeface="Courier New"/>
                <a:ea typeface="Courier New"/>
                <a:cs typeface="Courier New"/>
                <a:sym typeface="Courier New"/>
              </a:rPr>
              <a:t>gcc bonjour.c</a:t>
            </a:r>
            <a:endParaRPr sz="1350" b="0" i="0" u="none" strike="noStrike" cap="none">
              <a:solidFill>
                <a:schemeClr val="dk1"/>
              </a:solidFill>
              <a:latin typeface="Courier New"/>
              <a:ea typeface="Courier New"/>
              <a:cs typeface="Courier New"/>
              <a:sym typeface="Courier New"/>
            </a:endParaRPr>
          </a:p>
          <a:p>
            <a:pPr marL="1090295" marR="0" lvl="0" indent="0" algn="l" rtl="0">
              <a:lnSpc>
                <a:spcPct val="100000"/>
              </a:lnSpc>
              <a:spcBef>
                <a:spcPts val="1110"/>
              </a:spcBef>
              <a:spcAft>
                <a:spcPts val="0"/>
              </a:spcAft>
              <a:buClr>
                <a:srgbClr val="000000"/>
              </a:buClr>
              <a:buSzPts val="1400"/>
              <a:buFont typeface="Arial"/>
              <a:buNone/>
            </a:pPr>
            <a:r>
              <a:rPr lang="fr-FR" sz="1400" b="0" i="1" u="none" strike="noStrike" cap="none">
                <a:solidFill>
                  <a:schemeClr val="dk1"/>
                </a:solidFill>
                <a:latin typeface="Times New Roman"/>
                <a:ea typeface="Times New Roman"/>
                <a:cs typeface="Times New Roman"/>
                <a:sym typeface="Times New Roman"/>
              </a:rPr>
              <a:t>preprocessing</a:t>
            </a:r>
            <a:endParaRPr sz="1400" b="0" i="0" u="none" strike="noStrike" cap="none">
              <a:solidFill>
                <a:schemeClr val="dk1"/>
              </a:solidFill>
              <a:latin typeface="Times New Roman"/>
              <a:ea typeface="Times New Roman"/>
              <a:cs typeface="Times New Roman"/>
              <a:sym typeface="Times New Roman"/>
            </a:endParaRPr>
          </a:p>
        </p:txBody>
      </p:sp>
      <p:sp>
        <p:nvSpPr>
          <p:cNvPr id="267" name="Google Shape;267;p27"/>
          <p:cNvSpPr txBox="1"/>
          <p:nvPr/>
        </p:nvSpPr>
        <p:spPr>
          <a:xfrm>
            <a:off x="3592893" y="5068827"/>
            <a:ext cx="741680"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1" u="none" strike="noStrike" cap="none">
                <a:solidFill>
                  <a:schemeClr val="dk1"/>
                </a:solidFill>
                <a:latin typeface="Times New Roman"/>
                <a:ea typeface="Times New Roman"/>
                <a:cs typeface="Times New Roman"/>
                <a:sym typeface="Times New Roman"/>
              </a:rPr>
              <a:t>compiling</a:t>
            </a:r>
            <a:endParaRPr sz="1400" b="0" i="0" u="none" strike="noStrike" cap="none">
              <a:solidFill>
                <a:schemeClr val="dk1"/>
              </a:solidFill>
              <a:latin typeface="Times New Roman"/>
              <a:ea typeface="Times New Roman"/>
              <a:cs typeface="Times New Roman"/>
              <a:sym typeface="Times New Roman"/>
            </a:endParaRPr>
          </a:p>
        </p:txBody>
      </p:sp>
      <p:sp>
        <p:nvSpPr>
          <p:cNvPr id="268" name="Google Shape;268;p27"/>
          <p:cNvSpPr txBox="1"/>
          <p:nvPr/>
        </p:nvSpPr>
        <p:spPr>
          <a:xfrm>
            <a:off x="5540198" y="5068827"/>
            <a:ext cx="833119"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1" u="none" strike="noStrike" cap="none">
                <a:solidFill>
                  <a:schemeClr val="dk1"/>
                </a:solidFill>
                <a:latin typeface="Times New Roman"/>
                <a:ea typeface="Times New Roman"/>
                <a:cs typeface="Times New Roman"/>
                <a:sym typeface="Times New Roman"/>
              </a:rPr>
              <a:t>assembling</a:t>
            </a:r>
            <a:endParaRPr sz="1400" b="0" i="0" u="none" strike="noStrike" cap="none">
              <a:solidFill>
                <a:schemeClr val="dk1"/>
              </a:solidFill>
              <a:latin typeface="Times New Roman"/>
              <a:ea typeface="Times New Roman"/>
              <a:cs typeface="Times New Roman"/>
              <a:sym typeface="Times New Roman"/>
            </a:endParaRPr>
          </a:p>
        </p:txBody>
      </p:sp>
      <p:sp>
        <p:nvSpPr>
          <p:cNvPr id="269" name="Google Shape;269;p27"/>
          <p:cNvSpPr txBox="1"/>
          <p:nvPr/>
        </p:nvSpPr>
        <p:spPr>
          <a:xfrm>
            <a:off x="7576159" y="5068827"/>
            <a:ext cx="518795"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1" u="none" strike="noStrike" cap="none">
                <a:solidFill>
                  <a:schemeClr val="dk1"/>
                </a:solidFill>
                <a:latin typeface="Times New Roman"/>
                <a:ea typeface="Times New Roman"/>
                <a:cs typeface="Times New Roman"/>
                <a:sym typeface="Times New Roman"/>
              </a:rPr>
              <a:t>linking</a:t>
            </a:r>
            <a:endParaRPr sz="1400" b="0" i="0" u="none" strike="noStrike" cap="none">
              <a:solidFill>
                <a:schemeClr val="dk1"/>
              </a:solidFill>
              <a:latin typeface="Times New Roman"/>
              <a:ea typeface="Times New Roman"/>
              <a:cs typeface="Times New Roman"/>
              <a:sym typeface="Times New Roman"/>
            </a:endParaRPr>
          </a:p>
        </p:txBody>
      </p:sp>
      <p:grpSp>
        <p:nvGrpSpPr>
          <p:cNvPr id="270" name="Google Shape;270;p27"/>
          <p:cNvGrpSpPr/>
          <p:nvPr/>
        </p:nvGrpSpPr>
        <p:grpSpPr>
          <a:xfrm>
            <a:off x="529478" y="1426032"/>
            <a:ext cx="8372078" cy="4361559"/>
            <a:chOff x="529478" y="1426032"/>
            <a:chExt cx="8372078" cy="4361559"/>
          </a:xfrm>
        </p:grpSpPr>
        <p:sp>
          <p:nvSpPr>
            <p:cNvPr id="271" name="Google Shape;271;p27"/>
            <p:cNvSpPr/>
            <p:nvPr/>
          </p:nvSpPr>
          <p:spPr>
            <a:xfrm>
              <a:off x="529478" y="5354847"/>
              <a:ext cx="341640" cy="4327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2" name="Google Shape;272;p27"/>
            <p:cNvSpPr/>
            <p:nvPr/>
          </p:nvSpPr>
          <p:spPr>
            <a:xfrm>
              <a:off x="1679663" y="5389011"/>
              <a:ext cx="353028" cy="35302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3" name="Google Shape;273;p27"/>
            <p:cNvSpPr/>
            <p:nvPr/>
          </p:nvSpPr>
          <p:spPr>
            <a:xfrm>
              <a:off x="2829852" y="5354847"/>
              <a:ext cx="341640" cy="4327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4" name="Google Shape;274;p27"/>
            <p:cNvSpPr/>
            <p:nvPr/>
          </p:nvSpPr>
          <p:spPr>
            <a:xfrm>
              <a:off x="3780751" y="5389011"/>
              <a:ext cx="353028" cy="35302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5" name="Google Shape;275;p27"/>
            <p:cNvSpPr/>
            <p:nvPr/>
          </p:nvSpPr>
          <p:spPr>
            <a:xfrm>
              <a:off x="4754435" y="5354847"/>
              <a:ext cx="341640" cy="4327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6" name="Google Shape;276;p27"/>
            <p:cNvSpPr/>
            <p:nvPr/>
          </p:nvSpPr>
          <p:spPr>
            <a:xfrm>
              <a:off x="5773661" y="5389011"/>
              <a:ext cx="353028" cy="35302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7" name="Google Shape;277;p27"/>
            <p:cNvSpPr/>
            <p:nvPr/>
          </p:nvSpPr>
          <p:spPr>
            <a:xfrm>
              <a:off x="6815658" y="5354847"/>
              <a:ext cx="341640" cy="4327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8" name="Google Shape;278;p27"/>
            <p:cNvSpPr/>
            <p:nvPr/>
          </p:nvSpPr>
          <p:spPr>
            <a:xfrm>
              <a:off x="7652676" y="5389011"/>
              <a:ext cx="353028" cy="35302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79" name="Google Shape;279;p27"/>
            <p:cNvSpPr/>
            <p:nvPr/>
          </p:nvSpPr>
          <p:spPr>
            <a:xfrm>
              <a:off x="8290407" y="5354847"/>
              <a:ext cx="341640" cy="4327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0" name="Google Shape;280;p27"/>
            <p:cNvSpPr/>
            <p:nvPr/>
          </p:nvSpPr>
          <p:spPr>
            <a:xfrm>
              <a:off x="4792205" y="1426032"/>
              <a:ext cx="4109351" cy="3006090"/>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81" name="Google Shape;281;p27"/>
            <p:cNvSpPr/>
            <p:nvPr/>
          </p:nvSpPr>
          <p:spPr>
            <a:xfrm>
              <a:off x="4845049" y="1454150"/>
              <a:ext cx="4000499" cy="2895600"/>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282" name="Google Shape;282;p27"/>
          <p:cNvSpPr txBox="1"/>
          <p:nvPr/>
        </p:nvSpPr>
        <p:spPr>
          <a:xfrm>
            <a:off x="358652" y="5843212"/>
            <a:ext cx="695960"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chemeClr val="dk1"/>
                </a:solidFill>
                <a:latin typeface="Times New Roman"/>
                <a:ea typeface="Times New Roman"/>
                <a:cs typeface="Times New Roman"/>
                <a:sym typeface="Times New Roman"/>
              </a:rPr>
              <a:t>bonjour.c</a:t>
            </a:r>
            <a:endParaRPr sz="1400" b="0" i="0" u="none" strike="noStrike" cap="none">
              <a:solidFill>
                <a:schemeClr val="dk1"/>
              </a:solidFill>
              <a:latin typeface="Times New Roman"/>
              <a:ea typeface="Times New Roman"/>
              <a:cs typeface="Times New Roman"/>
              <a:sym typeface="Times New Roman"/>
            </a:endParaRPr>
          </a:p>
        </p:txBody>
      </p:sp>
      <p:sp>
        <p:nvSpPr>
          <p:cNvPr id="283" name="Google Shape;283;p27"/>
          <p:cNvSpPr txBox="1"/>
          <p:nvPr/>
        </p:nvSpPr>
        <p:spPr>
          <a:xfrm>
            <a:off x="2674154" y="5843212"/>
            <a:ext cx="666115"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chemeClr val="dk1"/>
                </a:solidFill>
                <a:latin typeface="Times New Roman"/>
                <a:ea typeface="Times New Roman"/>
                <a:cs typeface="Times New Roman"/>
                <a:sym typeface="Times New Roman"/>
              </a:rPr>
              <a:t>bonjour.i</a:t>
            </a:r>
            <a:endParaRPr sz="1400" b="0" i="0" u="none" strike="noStrike" cap="none">
              <a:solidFill>
                <a:schemeClr val="dk1"/>
              </a:solidFill>
              <a:latin typeface="Times New Roman"/>
              <a:ea typeface="Times New Roman"/>
              <a:cs typeface="Times New Roman"/>
              <a:sym typeface="Times New Roman"/>
            </a:endParaRPr>
          </a:p>
        </p:txBody>
      </p:sp>
      <p:sp>
        <p:nvSpPr>
          <p:cNvPr id="284" name="Google Shape;284;p27"/>
          <p:cNvSpPr txBox="1"/>
          <p:nvPr/>
        </p:nvSpPr>
        <p:spPr>
          <a:xfrm>
            <a:off x="4588581" y="5843212"/>
            <a:ext cx="686435"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chemeClr val="dk1"/>
                </a:solidFill>
                <a:latin typeface="Times New Roman"/>
                <a:ea typeface="Times New Roman"/>
                <a:cs typeface="Times New Roman"/>
                <a:sym typeface="Times New Roman"/>
              </a:rPr>
              <a:t>bonjour.s</a:t>
            </a:r>
            <a:endParaRPr sz="1400" b="0" i="0" u="none" strike="noStrike" cap="none">
              <a:solidFill>
                <a:schemeClr val="dk1"/>
              </a:solidFill>
              <a:latin typeface="Times New Roman"/>
              <a:ea typeface="Times New Roman"/>
              <a:cs typeface="Times New Roman"/>
              <a:sym typeface="Times New Roman"/>
            </a:endParaRPr>
          </a:p>
        </p:txBody>
      </p:sp>
      <p:sp>
        <p:nvSpPr>
          <p:cNvPr id="285" name="Google Shape;285;p27"/>
          <p:cNvSpPr txBox="1"/>
          <p:nvPr/>
        </p:nvSpPr>
        <p:spPr>
          <a:xfrm>
            <a:off x="6639722" y="5843212"/>
            <a:ext cx="706755"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chemeClr val="dk1"/>
                </a:solidFill>
                <a:latin typeface="Times New Roman"/>
                <a:ea typeface="Times New Roman"/>
                <a:cs typeface="Times New Roman"/>
                <a:sym typeface="Times New Roman"/>
              </a:rPr>
              <a:t>bonjour.o</a:t>
            </a:r>
            <a:endParaRPr sz="1400" b="0" i="0" u="none" strike="noStrike" cap="none">
              <a:solidFill>
                <a:schemeClr val="dk1"/>
              </a:solidFill>
              <a:latin typeface="Times New Roman"/>
              <a:ea typeface="Times New Roman"/>
              <a:cs typeface="Times New Roman"/>
              <a:sym typeface="Times New Roman"/>
            </a:endParaRPr>
          </a:p>
        </p:txBody>
      </p:sp>
      <p:sp>
        <p:nvSpPr>
          <p:cNvPr id="286" name="Google Shape;286;p27"/>
          <p:cNvSpPr txBox="1"/>
          <p:nvPr/>
        </p:nvSpPr>
        <p:spPr>
          <a:xfrm>
            <a:off x="8281600" y="5843212"/>
            <a:ext cx="372110" cy="244475"/>
          </a:xfrm>
          <a:prstGeom prst="rect">
            <a:avLst/>
          </a:prstGeom>
          <a:noFill/>
          <a:ln>
            <a:noFill/>
          </a:ln>
        </p:spPr>
        <p:txBody>
          <a:bodyPr spcFirstLastPara="1" wrap="square" lIns="0" tIns="17125" rIns="0" bIns="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chemeClr val="dk1"/>
                </a:solidFill>
                <a:latin typeface="Times New Roman"/>
                <a:ea typeface="Times New Roman"/>
                <a:cs typeface="Times New Roman"/>
                <a:sym typeface="Times New Roman"/>
              </a:rPr>
              <a:t>a.out</a:t>
            </a:r>
            <a:endParaRPr sz="1400" b="0" i="0" u="none" strike="noStrike" cap="none">
              <a:solidFill>
                <a:schemeClr val="dk1"/>
              </a:solidFill>
              <a:latin typeface="Times New Roman"/>
              <a:ea typeface="Times New Roman"/>
              <a:cs typeface="Times New Roman"/>
              <a:sym typeface="Times New Roman"/>
            </a:endParaRPr>
          </a:p>
        </p:txBody>
      </p:sp>
      <p:sp>
        <p:nvSpPr>
          <p:cNvPr id="287" name="Google Shape;287;p27"/>
          <p:cNvSpPr txBox="1"/>
          <p:nvPr/>
        </p:nvSpPr>
        <p:spPr>
          <a:xfrm>
            <a:off x="4845043" y="1454146"/>
            <a:ext cx="4000500" cy="2895600"/>
          </a:xfrm>
          <a:prstGeom prst="rect">
            <a:avLst/>
          </a:prstGeom>
          <a:noFill/>
          <a:ln w="9525" cap="flat" cmpd="sng">
            <a:solidFill>
              <a:srgbClr val="A5B592"/>
            </a:solidFill>
            <a:prstDash val="solid"/>
            <a:round/>
            <a:headEnd type="none" w="sm" len="sm"/>
            <a:tailEnd type="none" w="sm" len="sm"/>
          </a:ln>
        </p:spPr>
        <p:txBody>
          <a:bodyPr spcFirstLastPara="1" wrap="square" lIns="0" tIns="50800" rIns="0" bIns="0" anchor="t" anchorCtr="0">
            <a:spAutoFit/>
          </a:bodyPr>
          <a:lstStyle/>
          <a:p>
            <a:pPr marL="52705"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#include &lt;stdio.h&gt;</a:t>
            </a:r>
            <a:endParaRPr sz="1800" b="0" i="0" u="none" strike="noStrike" cap="none">
              <a:solidFill>
                <a:schemeClr val="dk1"/>
              </a:solidFill>
              <a:latin typeface="Arial"/>
              <a:ea typeface="Arial"/>
              <a:cs typeface="Arial"/>
              <a:sym typeface="Arial"/>
            </a:endParaRPr>
          </a:p>
          <a:p>
            <a:pPr marL="0" marR="0" lvl="0" indent="0" algn="l" rtl="0">
              <a:lnSpc>
                <a:spcPct val="100000"/>
              </a:lnSpc>
              <a:spcBef>
                <a:spcPts val="50"/>
              </a:spcBef>
              <a:spcAft>
                <a:spcPts val="0"/>
              </a:spcAft>
              <a:buClr>
                <a:srgbClr val="000000"/>
              </a:buClr>
              <a:buSzPts val="1900"/>
              <a:buFont typeface="Arial"/>
              <a:buNone/>
            </a:pPr>
            <a:endParaRPr sz="1900" b="0" i="0" u="none" strike="noStrike" cap="none">
              <a:solidFill>
                <a:schemeClr val="dk1"/>
              </a:solidFill>
              <a:latin typeface="Arial"/>
              <a:ea typeface="Arial"/>
              <a:cs typeface="Arial"/>
              <a:sym typeface="Arial"/>
            </a:endParaRPr>
          </a:p>
          <a:p>
            <a:pPr marL="52705" marR="0" lvl="0" indent="0" algn="l" rtl="0">
              <a:lnSpc>
                <a:spcPct val="100000"/>
              </a:lnSpc>
              <a:spcBef>
                <a:spcPts val="5"/>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int main(int argc, const char * argv[])</a:t>
            </a:r>
            <a:endParaRPr sz="1800" b="0" i="0" u="none" strike="noStrike" cap="none">
              <a:solidFill>
                <a:schemeClr val="dk1"/>
              </a:solidFill>
              <a:latin typeface="Arial"/>
              <a:ea typeface="Arial"/>
              <a:cs typeface="Arial"/>
              <a:sym typeface="Arial"/>
            </a:endParaRPr>
          </a:p>
          <a:p>
            <a:pPr marL="52705" marR="0" lvl="0" indent="0" algn="l" rtl="0">
              <a:lnSpc>
                <a:spcPct val="100000"/>
              </a:lnSpc>
              <a:spcBef>
                <a:spcPts val="4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a:p>
            <a:pPr marL="52705" marR="271145" lvl="0" indent="254000" algn="l" rtl="0">
              <a:lnSpc>
                <a:spcPct val="122222"/>
              </a:lnSpc>
              <a:spcBef>
                <a:spcPts val="8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 Afficher le mot bonjour et sauter  une ligne</a:t>
            </a:r>
            <a:endParaRPr sz="1800" b="0" i="0" u="none" strike="noStrike" cap="none">
              <a:solidFill>
                <a:schemeClr val="dk1"/>
              </a:solidFill>
              <a:latin typeface="Arial"/>
              <a:ea typeface="Arial"/>
              <a:cs typeface="Arial"/>
              <a:sym typeface="Arial"/>
            </a:endParaRPr>
          </a:p>
          <a:p>
            <a:pPr marL="306705" marR="1630045" lvl="0" indent="0" algn="l" rtl="0">
              <a:lnSpc>
                <a:spcPct val="122222"/>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printf("Bonjour!!!\n");  return 0;</a:t>
            </a:r>
            <a:endParaRPr sz="1800" b="0" i="0" u="none" strike="noStrike" cap="none">
              <a:solidFill>
                <a:schemeClr val="dk1"/>
              </a:solidFill>
              <a:latin typeface="Arial"/>
              <a:ea typeface="Arial"/>
              <a:cs typeface="Arial"/>
              <a:sym typeface="Arial"/>
            </a:endParaRPr>
          </a:p>
          <a:p>
            <a:pPr marL="52705" marR="0" lvl="0" indent="0" algn="l" rtl="0">
              <a:lnSpc>
                <a:spcPct val="117777"/>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p:txBody>
      </p:sp>
      <p:sp>
        <p:nvSpPr>
          <p:cNvPr id="288" name="Google Shape;288;p27"/>
          <p:cNvSpPr txBox="1"/>
          <p:nvPr/>
        </p:nvSpPr>
        <p:spPr>
          <a:xfrm>
            <a:off x="4859020" y="1143990"/>
            <a:ext cx="10547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Arial"/>
                <a:ea typeface="Arial"/>
                <a:cs typeface="Arial"/>
                <a:sym typeface="Arial"/>
              </a:rPr>
              <a:t>bonjour.c</a:t>
            </a:r>
            <a:endParaRPr sz="1800" b="0" i="0" u="none" strike="noStrike" cap="none">
              <a:solidFill>
                <a:schemeClr val="dk1"/>
              </a:solidFill>
              <a:latin typeface="Arial"/>
              <a:ea typeface="Arial"/>
              <a:cs typeface="Arial"/>
              <a:sym typeface="Arial"/>
            </a:endParaRPr>
          </a:p>
        </p:txBody>
      </p:sp>
      <p:pic>
        <p:nvPicPr>
          <p:cNvPr id="289" name="Google Shape;289;p27"/>
          <p:cNvPicPr preferRelativeResize="0"/>
          <p:nvPr/>
        </p:nvPicPr>
        <p:blipFill rotWithShape="1">
          <a:blip r:embed="rId7">
            <a:alphaModFix/>
          </a:blip>
          <a:srcRect/>
          <a:stretch/>
        </p:blipFill>
        <p:spPr>
          <a:xfrm>
            <a:off x="80707" y="29780"/>
            <a:ext cx="1824293" cy="104176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28"/>
          <p:cNvSpPr txBox="1">
            <a:spLocks noGrp="1"/>
          </p:cNvSpPr>
          <p:nvPr>
            <p:ph type="title"/>
          </p:nvPr>
        </p:nvSpPr>
        <p:spPr>
          <a:xfrm>
            <a:off x="2371547" y="156511"/>
            <a:ext cx="6442088"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fr-FR"/>
              <a:t>Compilation</a:t>
            </a:r>
            <a:endParaRPr/>
          </a:p>
        </p:txBody>
      </p:sp>
      <p:sp>
        <p:nvSpPr>
          <p:cNvPr id="296" name="Google Shape;296;p28"/>
          <p:cNvSpPr txBox="1"/>
          <p:nvPr/>
        </p:nvSpPr>
        <p:spPr>
          <a:xfrm>
            <a:off x="464819" y="1220228"/>
            <a:ext cx="5349240"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700"/>
              <a:buFont typeface="Arial"/>
              <a:buNone/>
            </a:pPr>
            <a:r>
              <a:rPr lang="fr-FR" sz="2700" b="0" i="0" u="none" strike="noStrike" cap="none" baseline="30000">
                <a:solidFill>
                  <a:srgbClr val="A5B592"/>
                </a:solidFill>
                <a:latin typeface="Arial"/>
                <a:ea typeface="Arial"/>
                <a:cs typeface="Arial"/>
                <a:sym typeface="Arial"/>
              </a:rPr>
              <a:t> 	</a:t>
            </a:r>
            <a:r>
              <a:rPr lang="fr-FR" sz="2400" b="1" i="0" u="none" strike="noStrike" cap="none">
                <a:solidFill>
                  <a:schemeClr val="dk1"/>
                </a:solidFill>
                <a:latin typeface="Arial"/>
                <a:ea typeface="Arial"/>
                <a:cs typeface="Arial"/>
                <a:sym typeface="Arial"/>
              </a:rPr>
              <a:t>Etape 1</a:t>
            </a:r>
            <a:r>
              <a:rPr lang="fr-FR" sz="2400" b="0" i="0" u="none" strike="noStrike" cap="none">
                <a:solidFill>
                  <a:schemeClr val="dk1"/>
                </a:solidFill>
                <a:latin typeface="Arial"/>
                <a:ea typeface="Arial"/>
                <a:cs typeface="Arial"/>
                <a:sym typeface="Arial"/>
              </a:rPr>
              <a:t>: Passage au pré-processeur</a:t>
            </a:r>
            <a:endParaRPr sz="1400" b="0" i="0" u="none" strike="noStrike" cap="none">
              <a:solidFill>
                <a:srgbClr val="000000"/>
              </a:solidFill>
              <a:latin typeface="Arial"/>
              <a:ea typeface="Arial"/>
              <a:cs typeface="Arial"/>
              <a:sym typeface="Arial"/>
            </a:endParaRPr>
          </a:p>
        </p:txBody>
      </p:sp>
      <p:sp>
        <p:nvSpPr>
          <p:cNvPr id="297" name="Google Shape;297;p28"/>
          <p:cNvSpPr/>
          <p:nvPr/>
        </p:nvSpPr>
        <p:spPr>
          <a:xfrm>
            <a:off x="224624" y="1864766"/>
            <a:ext cx="8688705" cy="1795780"/>
          </a:xfrm>
          <a:custGeom>
            <a:avLst/>
            <a:gdLst/>
            <a:ahLst/>
            <a:cxnLst/>
            <a:rect l="l" t="t" r="r" b="b"/>
            <a:pathLst>
              <a:path w="8688705" h="1795779" extrusionOk="0">
                <a:moveTo>
                  <a:pt x="8688705" y="0"/>
                </a:moveTo>
                <a:lnTo>
                  <a:pt x="8677123" y="0"/>
                </a:lnTo>
                <a:lnTo>
                  <a:pt x="8677123" y="11582"/>
                </a:lnTo>
                <a:lnTo>
                  <a:pt x="8677123" y="1784070"/>
                </a:lnTo>
                <a:lnTo>
                  <a:pt x="11582" y="1784070"/>
                </a:lnTo>
                <a:lnTo>
                  <a:pt x="11582" y="11582"/>
                </a:lnTo>
                <a:lnTo>
                  <a:pt x="8677123" y="11582"/>
                </a:lnTo>
                <a:lnTo>
                  <a:pt x="8677123" y="0"/>
                </a:lnTo>
                <a:lnTo>
                  <a:pt x="11582" y="0"/>
                </a:lnTo>
                <a:lnTo>
                  <a:pt x="0" y="0"/>
                </a:lnTo>
                <a:lnTo>
                  <a:pt x="0" y="11582"/>
                </a:lnTo>
                <a:lnTo>
                  <a:pt x="0" y="1784070"/>
                </a:lnTo>
                <a:lnTo>
                  <a:pt x="0" y="1795665"/>
                </a:lnTo>
                <a:lnTo>
                  <a:pt x="11582" y="1795665"/>
                </a:lnTo>
                <a:lnTo>
                  <a:pt x="8677123" y="1795665"/>
                </a:lnTo>
                <a:lnTo>
                  <a:pt x="8688705" y="1795665"/>
                </a:lnTo>
                <a:lnTo>
                  <a:pt x="8688705" y="1784070"/>
                </a:lnTo>
                <a:lnTo>
                  <a:pt x="8688705" y="11582"/>
                </a:lnTo>
                <a:lnTo>
                  <a:pt x="868870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98" name="Google Shape;298;p28"/>
          <p:cNvSpPr txBox="1"/>
          <p:nvPr/>
        </p:nvSpPr>
        <p:spPr>
          <a:xfrm>
            <a:off x="270964" y="1886828"/>
            <a:ext cx="2932430" cy="595630"/>
          </a:xfrm>
          <a:prstGeom prst="rect">
            <a:avLst/>
          </a:prstGeom>
          <a:noFill/>
          <a:ln>
            <a:noFill/>
          </a:ln>
        </p:spPr>
        <p:txBody>
          <a:bodyPr spcFirstLastPara="1" wrap="square" lIns="0" tIns="1460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fr-FR" sz="1350" b="1" i="0" u="none" strike="noStrike" cap="none">
                <a:solidFill>
                  <a:schemeClr val="dk1"/>
                </a:solidFill>
                <a:latin typeface="Courier New"/>
                <a:ea typeface="Courier New"/>
                <a:cs typeface="Courier New"/>
                <a:sym typeface="Courier New"/>
              </a:rPr>
              <a:t>gcc -E bonjour.c &gt; bonjour.i</a:t>
            </a:r>
            <a:endParaRPr sz="1350" b="0" i="0" u="none" strike="noStrike" cap="none">
              <a:solidFill>
                <a:schemeClr val="dk1"/>
              </a:solidFill>
              <a:latin typeface="Courier New"/>
              <a:ea typeface="Courier New"/>
              <a:cs typeface="Courier New"/>
              <a:sym typeface="Courier New"/>
            </a:endParaRPr>
          </a:p>
          <a:p>
            <a:pPr marL="1106805" marR="0" lvl="0" indent="0" algn="l" rtl="0">
              <a:lnSpc>
                <a:spcPct val="100000"/>
              </a:lnSpc>
              <a:spcBef>
                <a:spcPts val="111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preprocessing</a:t>
            </a:r>
            <a:endParaRPr sz="1450" b="0" i="0" u="none" strike="noStrike" cap="none">
              <a:solidFill>
                <a:schemeClr val="dk1"/>
              </a:solidFill>
              <a:latin typeface="Times New Roman"/>
              <a:ea typeface="Times New Roman"/>
              <a:cs typeface="Times New Roman"/>
              <a:sym typeface="Times New Roman"/>
            </a:endParaRPr>
          </a:p>
        </p:txBody>
      </p:sp>
      <p:sp>
        <p:nvSpPr>
          <p:cNvPr id="299" name="Google Shape;299;p28"/>
          <p:cNvSpPr txBox="1"/>
          <p:nvPr/>
        </p:nvSpPr>
        <p:spPr>
          <a:xfrm>
            <a:off x="3642861" y="2234376"/>
            <a:ext cx="764540" cy="248285"/>
          </a:xfrm>
          <a:prstGeom prst="rect">
            <a:avLst/>
          </a:prstGeom>
          <a:noFill/>
          <a:ln>
            <a:noFill/>
          </a:ln>
        </p:spPr>
        <p:txBody>
          <a:bodyPr spcFirstLastPara="1" wrap="square" lIns="0" tIns="13950"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compiling</a:t>
            </a:r>
            <a:endParaRPr sz="1450" b="0" i="0" u="none" strike="noStrike" cap="none">
              <a:solidFill>
                <a:schemeClr val="dk1"/>
              </a:solidFill>
              <a:latin typeface="Times New Roman"/>
              <a:ea typeface="Times New Roman"/>
              <a:cs typeface="Times New Roman"/>
              <a:sym typeface="Times New Roman"/>
            </a:endParaRPr>
          </a:p>
        </p:txBody>
      </p:sp>
      <p:sp>
        <p:nvSpPr>
          <p:cNvPr id="300" name="Google Shape;300;p28"/>
          <p:cNvSpPr txBox="1"/>
          <p:nvPr/>
        </p:nvSpPr>
        <p:spPr>
          <a:xfrm>
            <a:off x="5634832" y="2234376"/>
            <a:ext cx="847090" cy="248285"/>
          </a:xfrm>
          <a:prstGeom prst="rect">
            <a:avLst/>
          </a:prstGeom>
          <a:noFill/>
          <a:ln>
            <a:noFill/>
          </a:ln>
        </p:spPr>
        <p:txBody>
          <a:bodyPr spcFirstLastPara="1" wrap="square" lIns="0" tIns="13950"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assembling</a:t>
            </a:r>
            <a:endParaRPr sz="1450" b="0" i="0" u="none" strike="noStrike" cap="none">
              <a:solidFill>
                <a:schemeClr val="dk1"/>
              </a:solidFill>
              <a:latin typeface="Times New Roman"/>
              <a:ea typeface="Times New Roman"/>
              <a:cs typeface="Times New Roman"/>
              <a:sym typeface="Times New Roman"/>
            </a:endParaRPr>
          </a:p>
        </p:txBody>
      </p:sp>
      <p:sp>
        <p:nvSpPr>
          <p:cNvPr id="301" name="Google Shape;301;p28"/>
          <p:cNvSpPr txBox="1"/>
          <p:nvPr/>
        </p:nvSpPr>
        <p:spPr>
          <a:xfrm>
            <a:off x="7706541" y="2234376"/>
            <a:ext cx="538480" cy="248285"/>
          </a:xfrm>
          <a:prstGeom prst="rect">
            <a:avLst/>
          </a:prstGeom>
          <a:noFill/>
          <a:ln>
            <a:noFill/>
          </a:ln>
        </p:spPr>
        <p:txBody>
          <a:bodyPr spcFirstLastPara="1" wrap="square" lIns="0" tIns="13950"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linking</a:t>
            </a:r>
            <a:endParaRPr sz="1450" b="0" i="0" u="none" strike="noStrike" cap="none">
              <a:solidFill>
                <a:schemeClr val="dk1"/>
              </a:solidFill>
              <a:latin typeface="Times New Roman"/>
              <a:ea typeface="Times New Roman"/>
              <a:cs typeface="Times New Roman"/>
              <a:sym typeface="Times New Roman"/>
            </a:endParaRPr>
          </a:p>
        </p:txBody>
      </p:sp>
      <p:grpSp>
        <p:nvGrpSpPr>
          <p:cNvPr id="302" name="Google Shape;302;p28"/>
          <p:cNvGrpSpPr/>
          <p:nvPr/>
        </p:nvGrpSpPr>
        <p:grpSpPr>
          <a:xfrm>
            <a:off x="549010" y="2525107"/>
            <a:ext cx="8242679" cy="440227"/>
            <a:chOff x="549010" y="2525107"/>
            <a:chExt cx="8242679" cy="440227"/>
          </a:xfrm>
        </p:grpSpPr>
        <p:sp>
          <p:nvSpPr>
            <p:cNvPr id="303" name="Google Shape;303;p28"/>
            <p:cNvSpPr/>
            <p:nvPr/>
          </p:nvSpPr>
          <p:spPr>
            <a:xfrm>
              <a:off x="549010" y="2525107"/>
              <a:ext cx="347548" cy="44022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4" name="Google Shape;304;p28"/>
            <p:cNvSpPr/>
            <p:nvPr/>
          </p:nvSpPr>
          <p:spPr>
            <a:xfrm>
              <a:off x="1713293" y="2583024"/>
              <a:ext cx="359133" cy="35913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5" name="Google Shape;305;p28"/>
            <p:cNvSpPr/>
            <p:nvPr/>
          </p:nvSpPr>
          <p:spPr>
            <a:xfrm>
              <a:off x="2871787" y="2525107"/>
              <a:ext cx="347548" cy="44022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6" name="Google Shape;306;p28"/>
            <p:cNvSpPr/>
            <p:nvPr/>
          </p:nvSpPr>
          <p:spPr>
            <a:xfrm>
              <a:off x="3839133" y="2583024"/>
              <a:ext cx="359133" cy="35913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7" name="Google Shape;307;p28"/>
            <p:cNvSpPr/>
            <p:nvPr/>
          </p:nvSpPr>
          <p:spPr>
            <a:xfrm>
              <a:off x="4835436" y="2525107"/>
              <a:ext cx="347548" cy="44022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8" name="Google Shape;308;p28"/>
            <p:cNvSpPr/>
            <p:nvPr/>
          </p:nvSpPr>
          <p:spPr>
            <a:xfrm>
              <a:off x="5872289" y="2583024"/>
              <a:ext cx="359133" cy="35913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09" name="Google Shape;309;p28"/>
            <p:cNvSpPr/>
            <p:nvPr/>
          </p:nvSpPr>
          <p:spPr>
            <a:xfrm>
              <a:off x="6932307" y="2525107"/>
              <a:ext cx="347548" cy="44022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0" name="Google Shape;310;p28"/>
            <p:cNvSpPr/>
            <p:nvPr/>
          </p:nvSpPr>
          <p:spPr>
            <a:xfrm>
              <a:off x="7789595" y="2583024"/>
              <a:ext cx="359133" cy="35913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1" name="Google Shape;311;p28"/>
            <p:cNvSpPr/>
            <p:nvPr/>
          </p:nvSpPr>
          <p:spPr>
            <a:xfrm>
              <a:off x="8444141" y="2525107"/>
              <a:ext cx="347548" cy="44022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12" name="Google Shape;312;p28"/>
          <p:cNvSpPr txBox="1"/>
          <p:nvPr/>
        </p:nvSpPr>
        <p:spPr>
          <a:xfrm>
            <a:off x="375228" y="3369698"/>
            <a:ext cx="708025" cy="248285"/>
          </a:xfrm>
          <a:prstGeom prst="rect">
            <a:avLst/>
          </a:prstGeom>
          <a:noFill/>
          <a:ln>
            <a:noFill/>
          </a:ln>
        </p:spPr>
        <p:txBody>
          <a:bodyPr spcFirstLastPara="1" wrap="square" lIns="0" tIns="13950"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bonjour.c</a:t>
            </a:r>
            <a:endParaRPr sz="1450" b="0" i="0" u="none" strike="noStrike" cap="none">
              <a:solidFill>
                <a:schemeClr val="dk1"/>
              </a:solidFill>
              <a:latin typeface="Times New Roman"/>
              <a:ea typeface="Times New Roman"/>
              <a:cs typeface="Times New Roman"/>
              <a:sym typeface="Times New Roman"/>
            </a:endParaRPr>
          </a:p>
        </p:txBody>
      </p:sp>
      <p:sp>
        <p:nvSpPr>
          <p:cNvPr id="313" name="Google Shape;313;p28"/>
          <p:cNvSpPr txBox="1"/>
          <p:nvPr/>
        </p:nvSpPr>
        <p:spPr>
          <a:xfrm>
            <a:off x="2713391" y="3369698"/>
            <a:ext cx="677545" cy="248285"/>
          </a:xfrm>
          <a:prstGeom prst="rect">
            <a:avLst/>
          </a:prstGeom>
          <a:noFill/>
          <a:ln>
            <a:noFill/>
          </a:ln>
        </p:spPr>
        <p:txBody>
          <a:bodyPr spcFirstLastPara="1" wrap="square" lIns="0" tIns="13950"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bonjour.i</a:t>
            </a:r>
            <a:endParaRPr sz="1450" b="0" i="0" u="none" strike="noStrike" cap="none">
              <a:solidFill>
                <a:schemeClr val="dk1"/>
              </a:solidFill>
              <a:latin typeface="Times New Roman"/>
              <a:ea typeface="Times New Roman"/>
              <a:cs typeface="Times New Roman"/>
              <a:sym typeface="Times New Roman"/>
            </a:endParaRPr>
          </a:p>
        </p:txBody>
      </p:sp>
      <p:sp>
        <p:nvSpPr>
          <p:cNvPr id="314" name="Google Shape;314;p28"/>
          <p:cNvSpPr txBox="1"/>
          <p:nvPr/>
        </p:nvSpPr>
        <p:spPr>
          <a:xfrm>
            <a:off x="4666714" y="3369698"/>
            <a:ext cx="2804795" cy="248285"/>
          </a:xfrm>
          <a:prstGeom prst="rect">
            <a:avLst/>
          </a:prstGeom>
          <a:noFill/>
          <a:ln>
            <a:noFill/>
          </a:ln>
        </p:spPr>
        <p:txBody>
          <a:bodyPr spcFirstLastPara="1" wrap="square" lIns="0" tIns="13950"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bonjour.s	bonjour.o</a:t>
            </a:r>
            <a:endParaRPr sz="1450" b="0" i="0" u="none" strike="noStrike" cap="none">
              <a:solidFill>
                <a:schemeClr val="dk1"/>
              </a:solidFill>
              <a:latin typeface="Times New Roman"/>
              <a:ea typeface="Times New Roman"/>
              <a:cs typeface="Times New Roman"/>
              <a:sym typeface="Times New Roman"/>
            </a:endParaRPr>
          </a:p>
        </p:txBody>
      </p:sp>
      <p:sp>
        <p:nvSpPr>
          <p:cNvPr id="315" name="Google Shape;315;p28"/>
          <p:cNvSpPr txBox="1"/>
          <p:nvPr/>
        </p:nvSpPr>
        <p:spPr>
          <a:xfrm>
            <a:off x="8435175" y="3369698"/>
            <a:ext cx="378460" cy="248285"/>
          </a:xfrm>
          <a:prstGeom prst="rect">
            <a:avLst/>
          </a:prstGeom>
          <a:noFill/>
          <a:ln>
            <a:noFill/>
          </a:ln>
        </p:spPr>
        <p:txBody>
          <a:bodyPr spcFirstLastPara="1" wrap="square" lIns="0" tIns="13950"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a.out</a:t>
            </a:r>
            <a:endParaRPr sz="1450" b="0" i="0" u="none" strike="noStrike" cap="none">
              <a:solidFill>
                <a:schemeClr val="dk1"/>
              </a:solidFill>
              <a:latin typeface="Times New Roman"/>
              <a:ea typeface="Times New Roman"/>
              <a:cs typeface="Times New Roman"/>
              <a:sym typeface="Times New Roman"/>
            </a:endParaRPr>
          </a:p>
        </p:txBody>
      </p:sp>
      <p:grpSp>
        <p:nvGrpSpPr>
          <p:cNvPr id="316" name="Google Shape;316;p28"/>
          <p:cNvGrpSpPr/>
          <p:nvPr/>
        </p:nvGrpSpPr>
        <p:grpSpPr>
          <a:xfrm>
            <a:off x="3750525" y="3847989"/>
            <a:ext cx="3959961" cy="2447290"/>
            <a:chOff x="3750525" y="3847989"/>
            <a:chExt cx="3959961" cy="2447290"/>
          </a:xfrm>
        </p:grpSpPr>
        <p:sp>
          <p:nvSpPr>
            <p:cNvPr id="317" name="Google Shape;317;p28"/>
            <p:cNvSpPr/>
            <p:nvPr/>
          </p:nvSpPr>
          <p:spPr>
            <a:xfrm>
              <a:off x="3750525" y="3847989"/>
              <a:ext cx="3959961" cy="2447290"/>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18" name="Google Shape;318;p28"/>
            <p:cNvSpPr/>
            <p:nvPr/>
          </p:nvSpPr>
          <p:spPr>
            <a:xfrm>
              <a:off x="3803649" y="3854450"/>
              <a:ext cx="3848100" cy="2336800"/>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19" name="Google Shape;319;p28"/>
          <p:cNvSpPr txBox="1"/>
          <p:nvPr/>
        </p:nvSpPr>
        <p:spPr>
          <a:xfrm>
            <a:off x="3803643" y="3854456"/>
            <a:ext cx="3848100" cy="2336800"/>
          </a:xfrm>
          <a:prstGeom prst="rect">
            <a:avLst/>
          </a:prstGeom>
          <a:noFill/>
          <a:ln w="9525" cap="flat" cmpd="sng">
            <a:solidFill>
              <a:srgbClr val="9C85C0"/>
            </a:solidFill>
            <a:prstDash val="solid"/>
            <a:round/>
            <a:headEnd type="none" w="sm" len="sm"/>
            <a:tailEnd type="none" w="sm" len="sm"/>
          </a:ln>
        </p:spPr>
        <p:txBody>
          <a:bodyPr spcFirstLastPara="1" wrap="square" lIns="0" tIns="49525" rIns="0" bIns="0" anchor="t" anchorCtr="0">
            <a:spAutoFit/>
          </a:bodyPr>
          <a:lstStyle/>
          <a:p>
            <a:pPr marL="52705" marR="1931670" lvl="0" indent="0" algn="l" rtl="0">
              <a:lnSpc>
                <a:spcPct val="101899"/>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#include &lt;stdio.h&gt;  #1 "bonjour.c"</a:t>
            </a:r>
            <a:endParaRPr sz="1800" b="0" i="0" u="none" strike="noStrike" cap="none">
              <a:solidFill>
                <a:schemeClr val="dk1"/>
              </a:solidFill>
              <a:latin typeface="Arial"/>
              <a:ea typeface="Arial"/>
              <a:cs typeface="Arial"/>
              <a:sym typeface="Arial"/>
            </a:endParaRPr>
          </a:p>
          <a:p>
            <a:pPr marL="52705" marR="0" lvl="0" indent="0" algn="l" rtl="0">
              <a:lnSpc>
                <a:spcPct val="100000"/>
              </a:lnSpc>
              <a:spcBef>
                <a:spcPts val="4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int main(int argc, const char * argv[])</a:t>
            </a:r>
            <a:endParaRPr sz="1800" b="0" i="0" u="none" strike="noStrike" cap="none">
              <a:solidFill>
                <a:schemeClr val="dk1"/>
              </a:solidFill>
              <a:latin typeface="Arial"/>
              <a:ea typeface="Arial"/>
              <a:cs typeface="Arial"/>
              <a:sym typeface="Arial"/>
            </a:endParaRPr>
          </a:p>
          <a:p>
            <a:pPr marL="52705" marR="0" lvl="0" indent="0" algn="l" rtl="0">
              <a:lnSpc>
                <a:spcPct val="100000"/>
              </a:lnSpc>
              <a:spcBef>
                <a:spcPts val="4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a:p>
            <a:pPr marL="306705" marR="1477645" lvl="0" indent="0" algn="l" rtl="0">
              <a:lnSpc>
                <a:spcPct val="122222"/>
              </a:lnSpc>
              <a:spcBef>
                <a:spcPts val="8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printf("Bonjour!!!\n");  return 0;</a:t>
            </a:r>
            <a:endParaRPr sz="1800" b="0" i="0" u="none" strike="noStrike" cap="none">
              <a:solidFill>
                <a:schemeClr val="dk1"/>
              </a:solidFill>
              <a:latin typeface="Arial"/>
              <a:ea typeface="Arial"/>
              <a:cs typeface="Arial"/>
              <a:sym typeface="Arial"/>
            </a:endParaRPr>
          </a:p>
          <a:p>
            <a:pPr marL="52705" marR="0" lvl="0" indent="0" algn="l" rtl="0">
              <a:lnSpc>
                <a:spcPct val="117777"/>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a:t>
            </a:r>
            <a:endParaRPr sz="1800" b="0" i="0" u="none" strike="noStrike" cap="none">
              <a:solidFill>
                <a:schemeClr val="dk1"/>
              </a:solidFill>
              <a:latin typeface="Arial"/>
              <a:ea typeface="Arial"/>
              <a:cs typeface="Arial"/>
              <a:sym typeface="Arial"/>
            </a:endParaRPr>
          </a:p>
        </p:txBody>
      </p:sp>
      <p:sp>
        <p:nvSpPr>
          <p:cNvPr id="320" name="Google Shape;320;p28"/>
          <p:cNvSpPr txBox="1"/>
          <p:nvPr/>
        </p:nvSpPr>
        <p:spPr>
          <a:xfrm>
            <a:off x="388296" y="4119740"/>
            <a:ext cx="302958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Arial"/>
                <a:ea typeface="Arial"/>
                <a:cs typeface="Arial"/>
                <a:sym typeface="Arial"/>
              </a:rPr>
              <a:t>gcc -E bonjour.c &gt; bonjour.i</a:t>
            </a:r>
            <a:endParaRPr sz="1800" b="0" i="0" u="none" strike="noStrike" cap="none">
              <a:solidFill>
                <a:schemeClr val="dk1"/>
              </a:solidFill>
              <a:latin typeface="Arial"/>
              <a:ea typeface="Arial"/>
              <a:cs typeface="Arial"/>
              <a:sym typeface="Arial"/>
            </a:endParaRPr>
          </a:p>
        </p:txBody>
      </p:sp>
      <p:pic>
        <p:nvPicPr>
          <p:cNvPr id="321" name="Google Shape;321;p28"/>
          <p:cNvPicPr preferRelativeResize="0"/>
          <p:nvPr/>
        </p:nvPicPr>
        <p:blipFill rotWithShape="1">
          <a:blip r:embed="rId9">
            <a:alphaModFix/>
          </a:blip>
          <a:srcRect/>
          <a:stretch/>
        </p:blipFill>
        <p:spPr>
          <a:xfrm>
            <a:off x="80707" y="29780"/>
            <a:ext cx="1824293" cy="104176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29"/>
          <p:cNvSpPr txBox="1">
            <a:spLocks noGrp="1"/>
          </p:cNvSpPr>
          <p:nvPr>
            <p:ph type="title"/>
          </p:nvPr>
        </p:nvSpPr>
        <p:spPr>
          <a:xfrm>
            <a:off x="3579067" y="85238"/>
            <a:ext cx="5106731"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fr-FR"/>
              <a:t>Compilation</a:t>
            </a:r>
            <a:endParaRPr/>
          </a:p>
        </p:txBody>
      </p:sp>
      <p:sp>
        <p:nvSpPr>
          <p:cNvPr id="327" name="Google Shape;327;p29"/>
          <p:cNvSpPr txBox="1"/>
          <p:nvPr/>
        </p:nvSpPr>
        <p:spPr>
          <a:xfrm>
            <a:off x="464819" y="1245628"/>
            <a:ext cx="6484620" cy="391160"/>
          </a:xfrm>
          <a:prstGeom prst="rect">
            <a:avLst/>
          </a:prstGeom>
          <a:noFill/>
          <a:ln>
            <a:noFill/>
          </a:ln>
        </p:spPr>
        <p:txBody>
          <a:bodyPr spcFirstLastPara="1" wrap="square" lIns="0" tIns="12700" rIns="0" bIns="0" anchor="t" anchorCtr="0">
            <a:spAutoFit/>
          </a:bodyPr>
          <a:lstStyle/>
          <a:p>
            <a:pPr marL="3810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dk1"/>
                </a:solidFill>
                <a:latin typeface="Arial"/>
                <a:ea typeface="Arial"/>
                <a:cs typeface="Arial"/>
                <a:sym typeface="Arial"/>
              </a:rPr>
              <a:t>Etape 2: </a:t>
            </a:r>
            <a:r>
              <a:rPr lang="fr-FR" sz="2400" b="0" i="0" u="none" strike="noStrike" cap="none">
                <a:solidFill>
                  <a:schemeClr val="dk1"/>
                </a:solidFill>
                <a:latin typeface="Arial"/>
                <a:ea typeface="Arial"/>
                <a:cs typeface="Arial"/>
                <a:sym typeface="Arial"/>
              </a:rPr>
              <a:t>Compilation en langage assembleur</a:t>
            </a:r>
            <a:endParaRPr sz="1400" b="0" i="0" u="none" strike="noStrike" cap="none">
              <a:solidFill>
                <a:srgbClr val="000000"/>
              </a:solidFill>
              <a:latin typeface="Arial"/>
              <a:ea typeface="Arial"/>
              <a:cs typeface="Arial"/>
              <a:sym typeface="Arial"/>
            </a:endParaRPr>
          </a:p>
        </p:txBody>
      </p:sp>
      <p:sp>
        <p:nvSpPr>
          <p:cNvPr id="328" name="Google Shape;328;p29"/>
          <p:cNvSpPr/>
          <p:nvPr/>
        </p:nvSpPr>
        <p:spPr>
          <a:xfrm>
            <a:off x="152400" y="1762251"/>
            <a:ext cx="8688349" cy="1432560"/>
          </a:xfrm>
          <a:custGeom>
            <a:avLst/>
            <a:gdLst/>
            <a:ahLst/>
            <a:cxnLst/>
            <a:rect l="l" t="t" r="r" b="b"/>
            <a:pathLst>
              <a:path w="8585835" h="1432560" extrusionOk="0">
                <a:moveTo>
                  <a:pt x="8585225" y="0"/>
                </a:moveTo>
                <a:lnTo>
                  <a:pt x="8573770" y="0"/>
                </a:lnTo>
                <a:lnTo>
                  <a:pt x="8573770" y="11455"/>
                </a:lnTo>
                <a:lnTo>
                  <a:pt x="8573770" y="1421053"/>
                </a:lnTo>
                <a:lnTo>
                  <a:pt x="1536" y="1421053"/>
                </a:lnTo>
                <a:lnTo>
                  <a:pt x="1536" y="11455"/>
                </a:lnTo>
                <a:lnTo>
                  <a:pt x="8573770" y="11455"/>
                </a:lnTo>
                <a:lnTo>
                  <a:pt x="8573770" y="0"/>
                </a:lnTo>
                <a:lnTo>
                  <a:pt x="1536" y="0"/>
                </a:lnTo>
                <a:lnTo>
                  <a:pt x="0" y="0"/>
                </a:lnTo>
                <a:lnTo>
                  <a:pt x="0" y="11455"/>
                </a:lnTo>
                <a:lnTo>
                  <a:pt x="0" y="1421053"/>
                </a:lnTo>
                <a:lnTo>
                  <a:pt x="0" y="1432521"/>
                </a:lnTo>
                <a:lnTo>
                  <a:pt x="1536" y="1432521"/>
                </a:lnTo>
                <a:lnTo>
                  <a:pt x="8573770" y="1432521"/>
                </a:lnTo>
                <a:lnTo>
                  <a:pt x="8585225" y="1432521"/>
                </a:lnTo>
                <a:lnTo>
                  <a:pt x="8585225" y="1421053"/>
                </a:lnTo>
                <a:lnTo>
                  <a:pt x="8585225" y="11455"/>
                </a:lnTo>
                <a:lnTo>
                  <a:pt x="8585225" y="0"/>
                </a:lnTo>
                <a:close/>
              </a:path>
            </a:pathLst>
          </a:custGeom>
          <a:solidFill>
            <a:srgbClr val="000000"/>
          </a:solidFill>
          <a:ln w="19050" cap="flat" cmpd="sng">
            <a:solidFill>
              <a:schemeClr val="dk1"/>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29" name="Google Shape;329;p29"/>
          <p:cNvSpPr txBox="1"/>
          <p:nvPr/>
        </p:nvSpPr>
        <p:spPr>
          <a:xfrm>
            <a:off x="290837" y="1783952"/>
            <a:ext cx="2126615" cy="589280"/>
          </a:xfrm>
          <a:prstGeom prst="rect">
            <a:avLst/>
          </a:prstGeom>
          <a:noFill/>
          <a:ln>
            <a:noFill/>
          </a:ln>
        </p:spPr>
        <p:txBody>
          <a:bodyPr spcFirstLastPara="1" wrap="square" lIns="0" tIns="12700" rIns="0" bIns="0" anchor="t" anchorCtr="0">
            <a:spAutoFit/>
          </a:bodyPr>
          <a:lstStyle/>
          <a:p>
            <a:pPr marL="0" marR="0" lvl="0" indent="0" algn="l" rtl="0">
              <a:lnSpc>
                <a:spcPct val="100000"/>
              </a:lnSpc>
              <a:spcBef>
                <a:spcPts val="0"/>
              </a:spcBef>
              <a:spcAft>
                <a:spcPts val="0"/>
              </a:spcAft>
              <a:buClr>
                <a:srgbClr val="000000"/>
              </a:buClr>
              <a:buSzPts val="1350"/>
              <a:buFont typeface="Arial"/>
              <a:buNone/>
            </a:pPr>
            <a:r>
              <a:rPr lang="fr-FR" sz="1350" b="1" i="0" u="none" strike="noStrike" cap="none">
                <a:solidFill>
                  <a:schemeClr val="dk1"/>
                </a:solidFill>
                <a:latin typeface="Courier New"/>
                <a:ea typeface="Courier New"/>
                <a:cs typeface="Courier New"/>
                <a:sym typeface="Courier New"/>
              </a:rPr>
              <a:t>gcc -S bonjour.i</a:t>
            </a:r>
            <a:endParaRPr sz="1350" b="0" i="0" u="none" strike="noStrike" cap="none">
              <a:solidFill>
                <a:schemeClr val="dk1"/>
              </a:solidFill>
              <a:latin typeface="Courier New"/>
              <a:ea typeface="Courier New"/>
              <a:cs typeface="Courier New"/>
              <a:sym typeface="Courier New"/>
            </a:endParaRPr>
          </a:p>
          <a:p>
            <a:pPr marL="1094740" marR="0" lvl="0" indent="0" algn="l" rtl="0">
              <a:lnSpc>
                <a:spcPct val="100000"/>
              </a:lnSpc>
              <a:spcBef>
                <a:spcPts val="108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preprocessing</a:t>
            </a:r>
            <a:endParaRPr sz="1450" b="0" i="0" u="none" strike="noStrike" cap="none">
              <a:solidFill>
                <a:schemeClr val="dk1"/>
              </a:solidFill>
              <a:latin typeface="Times New Roman"/>
              <a:ea typeface="Times New Roman"/>
              <a:cs typeface="Times New Roman"/>
              <a:sym typeface="Times New Roman"/>
            </a:endParaRPr>
          </a:p>
        </p:txBody>
      </p:sp>
      <p:sp>
        <p:nvSpPr>
          <p:cNvPr id="330" name="Google Shape;330;p29"/>
          <p:cNvSpPr txBox="1"/>
          <p:nvPr/>
        </p:nvSpPr>
        <p:spPr>
          <a:xfrm>
            <a:off x="3626428" y="2127758"/>
            <a:ext cx="756285"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compiling</a:t>
            </a:r>
            <a:endParaRPr sz="1450" b="0" i="0" u="none" strike="noStrike" cap="none">
              <a:solidFill>
                <a:schemeClr val="dk1"/>
              </a:solidFill>
              <a:latin typeface="Times New Roman"/>
              <a:ea typeface="Times New Roman"/>
              <a:cs typeface="Times New Roman"/>
              <a:sym typeface="Times New Roman"/>
            </a:endParaRPr>
          </a:p>
        </p:txBody>
      </p:sp>
      <p:sp>
        <p:nvSpPr>
          <p:cNvPr id="331" name="Google Shape;331;p29"/>
          <p:cNvSpPr txBox="1"/>
          <p:nvPr/>
        </p:nvSpPr>
        <p:spPr>
          <a:xfrm>
            <a:off x="5596950" y="2127758"/>
            <a:ext cx="838200"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assembling</a:t>
            </a:r>
            <a:endParaRPr sz="1450" b="0" i="0" u="none" strike="noStrike" cap="none">
              <a:solidFill>
                <a:schemeClr val="dk1"/>
              </a:solidFill>
              <a:latin typeface="Times New Roman"/>
              <a:ea typeface="Times New Roman"/>
              <a:cs typeface="Times New Roman"/>
              <a:sym typeface="Times New Roman"/>
            </a:endParaRPr>
          </a:p>
        </p:txBody>
      </p:sp>
      <p:sp>
        <p:nvSpPr>
          <p:cNvPr id="332" name="Google Shape;332;p29"/>
          <p:cNvSpPr txBox="1"/>
          <p:nvPr/>
        </p:nvSpPr>
        <p:spPr>
          <a:xfrm>
            <a:off x="7646352" y="2127758"/>
            <a:ext cx="532765"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linking</a:t>
            </a:r>
            <a:endParaRPr sz="1450" b="0" i="0" u="none" strike="noStrike" cap="none">
              <a:solidFill>
                <a:schemeClr val="dk1"/>
              </a:solidFill>
              <a:latin typeface="Times New Roman"/>
              <a:ea typeface="Times New Roman"/>
              <a:cs typeface="Times New Roman"/>
              <a:sym typeface="Times New Roman"/>
            </a:endParaRPr>
          </a:p>
        </p:txBody>
      </p:sp>
      <p:grpSp>
        <p:nvGrpSpPr>
          <p:cNvPr id="333" name="Google Shape;333;p29"/>
          <p:cNvGrpSpPr/>
          <p:nvPr/>
        </p:nvGrpSpPr>
        <p:grpSpPr>
          <a:xfrm>
            <a:off x="565878" y="2415484"/>
            <a:ext cx="8153932" cy="435488"/>
            <a:chOff x="565878" y="2415484"/>
            <a:chExt cx="8153932" cy="435488"/>
          </a:xfrm>
        </p:grpSpPr>
        <p:sp>
          <p:nvSpPr>
            <p:cNvPr id="334" name="Google Shape;334;p29"/>
            <p:cNvSpPr/>
            <p:nvPr/>
          </p:nvSpPr>
          <p:spPr>
            <a:xfrm>
              <a:off x="565878" y="2415484"/>
              <a:ext cx="343805" cy="43548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5" name="Google Shape;335;p29"/>
            <p:cNvSpPr/>
            <p:nvPr/>
          </p:nvSpPr>
          <p:spPr>
            <a:xfrm>
              <a:off x="1717624" y="2449859"/>
              <a:ext cx="355265" cy="35526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6" name="Google Shape;336;p29"/>
            <p:cNvSpPr/>
            <p:nvPr/>
          </p:nvSpPr>
          <p:spPr>
            <a:xfrm>
              <a:off x="2863646" y="2415484"/>
              <a:ext cx="343805" cy="435488"/>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7" name="Google Shape;337;p29"/>
            <p:cNvSpPr/>
            <p:nvPr/>
          </p:nvSpPr>
          <p:spPr>
            <a:xfrm>
              <a:off x="3820579" y="2449859"/>
              <a:ext cx="355265" cy="355265"/>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8" name="Google Shape;338;p29"/>
            <p:cNvSpPr/>
            <p:nvPr/>
          </p:nvSpPr>
          <p:spPr>
            <a:xfrm>
              <a:off x="4806150" y="2415484"/>
              <a:ext cx="343805" cy="435488"/>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39" name="Google Shape;339;p29"/>
            <p:cNvSpPr/>
            <p:nvPr/>
          </p:nvSpPr>
          <p:spPr>
            <a:xfrm>
              <a:off x="5831840" y="2449859"/>
              <a:ext cx="355265" cy="35526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0" name="Google Shape;340;p29"/>
            <p:cNvSpPr/>
            <p:nvPr/>
          </p:nvSpPr>
          <p:spPr>
            <a:xfrm>
              <a:off x="6880440" y="2415484"/>
              <a:ext cx="343805" cy="43548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1" name="Google Shape;341;p29"/>
            <p:cNvSpPr/>
            <p:nvPr/>
          </p:nvSpPr>
          <p:spPr>
            <a:xfrm>
              <a:off x="7728496" y="2449859"/>
              <a:ext cx="355265" cy="355265"/>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42" name="Google Shape;342;p29"/>
            <p:cNvSpPr/>
            <p:nvPr/>
          </p:nvSpPr>
          <p:spPr>
            <a:xfrm>
              <a:off x="8376005" y="2415484"/>
              <a:ext cx="343805" cy="43548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43" name="Google Shape;343;p29"/>
          <p:cNvSpPr txBox="1"/>
          <p:nvPr/>
        </p:nvSpPr>
        <p:spPr>
          <a:xfrm>
            <a:off x="393979" y="2907052"/>
            <a:ext cx="700405"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bonjour.c</a:t>
            </a:r>
            <a:endParaRPr sz="1450" b="0" i="0" u="none" strike="noStrike" cap="none">
              <a:solidFill>
                <a:schemeClr val="dk1"/>
              </a:solidFill>
              <a:latin typeface="Times New Roman"/>
              <a:ea typeface="Times New Roman"/>
              <a:cs typeface="Times New Roman"/>
              <a:sym typeface="Times New Roman"/>
            </a:endParaRPr>
          </a:p>
        </p:txBody>
      </p:sp>
      <p:sp>
        <p:nvSpPr>
          <p:cNvPr id="344" name="Google Shape;344;p29"/>
          <p:cNvSpPr txBox="1"/>
          <p:nvPr/>
        </p:nvSpPr>
        <p:spPr>
          <a:xfrm>
            <a:off x="2706965" y="2907052"/>
            <a:ext cx="669925"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bonjour.i</a:t>
            </a:r>
            <a:endParaRPr sz="1450" b="0" i="0" u="none" strike="noStrike" cap="none">
              <a:solidFill>
                <a:schemeClr val="dk1"/>
              </a:solidFill>
              <a:latin typeface="Times New Roman"/>
              <a:ea typeface="Times New Roman"/>
              <a:cs typeface="Times New Roman"/>
              <a:sym typeface="Times New Roman"/>
            </a:endParaRPr>
          </a:p>
        </p:txBody>
      </p:sp>
      <p:sp>
        <p:nvSpPr>
          <p:cNvPr id="345" name="Google Shape;345;p29"/>
          <p:cNvSpPr txBox="1"/>
          <p:nvPr/>
        </p:nvSpPr>
        <p:spPr>
          <a:xfrm>
            <a:off x="4639256" y="2907052"/>
            <a:ext cx="690245"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bonjour.s</a:t>
            </a:r>
            <a:endParaRPr sz="1450" b="0" i="0" u="none" strike="noStrike" cap="none">
              <a:solidFill>
                <a:schemeClr val="dk1"/>
              </a:solidFill>
              <a:latin typeface="Times New Roman"/>
              <a:ea typeface="Times New Roman"/>
              <a:cs typeface="Times New Roman"/>
              <a:sym typeface="Times New Roman"/>
            </a:endParaRPr>
          </a:p>
        </p:txBody>
      </p:sp>
      <p:sp>
        <p:nvSpPr>
          <p:cNvPr id="346" name="Google Shape;346;p29"/>
          <p:cNvSpPr txBox="1"/>
          <p:nvPr/>
        </p:nvSpPr>
        <p:spPr>
          <a:xfrm>
            <a:off x="6703397" y="2907052"/>
            <a:ext cx="710565"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bonjour.o</a:t>
            </a:r>
            <a:endParaRPr sz="1450" b="0" i="0" u="none" strike="noStrike" cap="none">
              <a:solidFill>
                <a:schemeClr val="dk1"/>
              </a:solidFill>
              <a:latin typeface="Times New Roman"/>
              <a:ea typeface="Times New Roman"/>
              <a:cs typeface="Times New Roman"/>
              <a:sym typeface="Times New Roman"/>
            </a:endParaRPr>
          </a:p>
        </p:txBody>
      </p:sp>
      <p:sp>
        <p:nvSpPr>
          <p:cNvPr id="347" name="Google Shape;347;p29"/>
          <p:cNvSpPr txBox="1"/>
          <p:nvPr/>
        </p:nvSpPr>
        <p:spPr>
          <a:xfrm>
            <a:off x="8367141" y="2907052"/>
            <a:ext cx="374650" cy="245745"/>
          </a:xfrm>
          <a:prstGeom prst="rect">
            <a:avLst/>
          </a:prstGeom>
          <a:noFill/>
          <a:ln>
            <a:noFill/>
          </a:ln>
        </p:spPr>
        <p:txBody>
          <a:bodyPr spcFirstLastPara="1" wrap="square" lIns="0" tIns="11425" rIns="0" bIns="0" anchor="t" anchorCtr="0">
            <a:spAutoFit/>
          </a:bodyPr>
          <a:lstStyle/>
          <a:p>
            <a:pPr marL="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a.out</a:t>
            </a:r>
            <a:endParaRPr sz="1450" b="0" i="0" u="none" strike="noStrike" cap="none">
              <a:solidFill>
                <a:schemeClr val="dk1"/>
              </a:solidFill>
              <a:latin typeface="Times New Roman"/>
              <a:ea typeface="Times New Roman"/>
              <a:cs typeface="Times New Roman"/>
              <a:sym typeface="Times New Roman"/>
            </a:endParaRPr>
          </a:p>
        </p:txBody>
      </p:sp>
      <p:grpSp>
        <p:nvGrpSpPr>
          <p:cNvPr id="348" name="Google Shape;348;p29"/>
          <p:cNvGrpSpPr/>
          <p:nvPr/>
        </p:nvGrpSpPr>
        <p:grpSpPr>
          <a:xfrm>
            <a:off x="3152736" y="3271166"/>
            <a:ext cx="4314825" cy="2686365"/>
            <a:chOff x="3152736" y="3270211"/>
            <a:chExt cx="4314825" cy="2687320"/>
          </a:xfrm>
        </p:grpSpPr>
        <p:sp>
          <p:nvSpPr>
            <p:cNvPr id="349" name="Google Shape;349;p29"/>
            <p:cNvSpPr/>
            <p:nvPr/>
          </p:nvSpPr>
          <p:spPr>
            <a:xfrm>
              <a:off x="3152736" y="3270211"/>
              <a:ext cx="4314825" cy="2687320"/>
            </a:xfrm>
            <a:custGeom>
              <a:avLst/>
              <a:gdLst/>
              <a:ahLst/>
              <a:cxnLst/>
              <a:rect l="l" t="t" r="r" b="b"/>
              <a:pathLst>
                <a:path w="4314825" h="2687320" extrusionOk="0">
                  <a:moveTo>
                    <a:pt x="4314799" y="0"/>
                  </a:moveTo>
                  <a:lnTo>
                    <a:pt x="4309021" y="0"/>
                  </a:lnTo>
                  <a:lnTo>
                    <a:pt x="0" y="0"/>
                  </a:lnTo>
                  <a:lnTo>
                    <a:pt x="0" y="5778"/>
                  </a:lnTo>
                  <a:lnTo>
                    <a:pt x="4309021" y="5778"/>
                  </a:lnTo>
                  <a:lnTo>
                    <a:pt x="4309021" y="2686735"/>
                  </a:lnTo>
                  <a:lnTo>
                    <a:pt x="4314799" y="2686735"/>
                  </a:lnTo>
                  <a:lnTo>
                    <a:pt x="4314799" y="5778"/>
                  </a:lnTo>
                  <a:lnTo>
                    <a:pt x="4314799" y="0"/>
                  </a:lnTo>
                  <a:close/>
                </a:path>
              </a:pathLst>
            </a:custGeom>
            <a:solidFill>
              <a:schemeClr val="lt1"/>
            </a:solidFill>
            <a:ln w="25400" cap="flat" cmpd="sng">
              <a:solidFill>
                <a:schemeClr val="accent5"/>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50" name="Google Shape;350;p29"/>
            <p:cNvSpPr/>
            <p:nvPr/>
          </p:nvSpPr>
          <p:spPr>
            <a:xfrm>
              <a:off x="3152736" y="3275986"/>
              <a:ext cx="160460" cy="219561"/>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51" name="Google Shape;351;p29"/>
          <p:cNvSpPr txBox="1"/>
          <p:nvPr/>
        </p:nvSpPr>
        <p:spPr>
          <a:xfrm>
            <a:off x="3300507" y="3303726"/>
            <a:ext cx="367030" cy="136525"/>
          </a:xfrm>
          <a:prstGeom prst="rect">
            <a:avLst/>
          </a:prstGeom>
          <a:noFill/>
          <a:ln>
            <a:noFill/>
          </a:ln>
        </p:spPr>
        <p:txBody>
          <a:bodyPr spcFirstLastPara="1" wrap="square" lIns="0" tIns="15875" rIns="0" bIns="0" anchor="t" anchorCtr="0">
            <a:spAutoFit/>
          </a:bodyPr>
          <a:lstStyle/>
          <a:p>
            <a:pPr marL="12700" marR="0" lvl="0" indent="0" algn="l" rtl="0">
              <a:lnSpc>
                <a:spcPct val="100000"/>
              </a:lnSpc>
              <a:spcBef>
                <a:spcPts val="0"/>
              </a:spcBef>
              <a:spcAft>
                <a:spcPts val="0"/>
              </a:spcAft>
              <a:buClr>
                <a:srgbClr val="000000"/>
              </a:buClr>
              <a:buSzPts val="700"/>
              <a:buFont typeface="Arial"/>
              <a:buNone/>
            </a:pPr>
            <a:r>
              <a:rPr lang="fr-FR" sz="700" b="0" i="0" u="none" strike="noStrike" cap="none">
                <a:solidFill>
                  <a:schemeClr val="dk1"/>
                </a:solidFill>
                <a:latin typeface="Times New Roman"/>
                <a:ea typeface="Times New Roman"/>
                <a:cs typeface="Times New Roman"/>
                <a:sym typeface="Times New Roman"/>
              </a:rPr>
              <a:t>bonjour.s</a:t>
            </a:r>
            <a:endParaRPr sz="700" b="0" i="0" u="none" strike="noStrike" cap="none">
              <a:solidFill>
                <a:schemeClr val="dk1"/>
              </a:solidFill>
              <a:latin typeface="Times New Roman"/>
              <a:ea typeface="Times New Roman"/>
              <a:cs typeface="Times New Roman"/>
              <a:sym typeface="Times New Roman"/>
            </a:endParaRPr>
          </a:p>
        </p:txBody>
      </p:sp>
      <p:sp>
        <p:nvSpPr>
          <p:cNvPr id="352" name="Google Shape;352;p29"/>
          <p:cNvSpPr txBox="1"/>
          <p:nvPr/>
        </p:nvSpPr>
        <p:spPr>
          <a:xfrm>
            <a:off x="3959288" y="3555067"/>
            <a:ext cx="597535" cy="12953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"bonjour.c"</a:t>
            </a:r>
            <a:endParaRPr sz="650" b="0" i="0" u="none" strike="noStrike" cap="none">
              <a:solidFill>
                <a:schemeClr val="dk1"/>
              </a:solidFill>
              <a:latin typeface="Courier New"/>
              <a:ea typeface="Courier New"/>
              <a:cs typeface="Courier New"/>
              <a:sym typeface="Courier New"/>
            </a:endParaRPr>
          </a:p>
        </p:txBody>
      </p:sp>
      <p:sp>
        <p:nvSpPr>
          <p:cNvPr id="353" name="Google Shape;353;p29"/>
          <p:cNvSpPr txBox="1"/>
          <p:nvPr/>
        </p:nvSpPr>
        <p:spPr>
          <a:xfrm>
            <a:off x="3127169" y="3555067"/>
            <a:ext cx="805815" cy="326390"/>
          </a:xfrm>
          <a:prstGeom prst="rect">
            <a:avLst/>
          </a:prstGeom>
          <a:noFill/>
          <a:ln>
            <a:noFill/>
          </a:ln>
        </p:spPr>
        <p:txBody>
          <a:bodyPr spcFirstLastPara="1" wrap="square" lIns="0" tIns="16500" rIns="0" bIns="0" anchor="t" anchorCtr="0">
            <a:spAutoFit/>
          </a:bodyPr>
          <a:lstStyle/>
          <a:p>
            <a:pPr marL="12700" marR="5080" lvl="0" indent="415925" algn="l" rtl="0">
              <a:lnSpc>
                <a:spcPct val="10000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.file  gcc2_compiled.:</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7692"/>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.section</a:t>
            </a:r>
            <a:endParaRPr sz="650" b="0" i="0" u="none" strike="noStrike" cap="none">
              <a:solidFill>
                <a:schemeClr val="dk1"/>
              </a:solidFill>
              <a:latin typeface="Courier New"/>
              <a:ea typeface="Courier New"/>
              <a:cs typeface="Courier New"/>
              <a:sym typeface="Courier New"/>
            </a:endParaRPr>
          </a:p>
        </p:txBody>
      </p:sp>
      <p:sp>
        <p:nvSpPr>
          <p:cNvPr id="354" name="Google Shape;354;p29"/>
          <p:cNvSpPr txBox="1"/>
          <p:nvPr/>
        </p:nvSpPr>
        <p:spPr>
          <a:xfrm>
            <a:off x="3959263" y="3751517"/>
            <a:ext cx="494030" cy="12953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".rodata"</a:t>
            </a:r>
            <a:endParaRPr sz="650" b="0" i="0" u="none" strike="noStrike" cap="none">
              <a:solidFill>
                <a:schemeClr val="dk1"/>
              </a:solidFill>
              <a:latin typeface="Courier New"/>
              <a:ea typeface="Courier New"/>
              <a:cs typeface="Courier New"/>
              <a:sym typeface="Courier New"/>
            </a:endParaRPr>
          </a:p>
        </p:txBody>
      </p:sp>
      <p:sp>
        <p:nvSpPr>
          <p:cNvPr id="355" name="Google Shape;355;p29"/>
          <p:cNvSpPr txBox="1"/>
          <p:nvPr/>
        </p:nvSpPr>
        <p:spPr>
          <a:xfrm>
            <a:off x="3127169" y="3849742"/>
            <a:ext cx="857885" cy="227965"/>
          </a:xfrm>
          <a:prstGeom prst="rect">
            <a:avLst/>
          </a:prstGeom>
          <a:noFill/>
          <a:ln>
            <a:noFill/>
          </a:ln>
        </p:spPr>
        <p:txBody>
          <a:bodyPr spcFirstLastPara="1" wrap="square" lIns="0" tIns="16500" rIns="0" bIns="0" anchor="t" anchorCtr="0">
            <a:spAutoFit/>
          </a:bodyPr>
          <a:lstStyle/>
          <a:p>
            <a:pPr marL="428625"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.align 8</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.LLC0:</a:t>
            </a:r>
            <a:endParaRPr sz="650" b="0" i="0" u="none" strike="noStrike" cap="none">
              <a:solidFill>
                <a:schemeClr val="dk1"/>
              </a:solidFill>
              <a:latin typeface="Courier New"/>
              <a:ea typeface="Courier New"/>
              <a:cs typeface="Courier New"/>
              <a:sym typeface="Courier New"/>
            </a:endParaRPr>
          </a:p>
        </p:txBody>
      </p:sp>
      <p:sp>
        <p:nvSpPr>
          <p:cNvPr id="356" name="Google Shape;356;p29"/>
          <p:cNvSpPr txBox="1"/>
          <p:nvPr/>
        </p:nvSpPr>
        <p:spPr>
          <a:xfrm>
            <a:off x="3127169" y="4144417"/>
            <a:ext cx="441959" cy="129539"/>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.section</a:t>
            </a:r>
            <a:endParaRPr sz="650" b="0" i="0" u="none" strike="noStrike" cap="none">
              <a:solidFill>
                <a:schemeClr val="dk1"/>
              </a:solidFill>
              <a:latin typeface="Courier New"/>
              <a:ea typeface="Courier New"/>
              <a:cs typeface="Courier New"/>
              <a:sym typeface="Courier New"/>
            </a:endParaRPr>
          </a:p>
        </p:txBody>
      </p:sp>
      <p:sp>
        <p:nvSpPr>
          <p:cNvPr id="357" name="Google Shape;357;p29"/>
          <p:cNvSpPr txBox="1"/>
          <p:nvPr/>
        </p:nvSpPr>
        <p:spPr>
          <a:xfrm>
            <a:off x="3543250" y="4046192"/>
            <a:ext cx="1014094" cy="425450"/>
          </a:xfrm>
          <a:prstGeom prst="rect">
            <a:avLst/>
          </a:prstGeom>
          <a:noFill/>
          <a:ln>
            <a:noFill/>
          </a:ln>
        </p:spPr>
        <p:txBody>
          <a:bodyPr spcFirstLastPara="1" wrap="square" lIns="0" tIns="16500" rIns="0" bIns="0" anchor="t" anchorCtr="0">
            <a:spAutoFit/>
          </a:bodyPr>
          <a:lstStyle/>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.asciz "bonjour\n"</a:t>
            </a:r>
            <a:endParaRPr sz="650" b="0" i="0" u="none" strike="noStrike" cap="none">
              <a:solidFill>
                <a:schemeClr val="dk1"/>
              </a:solidFill>
              <a:latin typeface="Courier New"/>
              <a:ea typeface="Courier New"/>
              <a:cs typeface="Courier New"/>
              <a:sym typeface="Courier New"/>
            </a:endParaRPr>
          </a:p>
          <a:p>
            <a:pPr marL="428625"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".text"</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.align 4</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.global main</a:t>
            </a:r>
            <a:endParaRPr sz="650" b="0" i="0" u="none" strike="noStrike" cap="none">
              <a:solidFill>
                <a:schemeClr val="dk1"/>
              </a:solidFill>
              <a:latin typeface="Courier New"/>
              <a:ea typeface="Courier New"/>
              <a:cs typeface="Courier New"/>
              <a:sym typeface="Courier New"/>
            </a:endParaRPr>
          </a:p>
        </p:txBody>
      </p:sp>
      <p:sp>
        <p:nvSpPr>
          <p:cNvPr id="358" name="Google Shape;358;p29"/>
          <p:cNvSpPr txBox="1"/>
          <p:nvPr/>
        </p:nvSpPr>
        <p:spPr>
          <a:xfrm>
            <a:off x="3543250" y="4440016"/>
            <a:ext cx="1221740" cy="227965"/>
          </a:xfrm>
          <a:prstGeom prst="rect">
            <a:avLst/>
          </a:prstGeom>
          <a:noFill/>
          <a:ln>
            <a:noFill/>
          </a:ln>
        </p:spPr>
        <p:txBody>
          <a:bodyPr spcFirstLastPara="1" wrap="square" lIns="0" tIns="16500" rIns="0" bIns="0" anchor="t" anchorCtr="0">
            <a:spAutoFit/>
          </a:bodyPr>
          <a:lstStyle/>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.type	main,#function</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.proc	04</a:t>
            </a:r>
            <a:endParaRPr sz="650" b="0" i="0" u="none" strike="noStrike" cap="none">
              <a:solidFill>
                <a:schemeClr val="dk1"/>
              </a:solidFill>
              <a:latin typeface="Courier New"/>
              <a:ea typeface="Courier New"/>
              <a:cs typeface="Courier New"/>
              <a:sym typeface="Courier New"/>
            </a:endParaRPr>
          </a:p>
        </p:txBody>
      </p:sp>
      <p:sp>
        <p:nvSpPr>
          <p:cNvPr id="359" name="Google Shape;359;p29"/>
          <p:cNvSpPr txBox="1"/>
          <p:nvPr/>
        </p:nvSpPr>
        <p:spPr>
          <a:xfrm>
            <a:off x="3127169" y="4636466"/>
            <a:ext cx="1585595" cy="424180"/>
          </a:xfrm>
          <a:prstGeom prst="rect">
            <a:avLst/>
          </a:prstGeom>
          <a:noFill/>
          <a:ln>
            <a:noFill/>
          </a:ln>
        </p:spPr>
        <p:txBody>
          <a:bodyPr spcFirstLastPara="1" wrap="square" lIns="0" tIns="16500" rIns="0" bIns="0" anchor="t" anchorCtr="0">
            <a:spAutoFit/>
          </a:bodyPr>
          <a:lstStyle/>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main:</a:t>
            </a:r>
            <a:endParaRPr sz="650" b="0" i="0" u="none" strike="noStrike" cap="none">
              <a:solidFill>
                <a:schemeClr val="dk1"/>
              </a:solidFill>
              <a:latin typeface="Courier New"/>
              <a:ea typeface="Courier New"/>
              <a:cs typeface="Courier New"/>
              <a:sym typeface="Courier New"/>
            </a:endParaRPr>
          </a:p>
          <a:p>
            <a:pPr marL="428625"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!#PROLOGUE# 0</a:t>
            </a:r>
            <a:endParaRPr sz="650" b="0" i="0" u="none" strike="noStrike" cap="none">
              <a:solidFill>
                <a:schemeClr val="dk1"/>
              </a:solidFill>
              <a:latin typeface="Courier New"/>
              <a:ea typeface="Courier New"/>
              <a:cs typeface="Courier New"/>
              <a:sym typeface="Courier New"/>
            </a:endParaRPr>
          </a:p>
          <a:p>
            <a:pPr marL="428625"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save	%sp, -112, %sp</a:t>
            </a:r>
            <a:endParaRPr sz="650" b="0" i="0" u="none" strike="noStrike" cap="none">
              <a:solidFill>
                <a:schemeClr val="dk1"/>
              </a:solidFill>
              <a:latin typeface="Courier New"/>
              <a:ea typeface="Courier New"/>
              <a:cs typeface="Courier New"/>
              <a:sym typeface="Courier New"/>
            </a:endParaRPr>
          </a:p>
          <a:p>
            <a:pPr marL="428625"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!#PROLOGUE# 1</a:t>
            </a:r>
            <a:endParaRPr sz="650" b="0" i="0" u="none" strike="noStrike" cap="none">
              <a:solidFill>
                <a:schemeClr val="dk1"/>
              </a:solidFill>
              <a:latin typeface="Courier New"/>
              <a:ea typeface="Courier New"/>
              <a:cs typeface="Courier New"/>
              <a:sym typeface="Courier New"/>
            </a:endParaRPr>
          </a:p>
        </p:txBody>
      </p:sp>
      <p:sp>
        <p:nvSpPr>
          <p:cNvPr id="360" name="Google Shape;360;p29"/>
          <p:cNvSpPr txBox="1"/>
          <p:nvPr/>
        </p:nvSpPr>
        <p:spPr>
          <a:xfrm>
            <a:off x="3959288" y="5029366"/>
            <a:ext cx="1065530" cy="326390"/>
          </a:xfrm>
          <a:prstGeom prst="rect">
            <a:avLst/>
          </a:prstGeom>
          <a:noFill/>
          <a:ln>
            <a:noFill/>
          </a:ln>
        </p:spPr>
        <p:txBody>
          <a:bodyPr spcFirstLastPara="1" wrap="square" lIns="0" tIns="16500" rIns="0" bIns="0" anchor="t" anchorCtr="0">
            <a:spAutoFit/>
          </a:bodyPr>
          <a:lstStyle/>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%hi(.LLC0), %o1</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%o1, %lo(.LLC0), %o0</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printf, 0</a:t>
            </a:r>
            <a:endParaRPr sz="650" b="0" i="0" u="none" strike="noStrike" cap="none">
              <a:solidFill>
                <a:schemeClr val="dk1"/>
              </a:solidFill>
              <a:latin typeface="Courier New"/>
              <a:ea typeface="Courier New"/>
              <a:cs typeface="Courier New"/>
              <a:sym typeface="Courier New"/>
            </a:endParaRPr>
          </a:p>
        </p:txBody>
      </p:sp>
      <p:sp>
        <p:nvSpPr>
          <p:cNvPr id="361" name="Google Shape;361;p29"/>
          <p:cNvSpPr txBox="1"/>
          <p:nvPr/>
        </p:nvSpPr>
        <p:spPr>
          <a:xfrm>
            <a:off x="3959306" y="5422266"/>
            <a:ext cx="337820" cy="227965"/>
          </a:xfrm>
          <a:prstGeom prst="rect">
            <a:avLst/>
          </a:prstGeom>
          <a:noFill/>
          <a:ln>
            <a:noFill/>
          </a:ln>
        </p:spPr>
        <p:txBody>
          <a:bodyPr spcFirstLastPara="1" wrap="square" lIns="0" tIns="16500" rIns="0" bIns="0" anchor="t" anchorCtr="0">
            <a:spAutoFit/>
          </a:bodyPr>
          <a:lstStyle/>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0, %i0</a:t>
            </a:r>
            <a:endParaRPr sz="650" b="0" i="0" u="none" strike="noStrike" cap="none">
              <a:solidFill>
                <a:schemeClr val="dk1"/>
              </a:solidFill>
              <a:latin typeface="Courier New"/>
              <a:ea typeface="Courier New"/>
              <a:cs typeface="Courier New"/>
              <a:sym typeface="Courier New"/>
            </a:endParaRPr>
          </a:p>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.LL2</a:t>
            </a:r>
            <a:endParaRPr sz="650" b="0" i="0" u="none" strike="noStrike" cap="none">
              <a:solidFill>
                <a:schemeClr val="dk1"/>
              </a:solidFill>
              <a:latin typeface="Courier New"/>
              <a:ea typeface="Courier New"/>
              <a:cs typeface="Courier New"/>
              <a:sym typeface="Courier New"/>
            </a:endParaRPr>
          </a:p>
        </p:txBody>
      </p:sp>
      <p:sp>
        <p:nvSpPr>
          <p:cNvPr id="362" name="Google Shape;362;p29"/>
          <p:cNvSpPr txBox="1"/>
          <p:nvPr/>
        </p:nvSpPr>
        <p:spPr>
          <a:xfrm>
            <a:off x="3543250" y="5029366"/>
            <a:ext cx="285750" cy="718820"/>
          </a:xfrm>
          <a:prstGeom prst="rect">
            <a:avLst/>
          </a:prstGeom>
          <a:noFill/>
          <a:ln>
            <a:noFill/>
          </a:ln>
        </p:spPr>
        <p:txBody>
          <a:bodyPr spcFirstLastPara="1" wrap="square" lIns="0" tIns="16500" rIns="0" bIns="0" anchor="t" anchorCtr="0">
            <a:spAutoFit/>
          </a:bodyPr>
          <a:lstStyle/>
          <a:p>
            <a:pPr marL="12700" marR="5080" lvl="0" indent="0" algn="l" rtl="0">
              <a:lnSpc>
                <a:spcPct val="10000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sethi  or  call</a:t>
            </a:r>
            <a:endParaRPr sz="650" b="0" i="0" u="none" strike="noStrike" cap="none">
              <a:solidFill>
                <a:schemeClr val="dk1"/>
              </a:solidFill>
              <a:latin typeface="Courier New"/>
              <a:ea typeface="Courier New"/>
              <a:cs typeface="Courier New"/>
              <a:sym typeface="Courier New"/>
            </a:endParaRPr>
          </a:p>
          <a:p>
            <a:pPr marL="12700" marR="56514" lvl="0" indent="51435" algn="l" rtl="0">
              <a:lnSpc>
                <a:spcPct val="118461"/>
              </a:lnSpc>
              <a:spcBef>
                <a:spcPts val="15"/>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nop  mov  b</a:t>
            </a:r>
            <a:endParaRPr sz="650" b="0" i="0" u="none" strike="noStrike" cap="none">
              <a:solidFill>
                <a:schemeClr val="dk1"/>
              </a:solidFill>
              <a:latin typeface="Courier New"/>
              <a:ea typeface="Courier New"/>
              <a:cs typeface="Courier New"/>
              <a:sym typeface="Courier New"/>
            </a:endParaRPr>
          </a:p>
          <a:p>
            <a:pPr marL="64135" marR="0" lvl="0" indent="0" algn="l" rtl="0">
              <a:lnSpc>
                <a:spcPct val="116153"/>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nop</a:t>
            </a:r>
            <a:endParaRPr sz="650" b="0" i="0" u="none" strike="noStrike" cap="none">
              <a:solidFill>
                <a:schemeClr val="dk1"/>
              </a:solidFill>
              <a:latin typeface="Courier New"/>
              <a:ea typeface="Courier New"/>
              <a:cs typeface="Courier New"/>
              <a:sym typeface="Courier New"/>
            </a:endParaRPr>
          </a:p>
        </p:txBody>
      </p:sp>
      <p:sp>
        <p:nvSpPr>
          <p:cNvPr id="363" name="Google Shape;363;p29"/>
          <p:cNvSpPr txBox="1"/>
          <p:nvPr/>
        </p:nvSpPr>
        <p:spPr>
          <a:xfrm>
            <a:off x="3127169" y="5716941"/>
            <a:ext cx="597535" cy="227965"/>
          </a:xfrm>
          <a:prstGeom prst="rect">
            <a:avLst/>
          </a:prstGeom>
          <a:noFill/>
          <a:ln>
            <a:noFill/>
          </a:ln>
        </p:spPr>
        <p:txBody>
          <a:bodyPr spcFirstLastPara="1" wrap="square" lIns="0" tIns="16500" rIns="0" bIns="0" anchor="t" anchorCtr="0">
            <a:spAutoFit/>
          </a:bodyPr>
          <a:lstStyle/>
          <a:p>
            <a:pPr marL="12700" marR="0" lvl="0" indent="0" algn="l"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.LL2:</a:t>
            </a:r>
            <a:endParaRPr sz="650" b="0" i="0" u="none" strike="noStrike" cap="none">
              <a:solidFill>
                <a:schemeClr val="dk1"/>
              </a:solidFill>
              <a:latin typeface="Courier New"/>
              <a:ea typeface="Courier New"/>
              <a:cs typeface="Courier New"/>
              <a:sym typeface="Courier New"/>
            </a:endParaRPr>
          </a:p>
          <a:p>
            <a:pPr marL="0" marR="5080" lvl="0" indent="0" algn="r" rtl="0">
              <a:lnSpc>
                <a:spcPct val="119230"/>
              </a:lnSpc>
              <a:spcBef>
                <a:spcPts val="0"/>
              </a:spcBef>
              <a:spcAft>
                <a:spcPts val="0"/>
              </a:spcAft>
              <a:buClr>
                <a:srgbClr val="000000"/>
              </a:buClr>
              <a:buSzPts val="650"/>
              <a:buFont typeface="Arial"/>
              <a:buNone/>
            </a:pPr>
            <a:r>
              <a:rPr lang="fr-FR" sz="650" b="0" i="0" u="none" strike="noStrike" cap="none">
                <a:solidFill>
                  <a:schemeClr val="dk1"/>
                </a:solidFill>
                <a:latin typeface="Courier New"/>
                <a:ea typeface="Courier New"/>
                <a:cs typeface="Courier New"/>
                <a:sym typeface="Courier New"/>
              </a:rPr>
              <a:t>ret</a:t>
            </a:r>
            <a:endParaRPr sz="650" b="0" i="0" u="none" strike="noStrike" cap="none">
              <a:solidFill>
                <a:schemeClr val="dk1"/>
              </a:solidFill>
              <a:latin typeface="Courier New"/>
              <a:ea typeface="Courier New"/>
              <a:cs typeface="Courier New"/>
              <a:sym typeface="Courier New"/>
            </a:endParaRPr>
          </a:p>
        </p:txBody>
      </p:sp>
      <p:sp>
        <p:nvSpPr>
          <p:cNvPr id="364" name="Google Shape;364;p29"/>
          <p:cNvSpPr txBox="1"/>
          <p:nvPr/>
        </p:nvSpPr>
        <p:spPr>
          <a:xfrm>
            <a:off x="1120245" y="4201134"/>
            <a:ext cx="10547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Arial"/>
                <a:ea typeface="Arial"/>
                <a:cs typeface="Arial"/>
                <a:sym typeface="Arial"/>
              </a:rPr>
              <a:t>bonjour.s</a:t>
            </a:r>
            <a:endParaRPr sz="1800" b="0" i="0" u="none" strike="noStrike" cap="none">
              <a:solidFill>
                <a:schemeClr val="dk1"/>
              </a:solidFill>
              <a:latin typeface="Arial"/>
              <a:ea typeface="Arial"/>
              <a:cs typeface="Arial"/>
              <a:sym typeface="Arial"/>
            </a:endParaRPr>
          </a:p>
        </p:txBody>
      </p:sp>
      <p:sp>
        <p:nvSpPr>
          <p:cNvPr id="365" name="Google Shape;365;p29"/>
          <p:cNvSpPr txBox="1"/>
          <p:nvPr/>
        </p:nvSpPr>
        <p:spPr>
          <a:xfrm>
            <a:off x="493892" y="3593909"/>
            <a:ext cx="17405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Arial"/>
                <a:ea typeface="Arial"/>
                <a:cs typeface="Arial"/>
                <a:sym typeface="Arial"/>
              </a:rPr>
              <a:t>gcc -S bonjour.i</a:t>
            </a:r>
            <a:endParaRPr sz="1800" b="0" i="0" u="none" strike="noStrike" cap="none">
              <a:solidFill>
                <a:schemeClr val="dk1"/>
              </a:solidFill>
              <a:latin typeface="Arial"/>
              <a:ea typeface="Arial"/>
              <a:cs typeface="Arial"/>
              <a:sym typeface="Arial"/>
            </a:endParaRPr>
          </a:p>
        </p:txBody>
      </p:sp>
      <p:pic>
        <p:nvPicPr>
          <p:cNvPr id="366" name="Google Shape;366;p29"/>
          <p:cNvPicPr preferRelativeResize="0"/>
          <p:nvPr/>
        </p:nvPicPr>
        <p:blipFill rotWithShape="1">
          <a:blip r:embed="rId8">
            <a:alphaModFix/>
          </a:blip>
          <a:srcRect/>
          <a:stretch/>
        </p:blipFill>
        <p:spPr>
          <a:xfrm>
            <a:off x="66946" y="34036"/>
            <a:ext cx="2005943" cy="9464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Google Shape;371;p30"/>
          <p:cNvSpPr txBox="1">
            <a:spLocks noGrp="1"/>
          </p:cNvSpPr>
          <p:nvPr>
            <p:ph type="title"/>
          </p:nvPr>
        </p:nvSpPr>
        <p:spPr>
          <a:xfrm>
            <a:off x="2542481" y="61826"/>
            <a:ext cx="5431490"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fr-FR"/>
              <a:t>Compilation</a:t>
            </a:r>
            <a:endParaRPr/>
          </a:p>
        </p:txBody>
      </p:sp>
      <p:sp>
        <p:nvSpPr>
          <p:cNvPr id="372" name="Google Shape;372;p30"/>
          <p:cNvSpPr txBox="1"/>
          <p:nvPr/>
        </p:nvSpPr>
        <p:spPr>
          <a:xfrm>
            <a:off x="737959" y="1019351"/>
            <a:ext cx="7608570" cy="3759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2300"/>
              <a:buFont typeface="Arial"/>
              <a:buNone/>
            </a:pPr>
            <a:r>
              <a:rPr lang="fr-FR" sz="2300" b="1" i="0" u="none" strike="noStrike" cap="none">
                <a:solidFill>
                  <a:schemeClr val="dk1"/>
                </a:solidFill>
                <a:latin typeface="Arial"/>
                <a:ea typeface="Arial"/>
                <a:cs typeface="Arial"/>
                <a:sym typeface="Arial"/>
              </a:rPr>
              <a:t>Etape 3</a:t>
            </a:r>
            <a:r>
              <a:rPr lang="fr-FR" sz="2300" b="0" i="0" u="none" strike="noStrike" cap="none">
                <a:solidFill>
                  <a:schemeClr val="dk1"/>
                </a:solidFill>
                <a:latin typeface="Arial"/>
                <a:ea typeface="Arial"/>
                <a:cs typeface="Arial"/>
                <a:sym typeface="Arial"/>
              </a:rPr>
              <a:t>: Transformation de l’assembleur en code machine</a:t>
            </a:r>
            <a:endParaRPr sz="1400" b="0" i="0" u="none" strike="noStrike" cap="none">
              <a:solidFill>
                <a:srgbClr val="000000"/>
              </a:solidFill>
              <a:latin typeface="Arial"/>
              <a:ea typeface="Arial"/>
              <a:cs typeface="Arial"/>
              <a:sym typeface="Arial"/>
            </a:endParaRPr>
          </a:p>
        </p:txBody>
      </p:sp>
      <p:sp>
        <p:nvSpPr>
          <p:cNvPr id="373" name="Google Shape;373;p30"/>
          <p:cNvSpPr txBox="1"/>
          <p:nvPr/>
        </p:nvSpPr>
        <p:spPr>
          <a:xfrm>
            <a:off x="844579" y="2068074"/>
            <a:ext cx="1405890" cy="198120"/>
          </a:xfrm>
          <a:prstGeom prst="rect">
            <a:avLst/>
          </a:prstGeom>
          <a:noFill/>
          <a:ln>
            <a:noFill/>
          </a:ln>
        </p:spPr>
        <p:txBody>
          <a:bodyPr spcFirstLastPara="1" wrap="square" lIns="0" tIns="16500" rIns="0" bIns="0" anchor="t" anchorCtr="0">
            <a:spAutoFit/>
          </a:bodyPr>
          <a:lstStyle/>
          <a:p>
            <a:pPr marL="12700" marR="0" lvl="0" indent="0" algn="l" rtl="0">
              <a:lnSpc>
                <a:spcPct val="100000"/>
              </a:lnSpc>
              <a:spcBef>
                <a:spcPts val="0"/>
              </a:spcBef>
              <a:spcAft>
                <a:spcPts val="0"/>
              </a:spcAft>
              <a:buClr>
                <a:srgbClr val="000000"/>
              </a:buClr>
              <a:buSzPts val="1100"/>
              <a:buFont typeface="Arial"/>
              <a:buNone/>
            </a:pPr>
            <a:r>
              <a:rPr lang="fr-FR" sz="1100" b="1" i="0" u="none" strike="noStrike" cap="none">
                <a:solidFill>
                  <a:schemeClr val="dk1"/>
                </a:solidFill>
                <a:latin typeface="Courier New"/>
                <a:ea typeface="Courier New"/>
                <a:cs typeface="Courier New"/>
                <a:sym typeface="Courier New"/>
              </a:rPr>
              <a:t>gcc -c bonjour.s</a:t>
            </a:r>
            <a:endParaRPr sz="1100" b="0" i="0" u="none" strike="noStrike" cap="none">
              <a:solidFill>
                <a:schemeClr val="dk1"/>
              </a:solidFill>
              <a:latin typeface="Courier New"/>
              <a:ea typeface="Courier New"/>
              <a:cs typeface="Courier New"/>
              <a:sym typeface="Courier New"/>
            </a:endParaRPr>
          </a:p>
        </p:txBody>
      </p:sp>
      <p:sp>
        <p:nvSpPr>
          <p:cNvPr id="374" name="Google Shape;374;p30"/>
          <p:cNvSpPr txBox="1"/>
          <p:nvPr/>
        </p:nvSpPr>
        <p:spPr>
          <a:xfrm>
            <a:off x="1893750" y="2313602"/>
            <a:ext cx="877569"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preprocessing</a:t>
            </a:r>
            <a:endParaRPr sz="1200" b="0" i="0" u="none" strike="noStrike" cap="none">
              <a:solidFill>
                <a:schemeClr val="dk1"/>
              </a:solidFill>
              <a:latin typeface="Times New Roman"/>
              <a:ea typeface="Times New Roman"/>
              <a:cs typeface="Times New Roman"/>
              <a:sym typeface="Times New Roman"/>
            </a:endParaRPr>
          </a:p>
        </p:txBody>
      </p:sp>
      <p:sp>
        <p:nvSpPr>
          <p:cNvPr id="375" name="Google Shape;375;p30"/>
          <p:cNvSpPr txBox="1"/>
          <p:nvPr/>
        </p:nvSpPr>
        <p:spPr>
          <a:xfrm>
            <a:off x="3767425" y="2313602"/>
            <a:ext cx="647700"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compiling</a:t>
            </a:r>
            <a:endParaRPr sz="1200" b="0" i="0" u="none" strike="noStrike" cap="none">
              <a:solidFill>
                <a:schemeClr val="dk1"/>
              </a:solidFill>
              <a:latin typeface="Times New Roman"/>
              <a:ea typeface="Times New Roman"/>
              <a:cs typeface="Times New Roman"/>
              <a:sym typeface="Times New Roman"/>
            </a:endParaRPr>
          </a:p>
        </p:txBody>
      </p:sp>
      <p:sp>
        <p:nvSpPr>
          <p:cNvPr id="376" name="Google Shape;376;p30"/>
          <p:cNvSpPr txBox="1"/>
          <p:nvPr/>
        </p:nvSpPr>
        <p:spPr>
          <a:xfrm>
            <a:off x="5415440" y="2313602"/>
            <a:ext cx="715645"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assembling</a:t>
            </a:r>
            <a:endParaRPr sz="1200" b="0" i="0" u="none" strike="noStrike" cap="none">
              <a:solidFill>
                <a:schemeClr val="dk1"/>
              </a:solidFill>
              <a:latin typeface="Times New Roman"/>
              <a:ea typeface="Times New Roman"/>
              <a:cs typeface="Times New Roman"/>
              <a:sym typeface="Times New Roman"/>
            </a:endParaRPr>
          </a:p>
        </p:txBody>
      </p:sp>
      <p:sp>
        <p:nvSpPr>
          <p:cNvPr id="377" name="Google Shape;377;p30"/>
          <p:cNvSpPr txBox="1"/>
          <p:nvPr/>
        </p:nvSpPr>
        <p:spPr>
          <a:xfrm>
            <a:off x="7129426" y="2313602"/>
            <a:ext cx="460375"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linking</a:t>
            </a:r>
            <a:endParaRPr sz="1200" b="0" i="0" u="none" strike="noStrike" cap="none">
              <a:solidFill>
                <a:schemeClr val="dk1"/>
              </a:solidFill>
              <a:latin typeface="Times New Roman"/>
              <a:ea typeface="Times New Roman"/>
              <a:cs typeface="Times New Roman"/>
              <a:sym typeface="Times New Roman"/>
            </a:endParaRPr>
          </a:p>
        </p:txBody>
      </p:sp>
      <p:grpSp>
        <p:nvGrpSpPr>
          <p:cNvPr id="378" name="Google Shape;378;p30"/>
          <p:cNvGrpSpPr/>
          <p:nvPr/>
        </p:nvGrpSpPr>
        <p:grpSpPr>
          <a:xfrm>
            <a:off x="1259988" y="2620826"/>
            <a:ext cx="6819410" cy="364213"/>
            <a:chOff x="1220485" y="2556291"/>
            <a:chExt cx="6819410" cy="364213"/>
          </a:xfrm>
        </p:grpSpPr>
        <p:sp>
          <p:nvSpPr>
            <p:cNvPr id="379" name="Google Shape;379;p30"/>
            <p:cNvSpPr/>
            <p:nvPr/>
          </p:nvSpPr>
          <p:spPr>
            <a:xfrm>
              <a:off x="1220485" y="2556291"/>
              <a:ext cx="287536" cy="36421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0" name="Google Shape;380;p30"/>
            <p:cNvSpPr/>
            <p:nvPr/>
          </p:nvSpPr>
          <p:spPr>
            <a:xfrm>
              <a:off x="2183726" y="2585041"/>
              <a:ext cx="297121" cy="29712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1" name="Google Shape;381;p30"/>
            <p:cNvSpPr/>
            <p:nvPr/>
          </p:nvSpPr>
          <p:spPr>
            <a:xfrm>
              <a:off x="3142183" y="2556291"/>
              <a:ext cx="287536" cy="36421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2" name="Google Shape;382;p30"/>
            <p:cNvSpPr/>
            <p:nvPr/>
          </p:nvSpPr>
          <p:spPr>
            <a:xfrm>
              <a:off x="3942499" y="2585041"/>
              <a:ext cx="297121" cy="29712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3" name="Google Shape;383;p30"/>
            <p:cNvSpPr/>
            <p:nvPr/>
          </p:nvSpPr>
          <p:spPr>
            <a:xfrm>
              <a:off x="4766767" y="2556291"/>
              <a:ext cx="287536" cy="36421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4" name="Google Shape;384;p30"/>
            <p:cNvSpPr/>
            <p:nvPr/>
          </p:nvSpPr>
          <p:spPr>
            <a:xfrm>
              <a:off x="5624588" y="2585041"/>
              <a:ext cx="297121" cy="297121"/>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5" name="Google Shape;385;p30"/>
            <p:cNvSpPr/>
            <p:nvPr/>
          </p:nvSpPr>
          <p:spPr>
            <a:xfrm>
              <a:off x="6501574" y="2556291"/>
              <a:ext cx="287536" cy="36421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6" name="Google Shape;386;p30"/>
            <p:cNvSpPr/>
            <p:nvPr/>
          </p:nvSpPr>
          <p:spPr>
            <a:xfrm>
              <a:off x="7210831" y="2585041"/>
              <a:ext cx="297121" cy="297121"/>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87" name="Google Shape;387;p30"/>
            <p:cNvSpPr/>
            <p:nvPr/>
          </p:nvSpPr>
          <p:spPr>
            <a:xfrm>
              <a:off x="7752359" y="2556291"/>
              <a:ext cx="287536" cy="364213"/>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388" name="Google Shape;388;p30"/>
          <p:cNvSpPr txBox="1"/>
          <p:nvPr/>
        </p:nvSpPr>
        <p:spPr>
          <a:xfrm>
            <a:off x="1090256" y="2989176"/>
            <a:ext cx="600710"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bonjour.c</a:t>
            </a:r>
            <a:endParaRPr sz="1200" b="0" i="0" u="none" strike="noStrike" cap="none">
              <a:solidFill>
                <a:schemeClr val="dk1"/>
              </a:solidFill>
              <a:latin typeface="Times New Roman"/>
              <a:ea typeface="Times New Roman"/>
              <a:cs typeface="Times New Roman"/>
              <a:sym typeface="Times New Roman"/>
            </a:endParaRPr>
          </a:p>
        </p:txBody>
      </p:sp>
      <p:sp>
        <p:nvSpPr>
          <p:cNvPr id="389" name="Google Shape;389;p30"/>
          <p:cNvSpPr txBox="1"/>
          <p:nvPr/>
        </p:nvSpPr>
        <p:spPr>
          <a:xfrm>
            <a:off x="2998447" y="2965351"/>
            <a:ext cx="575310"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bonjour.i</a:t>
            </a:r>
            <a:endParaRPr sz="1200" b="0" i="0" u="none" strike="noStrike" cap="none">
              <a:solidFill>
                <a:schemeClr val="dk1"/>
              </a:solidFill>
              <a:latin typeface="Times New Roman"/>
              <a:ea typeface="Times New Roman"/>
              <a:cs typeface="Times New Roman"/>
              <a:sym typeface="Times New Roman"/>
            </a:endParaRPr>
          </a:p>
        </p:txBody>
      </p:sp>
      <p:sp>
        <p:nvSpPr>
          <p:cNvPr id="390" name="Google Shape;390;p30"/>
          <p:cNvSpPr txBox="1"/>
          <p:nvPr/>
        </p:nvSpPr>
        <p:spPr>
          <a:xfrm>
            <a:off x="4614488" y="2965351"/>
            <a:ext cx="592455"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bonjour.s</a:t>
            </a:r>
            <a:endParaRPr sz="1200" b="0" i="0" u="none" strike="noStrike" cap="none">
              <a:solidFill>
                <a:schemeClr val="dk1"/>
              </a:solidFill>
              <a:latin typeface="Times New Roman"/>
              <a:ea typeface="Times New Roman"/>
              <a:cs typeface="Times New Roman"/>
              <a:sym typeface="Times New Roman"/>
            </a:endParaRPr>
          </a:p>
        </p:txBody>
      </p:sp>
      <p:sp>
        <p:nvSpPr>
          <p:cNvPr id="391" name="Google Shape;391;p30"/>
          <p:cNvSpPr txBox="1"/>
          <p:nvPr/>
        </p:nvSpPr>
        <p:spPr>
          <a:xfrm>
            <a:off x="6340800" y="2965351"/>
            <a:ext cx="609600"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bonjour.o</a:t>
            </a:r>
            <a:endParaRPr sz="1200" b="0" i="0" u="none" strike="noStrike" cap="none">
              <a:solidFill>
                <a:schemeClr val="dk1"/>
              </a:solidFill>
              <a:latin typeface="Times New Roman"/>
              <a:ea typeface="Times New Roman"/>
              <a:cs typeface="Times New Roman"/>
              <a:sym typeface="Times New Roman"/>
            </a:endParaRPr>
          </a:p>
        </p:txBody>
      </p:sp>
      <p:sp>
        <p:nvSpPr>
          <p:cNvPr id="392" name="Google Shape;392;p30"/>
          <p:cNvSpPr txBox="1"/>
          <p:nvPr/>
        </p:nvSpPr>
        <p:spPr>
          <a:xfrm>
            <a:off x="7732246" y="2965351"/>
            <a:ext cx="328295" cy="20955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200"/>
              <a:buFont typeface="Arial"/>
              <a:buNone/>
            </a:pPr>
            <a:r>
              <a:rPr lang="fr-FR" sz="1200" b="0" i="0" u="none" strike="noStrike" cap="none">
                <a:solidFill>
                  <a:schemeClr val="dk1"/>
                </a:solidFill>
                <a:latin typeface="Times New Roman"/>
                <a:ea typeface="Times New Roman"/>
                <a:cs typeface="Times New Roman"/>
                <a:sym typeface="Times New Roman"/>
              </a:rPr>
              <a:t>a.out</a:t>
            </a:r>
            <a:endParaRPr sz="1200" b="0" i="0" u="none" strike="noStrike" cap="none">
              <a:solidFill>
                <a:schemeClr val="dk1"/>
              </a:solidFill>
              <a:latin typeface="Times New Roman"/>
              <a:ea typeface="Times New Roman"/>
              <a:cs typeface="Times New Roman"/>
              <a:sym typeface="Times New Roman"/>
            </a:endParaRPr>
          </a:p>
        </p:txBody>
      </p:sp>
      <p:sp>
        <p:nvSpPr>
          <p:cNvPr id="393" name="Google Shape;393;p30"/>
          <p:cNvSpPr/>
          <p:nvPr/>
        </p:nvSpPr>
        <p:spPr>
          <a:xfrm>
            <a:off x="4542244" y="3403799"/>
            <a:ext cx="219502" cy="33059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394" name="Google Shape;394;p30"/>
          <p:cNvSpPr txBox="1"/>
          <p:nvPr/>
        </p:nvSpPr>
        <p:spPr>
          <a:xfrm>
            <a:off x="4749042" y="3449510"/>
            <a:ext cx="560070" cy="194310"/>
          </a:xfrm>
          <a:prstGeom prst="rect">
            <a:avLst/>
          </a:prstGeom>
          <a:noFill/>
          <a:ln>
            <a:noFill/>
          </a:ln>
        </p:spPr>
        <p:txBody>
          <a:bodyPr spcFirstLastPara="1" wrap="square" lIns="0" tIns="13325" rIns="0" bIns="0" anchor="t" anchorCtr="0">
            <a:spAutoFit/>
          </a:bodyPr>
          <a:lstStyle/>
          <a:p>
            <a:pPr marL="12700" marR="0" lvl="0" indent="0" algn="l" rtl="0">
              <a:lnSpc>
                <a:spcPct val="100000"/>
              </a:lnSpc>
              <a:spcBef>
                <a:spcPts val="0"/>
              </a:spcBef>
              <a:spcAft>
                <a:spcPts val="0"/>
              </a:spcAft>
              <a:buClr>
                <a:srgbClr val="000000"/>
              </a:buClr>
              <a:buSzPts val="1100"/>
              <a:buFont typeface="Arial"/>
              <a:buNone/>
            </a:pPr>
            <a:r>
              <a:rPr lang="fr-FR" sz="1100" b="0" i="0" u="none" strike="noStrike" cap="none">
                <a:solidFill>
                  <a:schemeClr val="dk1"/>
                </a:solidFill>
                <a:latin typeface="Times New Roman"/>
                <a:ea typeface="Times New Roman"/>
                <a:cs typeface="Times New Roman"/>
                <a:sym typeface="Times New Roman"/>
              </a:rPr>
              <a:t>bonjour.o</a:t>
            </a:r>
            <a:endParaRPr sz="1100" b="0" i="0" u="none" strike="noStrike" cap="none">
              <a:solidFill>
                <a:schemeClr val="dk1"/>
              </a:solidFill>
              <a:latin typeface="Times New Roman"/>
              <a:ea typeface="Times New Roman"/>
              <a:cs typeface="Times New Roman"/>
              <a:sym typeface="Times New Roman"/>
            </a:endParaRPr>
          </a:p>
        </p:txBody>
      </p:sp>
      <p:sp>
        <p:nvSpPr>
          <p:cNvPr id="395" name="Google Shape;395;p30"/>
          <p:cNvSpPr txBox="1"/>
          <p:nvPr/>
        </p:nvSpPr>
        <p:spPr>
          <a:xfrm>
            <a:off x="4643698" y="3835821"/>
            <a:ext cx="1210945" cy="183515"/>
          </a:xfrm>
          <a:prstGeom prst="rect">
            <a:avLst/>
          </a:prstGeom>
          <a:noFill/>
          <a:ln>
            <a:noFill/>
          </a:ln>
        </p:spPr>
        <p:txBody>
          <a:bodyPr spcFirstLastPara="1" wrap="square" lIns="0" tIns="17125" rIns="0" bIns="0" anchor="t" anchorCtr="0">
            <a:spAutoFit/>
          </a:bodyPr>
          <a:lstStyle/>
          <a:p>
            <a:pPr marL="12700" marR="0" lvl="0" indent="0" algn="l" rtl="0">
              <a:lnSpc>
                <a:spcPct val="100000"/>
              </a:lnSpc>
              <a:spcBef>
                <a:spcPts val="0"/>
              </a:spcBef>
              <a:spcAft>
                <a:spcPts val="0"/>
              </a:spcAft>
              <a:buClr>
                <a:srgbClr val="000000"/>
              </a:buClr>
              <a:buSzPts val="1000"/>
              <a:buFont typeface="Arial"/>
              <a:buNone/>
            </a:pPr>
            <a:r>
              <a:rPr lang="fr-FR" sz="1000" b="0" i="0" u="none" strike="noStrike" cap="none">
                <a:solidFill>
                  <a:schemeClr val="dk1"/>
                </a:solidFill>
                <a:latin typeface="Courier New"/>
                <a:ea typeface="Courier New"/>
                <a:cs typeface="Courier New"/>
                <a:sym typeface="Courier New"/>
              </a:rPr>
              <a:t>od -x bonjour.o</a:t>
            </a:r>
            <a:endParaRPr sz="1000" b="0" i="0" u="none" strike="noStrike" cap="none">
              <a:solidFill>
                <a:schemeClr val="dk1"/>
              </a:solidFill>
              <a:latin typeface="Courier New"/>
              <a:ea typeface="Courier New"/>
              <a:cs typeface="Courier New"/>
              <a:sym typeface="Courier New"/>
            </a:endParaRPr>
          </a:p>
        </p:txBody>
      </p:sp>
      <p:graphicFrame>
        <p:nvGraphicFramePr>
          <p:cNvPr id="396" name="Google Shape;396;p30"/>
          <p:cNvGraphicFramePr/>
          <p:nvPr/>
        </p:nvGraphicFramePr>
        <p:xfrm>
          <a:off x="4545617" y="4030187"/>
          <a:ext cx="3697650" cy="2382774"/>
        </p:xfrm>
        <a:graphic>
          <a:graphicData uri="http://schemas.openxmlformats.org/drawingml/2006/table">
            <a:tbl>
              <a:tblPr firstRow="1" bandRow="1">
                <a:noFill/>
                <a:tableStyleId>{C209C280-4A58-4425-98AC-BF336C2BF827}</a:tableStyleId>
              </a:tblPr>
              <a:tblGrid>
                <a:gridCol w="545475">
                  <a:extLst>
                    <a:ext uri="{9D8B030D-6E8A-4147-A177-3AD203B41FA5}">
                      <a16:colId xmlns:a16="http://schemas.microsoft.com/office/drawing/2014/main" val="20000"/>
                    </a:ext>
                  </a:extLst>
                </a:gridCol>
                <a:gridCol w="394975">
                  <a:extLst>
                    <a:ext uri="{9D8B030D-6E8A-4147-A177-3AD203B41FA5}">
                      <a16:colId xmlns:a16="http://schemas.microsoft.com/office/drawing/2014/main" val="20001"/>
                    </a:ext>
                  </a:extLst>
                </a:gridCol>
                <a:gridCol w="394975">
                  <a:extLst>
                    <a:ext uri="{9D8B030D-6E8A-4147-A177-3AD203B41FA5}">
                      <a16:colId xmlns:a16="http://schemas.microsoft.com/office/drawing/2014/main" val="20002"/>
                    </a:ext>
                  </a:extLst>
                </a:gridCol>
                <a:gridCol w="394975">
                  <a:extLst>
                    <a:ext uri="{9D8B030D-6E8A-4147-A177-3AD203B41FA5}">
                      <a16:colId xmlns:a16="http://schemas.microsoft.com/office/drawing/2014/main" val="20003"/>
                    </a:ext>
                  </a:extLst>
                </a:gridCol>
                <a:gridCol w="394975">
                  <a:extLst>
                    <a:ext uri="{9D8B030D-6E8A-4147-A177-3AD203B41FA5}">
                      <a16:colId xmlns:a16="http://schemas.microsoft.com/office/drawing/2014/main" val="20004"/>
                    </a:ext>
                  </a:extLst>
                </a:gridCol>
                <a:gridCol w="394975">
                  <a:extLst>
                    <a:ext uri="{9D8B030D-6E8A-4147-A177-3AD203B41FA5}">
                      <a16:colId xmlns:a16="http://schemas.microsoft.com/office/drawing/2014/main" val="20005"/>
                    </a:ext>
                  </a:extLst>
                </a:gridCol>
                <a:gridCol w="394975">
                  <a:extLst>
                    <a:ext uri="{9D8B030D-6E8A-4147-A177-3AD203B41FA5}">
                      <a16:colId xmlns:a16="http://schemas.microsoft.com/office/drawing/2014/main" val="20006"/>
                    </a:ext>
                  </a:extLst>
                </a:gridCol>
                <a:gridCol w="394975">
                  <a:extLst>
                    <a:ext uri="{9D8B030D-6E8A-4147-A177-3AD203B41FA5}">
                      <a16:colId xmlns:a16="http://schemas.microsoft.com/office/drawing/2014/main" val="20007"/>
                    </a:ext>
                  </a:extLst>
                </a:gridCol>
                <a:gridCol w="387350">
                  <a:extLst>
                    <a:ext uri="{9D8B030D-6E8A-4147-A177-3AD203B41FA5}">
                      <a16:colId xmlns:a16="http://schemas.microsoft.com/office/drawing/2014/main" val="20008"/>
                    </a:ext>
                  </a:extLst>
                </a:gridCol>
              </a:tblGrid>
              <a:tr h="140475">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7f45</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4c46</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0102</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0100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980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0"/>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000020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1"/>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000040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01ac</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0034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0028</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2"/>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000060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0008</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002e</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7368</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7374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7274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6162</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002e</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3"/>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7465</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7874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002e</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726f</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6461</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7461</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002e</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7379</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4"/>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000120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6d74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6162</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002e</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7374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7274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6162</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002e</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7265</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5"/>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000140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6c61</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2e74</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6578</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7400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2e63</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6f6d</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6d65</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6e74</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6"/>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000160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9de3</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bf90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1300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9012</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6000</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7"/>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4000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0100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b010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2000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1080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8"/>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000220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0100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81c7</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e008</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81e8</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09"/>
                  </a:ext>
                </a:extLst>
              </a:tr>
              <a:tr h="1485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000240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626f</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6e6a</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6f75</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720a</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10"/>
                  </a:ext>
                </a:extLst>
              </a:tr>
              <a:tr h="148550">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000260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4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0001</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11"/>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000300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0400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fff1</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000b</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12"/>
                  </a:ext>
                </a:extLst>
              </a:tr>
              <a:tr h="149250">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000320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4999"/>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13"/>
                  </a:ext>
                </a:extLst>
              </a:tr>
              <a:tr h="140475">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000340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0300</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0002</a:t>
                      </a:r>
                      <a:endParaRPr sz="1000" u="none" strike="noStrike" cap="none">
                        <a:latin typeface="Courier New"/>
                        <a:ea typeface="Courier New"/>
                        <a:cs typeface="Courier New"/>
                        <a:sym typeface="Courier New"/>
                      </a:endParaRPr>
                    </a:p>
                  </a:txBody>
                  <a:tcPr marL="0" marR="0" marT="0" marB="0"/>
                </a:tc>
                <a:tc>
                  <a:txBody>
                    <a:bodyPr/>
                    <a:lstStyle/>
                    <a:p>
                      <a:pPr marL="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tc>
                  <a:txBody>
                    <a:bodyPr/>
                    <a:lstStyle/>
                    <a:p>
                      <a:pPr marL="7620" marR="0" lvl="0" indent="0" algn="ctr" rtl="0">
                        <a:lnSpc>
                          <a:spcPct val="100500"/>
                        </a:lnSpc>
                        <a:spcBef>
                          <a:spcPts val="0"/>
                        </a:spcBef>
                        <a:spcAft>
                          <a:spcPts val="0"/>
                        </a:spcAft>
                        <a:buClr>
                          <a:srgbClr val="000000"/>
                        </a:buClr>
                        <a:buSzPts val="1000"/>
                        <a:buFont typeface="Arial"/>
                        <a:buNone/>
                      </a:pPr>
                      <a:r>
                        <a:rPr lang="fr-FR" sz="1000" u="none" strike="noStrike" cap="none">
                          <a:latin typeface="Courier New"/>
                          <a:ea typeface="Courier New"/>
                          <a:cs typeface="Courier New"/>
                          <a:sym typeface="Courier New"/>
                        </a:rPr>
                        <a:t>0000</a:t>
                      </a:r>
                      <a:endParaRPr sz="1000" u="none" strike="noStrike" cap="none">
                        <a:latin typeface="Courier New"/>
                        <a:ea typeface="Courier New"/>
                        <a:cs typeface="Courier New"/>
                        <a:sym typeface="Courier New"/>
                      </a:endParaRPr>
                    </a:p>
                  </a:txBody>
                  <a:tcPr marL="0" marR="0" marT="0" marB="0"/>
                </a:tc>
                <a:extLst>
                  <a:ext uri="{0D108BD9-81ED-4DB2-BD59-A6C34878D82A}">
                    <a16:rowId xmlns:a16="http://schemas.microsoft.com/office/drawing/2014/main" val="10014"/>
                  </a:ext>
                </a:extLst>
              </a:tr>
            </a:tbl>
          </a:graphicData>
        </a:graphic>
      </p:graphicFrame>
      <p:sp>
        <p:nvSpPr>
          <p:cNvPr id="397" name="Google Shape;397;p30"/>
          <p:cNvSpPr txBox="1"/>
          <p:nvPr/>
        </p:nvSpPr>
        <p:spPr>
          <a:xfrm>
            <a:off x="1611033" y="3854081"/>
            <a:ext cx="177863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1" i="0" u="none" strike="noStrike" cap="none">
                <a:solidFill>
                  <a:schemeClr val="dk1"/>
                </a:solidFill>
                <a:latin typeface="Arial"/>
                <a:ea typeface="Arial"/>
                <a:cs typeface="Arial"/>
                <a:sym typeface="Arial"/>
              </a:rPr>
              <a:t>gcc -c bonjour.s</a:t>
            </a:r>
            <a:endParaRPr sz="1800" b="0" i="0" u="none" strike="noStrike" cap="none">
              <a:solidFill>
                <a:schemeClr val="dk1"/>
              </a:solidFill>
              <a:latin typeface="Arial"/>
              <a:ea typeface="Arial"/>
              <a:cs typeface="Arial"/>
              <a:sym typeface="Arial"/>
            </a:endParaRPr>
          </a:p>
        </p:txBody>
      </p:sp>
      <p:pic>
        <p:nvPicPr>
          <p:cNvPr id="398" name="Google Shape;398;p30"/>
          <p:cNvPicPr preferRelativeResize="0"/>
          <p:nvPr/>
        </p:nvPicPr>
        <p:blipFill rotWithShape="1">
          <a:blip r:embed="rId8">
            <a:alphaModFix/>
          </a:blip>
          <a:srcRect/>
          <a:stretch/>
        </p:blipFill>
        <p:spPr>
          <a:xfrm>
            <a:off x="52524" y="11467"/>
            <a:ext cx="1824293" cy="73627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1"/>
          <p:cNvSpPr txBox="1">
            <a:spLocks noGrp="1"/>
          </p:cNvSpPr>
          <p:nvPr>
            <p:ph type="title"/>
          </p:nvPr>
        </p:nvSpPr>
        <p:spPr>
          <a:xfrm>
            <a:off x="3324015" y="53881"/>
            <a:ext cx="5667592" cy="689932"/>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0"/>
              </a:spcBef>
              <a:spcAft>
                <a:spcPts val="0"/>
              </a:spcAft>
              <a:buClr>
                <a:schemeClr val="dk1"/>
              </a:buClr>
              <a:buSzPts val="4400"/>
              <a:buFont typeface="Calibri"/>
              <a:buNone/>
            </a:pPr>
            <a:r>
              <a:rPr lang="fr-FR"/>
              <a:t>Compilation</a:t>
            </a:r>
            <a:endParaRPr/>
          </a:p>
        </p:txBody>
      </p:sp>
      <p:grpSp>
        <p:nvGrpSpPr>
          <p:cNvPr id="404" name="Google Shape;404;p31"/>
          <p:cNvGrpSpPr/>
          <p:nvPr/>
        </p:nvGrpSpPr>
        <p:grpSpPr>
          <a:xfrm>
            <a:off x="567850" y="2569445"/>
            <a:ext cx="8201256" cy="438015"/>
            <a:chOff x="503963" y="2533213"/>
            <a:chExt cx="8201256" cy="438015"/>
          </a:xfrm>
        </p:grpSpPr>
        <p:sp>
          <p:nvSpPr>
            <p:cNvPr id="405" name="Google Shape;405;p31"/>
            <p:cNvSpPr/>
            <p:nvPr/>
          </p:nvSpPr>
          <p:spPr>
            <a:xfrm>
              <a:off x="503963" y="2533213"/>
              <a:ext cx="345800" cy="43801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6" name="Google Shape;406;p31"/>
            <p:cNvSpPr/>
            <p:nvPr/>
          </p:nvSpPr>
          <p:spPr>
            <a:xfrm>
              <a:off x="1662391" y="2567786"/>
              <a:ext cx="357328" cy="35732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7" name="Google Shape;407;p31"/>
            <p:cNvSpPr/>
            <p:nvPr/>
          </p:nvSpPr>
          <p:spPr>
            <a:xfrm>
              <a:off x="2815069" y="2533213"/>
              <a:ext cx="345800" cy="43801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8" name="Google Shape;408;p31"/>
            <p:cNvSpPr/>
            <p:nvPr/>
          </p:nvSpPr>
          <p:spPr>
            <a:xfrm>
              <a:off x="3777551" y="2567786"/>
              <a:ext cx="357328" cy="35732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09" name="Google Shape;409;p31"/>
            <p:cNvSpPr/>
            <p:nvPr/>
          </p:nvSpPr>
          <p:spPr>
            <a:xfrm>
              <a:off x="4768850" y="2533213"/>
              <a:ext cx="345800" cy="438015"/>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0" name="Google Shape;410;p31"/>
            <p:cNvSpPr/>
            <p:nvPr/>
          </p:nvSpPr>
          <p:spPr>
            <a:xfrm>
              <a:off x="5800483" y="2567786"/>
              <a:ext cx="357328" cy="35732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1" name="Google Shape;411;p31"/>
            <p:cNvSpPr/>
            <p:nvPr/>
          </p:nvSpPr>
          <p:spPr>
            <a:xfrm>
              <a:off x="6855180" y="2533213"/>
              <a:ext cx="345800" cy="438015"/>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2" name="Google Shape;412;p31"/>
            <p:cNvSpPr/>
            <p:nvPr/>
          </p:nvSpPr>
          <p:spPr>
            <a:xfrm>
              <a:off x="7708150" y="2567786"/>
              <a:ext cx="357328" cy="357328"/>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413" name="Google Shape;413;p31"/>
            <p:cNvSpPr/>
            <p:nvPr/>
          </p:nvSpPr>
          <p:spPr>
            <a:xfrm>
              <a:off x="8359419" y="2533213"/>
              <a:ext cx="345800" cy="438015"/>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414" name="Google Shape;414;p31"/>
          <p:cNvSpPr txBox="1"/>
          <p:nvPr/>
        </p:nvSpPr>
        <p:spPr>
          <a:xfrm>
            <a:off x="5551537" y="2243898"/>
            <a:ext cx="855344"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assembling</a:t>
            </a:r>
            <a:endParaRPr sz="1450" b="0" i="0" u="none" strike="noStrike" cap="none">
              <a:solidFill>
                <a:schemeClr val="dk1"/>
              </a:solidFill>
              <a:latin typeface="Times New Roman"/>
              <a:ea typeface="Times New Roman"/>
              <a:cs typeface="Times New Roman"/>
              <a:sym typeface="Times New Roman"/>
            </a:endParaRPr>
          </a:p>
        </p:txBody>
      </p:sp>
      <p:sp>
        <p:nvSpPr>
          <p:cNvPr id="415" name="Google Shape;415;p31"/>
          <p:cNvSpPr txBox="1"/>
          <p:nvPr/>
        </p:nvSpPr>
        <p:spPr>
          <a:xfrm>
            <a:off x="7612835" y="2243898"/>
            <a:ext cx="54800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linking</a:t>
            </a:r>
            <a:endParaRPr sz="1450" b="0" i="0" u="none" strike="noStrike" cap="none">
              <a:solidFill>
                <a:schemeClr val="dk1"/>
              </a:solidFill>
              <a:latin typeface="Times New Roman"/>
              <a:ea typeface="Times New Roman"/>
              <a:cs typeface="Times New Roman"/>
              <a:sym typeface="Times New Roman"/>
            </a:endParaRPr>
          </a:p>
        </p:txBody>
      </p:sp>
      <p:sp>
        <p:nvSpPr>
          <p:cNvPr id="416" name="Google Shape;416;p31"/>
          <p:cNvSpPr txBox="1"/>
          <p:nvPr/>
        </p:nvSpPr>
        <p:spPr>
          <a:xfrm>
            <a:off x="318364" y="3027714"/>
            <a:ext cx="71755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bonjour.c</a:t>
            </a:r>
            <a:endParaRPr sz="1450" b="0" i="0" u="none" strike="noStrike" cap="none">
              <a:solidFill>
                <a:schemeClr val="dk1"/>
              </a:solidFill>
              <a:latin typeface="Times New Roman"/>
              <a:ea typeface="Times New Roman"/>
              <a:cs typeface="Times New Roman"/>
              <a:sym typeface="Times New Roman"/>
            </a:endParaRPr>
          </a:p>
        </p:txBody>
      </p:sp>
      <p:sp>
        <p:nvSpPr>
          <p:cNvPr id="417" name="Google Shape;417;p31"/>
          <p:cNvSpPr txBox="1"/>
          <p:nvPr/>
        </p:nvSpPr>
        <p:spPr>
          <a:xfrm>
            <a:off x="2644777" y="3027714"/>
            <a:ext cx="68643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bonjour.i</a:t>
            </a:r>
            <a:endParaRPr sz="1450" b="0" i="0" u="none" strike="noStrike" cap="none">
              <a:solidFill>
                <a:schemeClr val="dk1"/>
              </a:solidFill>
              <a:latin typeface="Times New Roman"/>
              <a:ea typeface="Times New Roman"/>
              <a:cs typeface="Times New Roman"/>
              <a:sym typeface="Times New Roman"/>
            </a:endParaRPr>
          </a:p>
        </p:txBody>
      </p:sp>
      <p:sp>
        <p:nvSpPr>
          <p:cNvPr id="418" name="Google Shape;418;p31"/>
          <p:cNvSpPr txBox="1"/>
          <p:nvPr/>
        </p:nvSpPr>
        <p:spPr>
          <a:xfrm>
            <a:off x="4588284" y="3027714"/>
            <a:ext cx="70739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bonjour.s</a:t>
            </a:r>
            <a:endParaRPr sz="1450" b="0" i="0" u="none" strike="noStrike" cap="none">
              <a:solidFill>
                <a:schemeClr val="dk1"/>
              </a:solidFill>
              <a:latin typeface="Times New Roman"/>
              <a:ea typeface="Times New Roman"/>
              <a:cs typeface="Times New Roman"/>
              <a:sym typeface="Times New Roman"/>
            </a:endParaRPr>
          </a:p>
        </p:txBody>
      </p:sp>
      <p:sp>
        <p:nvSpPr>
          <p:cNvPr id="419" name="Google Shape;419;p31"/>
          <p:cNvSpPr txBox="1"/>
          <p:nvPr/>
        </p:nvSpPr>
        <p:spPr>
          <a:xfrm>
            <a:off x="6664406" y="3027714"/>
            <a:ext cx="727710"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bonjour.o</a:t>
            </a:r>
            <a:endParaRPr sz="1450" b="0" i="0" u="none" strike="noStrike" cap="none">
              <a:solidFill>
                <a:schemeClr val="dk1"/>
              </a:solidFill>
              <a:latin typeface="Times New Roman"/>
              <a:ea typeface="Times New Roman"/>
              <a:cs typeface="Times New Roman"/>
              <a:sym typeface="Times New Roman"/>
            </a:endParaRPr>
          </a:p>
        </p:txBody>
      </p:sp>
      <p:sp>
        <p:nvSpPr>
          <p:cNvPr id="420" name="Google Shape;420;p31"/>
          <p:cNvSpPr txBox="1"/>
          <p:nvPr/>
        </p:nvSpPr>
        <p:spPr>
          <a:xfrm>
            <a:off x="8337808" y="3027714"/>
            <a:ext cx="389255" cy="247015"/>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a.out</a:t>
            </a:r>
            <a:endParaRPr sz="1450" b="0" i="0" u="none" strike="noStrike" cap="none">
              <a:solidFill>
                <a:schemeClr val="dk1"/>
              </a:solidFill>
              <a:latin typeface="Times New Roman"/>
              <a:ea typeface="Times New Roman"/>
              <a:cs typeface="Times New Roman"/>
              <a:sym typeface="Times New Roman"/>
            </a:endParaRPr>
          </a:p>
        </p:txBody>
      </p:sp>
      <p:sp>
        <p:nvSpPr>
          <p:cNvPr id="421" name="Google Shape;421;p31"/>
          <p:cNvSpPr txBox="1"/>
          <p:nvPr/>
        </p:nvSpPr>
        <p:spPr>
          <a:xfrm>
            <a:off x="318364" y="1076451"/>
            <a:ext cx="4330700" cy="1354455"/>
          </a:xfrm>
          <a:prstGeom prst="rect">
            <a:avLst/>
          </a:prstGeom>
          <a:noFill/>
          <a:ln>
            <a:noFill/>
          </a:ln>
        </p:spPr>
        <p:txBody>
          <a:bodyPr spcFirstLastPara="1" wrap="square" lIns="0" tIns="12700" rIns="0" bIns="0" anchor="t" anchorCtr="0">
            <a:spAutoFit/>
          </a:bodyPr>
          <a:lstStyle/>
          <a:p>
            <a:pPr marL="150495" marR="0" lvl="0" indent="0" algn="l" rtl="0">
              <a:lnSpc>
                <a:spcPct val="100000"/>
              </a:lnSpc>
              <a:spcBef>
                <a:spcPts val="0"/>
              </a:spcBef>
              <a:spcAft>
                <a:spcPts val="0"/>
              </a:spcAft>
              <a:buClr>
                <a:srgbClr val="000000"/>
              </a:buClr>
              <a:buSzPts val="2600"/>
              <a:buFont typeface="Arial"/>
              <a:buNone/>
            </a:pPr>
            <a:r>
              <a:rPr lang="fr-FR" sz="2600" b="1" i="0" u="none" strike="noStrike" cap="none">
                <a:solidFill>
                  <a:schemeClr val="dk1"/>
                </a:solidFill>
                <a:latin typeface="Arial"/>
                <a:ea typeface="Arial"/>
                <a:cs typeface="Arial"/>
                <a:sym typeface="Arial"/>
              </a:rPr>
              <a:t>Etape 4 </a:t>
            </a:r>
            <a:r>
              <a:rPr lang="fr-FR" sz="2600" b="0" i="0" u="none" strike="noStrike" cap="none">
                <a:solidFill>
                  <a:schemeClr val="dk1"/>
                </a:solidFill>
                <a:latin typeface="Arial"/>
                <a:ea typeface="Arial"/>
                <a:cs typeface="Arial"/>
                <a:sym typeface="Arial"/>
              </a:rPr>
              <a:t>: Edition des liens</a:t>
            </a:r>
            <a:endParaRPr sz="1400" b="0" i="0" u="none" strike="noStrike" cap="none">
              <a:solidFill>
                <a:srgbClr val="000000"/>
              </a:solidFill>
              <a:latin typeface="Arial"/>
              <a:ea typeface="Arial"/>
              <a:cs typeface="Arial"/>
              <a:sym typeface="Arial"/>
            </a:endParaRPr>
          </a:p>
          <a:p>
            <a:pPr marL="50800" marR="0" lvl="0" indent="0" algn="l" rtl="0">
              <a:lnSpc>
                <a:spcPct val="100000"/>
              </a:lnSpc>
              <a:spcBef>
                <a:spcPts val="1870"/>
              </a:spcBef>
              <a:spcAft>
                <a:spcPts val="0"/>
              </a:spcAft>
              <a:buClr>
                <a:srgbClr val="000000"/>
              </a:buClr>
              <a:buSzPts val="1800"/>
              <a:buFont typeface="Arial"/>
              <a:buNone/>
            </a:pPr>
            <a:r>
              <a:rPr lang="fr-FR" sz="1800" b="1" i="0" u="none" strike="noStrike" cap="none">
                <a:solidFill>
                  <a:schemeClr val="dk1"/>
                </a:solidFill>
                <a:latin typeface="Arial"/>
                <a:ea typeface="Arial"/>
                <a:cs typeface="Arial"/>
                <a:sym typeface="Arial"/>
              </a:rPr>
              <a:t>gcc bonjour.o</a:t>
            </a:r>
            <a:endParaRPr sz="1800" b="0" i="0" u="none" strike="noStrike" cap="none">
              <a:solidFill>
                <a:schemeClr val="dk1"/>
              </a:solidFill>
              <a:latin typeface="Arial"/>
              <a:ea typeface="Arial"/>
              <a:cs typeface="Arial"/>
              <a:sym typeface="Arial"/>
            </a:endParaRPr>
          </a:p>
          <a:p>
            <a:pPr marL="975994" marR="0" lvl="0" indent="0" algn="l" rtl="0">
              <a:lnSpc>
                <a:spcPct val="100000"/>
              </a:lnSpc>
              <a:spcBef>
                <a:spcPts val="1570"/>
              </a:spcBef>
              <a:spcAft>
                <a:spcPts val="0"/>
              </a:spcAft>
              <a:buClr>
                <a:srgbClr val="000000"/>
              </a:buClr>
              <a:buSzPts val="1450"/>
              <a:buFont typeface="Arial"/>
              <a:buNone/>
            </a:pPr>
            <a:r>
              <a:rPr lang="fr-FR" sz="1450" b="0" i="0" u="none" strike="noStrike" cap="none">
                <a:solidFill>
                  <a:schemeClr val="dk1"/>
                </a:solidFill>
                <a:latin typeface="Times New Roman"/>
                <a:ea typeface="Times New Roman"/>
                <a:cs typeface="Times New Roman"/>
                <a:sym typeface="Times New Roman"/>
              </a:rPr>
              <a:t>preprocessing	compiling</a:t>
            </a:r>
            <a:endParaRPr sz="1450" b="0" i="0" u="none" strike="noStrike" cap="none">
              <a:solidFill>
                <a:schemeClr val="dk1"/>
              </a:solidFill>
              <a:latin typeface="Times New Roman"/>
              <a:ea typeface="Times New Roman"/>
              <a:cs typeface="Times New Roman"/>
              <a:sym typeface="Times New Roman"/>
            </a:endParaRPr>
          </a:p>
        </p:txBody>
      </p:sp>
      <p:pic>
        <p:nvPicPr>
          <p:cNvPr id="422" name="Google Shape;422;p31"/>
          <p:cNvPicPr preferRelativeResize="0"/>
          <p:nvPr/>
        </p:nvPicPr>
        <p:blipFill rotWithShape="1">
          <a:blip r:embed="rId7">
            <a:alphaModFix/>
          </a:blip>
          <a:srcRect/>
          <a:stretch/>
        </p:blipFill>
        <p:spPr>
          <a:xfrm>
            <a:off x="123767" y="59005"/>
            <a:ext cx="1824293" cy="85539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2">
            <a:extLst>
              <a:ext uri="{FF2B5EF4-FFF2-40B4-BE49-F238E27FC236}">
                <a16:creationId xmlns:a16="http://schemas.microsoft.com/office/drawing/2014/main" id="{17122D9A-B5C1-2DA6-A553-F220F404020E}"/>
              </a:ext>
            </a:extLst>
          </p:cNvPr>
          <p:cNvSpPr txBox="1">
            <a:spLocks noGrp="1"/>
          </p:cNvSpPr>
          <p:nvPr/>
        </p:nvSpPr>
        <p:spPr>
          <a:xfrm>
            <a:off x="2824892" y="204885"/>
            <a:ext cx="2785110" cy="695960"/>
          </a:xfrm>
          <a:prstGeom prst="rect">
            <a:avLst/>
          </a:prstGeom>
        </p:spPr>
        <p:txBody>
          <a:bodyPr vert="horz" wrap="square" lIns="0" tIns="12700" rIns="0" bIns="0" rtlCol="0">
            <a:spAutoFit/>
          </a:bodyPr>
          <a:lstStyle>
            <a:lvl1pPr>
              <a:defRPr sz="2350" b="1" i="0" u="heavy">
                <a:solidFill>
                  <a:srgbClr val="145AC1"/>
                </a:solidFill>
                <a:latin typeface="Times New Roman"/>
                <a:ea typeface="+mj-ea"/>
                <a:cs typeface="Times New Roman"/>
              </a:defRPr>
            </a:lvl1pPr>
          </a:lstStyle>
          <a:p>
            <a:pPr marL="12700">
              <a:lnSpc>
                <a:spcPct val="100000"/>
              </a:lnSpc>
              <a:spcBef>
                <a:spcPts val="100"/>
              </a:spcBef>
            </a:pPr>
            <a:r>
              <a:rPr sz="4400" b="0" u="none" spc="-5">
                <a:solidFill>
                  <a:srgbClr val="000000"/>
                </a:solidFill>
                <a:latin typeface="Calibri"/>
                <a:cs typeface="Calibri"/>
              </a:rPr>
              <a:t>Compilation</a:t>
            </a:r>
            <a:endParaRPr sz="4400">
              <a:latin typeface="Calibri"/>
              <a:cs typeface="Calibri"/>
            </a:endParaRPr>
          </a:p>
        </p:txBody>
      </p:sp>
      <p:pic>
        <p:nvPicPr>
          <p:cNvPr id="5" name="object 20">
            <a:extLst>
              <a:ext uri="{FF2B5EF4-FFF2-40B4-BE49-F238E27FC236}">
                <a16:creationId xmlns:a16="http://schemas.microsoft.com/office/drawing/2014/main" id="{DAD68D98-A09F-70DC-17E3-21DCCB2811C1}"/>
              </a:ext>
            </a:extLst>
          </p:cNvPr>
          <p:cNvPicPr/>
          <p:nvPr/>
        </p:nvPicPr>
        <p:blipFill>
          <a:blip r:embed="rId2" cstate="print"/>
          <a:stretch>
            <a:fillRect/>
          </a:stretch>
        </p:blipFill>
        <p:spPr>
          <a:xfrm>
            <a:off x="148440" y="59005"/>
            <a:ext cx="1753356" cy="837348"/>
          </a:xfrm>
          <a:prstGeom prst="rect">
            <a:avLst/>
          </a:prstGeom>
        </p:spPr>
      </p:pic>
      <p:sp>
        <p:nvSpPr>
          <p:cNvPr id="6" name="object 4">
            <a:extLst>
              <a:ext uri="{FF2B5EF4-FFF2-40B4-BE49-F238E27FC236}">
                <a16:creationId xmlns:a16="http://schemas.microsoft.com/office/drawing/2014/main" id="{8DB8A9EB-9FA3-3B6E-BA89-35396B67203B}"/>
              </a:ext>
            </a:extLst>
          </p:cNvPr>
          <p:cNvSpPr txBox="1"/>
          <p:nvPr/>
        </p:nvSpPr>
        <p:spPr>
          <a:xfrm>
            <a:off x="123445" y="1299057"/>
            <a:ext cx="3740000" cy="382156"/>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lang="en-US" sz="2400" b="1" spc="-5" err="1">
                <a:latin typeface="Arial"/>
                <a:cs typeface="Arial"/>
              </a:rPr>
              <a:t>Etape</a:t>
            </a:r>
            <a:r>
              <a:rPr lang="en-US" sz="2400" b="1" spc="-25">
                <a:latin typeface="Arial"/>
                <a:cs typeface="Arial"/>
              </a:rPr>
              <a:t> </a:t>
            </a:r>
            <a:r>
              <a:rPr lang="en-US" sz="2400" b="1" spc="-5">
                <a:latin typeface="Arial"/>
                <a:cs typeface="Arial"/>
              </a:rPr>
              <a:t>1:</a:t>
            </a:r>
            <a:r>
              <a:rPr lang="en-US" sz="2400" b="1" spc="10">
                <a:latin typeface="Arial"/>
                <a:cs typeface="Arial"/>
              </a:rPr>
              <a:t> </a:t>
            </a:r>
            <a:r>
              <a:rPr sz="2400" spc="-5" err="1">
                <a:latin typeface="Arial MT"/>
                <a:cs typeface="Arial MT"/>
              </a:rPr>
              <a:t>pré-processeur</a:t>
            </a:r>
            <a:endParaRPr sz="2400">
              <a:latin typeface="Arial MT"/>
              <a:cs typeface="Arial MT"/>
            </a:endParaRPr>
          </a:p>
        </p:txBody>
      </p:sp>
      <p:sp>
        <p:nvSpPr>
          <p:cNvPr id="7" name="object 3">
            <a:extLst>
              <a:ext uri="{FF2B5EF4-FFF2-40B4-BE49-F238E27FC236}">
                <a16:creationId xmlns:a16="http://schemas.microsoft.com/office/drawing/2014/main" id="{6C6FE427-80DF-7799-EE5B-368D10C57D1A}"/>
              </a:ext>
            </a:extLst>
          </p:cNvPr>
          <p:cNvSpPr txBox="1"/>
          <p:nvPr/>
        </p:nvSpPr>
        <p:spPr>
          <a:xfrm>
            <a:off x="148440" y="2956827"/>
            <a:ext cx="6155690" cy="39116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400" b="1" spc="-5">
                <a:latin typeface="Arial"/>
                <a:cs typeface="Arial"/>
              </a:rPr>
              <a:t>Etape</a:t>
            </a:r>
            <a:r>
              <a:rPr sz="2400" b="1" spc="-25">
                <a:latin typeface="Arial"/>
                <a:cs typeface="Arial"/>
              </a:rPr>
              <a:t> </a:t>
            </a:r>
            <a:r>
              <a:rPr sz="2400" b="1" spc="-5">
                <a:latin typeface="Arial"/>
                <a:cs typeface="Arial"/>
              </a:rPr>
              <a:t>2:</a:t>
            </a:r>
            <a:r>
              <a:rPr sz="2400" b="1" spc="10">
                <a:latin typeface="Arial"/>
                <a:cs typeface="Arial"/>
              </a:rPr>
              <a:t> </a:t>
            </a:r>
            <a:r>
              <a:rPr sz="2400" spc="-5">
                <a:latin typeface="Arial MT"/>
                <a:cs typeface="Arial MT"/>
              </a:rPr>
              <a:t>Compilation</a:t>
            </a:r>
            <a:r>
              <a:rPr sz="2400" spc="-20">
                <a:latin typeface="Arial MT"/>
                <a:cs typeface="Arial MT"/>
              </a:rPr>
              <a:t> </a:t>
            </a:r>
            <a:r>
              <a:rPr sz="2400" spc="-5">
                <a:latin typeface="Arial MT"/>
                <a:cs typeface="Arial MT"/>
              </a:rPr>
              <a:t>en</a:t>
            </a:r>
            <a:r>
              <a:rPr sz="2400" spc="-20">
                <a:latin typeface="Arial MT"/>
                <a:cs typeface="Arial MT"/>
              </a:rPr>
              <a:t> </a:t>
            </a:r>
            <a:r>
              <a:rPr sz="2400" spc="-5">
                <a:latin typeface="Arial MT"/>
                <a:cs typeface="Arial MT"/>
              </a:rPr>
              <a:t>langage</a:t>
            </a:r>
            <a:r>
              <a:rPr sz="2400" spc="-15">
                <a:latin typeface="Arial MT"/>
                <a:cs typeface="Arial MT"/>
              </a:rPr>
              <a:t> </a:t>
            </a:r>
            <a:r>
              <a:rPr sz="2400" spc="-5">
                <a:latin typeface="Arial MT"/>
                <a:cs typeface="Arial MT"/>
              </a:rPr>
              <a:t>assembleur</a:t>
            </a:r>
            <a:endParaRPr sz="2400">
              <a:latin typeface="Arial MT"/>
              <a:cs typeface="Arial MT"/>
            </a:endParaRPr>
          </a:p>
        </p:txBody>
      </p:sp>
      <p:sp>
        <p:nvSpPr>
          <p:cNvPr id="8" name="object 3">
            <a:extLst>
              <a:ext uri="{FF2B5EF4-FFF2-40B4-BE49-F238E27FC236}">
                <a16:creationId xmlns:a16="http://schemas.microsoft.com/office/drawing/2014/main" id="{F14BCE13-A65F-E07F-9B75-426A511FA403}"/>
              </a:ext>
            </a:extLst>
          </p:cNvPr>
          <p:cNvSpPr txBox="1"/>
          <p:nvPr/>
        </p:nvSpPr>
        <p:spPr>
          <a:xfrm>
            <a:off x="148440" y="4170947"/>
            <a:ext cx="7613015" cy="375920"/>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sz="2300" b="1" spc="-5">
                <a:latin typeface="Arial"/>
                <a:cs typeface="Arial"/>
              </a:rPr>
              <a:t>Etape</a:t>
            </a:r>
            <a:r>
              <a:rPr sz="2300" b="1" spc="-25">
                <a:latin typeface="Arial"/>
                <a:cs typeface="Arial"/>
              </a:rPr>
              <a:t> </a:t>
            </a:r>
            <a:r>
              <a:rPr sz="2300" b="1" spc="10">
                <a:latin typeface="Arial"/>
                <a:cs typeface="Arial"/>
              </a:rPr>
              <a:t>3</a:t>
            </a:r>
            <a:r>
              <a:rPr sz="2300" spc="10">
                <a:latin typeface="Arial MT"/>
                <a:cs typeface="Arial MT"/>
              </a:rPr>
              <a:t>:</a:t>
            </a:r>
            <a:r>
              <a:rPr sz="2300" spc="-20">
                <a:latin typeface="Arial MT"/>
                <a:cs typeface="Arial MT"/>
              </a:rPr>
              <a:t> </a:t>
            </a:r>
            <a:r>
              <a:rPr sz="2300" spc="-5">
                <a:latin typeface="Arial MT"/>
                <a:cs typeface="Arial MT"/>
              </a:rPr>
              <a:t>Transformation</a:t>
            </a:r>
            <a:r>
              <a:rPr sz="2300" spc="-20">
                <a:latin typeface="Arial MT"/>
                <a:cs typeface="Arial MT"/>
              </a:rPr>
              <a:t> </a:t>
            </a:r>
            <a:r>
              <a:rPr sz="2300" spc="-5">
                <a:latin typeface="Arial MT"/>
                <a:cs typeface="Arial MT"/>
              </a:rPr>
              <a:t>de</a:t>
            </a:r>
            <a:r>
              <a:rPr sz="2300" spc="-15">
                <a:latin typeface="Arial MT"/>
                <a:cs typeface="Arial MT"/>
              </a:rPr>
              <a:t> </a:t>
            </a:r>
            <a:r>
              <a:rPr sz="2300" spc="-5">
                <a:latin typeface="Arial MT"/>
                <a:cs typeface="Arial MT"/>
              </a:rPr>
              <a:t>l’assembleur</a:t>
            </a:r>
            <a:r>
              <a:rPr sz="2300" spc="-15">
                <a:latin typeface="Arial MT"/>
                <a:cs typeface="Arial MT"/>
              </a:rPr>
              <a:t> </a:t>
            </a:r>
            <a:r>
              <a:rPr sz="2300" spc="-5">
                <a:latin typeface="Arial MT"/>
                <a:cs typeface="Arial MT"/>
              </a:rPr>
              <a:t>en</a:t>
            </a:r>
            <a:r>
              <a:rPr sz="2300" spc="-15">
                <a:latin typeface="Arial MT"/>
                <a:cs typeface="Arial MT"/>
              </a:rPr>
              <a:t> </a:t>
            </a:r>
            <a:r>
              <a:rPr sz="2300">
                <a:latin typeface="Arial MT"/>
                <a:cs typeface="Arial MT"/>
              </a:rPr>
              <a:t>code</a:t>
            </a:r>
            <a:r>
              <a:rPr sz="2300" spc="-15">
                <a:latin typeface="Arial MT"/>
                <a:cs typeface="Arial MT"/>
              </a:rPr>
              <a:t> </a:t>
            </a:r>
            <a:r>
              <a:rPr sz="2300">
                <a:latin typeface="Arial MT"/>
                <a:cs typeface="Arial MT"/>
              </a:rPr>
              <a:t>machine</a:t>
            </a:r>
          </a:p>
        </p:txBody>
      </p:sp>
      <p:sp>
        <p:nvSpPr>
          <p:cNvPr id="9" name="object 19">
            <a:extLst>
              <a:ext uri="{FF2B5EF4-FFF2-40B4-BE49-F238E27FC236}">
                <a16:creationId xmlns:a16="http://schemas.microsoft.com/office/drawing/2014/main" id="{B09C0C31-3398-CA37-ED7E-F256275617F9}"/>
              </a:ext>
            </a:extLst>
          </p:cNvPr>
          <p:cNvSpPr txBox="1"/>
          <p:nvPr/>
        </p:nvSpPr>
        <p:spPr>
          <a:xfrm>
            <a:off x="148440" y="5331727"/>
            <a:ext cx="3972560" cy="412934"/>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12395">
              <a:lnSpc>
                <a:spcPct val="100000"/>
              </a:lnSpc>
              <a:spcBef>
                <a:spcPts val="100"/>
              </a:spcBef>
            </a:pPr>
            <a:r>
              <a:rPr sz="2600" b="1" spc="-10">
                <a:latin typeface="Arial"/>
                <a:cs typeface="Arial"/>
              </a:rPr>
              <a:t>Etape</a:t>
            </a:r>
            <a:r>
              <a:rPr sz="2600" b="1" spc="-25">
                <a:latin typeface="Arial"/>
                <a:cs typeface="Arial"/>
              </a:rPr>
              <a:t> </a:t>
            </a:r>
            <a:r>
              <a:rPr sz="2600" b="1">
                <a:latin typeface="Arial"/>
                <a:cs typeface="Arial"/>
              </a:rPr>
              <a:t>4</a:t>
            </a:r>
            <a:r>
              <a:rPr sz="2600" b="1" spc="10">
                <a:latin typeface="Arial"/>
                <a:cs typeface="Arial"/>
              </a:rPr>
              <a:t> </a:t>
            </a:r>
            <a:r>
              <a:rPr sz="2600">
                <a:latin typeface="Arial MT"/>
                <a:cs typeface="Arial MT"/>
              </a:rPr>
              <a:t>:</a:t>
            </a:r>
            <a:r>
              <a:rPr sz="2600" spc="-25">
                <a:latin typeface="Arial MT"/>
                <a:cs typeface="Arial MT"/>
              </a:rPr>
              <a:t> </a:t>
            </a:r>
            <a:r>
              <a:rPr sz="2600" spc="-10">
                <a:latin typeface="Arial MT"/>
                <a:cs typeface="Arial MT"/>
              </a:rPr>
              <a:t>Edition</a:t>
            </a:r>
            <a:r>
              <a:rPr sz="2600" spc="-25">
                <a:latin typeface="Arial MT"/>
                <a:cs typeface="Arial MT"/>
              </a:rPr>
              <a:t> </a:t>
            </a:r>
            <a:r>
              <a:rPr sz="2600" spc="-5">
                <a:latin typeface="Arial MT"/>
                <a:cs typeface="Arial MT"/>
              </a:rPr>
              <a:t>des</a:t>
            </a:r>
            <a:r>
              <a:rPr sz="2600" spc="-20">
                <a:latin typeface="Arial MT"/>
                <a:cs typeface="Arial MT"/>
              </a:rPr>
              <a:t> </a:t>
            </a:r>
            <a:r>
              <a:rPr sz="2600" spc="-5">
                <a:latin typeface="Arial MT"/>
                <a:cs typeface="Arial MT"/>
              </a:rPr>
              <a:t>liens</a:t>
            </a:r>
            <a:endParaRPr sz="2600">
              <a:latin typeface="Arial MT"/>
              <a:cs typeface="Arial MT"/>
            </a:endParaRPr>
          </a:p>
        </p:txBody>
      </p:sp>
      <p:sp>
        <p:nvSpPr>
          <p:cNvPr id="10" name="object 28">
            <a:extLst>
              <a:ext uri="{FF2B5EF4-FFF2-40B4-BE49-F238E27FC236}">
                <a16:creationId xmlns:a16="http://schemas.microsoft.com/office/drawing/2014/main" id="{861BE410-CC50-3267-3DB2-262E0E5C5EC1}"/>
              </a:ext>
            </a:extLst>
          </p:cNvPr>
          <p:cNvSpPr txBox="1"/>
          <p:nvPr/>
        </p:nvSpPr>
        <p:spPr>
          <a:xfrm>
            <a:off x="200382" y="1811988"/>
            <a:ext cx="3585118" cy="290657"/>
          </a:xfrm>
          <a:prstGeom prst="rect">
            <a:avLst/>
          </a:prstGeom>
        </p:spPr>
        <p:txBody>
          <a:bodyPr vert="horz" wrap="square" lIns="0" tIns="1079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98450" marR="5080" indent="-285750">
              <a:lnSpc>
                <a:spcPct val="100699"/>
              </a:lnSpc>
              <a:spcBef>
                <a:spcPts val="85"/>
              </a:spcBef>
              <a:buFont typeface="Wingdings" panose="05000000000000000000" pitchFamily="2" charset="2"/>
              <a:buChar char="§"/>
            </a:pPr>
            <a:r>
              <a:rPr sz="1800" b="1" spc="-5">
                <a:solidFill>
                  <a:srgbClr val="FF0000"/>
                </a:solidFill>
                <a:latin typeface="Arial"/>
                <a:cs typeface="Arial"/>
              </a:rPr>
              <a:t>gcc</a:t>
            </a:r>
            <a:r>
              <a:rPr sz="1800" b="1" spc="-35">
                <a:solidFill>
                  <a:srgbClr val="FF0000"/>
                </a:solidFill>
                <a:latin typeface="Arial"/>
                <a:cs typeface="Arial"/>
              </a:rPr>
              <a:t> </a:t>
            </a:r>
            <a:r>
              <a:rPr sz="1800" b="1">
                <a:solidFill>
                  <a:srgbClr val="FF0000"/>
                </a:solidFill>
                <a:latin typeface="Arial"/>
                <a:cs typeface="Arial"/>
              </a:rPr>
              <a:t>-E</a:t>
            </a:r>
            <a:r>
              <a:rPr sz="1800" b="1" spc="-35">
                <a:solidFill>
                  <a:srgbClr val="FF0000"/>
                </a:solidFill>
                <a:latin typeface="Arial"/>
                <a:cs typeface="Arial"/>
              </a:rPr>
              <a:t> </a:t>
            </a:r>
            <a:r>
              <a:rPr sz="1800" b="1" spc="-5" err="1">
                <a:solidFill>
                  <a:srgbClr val="FF0000"/>
                </a:solidFill>
                <a:latin typeface="Arial"/>
                <a:cs typeface="Arial"/>
              </a:rPr>
              <a:t>bonjour.c</a:t>
            </a:r>
            <a:r>
              <a:rPr lang="fr-FR" sz="1800" b="1" spc="-5">
                <a:solidFill>
                  <a:srgbClr val="FF0000"/>
                </a:solidFill>
                <a:latin typeface="Arial"/>
                <a:cs typeface="Arial"/>
              </a:rPr>
              <a:t> –o </a:t>
            </a:r>
            <a:r>
              <a:rPr lang="fr-FR" sz="1800" b="1" spc="-5" err="1">
                <a:solidFill>
                  <a:srgbClr val="FF0000"/>
                </a:solidFill>
                <a:latin typeface="Arial"/>
                <a:cs typeface="Arial"/>
              </a:rPr>
              <a:t>bonjour.i</a:t>
            </a:r>
            <a:endParaRPr sz="1800">
              <a:solidFill>
                <a:srgbClr val="00B050"/>
              </a:solidFill>
              <a:latin typeface="Arial"/>
              <a:cs typeface="Arial"/>
            </a:endParaRPr>
          </a:p>
        </p:txBody>
      </p:sp>
      <p:sp>
        <p:nvSpPr>
          <p:cNvPr id="11" name="Rectangle 10">
            <a:extLst>
              <a:ext uri="{FF2B5EF4-FFF2-40B4-BE49-F238E27FC236}">
                <a16:creationId xmlns:a16="http://schemas.microsoft.com/office/drawing/2014/main" id="{DE14796E-91D5-D7A2-E913-E490F5C91E9E}"/>
              </a:ext>
            </a:extLst>
          </p:cNvPr>
          <p:cNvSpPr/>
          <p:nvPr/>
        </p:nvSpPr>
        <p:spPr>
          <a:xfrm>
            <a:off x="123445" y="2102645"/>
            <a:ext cx="1460080" cy="37209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98450" marR="5080" indent="-285750">
              <a:lnSpc>
                <a:spcPct val="100699"/>
              </a:lnSpc>
              <a:spcBef>
                <a:spcPts val="85"/>
              </a:spcBef>
              <a:buFont typeface="Wingdings" panose="05000000000000000000" pitchFamily="2" charset="2"/>
              <a:buChar char="Ø"/>
            </a:pPr>
            <a:r>
              <a:rPr lang="en-US" b="1" spc="-5" err="1">
                <a:solidFill>
                  <a:srgbClr val="00B050"/>
                </a:solidFill>
                <a:latin typeface="Arial"/>
                <a:cs typeface="Arial"/>
              </a:rPr>
              <a:t>bonjour.i</a:t>
            </a:r>
            <a:endParaRPr lang="en-US">
              <a:solidFill>
                <a:srgbClr val="00B050"/>
              </a:solidFill>
              <a:latin typeface="Arial"/>
              <a:cs typeface="Arial"/>
            </a:endParaRPr>
          </a:p>
        </p:txBody>
      </p:sp>
      <p:sp>
        <p:nvSpPr>
          <p:cNvPr id="12" name="object 51">
            <a:extLst>
              <a:ext uri="{FF2B5EF4-FFF2-40B4-BE49-F238E27FC236}">
                <a16:creationId xmlns:a16="http://schemas.microsoft.com/office/drawing/2014/main" id="{3335F313-5C86-D76E-CCE1-58CF26DE5A42}"/>
              </a:ext>
            </a:extLst>
          </p:cNvPr>
          <p:cNvSpPr txBox="1"/>
          <p:nvPr/>
        </p:nvSpPr>
        <p:spPr>
          <a:xfrm>
            <a:off x="152259" y="3722248"/>
            <a:ext cx="1372560" cy="289823"/>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98450" indent="-285750">
              <a:lnSpc>
                <a:spcPct val="100000"/>
              </a:lnSpc>
              <a:spcBef>
                <a:spcPts val="100"/>
              </a:spcBef>
              <a:buFont typeface="Wingdings" panose="05000000000000000000" pitchFamily="2" charset="2"/>
              <a:buChar char="Ø"/>
            </a:pPr>
            <a:r>
              <a:rPr sz="1800" b="1" spc="-5">
                <a:solidFill>
                  <a:srgbClr val="00B050"/>
                </a:solidFill>
                <a:latin typeface="Arial"/>
                <a:cs typeface="Arial"/>
              </a:rPr>
              <a:t>bonjour.s</a:t>
            </a:r>
            <a:endParaRPr sz="1800">
              <a:solidFill>
                <a:srgbClr val="00B050"/>
              </a:solidFill>
              <a:latin typeface="Arial"/>
              <a:cs typeface="Arial"/>
            </a:endParaRPr>
          </a:p>
        </p:txBody>
      </p:sp>
      <p:sp>
        <p:nvSpPr>
          <p:cNvPr id="13" name="object 52">
            <a:extLst>
              <a:ext uri="{FF2B5EF4-FFF2-40B4-BE49-F238E27FC236}">
                <a16:creationId xmlns:a16="http://schemas.microsoft.com/office/drawing/2014/main" id="{A61E58ED-1E92-8CA7-D699-B1FB43063AC7}"/>
              </a:ext>
            </a:extLst>
          </p:cNvPr>
          <p:cNvSpPr txBox="1"/>
          <p:nvPr/>
        </p:nvSpPr>
        <p:spPr>
          <a:xfrm>
            <a:off x="177584" y="3328917"/>
            <a:ext cx="3943416" cy="289823"/>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98450" indent="-285750">
              <a:lnSpc>
                <a:spcPct val="100000"/>
              </a:lnSpc>
              <a:spcBef>
                <a:spcPts val="100"/>
              </a:spcBef>
              <a:buFont typeface="Wingdings" panose="05000000000000000000" pitchFamily="2" charset="2"/>
              <a:buChar char="§"/>
            </a:pPr>
            <a:r>
              <a:rPr sz="1800" b="1" spc="-5">
                <a:solidFill>
                  <a:srgbClr val="FF0000"/>
                </a:solidFill>
                <a:latin typeface="Arial"/>
                <a:cs typeface="Arial"/>
              </a:rPr>
              <a:t>gcc</a:t>
            </a:r>
            <a:r>
              <a:rPr sz="1800" b="1" spc="-50">
                <a:solidFill>
                  <a:srgbClr val="FF0000"/>
                </a:solidFill>
                <a:latin typeface="Arial"/>
                <a:cs typeface="Arial"/>
              </a:rPr>
              <a:t> </a:t>
            </a:r>
            <a:r>
              <a:rPr sz="1800" b="1">
                <a:solidFill>
                  <a:srgbClr val="FF0000"/>
                </a:solidFill>
                <a:latin typeface="Arial"/>
                <a:cs typeface="Arial"/>
              </a:rPr>
              <a:t>-S</a:t>
            </a:r>
            <a:r>
              <a:rPr sz="1800" b="1" spc="-45">
                <a:solidFill>
                  <a:srgbClr val="FF0000"/>
                </a:solidFill>
                <a:latin typeface="Arial"/>
                <a:cs typeface="Arial"/>
              </a:rPr>
              <a:t> </a:t>
            </a:r>
            <a:r>
              <a:rPr sz="1800" b="1" spc="-5" err="1">
                <a:solidFill>
                  <a:srgbClr val="FF0000"/>
                </a:solidFill>
                <a:latin typeface="Arial"/>
                <a:cs typeface="Arial"/>
              </a:rPr>
              <a:t>bonjour.i</a:t>
            </a:r>
            <a:r>
              <a:rPr lang="fr-FR" sz="1800" b="1" spc="-5">
                <a:solidFill>
                  <a:srgbClr val="FF0000"/>
                </a:solidFill>
                <a:latin typeface="Arial"/>
                <a:cs typeface="Arial"/>
              </a:rPr>
              <a:t> –o </a:t>
            </a:r>
            <a:r>
              <a:rPr lang="fr-FR" sz="1800" b="1" spc="-5" err="1">
                <a:solidFill>
                  <a:srgbClr val="FF0000"/>
                </a:solidFill>
                <a:latin typeface="Arial"/>
                <a:cs typeface="Arial"/>
              </a:rPr>
              <a:t>bonjour.s</a:t>
            </a:r>
            <a:endParaRPr sz="1800">
              <a:solidFill>
                <a:srgbClr val="FF0000"/>
              </a:solidFill>
              <a:latin typeface="Arial"/>
              <a:cs typeface="Arial"/>
            </a:endParaRPr>
          </a:p>
        </p:txBody>
      </p:sp>
      <p:sp>
        <p:nvSpPr>
          <p:cNvPr id="14" name="object 26">
            <a:extLst>
              <a:ext uri="{FF2B5EF4-FFF2-40B4-BE49-F238E27FC236}">
                <a16:creationId xmlns:a16="http://schemas.microsoft.com/office/drawing/2014/main" id="{F843A0CD-9C96-E393-DD70-27D370F10825}"/>
              </a:ext>
            </a:extLst>
          </p:cNvPr>
          <p:cNvSpPr txBox="1"/>
          <p:nvPr/>
        </p:nvSpPr>
        <p:spPr>
          <a:xfrm>
            <a:off x="289566" y="4574797"/>
            <a:ext cx="2156392" cy="289823"/>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98450" indent="-285750">
              <a:lnSpc>
                <a:spcPct val="100000"/>
              </a:lnSpc>
              <a:spcBef>
                <a:spcPts val="100"/>
              </a:spcBef>
              <a:buFont typeface="Arial" panose="020B0604020202020204" pitchFamily="34" charset="0"/>
              <a:buChar char="•"/>
            </a:pPr>
            <a:r>
              <a:rPr sz="1800" b="1" spc="-5">
                <a:solidFill>
                  <a:srgbClr val="FF0000"/>
                </a:solidFill>
                <a:latin typeface="Arial"/>
                <a:cs typeface="Arial"/>
              </a:rPr>
              <a:t>gcc</a:t>
            </a:r>
            <a:r>
              <a:rPr sz="1800" b="1" spc="-50">
                <a:solidFill>
                  <a:srgbClr val="FF0000"/>
                </a:solidFill>
                <a:latin typeface="Arial"/>
                <a:cs typeface="Arial"/>
              </a:rPr>
              <a:t> </a:t>
            </a:r>
            <a:r>
              <a:rPr sz="1800" b="1">
                <a:solidFill>
                  <a:srgbClr val="FF0000"/>
                </a:solidFill>
                <a:latin typeface="Arial"/>
                <a:cs typeface="Arial"/>
              </a:rPr>
              <a:t>-c</a:t>
            </a:r>
            <a:r>
              <a:rPr sz="1800" b="1" spc="-45">
                <a:solidFill>
                  <a:srgbClr val="FF0000"/>
                </a:solidFill>
                <a:latin typeface="Arial"/>
                <a:cs typeface="Arial"/>
              </a:rPr>
              <a:t> </a:t>
            </a:r>
            <a:r>
              <a:rPr sz="1800" b="1" spc="-5">
                <a:solidFill>
                  <a:srgbClr val="FF0000"/>
                </a:solidFill>
                <a:latin typeface="Arial"/>
                <a:cs typeface="Arial"/>
              </a:rPr>
              <a:t>bonjour.s</a:t>
            </a:r>
            <a:endParaRPr sz="1800">
              <a:solidFill>
                <a:srgbClr val="FF0000"/>
              </a:solidFill>
              <a:latin typeface="Arial"/>
              <a:cs typeface="Arial"/>
            </a:endParaRPr>
          </a:p>
        </p:txBody>
      </p:sp>
      <p:sp>
        <p:nvSpPr>
          <p:cNvPr id="15" name="Rectangle 14">
            <a:extLst>
              <a:ext uri="{FF2B5EF4-FFF2-40B4-BE49-F238E27FC236}">
                <a16:creationId xmlns:a16="http://schemas.microsoft.com/office/drawing/2014/main" id="{D6C6081F-97FE-87AC-0717-5062778B728C}"/>
              </a:ext>
            </a:extLst>
          </p:cNvPr>
          <p:cNvSpPr/>
          <p:nvPr/>
        </p:nvSpPr>
        <p:spPr>
          <a:xfrm>
            <a:off x="177584" y="4946569"/>
            <a:ext cx="1531894"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98450" indent="-285750">
              <a:lnSpc>
                <a:spcPct val="100000"/>
              </a:lnSpc>
              <a:spcBef>
                <a:spcPts val="100"/>
              </a:spcBef>
              <a:buFont typeface="Wingdings" panose="05000000000000000000" pitchFamily="2" charset="2"/>
              <a:buChar char="Ø"/>
            </a:pPr>
            <a:r>
              <a:rPr lang="en-US" b="1" spc="-5" err="1">
                <a:solidFill>
                  <a:srgbClr val="00B050"/>
                </a:solidFill>
                <a:latin typeface="Arial"/>
                <a:cs typeface="Arial"/>
              </a:rPr>
              <a:t>bonjour.o</a:t>
            </a:r>
            <a:endParaRPr lang="en-US">
              <a:solidFill>
                <a:srgbClr val="00B050"/>
              </a:solidFill>
              <a:latin typeface="Arial"/>
              <a:cs typeface="Arial"/>
            </a:endParaRPr>
          </a:p>
        </p:txBody>
      </p:sp>
      <p:sp>
        <p:nvSpPr>
          <p:cNvPr id="16" name="Rectangle 15">
            <a:extLst>
              <a:ext uri="{FF2B5EF4-FFF2-40B4-BE49-F238E27FC236}">
                <a16:creationId xmlns:a16="http://schemas.microsoft.com/office/drawing/2014/main" id="{96CB7642-9F8F-16EA-CEBB-C02BC2A931F6}"/>
              </a:ext>
            </a:extLst>
          </p:cNvPr>
          <p:cNvSpPr/>
          <p:nvPr/>
        </p:nvSpPr>
        <p:spPr>
          <a:xfrm>
            <a:off x="419100" y="5682767"/>
            <a:ext cx="2211439" cy="40011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42900">
              <a:lnSpc>
                <a:spcPct val="100000"/>
              </a:lnSpc>
              <a:spcBef>
                <a:spcPts val="1930"/>
              </a:spcBef>
              <a:buFont typeface="Wingdings" panose="05000000000000000000" pitchFamily="2" charset="2"/>
              <a:buChar char="§"/>
            </a:pPr>
            <a:r>
              <a:rPr lang="en-US" sz="2000" b="1" spc="-5" err="1">
                <a:solidFill>
                  <a:srgbClr val="FF0000"/>
                </a:solidFill>
                <a:latin typeface="Arial"/>
                <a:cs typeface="Arial"/>
              </a:rPr>
              <a:t>gcc</a:t>
            </a:r>
            <a:r>
              <a:rPr lang="en-US" sz="2000" b="1" spc="-50">
                <a:solidFill>
                  <a:srgbClr val="FF0000"/>
                </a:solidFill>
                <a:latin typeface="Arial"/>
                <a:cs typeface="Arial"/>
              </a:rPr>
              <a:t> </a:t>
            </a:r>
            <a:r>
              <a:rPr lang="en-US" sz="2000" b="1" spc="-5" err="1">
                <a:solidFill>
                  <a:srgbClr val="FF0000"/>
                </a:solidFill>
                <a:latin typeface="Arial"/>
                <a:cs typeface="Arial"/>
              </a:rPr>
              <a:t>bonjour.o</a:t>
            </a:r>
            <a:endParaRPr lang="en-US" sz="2000">
              <a:solidFill>
                <a:srgbClr val="FF0000"/>
              </a:solidFill>
              <a:latin typeface="Arial"/>
              <a:cs typeface="Arial"/>
            </a:endParaRPr>
          </a:p>
        </p:txBody>
      </p:sp>
      <p:sp>
        <p:nvSpPr>
          <p:cNvPr id="17" name="Rectangle 16">
            <a:extLst>
              <a:ext uri="{FF2B5EF4-FFF2-40B4-BE49-F238E27FC236}">
                <a16:creationId xmlns:a16="http://schemas.microsoft.com/office/drawing/2014/main" id="{56E8DF65-0CDF-CBE6-E4D1-DEDA4C5B4E8F}"/>
              </a:ext>
            </a:extLst>
          </p:cNvPr>
          <p:cNvSpPr/>
          <p:nvPr/>
        </p:nvSpPr>
        <p:spPr>
          <a:xfrm>
            <a:off x="375740" y="6135504"/>
            <a:ext cx="1152880" cy="400110"/>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55600" indent="-342900">
              <a:lnSpc>
                <a:spcPct val="100000"/>
              </a:lnSpc>
              <a:spcBef>
                <a:spcPts val="1930"/>
              </a:spcBef>
              <a:buFont typeface="Wingdings" panose="05000000000000000000" pitchFamily="2" charset="2"/>
              <a:buChar char="Ø"/>
            </a:pPr>
            <a:r>
              <a:rPr lang="en-US" sz="2000" b="1" spc="-5" err="1">
                <a:solidFill>
                  <a:srgbClr val="00B050"/>
                </a:solidFill>
                <a:latin typeface="Arial"/>
                <a:cs typeface="Arial"/>
              </a:rPr>
              <a:t>a.out</a:t>
            </a:r>
            <a:endParaRPr lang="en-US" sz="2000">
              <a:solidFill>
                <a:srgbClr val="00B050"/>
              </a:solidFill>
              <a:latin typeface="Arial"/>
              <a:cs typeface="Arial"/>
            </a:endParaRPr>
          </a:p>
        </p:txBody>
      </p:sp>
      <p:sp>
        <p:nvSpPr>
          <p:cNvPr id="18" name="object 24">
            <a:extLst>
              <a:ext uri="{FF2B5EF4-FFF2-40B4-BE49-F238E27FC236}">
                <a16:creationId xmlns:a16="http://schemas.microsoft.com/office/drawing/2014/main" id="{D3FD7A63-9C05-A2BF-3894-5C8F82DEC515}"/>
              </a:ext>
            </a:extLst>
          </p:cNvPr>
          <p:cNvSpPr txBox="1"/>
          <p:nvPr/>
        </p:nvSpPr>
        <p:spPr>
          <a:xfrm>
            <a:off x="3226285" y="5041904"/>
            <a:ext cx="2572853" cy="289823"/>
          </a:xfrm>
          <a:prstGeom prst="rect">
            <a:avLst/>
          </a:prstGeom>
        </p:spPr>
        <p:txBody>
          <a:bodyPr vert="horz" wrap="square" lIns="0" tIns="1270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0">
              <a:lnSpc>
                <a:spcPct val="100000"/>
              </a:lnSpc>
              <a:spcBef>
                <a:spcPts val="100"/>
              </a:spcBef>
            </a:pPr>
            <a:r>
              <a:rPr b="1" spc="-5">
                <a:solidFill>
                  <a:srgbClr val="FF0000"/>
                </a:solidFill>
                <a:latin typeface="Courier New"/>
                <a:cs typeface="Courier New"/>
              </a:rPr>
              <a:t>od</a:t>
            </a:r>
            <a:r>
              <a:rPr b="1" spc="-45">
                <a:solidFill>
                  <a:srgbClr val="FF0000"/>
                </a:solidFill>
                <a:latin typeface="Courier New"/>
                <a:cs typeface="Courier New"/>
              </a:rPr>
              <a:t> </a:t>
            </a:r>
            <a:r>
              <a:rPr b="1" spc="-5">
                <a:solidFill>
                  <a:srgbClr val="FF0000"/>
                </a:solidFill>
                <a:latin typeface="Courier New"/>
                <a:cs typeface="Courier New"/>
              </a:rPr>
              <a:t>-x</a:t>
            </a:r>
            <a:r>
              <a:rPr b="1" spc="-45">
                <a:solidFill>
                  <a:srgbClr val="FF0000"/>
                </a:solidFill>
                <a:latin typeface="Courier New"/>
                <a:cs typeface="Courier New"/>
              </a:rPr>
              <a:t> </a:t>
            </a:r>
            <a:r>
              <a:rPr b="1" spc="-5">
                <a:solidFill>
                  <a:srgbClr val="FF0000"/>
                </a:solidFill>
                <a:latin typeface="Courier New"/>
                <a:cs typeface="Courier New"/>
              </a:rPr>
              <a:t>bonjour.o</a:t>
            </a:r>
            <a:endParaRPr b="1">
              <a:solidFill>
                <a:srgbClr val="FF0000"/>
              </a:solidFill>
              <a:latin typeface="Courier New"/>
              <a:cs typeface="Courier New"/>
            </a:endParaRPr>
          </a:p>
        </p:txBody>
      </p:sp>
      <p:sp>
        <p:nvSpPr>
          <p:cNvPr id="19" name="object 28">
            <a:extLst>
              <a:ext uri="{FF2B5EF4-FFF2-40B4-BE49-F238E27FC236}">
                <a16:creationId xmlns:a16="http://schemas.microsoft.com/office/drawing/2014/main" id="{785787A3-ADEB-D872-6CEA-82A513218E2E}"/>
              </a:ext>
            </a:extLst>
          </p:cNvPr>
          <p:cNvSpPr txBox="1"/>
          <p:nvPr/>
        </p:nvSpPr>
        <p:spPr>
          <a:xfrm>
            <a:off x="167718" y="2512639"/>
            <a:ext cx="3585118" cy="290657"/>
          </a:xfrm>
          <a:prstGeom prst="rect">
            <a:avLst/>
          </a:prstGeom>
        </p:spPr>
        <p:txBody>
          <a:bodyPr vert="horz" wrap="square" lIns="0" tIns="10795"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98450" marR="5080" indent="-285750">
              <a:lnSpc>
                <a:spcPct val="100699"/>
              </a:lnSpc>
              <a:spcBef>
                <a:spcPts val="85"/>
              </a:spcBef>
              <a:buFont typeface="Wingdings" panose="05000000000000000000" pitchFamily="2" charset="2"/>
              <a:buChar char="§"/>
            </a:pPr>
            <a:r>
              <a:rPr lang="fr-FR" sz="1800" b="1" spc="-5">
                <a:solidFill>
                  <a:srgbClr val="FF0000"/>
                </a:solidFill>
                <a:latin typeface="Arial"/>
                <a:cs typeface="Arial"/>
              </a:rPr>
              <a:t>Cat </a:t>
            </a:r>
            <a:r>
              <a:rPr lang="fr-FR" sz="1800" b="1" spc="-5" err="1">
                <a:solidFill>
                  <a:srgbClr val="FF0000"/>
                </a:solidFill>
                <a:latin typeface="Arial"/>
                <a:cs typeface="Arial"/>
              </a:rPr>
              <a:t>bonjour.i</a:t>
            </a:r>
            <a:endParaRPr sz="1800">
              <a:solidFill>
                <a:srgbClr val="00B050"/>
              </a:solidFill>
              <a:latin typeface="Arial"/>
              <a:cs typeface="Arial"/>
            </a:endParaRPr>
          </a:p>
        </p:txBody>
      </p:sp>
    </p:spTree>
    <p:extLst>
      <p:ext uri="{BB962C8B-B14F-4D97-AF65-F5344CB8AC3E}">
        <p14:creationId xmlns:p14="http://schemas.microsoft.com/office/powerpoint/2010/main" val="25148864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64"/>
        <p:cNvGrpSpPr/>
        <p:nvPr/>
      </p:nvGrpSpPr>
      <p:grpSpPr>
        <a:xfrm>
          <a:off x="0" y="0"/>
          <a:ext cx="0" cy="0"/>
          <a:chOff x="0" y="0"/>
          <a:chExt cx="0" cy="0"/>
        </a:xfrm>
      </p:grpSpPr>
      <p:sp>
        <p:nvSpPr>
          <p:cNvPr id="665" name="Google Shape;665;p102"/>
          <p:cNvSpPr txBox="1">
            <a:spLocks noGrp="1"/>
          </p:cNvSpPr>
          <p:nvPr>
            <p:ph type="title"/>
          </p:nvPr>
        </p:nvSpPr>
        <p:spPr>
          <a:xfrm>
            <a:off x="304800" y="2484150"/>
            <a:ext cx="8362500" cy="6906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4400" dirty="0"/>
              <a:t>Chapitre 2</a:t>
            </a:r>
            <a:r>
              <a:rPr lang="fr-FR" sz="4400" b="0" dirty="0">
                <a:latin typeface="Calibri"/>
                <a:ea typeface="Calibri"/>
                <a:cs typeface="Calibri"/>
                <a:sym typeface="Calibri"/>
              </a:rPr>
              <a:t>:</a:t>
            </a:r>
            <a:r>
              <a:rPr lang="fr-FR" sz="4400" dirty="0"/>
              <a:t>La gestion des processus</a:t>
            </a:r>
            <a:endParaRPr sz="4400" dirty="0">
              <a:latin typeface="Calibri"/>
              <a:ea typeface="Calibri"/>
              <a:cs typeface="Calibri"/>
              <a:sym typeface="Calibri"/>
            </a:endParaRPr>
          </a:p>
        </p:txBody>
      </p:sp>
      <p:sp>
        <p:nvSpPr>
          <p:cNvPr id="666" name="Google Shape;666;p102"/>
          <p:cNvSpPr txBox="1"/>
          <p:nvPr/>
        </p:nvSpPr>
        <p:spPr>
          <a:xfrm>
            <a:off x="1615566" y="3885691"/>
            <a:ext cx="5908800" cy="1940700"/>
          </a:xfrm>
          <a:prstGeom prst="rect">
            <a:avLst/>
          </a:prstGeom>
          <a:noFill/>
          <a:ln>
            <a:noFill/>
          </a:ln>
        </p:spPr>
        <p:txBody>
          <a:bodyPr spcFirstLastPara="1" wrap="square" lIns="0" tIns="12700" rIns="0" bIns="0" anchor="t" anchorCtr="0">
            <a:spAutoFit/>
          </a:bodyPr>
          <a:lstStyle/>
          <a:p>
            <a:pPr marL="1827529" marR="5080" lvl="0" indent="-1815463" algn="l" rtl="0">
              <a:lnSpc>
                <a:spcPct val="100000"/>
              </a:lnSpc>
              <a:spcBef>
                <a:spcPts val="0"/>
              </a:spcBef>
              <a:spcAft>
                <a:spcPts val="0"/>
              </a:spcAft>
              <a:buClr>
                <a:srgbClr val="000000"/>
              </a:buClr>
              <a:buSzPts val="4100"/>
              <a:buFont typeface="Arial"/>
              <a:buNone/>
            </a:pPr>
            <a:r>
              <a:rPr lang="fr-FR" sz="4100" b="1" i="0" u="none" strike="noStrike" cap="none" dirty="0">
                <a:solidFill>
                  <a:srgbClr val="C00000"/>
                </a:solidFill>
                <a:latin typeface="Calibri"/>
                <a:ea typeface="Calibri"/>
                <a:cs typeface="Calibri"/>
                <a:sym typeface="Calibri"/>
              </a:rPr>
              <a:t>SYSTÈMES D’EXPLOITATION  AVANCÉES</a:t>
            </a:r>
            <a:endParaRPr sz="4100" b="1" i="0" u="none" strike="noStrike" cap="none" dirty="0">
              <a:solidFill>
                <a:srgbClr val="C00000"/>
              </a:solidFill>
              <a:latin typeface="Calibri"/>
              <a:ea typeface="Calibri"/>
              <a:cs typeface="Calibri"/>
              <a:sym typeface="Calibri"/>
            </a:endParaRPr>
          </a:p>
          <a:p>
            <a:pPr marL="1827529" marR="5080" lvl="0" indent="-1815463" algn="l" rtl="0">
              <a:lnSpc>
                <a:spcPct val="100000"/>
              </a:lnSpc>
              <a:spcBef>
                <a:spcPts val="0"/>
              </a:spcBef>
              <a:spcAft>
                <a:spcPts val="0"/>
              </a:spcAft>
              <a:buClr>
                <a:srgbClr val="000000"/>
              </a:buClr>
              <a:buSzPts val="100"/>
              <a:buFont typeface="Arial"/>
              <a:buNone/>
            </a:pPr>
            <a:r>
              <a:rPr lang="fr-FR" sz="100" b="1" i="0" u="none" strike="noStrike" cap="none" dirty="0">
                <a:solidFill>
                  <a:srgbClr val="C00000"/>
                </a:solidFill>
                <a:latin typeface="Calibri"/>
                <a:ea typeface="Calibri"/>
                <a:cs typeface="Calibri"/>
                <a:sym typeface="Calibri"/>
              </a:rPr>
              <a:t>May7ebouch el party</a:t>
            </a:r>
            <a:endParaRPr sz="100" b="1" i="0" u="none" strike="noStrike" cap="none" dirty="0">
              <a:solidFill>
                <a:srgbClr val="C00000"/>
              </a:solidFill>
              <a:latin typeface="Calibri"/>
              <a:ea typeface="Calibri"/>
              <a:cs typeface="Calibri"/>
              <a:sym typeface="Calibri"/>
            </a:endParaRPr>
          </a:p>
          <a:p>
            <a:pPr marL="1827529" marR="5080" lvl="0" indent="-1815464" algn="l" rtl="0">
              <a:lnSpc>
                <a:spcPct val="100000"/>
              </a:lnSpc>
              <a:spcBef>
                <a:spcPts val="0"/>
              </a:spcBef>
              <a:spcAft>
                <a:spcPts val="0"/>
              </a:spcAft>
              <a:buClr>
                <a:srgbClr val="000000"/>
              </a:buClr>
              <a:buSzPts val="4100"/>
              <a:buFont typeface="Arial"/>
              <a:buNone/>
            </a:pPr>
            <a:endParaRPr sz="4100" b="1" i="0" u="none" strike="noStrike" cap="none" dirty="0">
              <a:solidFill>
                <a:srgbClr val="C00000"/>
              </a:solidFill>
              <a:latin typeface="Calibri"/>
              <a:ea typeface="Calibri"/>
              <a:cs typeface="Calibri"/>
              <a:sym typeface="Calibri"/>
            </a:endParaRPr>
          </a:p>
        </p:txBody>
      </p:sp>
      <p:sp>
        <p:nvSpPr>
          <p:cNvPr id="667" name="Google Shape;667;p102"/>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sp>
        <p:nvSpPr>
          <p:cNvPr id="673" name="Google Shape;673;p103"/>
          <p:cNvSpPr>
            <a:spLocks noGrp="1"/>
          </p:cNvSpPr>
          <p:nvPr>
            <p:ph type="title"/>
          </p:nvPr>
        </p:nvSpPr>
        <p:spPr>
          <a:xfrm>
            <a:off x="762000" y="762000"/>
            <a:ext cx="7924800" cy="1143000"/>
          </a:xfrm>
          <a:prstGeom prst="roundRect">
            <a:avLst>
              <a:gd name="adj" fmla="val 21667"/>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1400"/>
              <a:buNone/>
            </a:pPr>
            <a:r>
              <a:rPr lang="fr-FR">
                <a:solidFill>
                  <a:srgbClr val="000000"/>
                </a:solidFill>
              </a:rPr>
              <a:t>Plan</a:t>
            </a:r>
            <a:endParaRPr>
              <a:solidFill>
                <a:srgbClr val="000000"/>
              </a:solidFill>
            </a:endParaRPr>
          </a:p>
          <a:p>
            <a:pPr marL="0" lvl="0" indent="0" algn="l" rtl="0">
              <a:lnSpc>
                <a:spcPct val="90000"/>
              </a:lnSpc>
              <a:spcBef>
                <a:spcPts val="0"/>
              </a:spcBef>
              <a:spcAft>
                <a:spcPts val="0"/>
              </a:spcAft>
              <a:buSzPts val="1400"/>
              <a:buNone/>
            </a:pPr>
            <a:r>
              <a:rPr lang="fr-FR" sz="100">
                <a:solidFill>
                  <a:srgbClr val="000000"/>
                </a:solidFill>
              </a:rPr>
              <a:t>May7ebouch el party</a:t>
            </a:r>
            <a:endParaRPr sz="100">
              <a:solidFill>
                <a:srgbClr val="000000"/>
              </a:solidFill>
            </a:endParaRPr>
          </a:p>
        </p:txBody>
      </p:sp>
      <p:sp>
        <p:nvSpPr>
          <p:cNvPr id="674" name="Google Shape;674;p103"/>
          <p:cNvSpPr txBox="1">
            <a:spLocks noGrp="1"/>
          </p:cNvSpPr>
          <p:nvPr>
            <p:ph type="body" idx="1"/>
          </p:nvPr>
        </p:nvSpPr>
        <p:spPr>
          <a:xfrm>
            <a:off x="762000" y="2362200"/>
            <a:ext cx="7692900" cy="3724200"/>
          </a:xfrm>
          <a:prstGeom prst="rect">
            <a:avLst/>
          </a:prstGeom>
          <a:noFill/>
          <a:ln>
            <a:noFill/>
          </a:ln>
        </p:spPr>
        <p:txBody>
          <a:bodyPr spcFirstLastPara="1" wrap="square" lIns="91425" tIns="45700" rIns="91425" bIns="45700" anchor="t" anchorCtr="0">
            <a:noAutofit/>
          </a:bodyPr>
          <a:lstStyle/>
          <a:p>
            <a:pPr marL="533400" lvl="0" indent="-533400" algn="l" rtl="0">
              <a:lnSpc>
                <a:spcPct val="100000"/>
              </a:lnSpc>
              <a:spcBef>
                <a:spcPts val="0"/>
              </a:spcBef>
              <a:spcAft>
                <a:spcPts val="0"/>
              </a:spcAft>
              <a:buSzPts val="1800"/>
              <a:buFont typeface="Noto Sans Symbols"/>
              <a:buAutoNum type="arabicPeriod"/>
            </a:pPr>
            <a:r>
              <a:rPr lang="fr-FR" sz="2400">
                <a:solidFill>
                  <a:srgbClr val="000000"/>
                </a:solidFill>
              </a:rPr>
              <a:t>Définition</a:t>
            </a:r>
            <a:endParaRPr/>
          </a:p>
          <a:p>
            <a:pPr marL="914400" lvl="1" indent="-457200" algn="l" rtl="0">
              <a:lnSpc>
                <a:spcPct val="100000"/>
              </a:lnSpc>
              <a:spcBef>
                <a:spcPts val="400"/>
              </a:spcBef>
              <a:spcAft>
                <a:spcPts val="0"/>
              </a:spcAft>
              <a:buSzPts val="1500"/>
              <a:buFont typeface="Noto Sans Symbols"/>
              <a:buAutoNum type="alphaLcPeriod"/>
            </a:pPr>
            <a:r>
              <a:rPr lang="fr-FR" sz="2000">
                <a:solidFill>
                  <a:srgbClr val="000000"/>
                </a:solidFill>
              </a:rPr>
              <a:t>Processus</a:t>
            </a:r>
            <a:endParaRPr/>
          </a:p>
          <a:p>
            <a:pPr marL="533400" lvl="0" indent="-533400" algn="l" rtl="0">
              <a:lnSpc>
                <a:spcPct val="100000"/>
              </a:lnSpc>
              <a:spcBef>
                <a:spcPts val="480"/>
              </a:spcBef>
              <a:spcAft>
                <a:spcPts val="0"/>
              </a:spcAft>
              <a:buSzPts val="1800"/>
              <a:buFont typeface="Noto Sans Symbols"/>
              <a:buAutoNum type="arabicPeriod"/>
            </a:pPr>
            <a:r>
              <a:rPr lang="fr-FR" sz="2400">
                <a:solidFill>
                  <a:srgbClr val="000000"/>
                </a:solidFill>
              </a:rPr>
              <a:t>Le modèle des processus</a:t>
            </a:r>
            <a:endParaRPr/>
          </a:p>
          <a:p>
            <a:pPr marL="914400" lvl="1" indent="-457200" algn="l" rtl="0">
              <a:lnSpc>
                <a:spcPct val="100000"/>
              </a:lnSpc>
              <a:spcBef>
                <a:spcPts val="400"/>
              </a:spcBef>
              <a:spcAft>
                <a:spcPts val="0"/>
              </a:spcAft>
              <a:buSzPts val="1500"/>
              <a:buFont typeface="Noto Sans Symbols"/>
              <a:buAutoNum type="alphaLcPeriod"/>
            </a:pPr>
            <a:r>
              <a:rPr lang="fr-FR" sz="2000">
                <a:solidFill>
                  <a:srgbClr val="000000"/>
                </a:solidFill>
              </a:rPr>
              <a:t>L’arborescence</a:t>
            </a:r>
            <a:endParaRPr/>
          </a:p>
          <a:p>
            <a:pPr marL="914400" lvl="1" indent="-457200" algn="l" rtl="0">
              <a:lnSpc>
                <a:spcPct val="100000"/>
              </a:lnSpc>
              <a:spcBef>
                <a:spcPts val="400"/>
              </a:spcBef>
              <a:spcAft>
                <a:spcPts val="0"/>
              </a:spcAft>
              <a:buSzPts val="1500"/>
              <a:buFont typeface="Noto Sans Symbols"/>
              <a:buAutoNum type="alphaLcPeriod"/>
            </a:pPr>
            <a:r>
              <a:rPr lang="fr-FR" sz="2000">
                <a:solidFill>
                  <a:srgbClr val="000000"/>
                </a:solidFill>
              </a:rPr>
              <a:t>Le PCB </a:t>
            </a:r>
            <a:endParaRPr/>
          </a:p>
          <a:p>
            <a:pPr marL="914400" lvl="1" indent="-457200" algn="l" rtl="0">
              <a:lnSpc>
                <a:spcPct val="100000"/>
              </a:lnSpc>
              <a:spcBef>
                <a:spcPts val="400"/>
              </a:spcBef>
              <a:spcAft>
                <a:spcPts val="0"/>
              </a:spcAft>
              <a:buSzPts val="1500"/>
              <a:buFont typeface="Noto Sans Symbols"/>
              <a:buAutoNum type="alphaLcPeriod"/>
            </a:pPr>
            <a:r>
              <a:rPr lang="fr-FR" sz="2000">
                <a:solidFill>
                  <a:srgbClr val="000000"/>
                </a:solidFill>
              </a:rPr>
              <a:t>Les états d’un processus</a:t>
            </a:r>
            <a:endParaRPr/>
          </a:p>
          <a:p>
            <a:pPr marL="914400" lvl="1" indent="-457200" algn="l" rtl="0">
              <a:lnSpc>
                <a:spcPct val="100000"/>
              </a:lnSpc>
              <a:spcBef>
                <a:spcPts val="400"/>
              </a:spcBef>
              <a:spcAft>
                <a:spcPts val="0"/>
              </a:spcAft>
              <a:buSzPts val="1500"/>
              <a:buFont typeface="Noto Sans Symbols"/>
              <a:buAutoNum type="alphaLcPeriod"/>
            </a:pPr>
            <a:r>
              <a:rPr lang="fr-FR" sz="2000">
                <a:solidFill>
                  <a:srgbClr val="000000"/>
                </a:solidFill>
              </a:rPr>
              <a:t>Commutation de contexte</a:t>
            </a:r>
            <a:endParaRPr/>
          </a:p>
          <a:p>
            <a:pPr marL="533400" lvl="0" indent="-533400" algn="l" rtl="0">
              <a:lnSpc>
                <a:spcPct val="100000"/>
              </a:lnSpc>
              <a:spcBef>
                <a:spcPts val="480"/>
              </a:spcBef>
              <a:spcAft>
                <a:spcPts val="0"/>
              </a:spcAft>
              <a:buSzPts val="1800"/>
              <a:buFont typeface="Noto Sans Symbols"/>
              <a:buAutoNum type="arabicPeriod"/>
            </a:pPr>
            <a:r>
              <a:rPr lang="fr-FR" sz="2400">
                <a:solidFill>
                  <a:srgbClr val="000000"/>
                </a:solidFill>
              </a:rPr>
              <a:t>Ordonnancement des processus </a:t>
            </a:r>
            <a:endParaRPr sz="2400">
              <a:solidFill>
                <a:srgbClr val="000000"/>
              </a:solidFill>
            </a:endParaRPr>
          </a:p>
          <a:p>
            <a:pPr marL="342900" lvl="0" indent="0" algn="l" rtl="0">
              <a:lnSpc>
                <a:spcPct val="100000"/>
              </a:lnSpc>
              <a:spcBef>
                <a:spcPts val="480"/>
              </a:spcBef>
              <a:spcAft>
                <a:spcPts val="0"/>
              </a:spcAft>
              <a:buSzPts val="1350"/>
              <a:buNone/>
            </a:pPr>
            <a:endParaRPr sz="1200">
              <a:solidFill>
                <a:srgbClr val="000000"/>
              </a:solidFill>
            </a:endParaRPr>
          </a:p>
        </p:txBody>
      </p:sp>
      <p:sp>
        <p:nvSpPr>
          <p:cNvPr id="675" name="Google Shape;675;p103"/>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20</a:t>
            </a:fld>
            <a:endParaRPr>
              <a:solidFill>
                <a:srgbClr val="FFFFFF"/>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80"/>
        <p:cNvGrpSpPr/>
        <p:nvPr/>
      </p:nvGrpSpPr>
      <p:grpSpPr>
        <a:xfrm>
          <a:off x="0" y="0"/>
          <a:ext cx="0" cy="0"/>
          <a:chOff x="0" y="0"/>
          <a:chExt cx="0" cy="0"/>
        </a:xfrm>
      </p:grpSpPr>
      <p:sp>
        <p:nvSpPr>
          <p:cNvPr id="681" name="Google Shape;681;p104"/>
          <p:cNvSpPr txBox="1">
            <a:spLocks noGrp="1"/>
          </p:cNvSpPr>
          <p:nvPr>
            <p:ph type="title"/>
          </p:nvPr>
        </p:nvSpPr>
        <p:spPr>
          <a:xfrm>
            <a:off x="1007205" y="14266"/>
            <a:ext cx="7029000" cy="488700"/>
          </a:xfrm>
          <a:prstGeom prst="rect">
            <a:avLst/>
          </a:prstGeom>
          <a:noFill/>
          <a:ln>
            <a:noFill/>
          </a:ln>
        </p:spPr>
        <p:txBody>
          <a:bodyPr spcFirstLastPara="1" wrap="square" lIns="91425" tIns="11425" rIns="91425" bIns="45700" anchor="ctr" anchorCtr="0">
            <a:normAutofit/>
          </a:bodyPr>
          <a:lstStyle/>
          <a:p>
            <a:pPr marL="1895120" lvl="0" indent="0" algn="l" rtl="0">
              <a:lnSpc>
                <a:spcPct val="100000"/>
              </a:lnSpc>
              <a:spcBef>
                <a:spcPts val="0"/>
              </a:spcBef>
              <a:spcAft>
                <a:spcPts val="0"/>
              </a:spcAft>
              <a:buClr>
                <a:srgbClr val="000000"/>
              </a:buClr>
              <a:buSzPts val="2800"/>
              <a:buFont typeface="Calibri"/>
              <a:buNone/>
            </a:pPr>
            <a:r>
              <a:rPr lang="fr-FR" sz="2800" b="1" u="sng">
                <a:solidFill>
                  <a:srgbClr val="000000"/>
                </a:solidFill>
              </a:rPr>
              <a:t>Définition : processus </a:t>
            </a:r>
            <a:endParaRPr sz="2800" b="1" u="sng"/>
          </a:p>
        </p:txBody>
      </p:sp>
      <p:sp>
        <p:nvSpPr>
          <p:cNvPr id="682" name="Google Shape;682;p104"/>
          <p:cNvSpPr txBox="1"/>
          <p:nvPr/>
        </p:nvSpPr>
        <p:spPr>
          <a:xfrm>
            <a:off x="8334832" y="6444851"/>
            <a:ext cx="344100" cy="3974700"/>
          </a:xfrm>
          <a:prstGeom prst="rect">
            <a:avLst/>
          </a:prstGeom>
          <a:noFill/>
          <a:ln>
            <a:noFill/>
          </a:ln>
        </p:spPr>
        <p:txBody>
          <a:bodyPr spcFirstLastPara="1" wrap="square" lIns="0" tIns="0" rIns="0" bIns="0" anchor="t" anchorCtr="0">
            <a:noAutofit/>
          </a:bodyPr>
          <a:lstStyle/>
          <a:p>
            <a:pPr marL="34549" marR="0" lvl="0" indent="0" algn="l" rtl="0">
              <a:lnSpc>
                <a:spcPct val="118076"/>
              </a:lnSpc>
              <a:spcBef>
                <a:spcPts val="0"/>
              </a:spcBef>
              <a:spcAft>
                <a:spcPts val="0"/>
              </a:spcAft>
              <a:buClr>
                <a:srgbClr val="000000"/>
              </a:buClr>
              <a:buSzPts val="1632"/>
              <a:buFont typeface="Arial"/>
              <a:buNone/>
            </a:pPr>
            <a:endParaRPr sz="1632" b="0" i="0" u="none" strike="noStrike" cap="none">
              <a:solidFill>
                <a:srgbClr val="000000"/>
              </a:solidFill>
              <a:latin typeface="Lucida Sans"/>
              <a:ea typeface="Lucida Sans"/>
              <a:cs typeface="Lucida Sans"/>
              <a:sym typeface="Lucida Sans"/>
            </a:endParaRPr>
          </a:p>
        </p:txBody>
      </p:sp>
      <p:sp>
        <p:nvSpPr>
          <p:cNvPr id="683" name="Google Shape;683;p104"/>
          <p:cNvSpPr/>
          <p:nvPr/>
        </p:nvSpPr>
        <p:spPr>
          <a:xfrm>
            <a:off x="471368" y="1066800"/>
            <a:ext cx="8444100" cy="30009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Un processus (Process en anglais) est un programme en cours d’exécution. Tout processus possède des caractéristiques propres (Ex. un numéro d’identification), des ressources qu’il utilise (comme des fichiers ouverts) et se trouve à tout moment dans un état (en exécution ou en attente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Un processus est constitué d’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Un code exécutable du programme en exécution.</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Un contexte qui est une image décrivant l’environnement du processus.</a:t>
            </a: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00"/>
              <a:buFont typeface="Arial"/>
              <a:buNone/>
            </a:pPr>
            <a:r>
              <a:rPr lang="fr-FR" sz="100" b="0" i="0" u="none" strike="noStrike" cap="none">
                <a:solidFill>
                  <a:schemeClr val="dk1"/>
                </a:solidFill>
                <a:latin typeface="Times New Roman"/>
                <a:ea typeface="Times New Roman"/>
                <a:cs typeface="Times New Roman"/>
                <a:sym typeface="Times New Roman"/>
              </a:rPr>
              <a:t>May7ebouch el party</a:t>
            </a:r>
            <a:endParaRPr sz="1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p:txBody>
      </p:sp>
      <p:sp>
        <p:nvSpPr>
          <p:cNvPr id="684" name="Google Shape;684;p104"/>
          <p:cNvSpPr txBox="1">
            <a:spLocks noGrp="1"/>
          </p:cNvSpPr>
          <p:nvPr>
            <p:ph type="sldNum" idx="12"/>
          </p:nvPr>
        </p:nvSpPr>
        <p:spPr>
          <a:xfrm>
            <a:off x="6553200" y="6356350"/>
            <a:ext cx="21336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21</a:t>
            </a:fld>
            <a:endParaRPr>
              <a:solidFill>
                <a:srgbClr val="888888"/>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89"/>
        <p:cNvGrpSpPr/>
        <p:nvPr/>
      </p:nvGrpSpPr>
      <p:grpSpPr>
        <a:xfrm>
          <a:off x="0" y="0"/>
          <a:ext cx="0" cy="0"/>
          <a:chOff x="0" y="0"/>
          <a:chExt cx="0" cy="0"/>
        </a:xfrm>
      </p:grpSpPr>
      <p:sp>
        <p:nvSpPr>
          <p:cNvPr id="690" name="Google Shape;690;p105"/>
          <p:cNvSpPr txBox="1">
            <a:spLocks noGrp="1"/>
          </p:cNvSpPr>
          <p:nvPr>
            <p:ph type="title"/>
          </p:nvPr>
        </p:nvSpPr>
        <p:spPr>
          <a:xfrm>
            <a:off x="990600" y="0"/>
            <a:ext cx="7029064" cy="488573"/>
          </a:xfrm>
          <a:prstGeom prst="rect">
            <a:avLst/>
          </a:prstGeom>
          <a:noFill/>
          <a:ln>
            <a:noFill/>
          </a:ln>
        </p:spPr>
        <p:txBody>
          <a:bodyPr spcFirstLastPara="1" wrap="square" lIns="91425" tIns="11425" rIns="91425" bIns="45700" anchor="ctr" anchorCtr="0">
            <a:normAutofit/>
          </a:bodyPr>
          <a:lstStyle/>
          <a:p>
            <a:pPr marL="1895120" lvl="0" indent="0" algn="l" rtl="0">
              <a:lnSpc>
                <a:spcPct val="100000"/>
              </a:lnSpc>
              <a:spcBef>
                <a:spcPts val="0"/>
              </a:spcBef>
              <a:spcAft>
                <a:spcPts val="0"/>
              </a:spcAft>
              <a:buClr>
                <a:srgbClr val="000000"/>
              </a:buClr>
              <a:buSzPts val="2800"/>
              <a:buFont typeface="Calibri"/>
              <a:buNone/>
            </a:pPr>
            <a:r>
              <a:rPr lang="fr-FR" sz="2800" b="1" u="sng">
                <a:solidFill>
                  <a:srgbClr val="000000"/>
                </a:solidFill>
              </a:rPr>
              <a:t>Définition : processus </a:t>
            </a:r>
            <a:r>
              <a:rPr lang="fr-FR" sz="1600">
                <a:latin typeface="Times New Roman"/>
                <a:ea typeface="Times New Roman"/>
                <a:cs typeface="Times New Roman"/>
                <a:sym typeface="Times New Roman"/>
              </a:rPr>
              <a:t> </a:t>
            </a:r>
            <a:endParaRPr sz="2800" b="1" u="sng"/>
          </a:p>
        </p:txBody>
      </p:sp>
      <p:sp>
        <p:nvSpPr>
          <p:cNvPr id="691" name="Google Shape;691;p105"/>
          <p:cNvSpPr txBox="1"/>
          <p:nvPr/>
        </p:nvSpPr>
        <p:spPr>
          <a:xfrm>
            <a:off x="8334832" y="6444851"/>
            <a:ext cx="344195" cy="3974588"/>
          </a:xfrm>
          <a:prstGeom prst="rect">
            <a:avLst/>
          </a:prstGeom>
          <a:noFill/>
          <a:ln>
            <a:noFill/>
          </a:ln>
        </p:spPr>
        <p:txBody>
          <a:bodyPr spcFirstLastPara="1" wrap="square" lIns="0" tIns="0" rIns="0" bIns="0" anchor="t" anchorCtr="0">
            <a:noAutofit/>
          </a:bodyPr>
          <a:lstStyle/>
          <a:p>
            <a:pPr marL="34549" marR="0" lvl="0" indent="0" algn="l" rtl="0">
              <a:lnSpc>
                <a:spcPct val="118075"/>
              </a:lnSpc>
              <a:spcBef>
                <a:spcPts val="0"/>
              </a:spcBef>
              <a:spcAft>
                <a:spcPts val="0"/>
              </a:spcAft>
              <a:buClr>
                <a:srgbClr val="000000"/>
              </a:buClr>
              <a:buSzPts val="1632"/>
              <a:buFont typeface="Arial"/>
              <a:buNone/>
            </a:pPr>
            <a:endParaRPr sz="1632" b="0" i="0" u="none" strike="noStrike" cap="none">
              <a:solidFill>
                <a:srgbClr val="000000"/>
              </a:solidFill>
              <a:latin typeface="Lucida Sans"/>
              <a:ea typeface="Lucida Sans"/>
              <a:cs typeface="Lucida Sans"/>
              <a:sym typeface="Lucida Sans"/>
            </a:endParaRPr>
          </a:p>
        </p:txBody>
      </p:sp>
      <p:sp>
        <p:nvSpPr>
          <p:cNvPr id="692" name="Google Shape;692;p105"/>
          <p:cNvSpPr/>
          <p:nvPr/>
        </p:nvSpPr>
        <p:spPr>
          <a:xfrm>
            <a:off x="471368" y="1066800"/>
            <a:ext cx="8444031" cy="457754"/>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Arial"/>
              <a:ea typeface="Arial"/>
              <a:cs typeface="Arial"/>
              <a:sym typeface="Arial"/>
            </a:endParaRPr>
          </a:p>
        </p:txBody>
      </p:sp>
      <p:sp>
        <p:nvSpPr>
          <p:cNvPr id="693" name="Google Shape;693;p105"/>
          <p:cNvSpPr/>
          <p:nvPr/>
        </p:nvSpPr>
        <p:spPr>
          <a:xfrm>
            <a:off x="-1" y="1028343"/>
            <a:ext cx="8679027" cy="3831818"/>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   Caractéristiques statiques, c’est-à-dire ne variant pas au cours de sa vie, sont:</a:t>
            </a:r>
            <a:endParaRPr sz="1400" b="0" i="0" u="none" strike="noStrike" cap="none">
              <a:solidFill>
                <a:srgbClr val="000000"/>
              </a:solidFill>
              <a:latin typeface="Arial"/>
              <a:ea typeface="Arial"/>
              <a:cs typeface="Arial"/>
              <a:sym typeface="Arial"/>
            </a:endParaRPr>
          </a:p>
          <a:p>
            <a:pPr marL="0" marR="0" lvl="1" indent="-11430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Un numéro unique: PID (Process IDentifier),</a:t>
            </a:r>
            <a:endParaRPr sz="1400" b="0" i="0" u="none" strike="noStrike" cap="none">
              <a:solidFill>
                <a:srgbClr val="000000"/>
              </a:solidFill>
              <a:latin typeface="Arial"/>
              <a:ea typeface="Arial"/>
              <a:cs typeface="Arial"/>
              <a:sym typeface="Arial"/>
            </a:endParaRPr>
          </a:p>
          <a:p>
            <a:pPr marL="0" marR="0" lvl="1" indent="-11430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Un propriétaire déterminant les droits d’accès du processus aux ressources : ouverture de fichiers...</a:t>
            </a:r>
            <a:endParaRPr sz="1400" b="0" i="0" u="none" strike="noStrike" cap="none">
              <a:solidFill>
                <a:srgbClr val="000000"/>
              </a:solidFill>
              <a:latin typeface="Arial"/>
              <a:ea typeface="Arial"/>
              <a:cs typeface="Arial"/>
              <a:sym typeface="Arial"/>
            </a:endParaRPr>
          </a:p>
          <a:p>
            <a:pPr marL="0" marR="0" lvl="1" indent="-11430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Un processus parent dont il hérite la plupart des caractéristiques,</a:t>
            </a:r>
            <a:endParaRPr sz="1400" b="0" i="0" u="none" strike="noStrike" cap="none">
              <a:solidFill>
                <a:srgbClr val="000000"/>
              </a:solidFill>
              <a:latin typeface="Arial"/>
              <a:ea typeface="Arial"/>
              <a:cs typeface="Arial"/>
              <a:sym typeface="Arial"/>
            </a:endParaRPr>
          </a:p>
          <a:p>
            <a:pPr marL="0" marR="0" lvl="1" indent="-11430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Un terminal d’attache pour les entrées/sorties.</a:t>
            </a:r>
            <a:endParaRPr sz="1400" b="0" i="0" u="none" strike="noStrike" cap="none">
              <a:solidFill>
                <a:srgbClr val="000000"/>
              </a:solidFill>
              <a:latin typeface="Arial"/>
              <a:ea typeface="Arial"/>
              <a:cs typeface="Arial"/>
              <a:sym typeface="Arial"/>
            </a:endParaRPr>
          </a:p>
          <a:p>
            <a:pPr marL="0" marR="0" lvl="0" indent="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   Caractéristiques dynamiques sont:</a:t>
            </a:r>
            <a:endParaRPr sz="1400" b="0" i="0" u="none" strike="noStrike" cap="none">
              <a:solidFill>
                <a:srgbClr val="000000"/>
              </a:solidFill>
              <a:latin typeface="Arial"/>
              <a:ea typeface="Arial"/>
              <a:cs typeface="Arial"/>
              <a:sym typeface="Arial"/>
            </a:endParaRPr>
          </a:p>
          <a:p>
            <a:pPr marL="0" marR="0" lvl="1" indent="-11430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Priorité, environnement d’exécution...</a:t>
            </a:r>
            <a:endParaRPr sz="1400" b="0" i="0" u="none" strike="noStrike" cap="none">
              <a:solidFill>
                <a:srgbClr val="000000"/>
              </a:solidFill>
              <a:latin typeface="Arial"/>
              <a:ea typeface="Arial"/>
              <a:cs typeface="Arial"/>
              <a:sym typeface="Arial"/>
            </a:endParaRPr>
          </a:p>
          <a:p>
            <a:pPr marL="0" marR="0" lvl="1" indent="-114300" algn="just" rtl="0">
              <a:lnSpc>
                <a:spcPct val="150000"/>
              </a:lnSpc>
              <a:spcBef>
                <a:spcPts val="0"/>
              </a:spcBef>
              <a:spcAft>
                <a:spcPts val="0"/>
              </a:spcAft>
              <a:buClr>
                <a:schemeClr val="dk1"/>
              </a:buClr>
              <a:buSzPts val="1800"/>
              <a:buFont typeface="Arial"/>
              <a:buChar char="•"/>
            </a:pPr>
            <a:r>
              <a:rPr lang="fr-FR" sz="1800" b="0" i="0" u="none" strike="noStrike" cap="none">
                <a:solidFill>
                  <a:schemeClr val="dk1"/>
                </a:solidFill>
                <a:latin typeface="Times New Roman"/>
                <a:ea typeface="Times New Roman"/>
                <a:cs typeface="Times New Roman"/>
                <a:sym typeface="Times New Roman"/>
              </a:rPr>
              <a:t>Quantité de ressources consommées (temps unité centrale utilisé...)</a:t>
            </a:r>
            <a:endParaRPr sz="1800" b="0" i="0" u="none" strike="noStrike" cap="none">
              <a:solidFill>
                <a:schemeClr val="dk1"/>
              </a:solidFill>
              <a:latin typeface="Times New Roman"/>
              <a:ea typeface="Times New Roman"/>
              <a:cs typeface="Times New Roman"/>
              <a:sym typeface="Times New Roman"/>
            </a:endParaRPr>
          </a:p>
          <a:p>
            <a:pPr marL="107950" marR="0" lvl="1" indent="-107950" algn="just" rtl="0">
              <a:lnSpc>
                <a:spcPct val="150000"/>
              </a:lnSpc>
              <a:spcBef>
                <a:spcPts val="0"/>
              </a:spcBef>
              <a:spcAft>
                <a:spcPts val="0"/>
              </a:spcAft>
              <a:buClr>
                <a:schemeClr val="dk1"/>
              </a:buClr>
              <a:buSzPts val="100"/>
              <a:buFont typeface="Times New Roman"/>
              <a:buChar char="•"/>
            </a:pPr>
            <a:r>
              <a:rPr lang="fr-FR" sz="100" b="0" i="0" u="none" strike="noStrike" cap="none">
                <a:solidFill>
                  <a:schemeClr val="dk1"/>
                </a:solidFill>
                <a:latin typeface="Times New Roman"/>
                <a:ea typeface="Times New Roman"/>
                <a:cs typeface="Times New Roman"/>
                <a:sym typeface="Times New Roman"/>
              </a:rPr>
              <a:t>May7ebouch el party</a:t>
            </a:r>
            <a:endParaRPr sz="100" b="0" i="0" u="none" strike="noStrike" cap="none">
              <a:solidFill>
                <a:schemeClr val="dk1"/>
              </a:solidFill>
              <a:latin typeface="Times New Roman"/>
              <a:ea typeface="Times New Roman"/>
              <a:cs typeface="Times New Roman"/>
              <a:sym typeface="Times New Roman"/>
            </a:endParaRPr>
          </a:p>
        </p:txBody>
      </p:sp>
      <p:sp>
        <p:nvSpPr>
          <p:cNvPr id="694" name="Google Shape;694;p10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22</a:t>
            </a:fld>
            <a:endParaRPr>
              <a:solidFill>
                <a:srgbClr val="888888"/>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sp>
        <p:nvSpPr>
          <p:cNvPr id="699" name="Google Shape;699;p106"/>
          <p:cNvSpPr txBox="1">
            <a:spLocks noGrp="1"/>
          </p:cNvSpPr>
          <p:nvPr>
            <p:ph type="title"/>
          </p:nvPr>
        </p:nvSpPr>
        <p:spPr>
          <a:xfrm>
            <a:off x="64477" y="255499"/>
            <a:ext cx="8543925" cy="574040"/>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a:t>              </a:t>
            </a:r>
            <a:r>
              <a:rPr lang="fr-FR" sz="2800" b="1" u="sng">
                <a:latin typeface="Calibri"/>
                <a:ea typeface="Calibri"/>
                <a:cs typeface="Calibri"/>
                <a:sym typeface="Calibri"/>
              </a:rPr>
              <a:t>Image mémoire d’un processus</a:t>
            </a:r>
            <a:endParaRPr sz="2800" b="1" u="sng">
              <a:latin typeface="Calibri"/>
              <a:ea typeface="Calibri"/>
              <a:cs typeface="Calibri"/>
              <a:sym typeface="Calibri"/>
            </a:endParaRPr>
          </a:p>
        </p:txBody>
      </p:sp>
      <p:sp>
        <p:nvSpPr>
          <p:cNvPr id="700" name="Google Shape;700;p106"/>
          <p:cNvSpPr/>
          <p:nvPr/>
        </p:nvSpPr>
        <p:spPr>
          <a:xfrm>
            <a:off x="6132575" y="1400555"/>
            <a:ext cx="2712719" cy="88392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1" name="Google Shape;701;p106"/>
          <p:cNvSpPr/>
          <p:nvPr/>
        </p:nvSpPr>
        <p:spPr>
          <a:xfrm>
            <a:off x="7120128" y="1594103"/>
            <a:ext cx="739139" cy="428244"/>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2" name="Google Shape;702;p106"/>
          <p:cNvSpPr/>
          <p:nvPr/>
        </p:nvSpPr>
        <p:spPr>
          <a:xfrm>
            <a:off x="6196038" y="14430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solidFill>
            <a:srgbClr val="C0504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3" name="Google Shape;703;p106"/>
          <p:cNvSpPr/>
          <p:nvPr/>
        </p:nvSpPr>
        <p:spPr>
          <a:xfrm>
            <a:off x="6196038" y="14430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4" name="Google Shape;704;p106"/>
          <p:cNvSpPr txBox="1"/>
          <p:nvPr/>
        </p:nvSpPr>
        <p:spPr>
          <a:xfrm>
            <a:off x="7288876" y="1668098"/>
            <a:ext cx="40513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Pile</a:t>
            </a:r>
            <a:endParaRPr sz="1800" b="0" i="0" u="none" strike="noStrike" cap="none">
              <a:solidFill>
                <a:srgbClr val="000000"/>
              </a:solidFill>
              <a:latin typeface="Arial"/>
              <a:ea typeface="Arial"/>
              <a:cs typeface="Arial"/>
              <a:sym typeface="Arial"/>
            </a:endParaRPr>
          </a:p>
        </p:txBody>
      </p:sp>
      <p:sp>
        <p:nvSpPr>
          <p:cNvPr id="705" name="Google Shape;705;p106"/>
          <p:cNvSpPr/>
          <p:nvPr/>
        </p:nvSpPr>
        <p:spPr>
          <a:xfrm>
            <a:off x="6132575" y="2162556"/>
            <a:ext cx="2712719" cy="1417319"/>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6" name="Google Shape;706;p106"/>
          <p:cNvSpPr/>
          <p:nvPr/>
        </p:nvSpPr>
        <p:spPr>
          <a:xfrm>
            <a:off x="7449311" y="2830067"/>
            <a:ext cx="85344" cy="85344"/>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7" name="Google Shape;707;p106"/>
          <p:cNvSpPr/>
          <p:nvPr/>
        </p:nvSpPr>
        <p:spPr>
          <a:xfrm>
            <a:off x="6196038" y="2205050"/>
            <a:ext cx="2590800" cy="1295400"/>
          </a:xfrm>
          <a:custGeom>
            <a:avLst/>
            <a:gdLst/>
            <a:ahLst/>
            <a:cxnLst/>
            <a:rect l="l" t="t" r="r" b="b"/>
            <a:pathLst>
              <a:path w="2590800" h="1295400" extrusionOk="0">
                <a:moveTo>
                  <a:pt x="0" y="0"/>
                </a:moveTo>
                <a:lnTo>
                  <a:pt x="2590799" y="0"/>
                </a:lnTo>
                <a:lnTo>
                  <a:pt x="2590799" y="1295400"/>
                </a:lnTo>
                <a:lnTo>
                  <a:pt x="0" y="1295400"/>
                </a:lnTo>
                <a:lnTo>
                  <a:pt x="0" y="0"/>
                </a:lnTo>
                <a:close/>
              </a:path>
            </a:pathLst>
          </a:custGeom>
          <a:solidFill>
            <a:srgbClr val="C0504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8" name="Google Shape;708;p106"/>
          <p:cNvSpPr/>
          <p:nvPr/>
        </p:nvSpPr>
        <p:spPr>
          <a:xfrm>
            <a:off x="6196038" y="2205050"/>
            <a:ext cx="2590800" cy="1295400"/>
          </a:xfrm>
          <a:custGeom>
            <a:avLst/>
            <a:gdLst/>
            <a:ahLst/>
            <a:cxnLst/>
            <a:rect l="l" t="t" r="r" b="b"/>
            <a:pathLst>
              <a:path w="2590800" h="1295400" extrusionOk="0">
                <a:moveTo>
                  <a:pt x="0" y="0"/>
                </a:moveTo>
                <a:lnTo>
                  <a:pt x="2590799" y="0"/>
                </a:lnTo>
                <a:lnTo>
                  <a:pt x="2590799" y="1295400"/>
                </a:lnTo>
                <a:lnTo>
                  <a:pt x="0" y="1295400"/>
                </a:lnTo>
                <a:lnTo>
                  <a:pt x="0" y="0"/>
                </a:lnTo>
                <a:close/>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09" name="Google Shape;709;p106"/>
          <p:cNvSpPr/>
          <p:nvPr/>
        </p:nvSpPr>
        <p:spPr>
          <a:xfrm>
            <a:off x="6132575" y="3457955"/>
            <a:ext cx="2712719" cy="8854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0" name="Google Shape;710;p106"/>
          <p:cNvSpPr/>
          <p:nvPr/>
        </p:nvSpPr>
        <p:spPr>
          <a:xfrm>
            <a:off x="7132319" y="3651504"/>
            <a:ext cx="716279" cy="428244"/>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1" name="Google Shape;711;p106"/>
          <p:cNvSpPr/>
          <p:nvPr/>
        </p:nvSpPr>
        <p:spPr>
          <a:xfrm>
            <a:off x="6196038" y="35004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solidFill>
            <a:srgbClr val="C0504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2" name="Google Shape;712;p106"/>
          <p:cNvSpPr/>
          <p:nvPr/>
        </p:nvSpPr>
        <p:spPr>
          <a:xfrm>
            <a:off x="6196038" y="35004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3" name="Google Shape;713;p106"/>
          <p:cNvSpPr txBox="1"/>
          <p:nvPr/>
        </p:nvSpPr>
        <p:spPr>
          <a:xfrm>
            <a:off x="7299576" y="3725498"/>
            <a:ext cx="38227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Tas</a:t>
            </a:r>
            <a:endParaRPr sz="1800" b="0" i="0" u="none" strike="noStrike" cap="none">
              <a:solidFill>
                <a:srgbClr val="000000"/>
              </a:solidFill>
              <a:latin typeface="Arial"/>
              <a:ea typeface="Arial"/>
              <a:cs typeface="Arial"/>
              <a:sym typeface="Arial"/>
            </a:endParaRPr>
          </a:p>
        </p:txBody>
      </p:sp>
      <p:sp>
        <p:nvSpPr>
          <p:cNvPr id="714" name="Google Shape;714;p106"/>
          <p:cNvSpPr/>
          <p:nvPr/>
        </p:nvSpPr>
        <p:spPr>
          <a:xfrm>
            <a:off x="6132575" y="4219955"/>
            <a:ext cx="2712719" cy="8854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5" name="Google Shape;715;p106"/>
          <p:cNvSpPr/>
          <p:nvPr/>
        </p:nvSpPr>
        <p:spPr>
          <a:xfrm>
            <a:off x="6227063" y="4413503"/>
            <a:ext cx="2526791" cy="428244"/>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6" name="Google Shape;716;p106"/>
          <p:cNvSpPr/>
          <p:nvPr/>
        </p:nvSpPr>
        <p:spPr>
          <a:xfrm>
            <a:off x="6196038" y="42624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solidFill>
            <a:srgbClr val="C0504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7" name="Google Shape;717;p106"/>
          <p:cNvSpPr/>
          <p:nvPr/>
        </p:nvSpPr>
        <p:spPr>
          <a:xfrm>
            <a:off x="6196038" y="42624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18" name="Google Shape;718;p106"/>
          <p:cNvSpPr txBox="1"/>
          <p:nvPr/>
        </p:nvSpPr>
        <p:spPr>
          <a:xfrm>
            <a:off x="6394288" y="4487498"/>
            <a:ext cx="219138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Segment de données</a:t>
            </a:r>
            <a:endParaRPr sz="1800" b="0" i="0" u="none" strike="noStrike" cap="none">
              <a:solidFill>
                <a:srgbClr val="000000"/>
              </a:solidFill>
              <a:latin typeface="Arial"/>
              <a:ea typeface="Arial"/>
              <a:cs typeface="Arial"/>
              <a:sym typeface="Arial"/>
            </a:endParaRPr>
          </a:p>
        </p:txBody>
      </p:sp>
      <p:sp>
        <p:nvSpPr>
          <p:cNvPr id="719" name="Google Shape;719;p106"/>
          <p:cNvSpPr/>
          <p:nvPr/>
        </p:nvSpPr>
        <p:spPr>
          <a:xfrm>
            <a:off x="6132575" y="4981955"/>
            <a:ext cx="2712719" cy="88544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0" name="Google Shape;720;p106"/>
          <p:cNvSpPr/>
          <p:nvPr/>
        </p:nvSpPr>
        <p:spPr>
          <a:xfrm>
            <a:off x="6416039" y="5175503"/>
            <a:ext cx="2147315" cy="428244"/>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1" name="Google Shape;721;p106"/>
          <p:cNvSpPr/>
          <p:nvPr/>
        </p:nvSpPr>
        <p:spPr>
          <a:xfrm>
            <a:off x="6196038" y="50244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solidFill>
            <a:srgbClr val="C0504D"/>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2" name="Google Shape;722;p106"/>
          <p:cNvSpPr/>
          <p:nvPr/>
        </p:nvSpPr>
        <p:spPr>
          <a:xfrm>
            <a:off x="6196038" y="5024450"/>
            <a:ext cx="2590800" cy="762000"/>
          </a:xfrm>
          <a:custGeom>
            <a:avLst/>
            <a:gdLst/>
            <a:ahLst/>
            <a:cxnLst/>
            <a:rect l="l" t="t" r="r" b="b"/>
            <a:pathLst>
              <a:path w="2590800" h="762000" extrusionOk="0">
                <a:moveTo>
                  <a:pt x="0" y="0"/>
                </a:moveTo>
                <a:lnTo>
                  <a:pt x="2590799" y="0"/>
                </a:lnTo>
                <a:lnTo>
                  <a:pt x="2590799" y="762000"/>
                </a:lnTo>
                <a:lnTo>
                  <a:pt x="0" y="762000"/>
                </a:lnTo>
                <a:lnTo>
                  <a:pt x="0" y="0"/>
                </a:lnTo>
                <a:close/>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3" name="Google Shape;723;p106"/>
          <p:cNvSpPr txBox="1"/>
          <p:nvPr/>
        </p:nvSpPr>
        <p:spPr>
          <a:xfrm>
            <a:off x="6584788" y="5249498"/>
            <a:ext cx="18129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FFFFFF"/>
                </a:solidFill>
                <a:latin typeface="Arial"/>
                <a:ea typeface="Arial"/>
                <a:cs typeface="Arial"/>
                <a:sym typeface="Arial"/>
              </a:rPr>
              <a:t>Segment de code</a:t>
            </a:r>
            <a:endParaRPr sz="1800" b="0" i="0" u="none" strike="noStrike" cap="none">
              <a:solidFill>
                <a:srgbClr val="000000"/>
              </a:solidFill>
              <a:latin typeface="Arial"/>
              <a:ea typeface="Arial"/>
              <a:cs typeface="Arial"/>
              <a:sym typeface="Arial"/>
            </a:endParaRPr>
          </a:p>
        </p:txBody>
      </p:sp>
      <p:sp>
        <p:nvSpPr>
          <p:cNvPr id="724" name="Google Shape;724;p106"/>
          <p:cNvSpPr/>
          <p:nvPr/>
        </p:nvSpPr>
        <p:spPr>
          <a:xfrm>
            <a:off x="7277100" y="2180843"/>
            <a:ext cx="425195" cy="635507"/>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5" name="Google Shape;725;p106"/>
          <p:cNvSpPr/>
          <p:nvPr/>
        </p:nvSpPr>
        <p:spPr>
          <a:xfrm>
            <a:off x="7449311" y="2182368"/>
            <a:ext cx="85344" cy="85344"/>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6" name="Google Shape;726;p106"/>
          <p:cNvSpPr/>
          <p:nvPr/>
        </p:nvSpPr>
        <p:spPr>
          <a:xfrm>
            <a:off x="7491441" y="2205053"/>
            <a:ext cx="0" cy="343535"/>
          </a:xfrm>
          <a:custGeom>
            <a:avLst/>
            <a:gdLst/>
            <a:ahLst/>
            <a:cxnLst/>
            <a:rect l="l" t="t" r="r" b="b"/>
            <a:pathLst>
              <a:path w="120000" h="343535" extrusionOk="0">
                <a:moveTo>
                  <a:pt x="0" y="0"/>
                </a:moveTo>
                <a:lnTo>
                  <a:pt x="0" y="343281"/>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7" name="Google Shape;727;p106"/>
          <p:cNvSpPr/>
          <p:nvPr/>
        </p:nvSpPr>
        <p:spPr>
          <a:xfrm>
            <a:off x="7424766" y="2434034"/>
            <a:ext cx="133350" cy="114300"/>
          </a:xfrm>
          <a:custGeom>
            <a:avLst/>
            <a:gdLst/>
            <a:ahLst/>
            <a:cxnLst/>
            <a:rect l="l" t="t" r="r" b="b"/>
            <a:pathLst>
              <a:path w="133350" h="114300" extrusionOk="0">
                <a:moveTo>
                  <a:pt x="133350" y="0"/>
                </a:moveTo>
                <a:lnTo>
                  <a:pt x="66675" y="114300"/>
                </a:lnTo>
                <a:lnTo>
                  <a:pt x="0" y="0"/>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8" name="Google Shape;728;p106"/>
          <p:cNvSpPr/>
          <p:nvPr/>
        </p:nvSpPr>
        <p:spPr>
          <a:xfrm>
            <a:off x="7277100" y="2926079"/>
            <a:ext cx="425195" cy="633983"/>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29" name="Google Shape;729;p106"/>
          <p:cNvSpPr/>
          <p:nvPr/>
        </p:nvSpPr>
        <p:spPr>
          <a:xfrm>
            <a:off x="7449311" y="3477767"/>
            <a:ext cx="85344" cy="85344"/>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0" name="Google Shape;730;p106"/>
          <p:cNvSpPr/>
          <p:nvPr/>
        </p:nvSpPr>
        <p:spPr>
          <a:xfrm>
            <a:off x="7491441" y="3157172"/>
            <a:ext cx="0" cy="343535"/>
          </a:xfrm>
          <a:custGeom>
            <a:avLst/>
            <a:gdLst/>
            <a:ahLst/>
            <a:cxnLst/>
            <a:rect l="l" t="t" r="r" b="b"/>
            <a:pathLst>
              <a:path w="120000" h="343535" extrusionOk="0">
                <a:moveTo>
                  <a:pt x="0" y="343280"/>
                </a:moveTo>
                <a:lnTo>
                  <a:pt x="0" y="0"/>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1" name="Google Shape;731;p106"/>
          <p:cNvSpPr/>
          <p:nvPr/>
        </p:nvSpPr>
        <p:spPr>
          <a:xfrm>
            <a:off x="7424780" y="3157179"/>
            <a:ext cx="133350" cy="114300"/>
          </a:xfrm>
          <a:custGeom>
            <a:avLst/>
            <a:gdLst/>
            <a:ahLst/>
            <a:cxnLst/>
            <a:rect l="l" t="t" r="r" b="b"/>
            <a:pathLst>
              <a:path w="133350" h="114300" extrusionOk="0">
                <a:moveTo>
                  <a:pt x="0" y="114300"/>
                </a:moveTo>
                <a:lnTo>
                  <a:pt x="66662" y="0"/>
                </a:lnTo>
                <a:lnTo>
                  <a:pt x="133350" y="114287"/>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732" name="Google Shape;732;p106"/>
          <p:cNvSpPr txBox="1">
            <a:spLocks noGrp="1"/>
          </p:cNvSpPr>
          <p:nvPr>
            <p:ph type="sldNum" idx="12"/>
          </p:nvPr>
        </p:nvSpPr>
        <p:spPr>
          <a:xfrm>
            <a:off x="8870245" y="667171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23</a:t>
            </a:fld>
            <a:endParaRPr/>
          </a:p>
        </p:txBody>
      </p:sp>
      <p:sp>
        <p:nvSpPr>
          <p:cNvPr id="733" name="Google Shape;733;p106"/>
          <p:cNvSpPr/>
          <p:nvPr/>
        </p:nvSpPr>
        <p:spPr>
          <a:xfrm>
            <a:off x="260243" y="1090670"/>
            <a:ext cx="5648848" cy="590931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L’espace mémoire alloué à un processus, dit image mémoire (Memory Map) du processus,il est divisé en un ensemble de parties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1" i="0" u="sng" strike="noStrike" cap="none">
                <a:solidFill>
                  <a:schemeClr val="dk1"/>
                </a:solidFill>
                <a:latin typeface="Times New Roman"/>
                <a:ea typeface="Times New Roman"/>
                <a:cs typeface="Times New Roman"/>
                <a:sym typeface="Times New Roman"/>
              </a:rPr>
              <a:t>1. Segment de code (Text section) :  </a:t>
            </a:r>
            <a:r>
              <a:rPr lang="fr-FR" sz="1800" b="0" i="0" u="none" strike="noStrike" cap="none">
                <a:solidFill>
                  <a:schemeClr val="dk1"/>
                </a:solidFill>
                <a:latin typeface="Times New Roman"/>
                <a:ea typeface="Times New Roman"/>
                <a:cs typeface="Times New Roman"/>
                <a:sym typeface="Times New Roman"/>
              </a:rPr>
              <a:t>Copie du segment de code du fichier exécutable</a:t>
            </a:r>
            <a:endParaRPr sz="1800" b="1" i="0" u="sng" strike="noStrike" cap="none">
              <a:solidFill>
                <a:schemeClr val="dk1"/>
              </a:solidFill>
              <a:latin typeface="Times New Roman"/>
              <a:ea typeface="Times New Roman"/>
              <a:cs typeface="Times New Roman"/>
              <a:sym typeface="Times New Roman"/>
            </a:endParaRPr>
          </a:p>
          <a:p>
            <a:pPr marL="0" marR="0" lvl="0" indent="0" algn="l" rtl="0">
              <a:lnSpc>
                <a:spcPct val="150000"/>
              </a:lnSpc>
              <a:spcBef>
                <a:spcPts val="0"/>
              </a:spcBef>
              <a:spcAft>
                <a:spcPts val="0"/>
              </a:spcAft>
              <a:buClr>
                <a:srgbClr val="000000"/>
              </a:buClr>
              <a:buSzPts val="1800"/>
              <a:buFont typeface="Arial"/>
              <a:buNone/>
            </a:pPr>
            <a:r>
              <a:rPr lang="fr-FR" sz="1800" b="1" i="0" u="sng" strike="noStrike" cap="none">
                <a:solidFill>
                  <a:schemeClr val="dk1"/>
                </a:solidFill>
                <a:latin typeface="Times New Roman"/>
                <a:ea typeface="Times New Roman"/>
                <a:cs typeface="Times New Roman"/>
                <a:sym typeface="Times New Roman"/>
              </a:rPr>
              <a:t>2. Segment de données (Data section ) </a:t>
            </a:r>
            <a:r>
              <a:rPr lang="fr-FR" sz="1800" b="0" i="0" u="none" strike="noStrike" cap="none">
                <a:solidFill>
                  <a:schemeClr val="dk1"/>
                </a:solidFill>
                <a:latin typeface="Times New Roman"/>
                <a:ea typeface="Times New Roman"/>
                <a:cs typeface="Times New Roman"/>
                <a:sym typeface="Times New Roman"/>
              </a:rPr>
              <a:t>: qui contient l’ensemble des constantes et variables déclarées.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1" i="0" u="sng" strike="noStrike" cap="none">
                <a:solidFill>
                  <a:schemeClr val="dk1"/>
                </a:solidFill>
                <a:latin typeface="Times New Roman"/>
                <a:ea typeface="Times New Roman"/>
                <a:cs typeface="Times New Roman"/>
                <a:sym typeface="Times New Roman"/>
              </a:rPr>
              <a:t>3.</a:t>
            </a:r>
            <a:r>
              <a:rPr lang="fr-FR" sz="1800" b="0" i="0" u="sng" strike="noStrike" cap="none">
                <a:solidFill>
                  <a:schemeClr val="dk1"/>
                </a:solidFill>
                <a:latin typeface="Times New Roman"/>
                <a:ea typeface="Times New Roman"/>
                <a:cs typeface="Times New Roman"/>
                <a:sym typeface="Times New Roman"/>
              </a:rPr>
              <a:t> </a:t>
            </a:r>
            <a:r>
              <a:rPr lang="fr-FR" sz="1800" b="1" i="0" u="sng" strike="noStrike" cap="none">
                <a:solidFill>
                  <a:schemeClr val="dk1"/>
                </a:solidFill>
                <a:latin typeface="Times New Roman"/>
                <a:ea typeface="Times New Roman"/>
                <a:cs typeface="Times New Roman"/>
                <a:sym typeface="Times New Roman"/>
              </a:rPr>
              <a:t>Pile (Stack) : </a:t>
            </a:r>
            <a:r>
              <a:rPr lang="fr-FR" sz="1800" b="0" i="0" u="none" strike="noStrike" cap="none">
                <a:solidFill>
                  <a:schemeClr val="dk1"/>
                </a:solidFill>
                <a:latin typeface="Times New Roman"/>
                <a:ea typeface="Times New Roman"/>
                <a:cs typeface="Times New Roman"/>
                <a:sym typeface="Times New Roman"/>
              </a:rPr>
              <a:t>qui permet de stocker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les valeurs des registres.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les variables locales et paramètres de fonctions.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les adresses de retour des fonctions.</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1" i="0" u="sng" strike="noStrike" cap="none">
                <a:solidFill>
                  <a:schemeClr val="dk1"/>
                </a:solidFill>
                <a:latin typeface="Times New Roman"/>
                <a:ea typeface="Times New Roman"/>
                <a:cs typeface="Times New Roman"/>
                <a:sym typeface="Times New Roman"/>
              </a:rPr>
              <a:t>4. Tas (Heap) : </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zone de la mémoire allouée dynamiquement.</a:t>
            </a:r>
            <a:endParaRPr sz="1400" b="0" i="0" u="none" strike="noStrike" cap="none">
              <a:solidFill>
                <a:srgbClr val="000000"/>
              </a:solidFill>
              <a:latin typeface="Arial"/>
              <a:ea typeface="Arial"/>
              <a:cs typeface="Arial"/>
              <a:sym typeface="Arial"/>
            </a:endParaRPr>
          </a:p>
          <a:p>
            <a:pPr marL="0" marR="0" lvl="0" indent="0" algn="l" rtl="0">
              <a:lnSpc>
                <a:spcPct val="150000"/>
              </a:lnSpc>
              <a:spcBef>
                <a:spcPts val="0"/>
              </a:spcBef>
              <a:spcAft>
                <a:spcPts val="0"/>
              </a:spcAft>
              <a:buClr>
                <a:srgbClr val="000000"/>
              </a:buClr>
              <a:buSzPts val="1800"/>
              <a:buFont typeface="Arial"/>
              <a:buNone/>
            </a:pPr>
            <a:r>
              <a:rPr lang="fr-FR" sz="1800" b="0" i="0" u="none"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107"/>
          <p:cNvSpPr txBox="1">
            <a:spLocks noGrp="1"/>
          </p:cNvSpPr>
          <p:nvPr>
            <p:ph type="title"/>
          </p:nvPr>
        </p:nvSpPr>
        <p:spPr>
          <a:xfrm>
            <a:off x="838200" y="54591"/>
            <a:ext cx="7315200" cy="445642"/>
          </a:xfrm>
          <a:prstGeom prst="rect">
            <a:avLst/>
          </a:prstGeom>
          <a:noFill/>
          <a:ln>
            <a:noFill/>
          </a:ln>
        </p:spPr>
        <p:txBody>
          <a:bodyPr spcFirstLastPara="1" wrap="square" lIns="0" tIns="14600" rIns="0" bIns="0" anchor="ctr" anchorCtr="0">
            <a:spAutoFit/>
          </a:bodyPr>
          <a:lstStyle/>
          <a:p>
            <a:pPr marL="1895120" lvl="0" indent="0" algn="l" rtl="0">
              <a:lnSpc>
                <a:spcPct val="100000"/>
              </a:lnSpc>
              <a:spcBef>
                <a:spcPts val="0"/>
              </a:spcBef>
              <a:spcAft>
                <a:spcPts val="0"/>
              </a:spcAft>
              <a:buClr>
                <a:schemeClr val="dk1"/>
              </a:buClr>
              <a:buSzPts val="2800"/>
              <a:buFont typeface="Calibri"/>
              <a:buNone/>
            </a:pPr>
            <a:r>
              <a:rPr lang="fr-FR" sz="2800" b="1" u="sng"/>
              <a:t>Bloc de contrôle de processus</a:t>
            </a:r>
            <a:endParaRPr sz="2800" b="1" u="sng"/>
          </a:p>
        </p:txBody>
      </p:sp>
      <p:sp>
        <p:nvSpPr>
          <p:cNvPr id="740" name="Google Shape;740;p107"/>
          <p:cNvSpPr/>
          <p:nvPr/>
        </p:nvSpPr>
        <p:spPr>
          <a:xfrm>
            <a:off x="6075656" y="2308864"/>
            <a:ext cx="2933700" cy="345625"/>
          </a:xfrm>
          <a:prstGeom prst="rect">
            <a:avLst/>
          </a:prstGeom>
          <a:solidFill>
            <a:srgbClr val="974806"/>
          </a:solidFill>
          <a:ln w="10800" cap="flat" cmpd="sng">
            <a:solidFill>
              <a:srgbClr val="000000"/>
            </a:solidFill>
            <a:prstDash val="solid"/>
            <a:round/>
            <a:headEnd type="none" w="sm" len="sm"/>
            <a:tailEnd type="none" w="sm" len="sm"/>
          </a:ln>
        </p:spPr>
        <p:txBody>
          <a:bodyPr spcFirstLastPara="1" wrap="square" lIns="0" tIns="37475" rIns="0" bIns="0" anchor="t" anchorCtr="0">
            <a:noAutofit/>
          </a:bodyPr>
          <a:lstStyle/>
          <a:p>
            <a:pPr marL="0" marR="0" lvl="0" indent="0" algn="ctr" rtl="0">
              <a:lnSpc>
                <a:spcPct val="100000"/>
              </a:lnSpc>
              <a:spcBef>
                <a:spcPts val="0"/>
              </a:spcBef>
              <a:spcAft>
                <a:spcPts val="0"/>
              </a:spcAft>
              <a:buClr>
                <a:srgbClr val="000000"/>
              </a:buClr>
              <a:buSzPts val="2000"/>
              <a:buFont typeface="Arial"/>
              <a:buNone/>
            </a:pPr>
            <a:r>
              <a:rPr lang="fr-FR" sz="2000" b="1" i="0" u="none" strike="noStrike" cap="none">
                <a:solidFill>
                  <a:srgbClr val="CCC0D9"/>
                </a:solidFill>
                <a:latin typeface="Arial"/>
                <a:ea typeface="Arial"/>
                <a:cs typeface="Arial"/>
                <a:sym typeface="Arial"/>
              </a:rPr>
              <a:t>PCB</a:t>
            </a:r>
            <a:endParaRPr sz="1400" b="0" i="0" u="none" strike="noStrike" cap="none">
              <a:solidFill>
                <a:srgbClr val="000000"/>
              </a:solidFill>
              <a:latin typeface="Arial"/>
              <a:ea typeface="Arial"/>
              <a:cs typeface="Arial"/>
              <a:sym typeface="Arial"/>
            </a:endParaRPr>
          </a:p>
        </p:txBody>
      </p:sp>
      <p:graphicFrame>
        <p:nvGraphicFramePr>
          <p:cNvPr id="741" name="Google Shape;741;p107"/>
          <p:cNvGraphicFramePr/>
          <p:nvPr/>
        </p:nvGraphicFramePr>
        <p:xfrm>
          <a:off x="6075656" y="2654489"/>
          <a:ext cx="2933700" cy="3210668"/>
        </p:xfrm>
        <a:graphic>
          <a:graphicData uri="http://schemas.openxmlformats.org/drawingml/2006/table">
            <a:tbl>
              <a:tblPr>
                <a:noFill/>
              </a:tblPr>
              <a:tblGrid>
                <a:gridCol w="10287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tblGrid>
              <a:tr h="228600">
                <a:tc>
                  <a:txBody>
                    <a:bodyPr/>
                    <a:lstStyle/>
                    <a:p>
                      <a:pPr marL="157163" marR="0" lvl="0" indent="0" algn="l" rtl="0">
                        <a:lnSpc>
                          <a:spcPct val="93000"/>
                        </a:lnSpc>
                        <a:spcBef>
                          <a:spcPts val="0"/>
                        </a:spcBef>
                        <a:spcAft>
                          <a:spcPts val="0"/>
                        </a:spcAft>
                        <a:buClr>
                          <a:srgbClr val="000000"/>
                        </a:buClr>
                        <a:buSzPts val="1800"/>
                        <a:buFont typeface="Times New Roman"/>
                        <a:buNone/>
                      </a:pPr>
                      <a:r>
                        <a:rPr lang="fr-FR" sz="1800" b="0" i="0" u="none" strike="noStrike" cap="none">
                          <a:solidFill>
                            <a:srgbClr val="000000"/>
                          </a:solidFill>
                          <a:latin typeface="Times New Roman"/>
                          <a:ea typeface="Times New Roman"/>
                          <a:cs typeface="Times New Roman"/>
                          <a:sym typeface="Times New Roman"/>
                        </a:rPr>
                        <a:t>Pointeur</a:t>
                      </a:r>
                      <a:endParaRPr sz="1800" b="0" i="0" u="none" strike="noStrike" cap="none">
                        <a:solidFill>
                          <a:srgbClr val="000000"/>
                        </a:solidFill>
                        <a:latin typeface="Times New Roman"/>
                        <a:ea typeface="Times New Roman"/>
                        <a:cs typeface="Times New Roman"/>
                        <a:sym typeface="Times New Roman"/>
                      </a:endParaRPr>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93000"/>
                        </a:lnSpc>
                        <a:spcBef>
                          <a:spcPts val="0"/>
                        </a:spcBef>
                        <a:spcAft>
                          <a:spcPts val="0"/>
                        </a:spcAft>
                        <a:buClr>
                          <a:srgbClr val="000000"/>
                        </a:buClr>
                        <a:buSzPts val="1800"/>
                        <a:buFont typeface="Times New Roman"/>
                        <a:buNone/>
                      </a:pPr>
                      <a:r>
                        <a:rPr lang="fr-FR" sz="1800" b="0" i="0" u="none" strike="noStrike" cap="none">
                          <a:solidFill>
                            <a:srgbClr val="000000"/>
                          </a:solidFill>
                          <a:latin typeface="Times New Roman"/>
                          <a:ea typeface="Times New Roman"/>
                          <a:cs typeface="Times New Roman"/>
                          <a:sym typeface="Times New Roman"/>
                        </a:rPr>
                        <a:t>État du processus</a:t>
                      </a:r>
                      <a:endParaRPr sz="1800" b="0" i="0" u="none" strike="noStrike" cap="none">
                        <a:solidFill>
                          <a:srgbClr val="000000"/>
                        </a:solidFill>
                        <a:latin typeface="Times New Roman"/>
                        <a:ea typeface="Times New Roman"/>
                        <a:cs typeface="Times New Roman"/>
                        <a:sym typeface="Times New Roman"/>
                      </a:endParaRPr>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487050">
                <a:tc gridSpan="2">
                  <a:txBody>
                    <a:bodyPr/>
                    <a:lstStyle/>
                    <a:p>
                      <a:pPr marL="514350" marR="0" lvl="0" indent="0" algn="l" rtl="0">
                        <a:lnSpc>
                          <a:spcPct val="93000"/>
                        </a:lnSpc>
                        <a:spcBef>
                          <a:spcPts val="0"/>
                        </a:spcBef>
                        <a:spcAft>
                          <a:spcPts val="0"/>
                        </a:spcAft>
                        <a:buClr>
                          <a:srgbClr val="000000"/>
                        </a:buClr>
                        <a:buSzPts val="1800"/>
                        <a:buFont typeface="Times New Roman"/>
                        <a:buNone/>
                      </a:pPr>
                      <a:r>
                        <a:rPr lang="fr-FR" sz="1800" b="0" i="0" u="none" strike="noStrike" cap="none">
                          <a:solidFill>
                            <a:srgbClr val="000000"/>
                          </a:solidFill>
                          <a:latin typeface="Times New Roman"/>
                          <a:ea typeface="Times New Roman"/>
                          <a:cs typeface="Times New Roman"/>
                          <a:sym typeface="Times New Roman"/>
                        </a:rPr>
                        <a:t>Numéro du processus</a:t>
                      </a:r>
                      <a:endParaRPr sz="1800" b="0" i="0" u="none" strike="noStrike" cap="none">
                        <a:solidFill>
                          <a:srgbClr val="000000"/>
                        </a:solidFill>
                        <a:latin typeface="Times New Roman"/>
                        <a:ea typeface="Times New Roman"/>
                        <a:cs typeface="Times New Roman"/>
                        <a:sym typeface="Times New Roman"/>
                      </a:endParaRPr>
                    </a:p>
                    <a:p>
                      <a:pPr marL="514350" marR="0" lvl="0" indent="0" algn="l" rtl="0">
                        <a:lnSpc>
                          <a:spcPct val="93000"/>
                        </a:lnSpc>
                        <a:spcBef>
                          <a:spcPts val="0"/>
                        </a:spcBef>
                        <a:spcAft>
                          <a:spcPts val="0"/>
                        </a:spcAft>
                        <a:buClr>
                          <a:srgbClr val="000000"/>
                        </a:buClr>
                        <a:buSzPts val="1800"/>
                        <a:buFont typeface="Times New Roman"/>
                        <a:buNone/>
                      </a:pPr>
                      <a:r>
                        <a:rPr lang="fr-FR" sz="100" u="none" strike="noStrike" cap="none">
                          <a:latin typeface="Times New Roman"/>
                          <a:ea typeface="Times New Roman"/>
                          <a:cs typeface="Times New Roman"/>
                          <a:sym typeface="Times New Roman"/>
                        </a:rPr>
                        <a:t>May7ebouch el party</a:t>
                      </a:r>
                      <a:endParaRPr sz="100" u="none" strike="noStrike" cap="none">
                        <a:latin typeface="Times New Roman"/>
                        <a:ea typeface="Times New Roman"/>
                        <a:cs typeface="Times New Roman"/>
                        <a:sym typeface="Times New Roman"/>
                      </a:endParaRPr>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B7CCE4"/>
                    </a:solidFill>
                  </a:tcPr>
                </a:tc>
                <a:tc hMerge="1">
                  <a:txBody>
                    <a:bodyPr/>
                    <a:lstStyle/>
                    <a:p>
                      <a:endParaRPr lang="fr-FR"/>
                    </a:p>
                  </a:txBody>
                  <a:tcPr/>
                </a:tc>
                <a:extLst>
                  <a:ext uri="{0D108BD9-81ED-4DB2-BD59-A6C34878D82A}">
                    <a16:rowId xmlns:a16="http://schemas.microsoft.com/office/drawing/2014/main" val="10001"/>
                  </a:ext>
                </a:extLst>
              </a:tr>
              <a:tr h="484925">
                <a:tc gridSpan="2">
                  <a:txBody>
                    <a:bodyPr/>
                    <a:lstStyle/>
                    <a:p>
                      <a:pPr marL="436563" marR="0" lvl="0" indent="0" algn="l" rtl="0">
                        <a:lnSpc>
                          <a:spcPct val="93000"/>
                        </a:lnSpc>
                        <a:spcBef>
                          <a:spcPts val="0"/>
                        </a:spcBef>
                        <a:spcAft>
                          <a:spcPts val="0"/>
                        </a:spcAft>
                        <a:buClr>
                          <a:srgbClr val="000000"/>
                        </a:buClr>
                        <a:buSzPts val="1800"/>
                        <a:buFont typeface="Times New Roman"/>
                        <a:buNone/>
                      </a:pPr>
                      <a:r>
                        <a:rPr lang="fr-FR" sz="1800" b="0" i="0" u="none" strike="noStrike" cap="none">
                          <a:solidFill>
                            <a:srgbClr val="000000"/>
                          </a:solidFill>
                          <a:latin typeface="Times New Roman"/>
                          <a:ea typeface="Times New Roman"/>
                          <a:cs typeface="Times New Roman"/>
                          <a:sym typeface="Times New Roman"/>
                        </a:rPr>
                        <a:t>Compteur d’instructions</a:t>
                      </a:r>
                      <a:endParaRPr sz="1800" b="0" i="0" u="none" strike="noStrike" cap="none">
                        <a:solidFill>
                          <a:srgbClr val="000000"/>
                        </a:solidFill>
                        <a:latin typeface="Times New Roman"/>
                        <a:ea typeface="Times New Roman"/>
                        <a:cs typeface="Times New Roman"/>
                        <a:sym typeface="Times New Roman"/>
                      </a:endParaRPr>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fr-FR"/>
                    </a:p>
                  </a:txBody>
                  <a:tcPr/>
                </a:tc>
                <a:extLst>
                  <a:ext uri="{0D108BD9-81ED-4DB2-BD59-A6C34878D82A}">
                    <a16:rowId xmlns:a16="http://schemas.microsoft.com/office/drawing/2014/main" val="10002"/>
                  </a:ext>
                </a:extLst>
              </a:tr>
              <a:tr h="487050">
                <a:tc gridSpan="2">
                  <a:txBody>
                    <a:bodyPr/>
                    <a:lstStyle/>
                    <a:p>
                      <a:pPr marL="0" marR="0" lvl="0" indent="0" algn="ctr" rtl="0">
                        <a:lnSpc>
                          <a:spcPct val="93000"/>
                        </a:lnSpc>
                        <a:spcBef>
                          <a:spcPts val="0"/>
                        </a:spcBef>
                        <a:spcAft>
                          <a:spcPts val="0"/>
                        </a:spcAft>
                        <a:buClr>
                          <a:srgbClr val="000000"/>
                        </a:buClr>
                        <a:buSzPts val="1800"/>
                        <a:buFont typeface="Times New Roman"/>
                        <a:buNone/>
                      </a:pPr>
                      <a:r>
                        <a:rPr lang="fr-FR" sz="1800" b="0" i="0" u="none" strike="noStrike" cap="none">
                          <a:solidFill>
                            <a:srgbClr val="000000"/>
                          </a:solidFill>
                          <a:latin typeface="Times New Roman"/>
                          <a:ea typeface="Times New Roman"/>
                          <a:cs typeface="Times New Roman"/>
                          <a:sym typeface="Times New Roman"/>
                        </a:rPr>
                        <a:t>Registres</a:t>
                      </a:r>
                      <a:endParaRPr sz="1800" b="0" i="0" u="none" strike="noStrike" cap="none">
                        <a:solidFill>
                          <a:srgbClr val="000000"/>
                        </a:solidFill>
                        <a:latin typeface="Times New Roman"/>
                        <a:ea typeface="Times New Roman"/>
                        <a:cs typeface="Times New Roman"/>
                        <a:sym typeface="Times New Roman"/>
                      </a:endParaRPr>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fr-FR"/>
                    </a:p>
                  </a:txBody>
                  <a:tcPr/>
                </a:tc>
                <a:extLst>
                  <a:ext uri="{0D108BD9-81ED-4DB2-BD59-A6C34878D82A}">
                    <a16:rowId xmlns:a16="http://schemas.microsoft.com/office/drawing/2014/main" val="10003"/>
                  </a:ext>
                </a:extLst>
              </a:tr>
              <a:tr h="484925">
                <a:tc gridSpan="2">
                  <a:txBody>
                    <a:bodyPr/>
                    <a:lstStyle/>
                    <a:p>
                      <a:pPr marL="565150" marR="0" lvl="0" indent="0" algn="l" rtl="0">
                        <a:lnSpc>
                          <a:spcPct val="93000"/>
                        </a:lnSpc>
                        <a:spcBef>
                          <a:spcPts val="0"/>
                        </a:spcBef>
                        <a:spcAft>
                          <a:spcPts val="0"/>
                        </a:spcAft>
                        <a:buClr>
                          <a:srgbClr val="000000"/>
                        </a:buClr>
                        <a:buSzPts val="1800"/>
                        <a:buFont typeface="Times New Roman"/>
                        <a:buNone/>
                      </a:pPr>
                      <a:r>
                        <a:rPr lang="fr-FR" sz="1800" b="0" i="0" u="none" strike="noStrike" cap="none">
                          <a:solidFill>
                            <a:srgbClr val="000000"/>
                          </a:solidFill>
                          <a:latin typeface="Times New Roman"/>
                          <a:ea typeface="Times New Roman"/>
                          <a:cs typeface="Times New Roman"/>
                          <a:sym typeface="Times New Roman"/>
                        </a:rPr>
                        <a:t>Limite de la mémoire</a:t>
                      </a:r>
                      <a:endParaRPr sz="1800" b="0" i="0" u="none" strike="noStrike" cap="none">
                        <a:solidFill>
                          <a:srgbClr val="000000"/>
                        </a:solidFill>
                        <a:latin typeface="Times New Roman"/>
                        <a:ea typeface="Times New Roman"/>
                        <a:cs typeface="Times New Roman"/>
                        <a:sym typeface="Times New Roman"/>
                      </a:endParaRPr>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rgbClr val="538CD5"/>
                    </a:solidFill>
                  </a:tcPr>
                </a:tc>
                <a:tc hMerge="1">
                  <a:txBody>
                    <a:bodyPr/>
                    <a:lstStyle/>
                    <a:p>
                      <a:endParaRPr lang="fr-FR"/>
                    </a:p>
                  </a:txBody>
                  <a:tcPr/>
                </a:tc>
                <a:extLst>
                  <a:ext uri="{0D108BD9-81ED-4DB2-BD59-A6C34878D82A}">
                    <a16:rowId xmlns:a16="http://schemas.microsoft.com/office/drawing/2014/main" val="10004"/>
                  </a:ext>
                </a:extLst>
              </a:tr>
              <a:tr h="487050">
                <a:tc gridSpan="2">
                  <a:txBody>
                    <a:bodyPr/>
                    <a:lstStyle/>
                    <a:p>
                      <a:pPr marL="382588" marR="0" lvl="0" indent="0" algn="l" rtl="0">
                        <a:lnSpc>
                          <a:spcPct val="93000"/>
                        </a:lnSpc>
                        <a:spcBef>
                          <a:spcPts val="0"/>
                        </a:spcBef>
                        <a:spcAft>
                          <a:spcPts val="0"/>
                        </a:spcAft>
                        <a:buClr>
                          <a:srgbClr val="000000"/>
                        </a:buClr>
                        <a:buSzPts val="1800"/>
                        <a:buFont typeface="Times New Roman"/>
                        <a:buNone/>
                      </a:pPr>
                      <a:r>
                        <a:rPr lang="fr-FR" sz="1800" b="0" i="0" u="none" strike="noStrike" cap="none">
                          <a:solidFill>
                            <a:srgbClr val="000000"/>
                          </a:solidFill>
                          <a:latin typeface="Times New Roman"/>
                          <a:ea typeface="Times New Roman"/>
                          <a:cs typeface="Times New Roman"/>
                          <a:sym typeface="Times New Roman"/>
                        </a:rPr>
                        <a:t>Liste des fichiers ouverts</a:t>
                      </a:r>
                      <a:endParaRPr sz="1800" b="0" i="0" u="none" strike="noStrike" cap="none">
                        <a:solidFill>
                          <a:srgbClr val="000000"/>
                        </a:solidFill>
                        <a:latin typeface="Times New Roman"/>
                        <a:ea typeface="Times New Roman"/>
                        <a:cs typeface="Times New Roman"/>
                        <a:sym typeface="Times New Roman"/>
                      </a:endParaRPr>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fr-FR"/>
                    </a:p>
                  </a:txBody>
                  <a:tcPr/>
                </a:tc>
                <a:extLst>
                  <a:ext uri="{0D108BD9-81ED-4DB2-BD59-A6C34878D82A}">
                    <a16:rowId xmlns:a16="http://schemas.microsoft.com/office/drawing/2014/main" val="10005"/>
                  </a:ext>
                </a:extLst>
              </a:tr>
              <a:tr h="487050">
                <a:tc gridSpan="2">
                  <a:txBody>
                    <a:bodyPr/>
                    <a:lstStyle/>
                    <a:p>
                      <a:pPr marL="0" marR="0" lvl="0" indent="0" algn="ctr" rtl="0">
                        <a:lnSpc>
                          <a:spcPct val="93000"/>
                        </a:lnSpc>
                        <a:spcBef>
                          <a:spcPts val="0"/>
                        </a:spcBef>
                        <a:spcAft>
                          <a:spcPts val="0"/>
                        </a:spcAft>
                        <a:buClr>
                          <a:srgbClr val="000000"/>
                        </a:buClr>
                        <a:buSzPts val="1500"/>
                        <a:buFont typeface="Times New Roman"/>
                        <a:buNone/>
                      </a:pPr>
                      <a:r>
                        <a:rPr lang="fr-FR" sz="1500" b="0" i="1" u="none" strike="noStrike" cap="none">
                          <a:solidFill>
                            <a:srgbClr val="000000"/>
                          </a:solidFill>
                          <a:latin typeface="Times New Roman"/>
                          <a:ea typeface="Times New Roman"/>
                          <a:cs typeface="Times New Roman"/>
                          <a:sym typeface="Times New Roman"/>
                        </a:rPr>
                        <a:t>. . .</a:t>
                      </a:r>
                      <a:endParaRPr sz="1400" u="none" strike="noStrike" cap="none"/>
                    </a:p>
                  </a:txBody>
                  <a:tcPr marL="0" marR="0" marT="37475" marB="0">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fr-FR"/>
                    </a:p>
                  </a:txBody>
                  <a:tcPr/>
                </a:tc>
                <a:extLst>
                  <a:ext uri="{0D108BD9-81ED-4DB2-BD59-A6C34878D82A}">
                    <a16:rowId xmlns:a16="http://schemas.microsoft.com/office/drawing/2014/main" val="10006"/>
                  </a:ext>
                </a:extLst>
              </a:tr>
            </a:tbl>
          </a:graphicData>
        </a:graphic>
      </p:graphicFrame>
      <p:sp>
        <p:nvSpPr>
          <p:cNvPr id="742" name="Google Shape;742;p107"/>
          <p:cNvSpPr/>
          <p:nvPr/>
        </p:nvSpPr>
        <p:spPr>
          <a:xfrm>
            <a:off x="-16934" y="1864177"/>
            <a:ext cx="6016389" cy="4781955"/>
          </a:xfrm>
          <a:prstGeom prst="rect">
            <a:avLst/>
          </a:prstGeom>
          <a:noFill/>
          <a:ln>
            <a:noFill/>
          </a:ln>
        </p:spPr>
        <p:txBody>
          <a:bodyPr spcFirstLastPara="1" wrap="square" lIns="0" tIns="10800" rIns="0" bIns="0" anchor="t" anchorCtr="0">
            <a:noAutofit/>
          </a:bodyPr>
          <a:lstStyle/>
          <a:p>
            <a:pPr marL="11206" marR="0" lvl="0" indent="0" algn="l" rtl="0">
              <a:lnSpc>
                <a:spcPct val="117000"/>
              </a:lnSpc>
              <a:spcBef>
                <a:spcPts val="0"/>
              </a:spcBef>
              <a:spcAft>
                <a:spcPts val="0"/>
              </a:spcAft>
              <a:buClr>
                <a:srgbClr val="000000"/>
              </a:buClr>
              <a:buSzPts val="2000"/>
              <a:buFont typeface="Arial"/>
              <a:buNone/>
            </a:pPr>
            <a:r>
              <a:rPr lang="fr-FR" sz="2000" b="1" i="0" u="none" strike="noStrike" cap="none">
                <a:solidFill>
                  <a:srgbClr val="000000"/>
                </a:solidFill>
                <a:latin typeface="Times New Roman"/>
                <a:ea typeface="Times New Roman"/>
                <a:cs typeface="Times New Roman"/>
                <a:sym typeface="Times New Roman"/>
              </a:rPr>
              <a:t>PCB</a:t>
            </a:r>
            <a:r>
              <a:rPr lang="fr-FR" sz="2000" b="0" i="0" u="none" strike="noStrike" cap="none">
                <a:solidFill>
                  <a:srgbClr val="000000"/>
                </a:solidFill>
                <a:latin typeface="Times New Roman"/>
                <a:ea typeface="Times New Roman"/>
                <a:cs typeface="Times New Roman"/>
                <a:sym typeface="Times New Roman"/>
              </a:rPr>
              <a:t>: contient plusieurs informations concernant un processus spécifique :</a:t>
            </a:r>
            <a:endParaRPr sz="2000" b="1" i="0" u="none" strike="noStrike" cap="none">
              <a:solidFill>
                <a:srgbClr val="000000"/>
              </a:solidFill>
              <a:latin typeface="Times New Roman"/>
              <a:ea typeface="Times New Roman"/>
              <a:cs typeface="Times New Roman"/>
              <a:sym typeface="Times New Roman"/>
            </a:endParaRPr>
          </a:p>
          <a:p>
            <a:pPr marL="354106" marR="0" lvl="0" indent="-342900" algn="just" rtl="0">
              <a:lnSpc>
                <a:spcPct val="117000"/>
              </a:lnSpc>
              <a:spcBef>
                <a:spcPts val="88"/>
              </a:spcBef>
              <a:spcAft>
                <a:spcPts val="0"/>
              </a:spcAft>
              <a:buClr>
                <a:srgbClr val="000000"/>
              </a:buClr>
              <a:buSzPts val="2000"/>
              <a:buFont typeface="Noto Sans Symbols"/>
              <a:buChar char="⮚"/>
            </a:pPr>
            <a:r>
              <a:rPr lang="fr-FR" sz="2000" b="1" i="0" u="none" strike="noStrike" cap="none">
                <a:solidFill>
                  <a:srgbClr val="000000"/>
                </a:solidFill>
                <a:latin typeface="Times New Roman"/>
                <a:ea typeface="Times New Roman"/>
                <a:cs typeface="Times New Roman"/>
                <a:sym typeface="Times New Roman"/>
              </a:rPr>
              <a:t>L’état du processus: </a:t>
            </a:r>
            <a:r>
              <a:rPr lang="fr-FR" sz="2000" b="0" i="0" u="none" strike="noStrike" cap="none">
                <a:solidFill>
                  <a:srgbClr val="000000"/>
                </a:solidFill>
                <a:latin typeface="Times New Roman"/>
                <a:ea typeface="Times New Roman"/>
                <a:cs typeface="Times New Roman"/>
                <a:sym typeface="Times New Roman"/>
              </a:rPr>
              <a:t>nouveau, prêt, en exécution, en attente, arrêté…</a:t>
            </a:r>
            <a:endParaRPr sz="2000" b="0" i="0" u="none" strike="noStrike" cap="none">
              <a:solidFill>
                <a:srgbClr val="000000"/>
              </a:solidFill>
              <a:latin typeface="Times New Roman"/>
              <a:ea typeface="Times New Roman"/>
              <a:cs typeface="Times New Roman"/>
              <a:sym typeface="Times New Roman"/>
            </a:endParaRPr>
          </a:p>
          <a:p>
            <a:pPr marL="354106" marR="0" lvl="0" indent="-342900" algn="just" rtl="0">
              <a:lnSpc>
                <a:spcPct val="117000"/>
              </a:lnSpc>
              <a:spcBef>
                <a:spcPts val="88"/>
              </a:spcBef>
              <a:spcAft>
                <a:spcPts val="0"/>
              </a:spcAft>
              <a:buClr>
                <a:srgbClr val="000000"/>
              </a:buClr>
              <a:buSzPts val="2000"/>
              <a:buFont typeface="Noto Sans Symbols"/>
              <a:buChar char="⮚"/>
            </a:pPr>
            <a:r>
              <a:rPr lang="fr-FR" sz="2000" b="1" i="0" u="none" strike="noStrike" cap="none">
                <a:solidFill>
                  <a:srgbClr val="000000"/>
                </a:solidFill>
                <a:latin typeface="Times New Roman"/>
                <a:ea typeface="Times New Roman"/>
                <a:cs typeface="Times New Roman"/>
                <a:sym typeface="Times New Roman"/>
              </a:rPr>
              <a:t>PID, UID,GID, PPID</a:t>
            </a:r>
            <a:endParaRPr sz="1400" b="0" i="0" u="none" strike="noStrike" cap="none">
              <a:solidFill>
                <a:srgbClr val="000000"/>
              </a:solidFill>
              <a:latin typeface="Arial"/>
              <a:ea typeface="Arial"/>
              <a:cs typeface="Arial"/>
              <a:sym typeface="Arial"/>
            </a:endParaRPr>
          </a:p>
          <a:p>
            <a:pPr marL="354106" marR="0" lvl="0" indent="-342900" algn="l" rtl="0">
              <a:lnSpc>
                <a:spcPct val="117000"/>
              </a:lnSpc>
              <a:spcBef>
                <a:spcPts val="88"/>
              </a:spcBef>
              <a:spcAft>
                <a:spcPts val="0"/>
              </a:spcAft>
              <a:buClr>
                <a:srgbClr val="000000"/>
              </a:buClr>
              <a:buSzPts val="2000"/>
              <a:buFont typeface="Noto Sans Symbols"/>
              <a:buChar char="⮚"/>
            </a:pPr>
            <a:r>
              <a:rPr lang="fr-FR" sz="2000" b="1" i="0" u="none" strike="noStrike" cap="none">
                <a:solidFill>
                  <a:srgbClr val="000000"/>
                </a:solidFill>
                <a:latin typeface="Times New Roman"/>
                <a:ea typeface="Times New Roman"/>
                <a:cs typeface="Times New Roman"/>
                <a:sym typeface="Times New Roman"/>
              </a:rPr>
              <a:t>Compteur d’instructions</a:t>
            </a:r>
            <a:r>
              <a:rPr lang="fr-FR" sz="2000" b="0" i="0" u="none" strike="noStrike" cap="none">
                <a:solidFill>
                  <a:srgbClr val="0070C0"/>
                </a:solidFill>
                <a:latin typeface="Times New Roman"/>
                <a:ea typeface="Times New Roman"/>
                <a:cs typeface="Times New Roman"/>
                <a:sym typeface="Times New Roman"/>
              </a:rPr>
              <a:t>: </a:t>
            </a:r>
            <a:r>
              <a:rPr lang="fr-FR" sz="2000" b="0" i="0" u="none" strike="noStrike" cap="none">
                <a:solidFill>
                  <a:srgbClr val="000000"/>
                </a:solidFill>
                <a:latin typeface="Times New Roman"/>
                <a:ea typeface="Times New Roman"/>
                <a:cs typeface="Times New Roman"/>
                <a:sym typeface="Times New Roman"/>
              </a:rPr>
              <a:t> : indique l’adresse de</a:t>
            </a:r>
            <a:endParaRPr sz="1400" b="0" i="0" u="none" strike="noStrike" cap="none">
              <a:solidFill>
                <a:srgbClr val="000000"/>
              </a:solidFill>
              <a:latin typeface="Arial"/>
              <a:ea typeface="Arial"/>
              <a:cs typeface="Arial"/>
              <a:sym typeface="Arial"/>
            </a:endParaRPr>
          </a:p>
          <a:p>
            <a:pPr marL="354106" marR="0" lvl="0" indent="-342900" algn="l" rtl="0">
              <a:lnSpc>
                <a:spcPct val="117000"/>
              </a:lnSpc>
              <a:spcBef>
                <a:spcPts val="88"/>
              </a:spcBef>
              <a:spcAft>
                <a:spcPts val="0"/>
              </a:spcAft>
              <a:buClr>
                <a:srgbClr val="000000"/>
              </a:buClr>
              <a:buSzPts val="2000"/>
              <a:buFont typeface="Noto Sans Symbols"/>
              <a:buChar char="⮚"/>
            </a:pPr>
            <a:r>
              <a:rPr lang="fr-FR" sz="2000" b="0" i="0" u="none" strike="noStrike" cap="none">
                <a:solidFill>
                  <a:srgbClr val="000000"/>
                </a:solidFill>
                <a:latin typeface="Times New Roman"/>
                <a:ea typeface="Times New Roman"/>
                <a:cs typeface="Times New Roman"/>
                <a:sym typeface="Times New Roman"/>
              </a:rPr>
              <a:t>  la prochaine  instruction à exécuter par ce processus.</a:t>
            </a:r>
            <a:endParaRPr sz="2000" b="0" i="0" u="none" strike="noStrike" cap="none">
              <a:solidFill>
                <a:srgbClr val="000000"/>
              </a:solidFill>
              <a:latin typeface="Times New Roman"/>
              <a:ea typeface="Times New Roman"/>
              <a:cs typeface="Times New Roman"/>
              <a:sym typeface="Times New Roman"/>
            </a:endParaRPr>
          </a:p>
          <a:p>
            <a:pPr marL="354106" marR="0" lvl="0" indent="-342900" algn="l" rtl="0">
              <a:lnSpc>
                <a:spcPct val="117000"/>
              </a:lnSpc>
              <a:spcBef>
                <a:spcPts val="88"/>
              </a:spcBef>
              <a:spcAft>
                <a:spcPts val="0"/>
              </a:spcAft>
              <a:buClr>
                <a:srgbClr val="000000"/>
              </a:buClr>
              <a:buSzPts val="2000"/>
              <a:buFont typeface="Noto Sans Symbols"/>
              <a:buChar char="⮚"/>
            </a:pPr>
            <a:r>
              <a:rPr lang="fr-FR" sz="2000" b="1" i="0" u="none" strike="noStrike" cap="none">
                <a:solidFill>
                  <a:srgbClr val="000000"/>
                </a:solidFill>
                <a:latin typeface="Times New Roman"/>
                <a:ea typeface="Times New Roman"/>
                <a:cs typeface="Times New Roman"/>
                <a:sym typeface="Times New Roman"/>
              </a:rPr>
              <a:t>Informations sur l’ordonnancement de la CPU:</a:t>
            </a:r>
            <a:r>
              <a:rPr lang="fr-FR" sz="2000" b="0" i="0" u="none" strike="noStrike" cap="none">
                <a:solidFill>
                  <a:srgbClr val="000000"/>
                </a:solidFill>
                <a:latin typeface="Times New Roman"/>
                <a:ea typeface="Times New Roman"/>
                <a:cs typeface="Times New Roman"/>
                <a:sym typeface="Times New Roman"/>
              </a:rPr>
              <a:t>information concernant la priorité  du   processus.</a:t>
            </a:r>
            <a:endParaRPr sz="1400" b="0" i="0" u="none" strike="noStrike" cap="none">
              <a:solidFill>
                <a:srgbClr val="000000"/>
              </a:solidFill>
              <a:latin typeface="Arial"/>
              <a:ea typeface="Arial"/>
              <a:cs typeface="Arial"/>
              <a:sym typeface="Arial"/>
            </a:endParaRPr>
          </a:p>
          <a:p>
            <a:pPr marL="354106" marR="0" lvl="0" indent="-342900" algn="just" rtl="0">
              <a:lnSpc>
                <a:spcPct val="117000"/>
              </a:lnSpc>
              <a:spcBef>
                <a:spcPts val="88"/>
              </a:spcBef>
              <a:spcAft>
                <a:spcPts val="0"/>
              </a:spcAft>
              <a:buClr>
                <a:srgbClr val="000000"/>
              </a:buClr>
              <a:buSzPts val="2000"/>
              <a:buFont typeface="Noto Sans Symbols"/>
              <a:buChar char="⮚"/>
            </a:pPr>
            <a:r>
              <a:rPr lang="fr-FR" sz="2000" b="1" i="0" u="none" strike="noStrike" cap="none">
                <a:solidFill>
                  <a:srgbClr val="000000"/>
                </a:solidFill>
                <a:latin typeface="Times New Roman"/>
                <a:ea typeface="Times New Roman"/>
                <a:cs typeface="Times New Roman"/>
                <a:sym typeface="Times New Roman"/>
              </a:rPr>
              <a:t>Informations sur la gestion de la mémoire </a:t>
            </a:r>
            <a:endParaRPr sz="2000" b="0" i="0" u="none" strike="noStrike" cap="none">
              <a:solidFill>
                <a:srgbClr val="000000"/>
              </a:solidFill>
              <a:latin typeface="Times New Roman"/>
              <a:ea typeface="Times New Roman"/>
              <a:cs typeface="Times New Roman"/>
              <a:sym typeface="Times New Roman"/>
            </a:endParaRPr>
          </a:p>
          <a:p>
            <a:pPr marL="354106" marR="0" lvl="0" indent="-342900" algn="just" rtl="0">
              <a:lnSpc>
                <a:spcPct val="117000"/>
              </a:lnSpc>
              <a:spcBef>
                <a:spcPts val="88"/>
              </a:spcBef>
              <a:spcAft>
                <a:spcPts val="0"/>
              </a:spcAft>
              <a:buClr>
                <a:srgbClr val="000000"/>
              </a:buClr>
              <a:buSzPts val="2000"/>
              <a:buFont typeface="Noto Sans Symbols"/>
              <a:buChar char="⮚"/>
            </a:pPr>
            <a:r>
              <a:rPr lang="fr-FR" sz="2000" b="1" i="0" u="none" strike="noStrike" cap="none">
                <a:solidFill>
                  <a:srgbClr val="000000"/>
                </a:solidFill>
                <a:latin typeface="Times New Roman"/>
                <a:ea typeface="Times New Roman"/>
                <a:cs typeface="Times New Roman"/>
                <a:sym typeface="Times New Roman"/>
              </a:rPr>
              <a:t>Informations sur l’état des E/S: </a:t>
            </a:r>
            <a:r>
              <a:rPr lang="fr-FR" sz="2000" b="0" i="0" u="none" strike="noStrike" cap="none">
                <a:solidFill>
                  <a:srgbClr val="000000"/>
                </a:solidFill>
                <a:latin typeface="Times New Roman"/>
                <a:ea typeface="Times New Roman"/>
                <a:cs typeface="Times New Roman"/>
                <a:sym typeface="Times New Roman"/>
              </a:rPr>
              <a:t>liste des périphériques E/S allouées à ce  processus, une liste des fichiers ouverts, etc.</a:t>
            </a:r>
            <a:endParaRPr sz="1400" b="0" i="0" u="none" strike="noStrike" cap="none">
              <a:solidFill>
                <a:srgbClr val="000000"/>
              </a:solidFill>
              <a:latin typeface="Arial"/>
              <a:ea typeface="Arial"/>
              <a:cs typeface="Arial"/>
              <a:sym typeface="Arial"/>
            </a:endParaRPr>
          </a:p>
        </p:txBody>
      </p:sp>
      <p:sp>
        <p:nvSpPr>
          <p:cNvPr id="743" name="Google Shape;743;p107"/>
          <p:cNvSpPr/>
          <p:nvPr/>
        </p:nvSpPr>
        <p:spPr>
          <a:xfrm>
            <a:off x="0" y="675701"/>
            <a:ext cx="9009356" cy="10156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0" i="0" u="none" strike="noStrike" cap="none">
                <a:solidFill>
                  <a:srgbClr val="000000"/>
                </a:solidFill>
                <a:latin typeface="Times New Roman"/>
                <a:ea typeface="Times New Roman"/>
                <a:cs typeface="Times New Roman"/>
                <a:sym typeface="Times New Roman"/>
              </a:rPr>
              <a:t>Chaque processus est représenté dans le système d’exploitation par une structure de données contenant toute les  informations décrivant le contexte d’un processus appelé bloc de contrôle (Process Control Bloc: PCB).</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00"/>
              <a:buFont typeface="Arial"/>
              <a:buNone/>
            </a:pPr>
            <a:r>
              <a:rPr lang="fr-FR" sz="100" b="0" i="0" u="none" strike="noStrike" cap="none">
                <a:solidFill>
                  <a:srgbClr val="000000"/>
                </a:solidFill>
                <a:latin typeface="Times New Roman"/>
                <a:ea typeface="Times New Roman"/>
                <a:cs typeface="Times New Roman"/>
                <a:sym typeface="Times New Roman"/>
              </a:rPr>
              <a:t>May7ebouch el party</a:t>
            </a:r>
            <a:endParaRPr sz="100" b="0" i="0" u="none" strike="noStrike" cap="none">
              <a:solidFill>
                <a:srgbClr val="000000"/>
              </a:solidFill>
              <a:latin typeface="Times New Roman"/>
              <a:ea typeface="Times New Roman"/>
              <a:cs typeface="Times New Roman"/>
              <a:sym typeface="Times New Roman"/>
            </a:endParaRPr>
          </a:p>
        </p:txBody>
      </p:sp>
      <p:sp>
        <p:nvSpPr>
          <p:cNvPr id="744" name="Google Shape;744;p10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24</a:t>
            </a:fld>
            <a:endParaRPr>
              <a:solidFill>
                <a:srgbClr val="888888"/>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108"/>
          <p:cNvSpPr>
            <a:spLocks noGrp="1"/>
          </p:cNvSpPr>
          <p:nvPr>
            <p:ph type="title"/>
          </p:nvPr>
        </p:nvSpPr>
        <p:spPr>
          <a:xfrm>
            <a:off x="422249" y="57144"/>
            <a:ext cx="7924800" cy="609600"/>
          </a:xfrm>
          <a:prstGeom prst="roundRect">
            <a:avLst>
              <a:gd name="adj" fmla="val 21667"/>
            </a:avLst>
          </a:prstGeom>
          <a:noFill/>
          <a:ln>
            <a:noFill/>
          </a:ln>
        </p:spPr>
        <p:txBody>
          <a:bodyPr spcFirstLastPara="1" wrap="square" lIns="91425" tIns="45700" rIns="91425" bIns="45700" anchor="b" anchorCtr="0">
            <a:noAutofit/>
          </a:bodyPr>
          <a:lstStyle/>
          <a:p>
            <a:pPr marL="1895120" lvl="0" indent="0" algn="l" rtl="0">
              <a:lnSpc>
                <a:spcPct val="90000"/>
              </a:lnSpc>
              <a:spcBef>
                <a:spcPts val="0"/>
              </a:spcBef>
              <a:spcAft>
                <a:spcPts val="0"/>
              </a:spcAft>
              <a:buSzPts val="1400"/>
              <a:buNone/>
            </a:pPr>
            <a:r>
              <a:rPr lang="fr-FR">
                <a:solidFill>
                  <a:srgbClr val="000000"/>
                </a:solidFill>
              </a:rPr>
              <a:t> </a:t>
            </a:r>
            <a:r>
              <a:rPr lang="fr-FR" sz="2800" u="sng">
                <a:solidFill>
                  <a:srgbClr val="000204"/>
                </a:solidFill>
                <a:latin typeface="Times New Roman"/>
                <a:ea typeface="Times New Roman"/>
                <a:cs typeface="Times New Roman"/>
                <a:sym typeface="Times New Roman"/>
              </a:rPr>
              <a:t>Contexte d’un Processus </a:t>
            </a:r>
            <a:endParaRPr/>
          </a:p>
        </p:txBody>
      </p:sp>
      <p:sp>
        <p:nvSpPr>
          <p:cNvPr id="751" name="Google Shape;751;p108"/>
          <p:cNvSpPr txBox="1">
            <a:spLocks noGrp="1"/>
          </p:cNvSpPr>
          <p:nvPr>
            <p:ph type="body" idx="1"/>
          </p:nvPr>
        </p:nvSpPr>
        <p:spPr>
          <a:xfrm>
            <a:off x="233336" y="914400"/>
            <a:ext cx="8302625" cy="4824417"/>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1500"/>
              <a:buNone/>
            </a:pPr>
            <a:r>
              <a:rPr lang="fr-FR" sz="2000">
                <a:solidFill>
                  <a:srgbClr val="000000"/>
                </a:solidFill>
                <a:latin typeface="Times New Roman"/>
                <a:ea typeface="Times New Roman"/>
                <a:cs typeface="Times New Roman"/>
                <a:sym typeface="Times New Roman"/>
              </a:rPr>
              <a:t> Le contexte d’un processus est l’ensemble des données qui permettent de reprendre l’exécution d’un processus qui a été interrompu. Il est formé de :</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Mot d’état (Program Status Word PSW),</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registres généraux.</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compteur ordinal (Program Counter PC). Contient l’adresse mémoire de la prochaine instruction à exécuter. </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registre d’instruction (Instruction Register IR). Contient l’instruction en cours de traitement.</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registre d’état (FLAGS register). Ensemble de bits représentant des drapeaux.</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pointeurs de pile (Stack Pointer SP). Contient l’adresse du sommet de la pile.</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mode d’exécution (MODE). En mode esclave, les instructions privilégiées sont interdites, et en mode maître les restrictions disparaissent.</a:t>
            </a:r>
            <a:endParaRPr/>
          </a:p>
          <a:p>
            <a:pPr marL="0" lvl="0" indent="0" algn="just" rtl="0">
              <a:lnSpc>
                <a:spcPct val="100000"/>
              </a:lnSpc>
              <a:spcBef>
                <a:spcPts val="400"/>
              </a:spcBef>
              <a:spcAft>
                <a:spcPts val="0"/>
              </a:spcAft>
              <a:buSzPts val="1500"/>
              <a:buNone/>
            </a:pPr>
            <a:r>
              <a:rPr lang="fr-FR" sz="2000">
                <a:solidFill>
                  <a:srgbClr val="000000"/>
                </a:solidFill>
                <a:latin typeface="Times New Roman"/>
                <a:ea typeface="Times New Roman"/>
                <a:cs typeface="Times New Roman"/>
                <a:sym typeface="Times New Roman"/>
              </a:rPr>
              <a:t>– masque d’interruptions (Interrupt Mask IM). Indique le niveau de priorité du processus courant, qui est utilisée pour savoir si une interruption doit être prise en compte immédiatement, ou alors être retardée (masque).</a:t>
            </a:r>
            <a:endParaRPr/>
          </a:p>
        </p:txBody>
      </p:sp>
      <p:sp>
        <p:nvSpPr>
          <p:cNvPr id="752" name="Google Shape;752;p108"/>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25</a:t>
            </a:fld>
            <a:endParaRPr>
              <a:solidFill>
                <a:srgbClr val="FFFFFF"/>
              </a:solidFill>
            </a:endParaRPr>
          </a:p>
        </p:txBody>
      </p:sp>
      <p:sp>
        <p:nvSpPr>
          <p:cNvPr id="753" name="Google Shape;753;p108"/>
          <p:cNvSpPr txBox="1"/>
          <p:nvPr/>
        </p:nvSpPr>
        <p:spPr>
          <a:xfrm>
            <a:off x="8870188" y="6656475"/>
            <a:ext cx="206375" cy="156068"/>
          </a:xfrm>
          <a:prstGeom prst="rect">
            <a:avLst/>
          </a:prstGeom>
          <a:noFill/>
          <a:ln>
            <a:noFill/>
          </a:ln>
        </p:spPr>
        <p:txBody>
          <a:bodyPr spcFirstLastPara="1" wrap="square" lIns="0" tIns="0" rIns="0" bIns="0" anchor="t" anchorCtr="0">
            <a:spAutoFit/>
          </a:bodyPr>
          <a:lstStyle/>
          <a:p>
            <a:pPr marL="25400" marR="0" lvl="0" indent="0" algn="l" rtl="0">
              <a:lnSpc>
                <a:spcPct val="103333"/>
              </a:lnSpc>
              <a:spcBef>
                <a:spcPts val="0"/>
              </a:spcBef>
              <a:spcAft>
                <a:spcPts val="0"/>
              </a:spcAft>
              <a:buClr>
                <a:srgbClr val="8A8A8A"/>
              </a:buClr>
              <a:buSzPts val="1200"/>
              <a:buFont typeface="Calibri"/>
              <a:buNone/>
            </a:pPr>
            <a:r>
              <a:rPr lang="fr-FR" sz="1200" b="0" i="0" u="none" strike="noStrike" cap="none">
                <a:solidFill>
                  <a:srgbClr val="8A8A8A"/>
                </a:solidFill>
                <a:latin typeface="Calibri"/>
                <a:ea typeface="Calibri"/>
                <a:cs typeface="Calibri"/>
                <a:sym typeface="Calibri"/>
              </a:rPr>
              <a:t>8</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p109"/>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26</a:t>
            </a:fld>
            <a:endParaRPr>
              <a:solidFill>
                <a:srgbClr val="FFFFFF"/>
              </a:solidFill>
            </a:endParaRPr>
          </a:p>
        </p:txBody>
      </p:sp>
      <p:sp>
        <p:nvSpPr>
          <p:cNvPr id="760" name="Google Shape;760;p109"/>
          <p:cNvSpPr>
            <a:spLocks noGrp="1"/>
          </p:cNvSpPr>
          <p:nvPr>
            <p:ph type="title"/>
          </p:nvPr>
        </p:nvSpPr>
        <p:spPr>
          <a:xfrm>
            <a:off x="533400" y="0"/>
            <a:ext cx="7924800" cy="1143000"/>
          </a:xfrm>
          <a:prstGeom prst="roundRect">
            <a:avLst>
              <a:gd name="adj" fmla="val 21667"/>
            </a:avLst>
          </a:prstGeom>
          <a:noFill/>
          <a:ln>
            <a:noFill/>
          </a:ln>
        </p:spPr>
        <p:txBody>
          <a:bodyPr spcFirstLastPara="1" wrap="square" lIns="91425" tIns="45700" rIns="91425" bIns="45700" anchor="b" anchorCtr="0">
            <a:noAutofit/>
          </a:bodyPr>
          <a:lstStyle/>
          <a:p>
            <a:pPr marL="1895120" lvl="0" indent="0" algn="l" rtl="0">
              <a:lnSpc>
                <a:spcPct val="90000"/>
              </a:lnSpc>
              <a:spcBef>
                <a:spcPts val="0"/>
              </a:spcBef>
              <a:spcAft>
                <a:spcPts val="0"/>
              </a:spcAft>
              <a:buSzPts val="1400"/>
              <a:buNone/>
            </a:pPr>
            <a:r>
              <a:rPr lang="fr-FR" sz="3200">
                <a:solidFill>
                  <a:srgbClr val="000204"/>
                </a:solidFill>
              </a:rPr>
              <a:t> </a:t>
            </a:r>
            <a:r>
              <a:rPr lang="fr-FR" sz="2800" u="sng">
                <a:solidFill>
                  <a:srgbClr val="000204"/>
                </a:solidFill>
              </a:rPr>
              <a:t>Arborescence des processus</a:t>
            </a:r>
            <a:endParaRPr/>
          </a:p>
        </p:txBody>
      </p:sp>
      <p:sp>
        <p:nvSpPr>
          <p:cNvPr id="761" name="Google Shape;761;p109"/>
          <p:cNvSpPr txBox="1">
            <a:spLocks noGrp="1"/>
          </p:cNvSpPr>
          <p:nvPr>
            <p:ph type="body" idx="1"/>
          </p:nvPr>
        </p:nvSpPr>
        <p:spPr>
          <a:xfrm>
            <a:off x="829469" y="1403652"/>
            <a:ext cx="7766050" cy="2143125"/>
          </a:xfrm>
          <a:prstGeom prst="rect">
            <a:avLst/>
          </a:prstGeom>
          <a:noFill/>
          <a:ln>
            <a:noFill/>
          </a:ln>
        </p:spPr>
        <p:txBody>
          <a:bodyPr spcFirstLastPara="1" wrap="square" lIns="91425" tIns="45700" rIns="91425" bIns="45700" anchor="t" anchorCtr="0">
            <a:noAutofit/>
          </a:bodyPr>
          <a:lstStyle/>
          <a:p>
            <a:pPr marL="342900" lvl="0" indent="-342900" algn="just" rtl="0">
              <a:lnSpc>
                <a:spcPct val="100000"/>
              </a:lnSpc>
              <a:spcBef>
                <a:spcPts val="0"/>
              </a:spcBef>
              <a:spcAft>
                <a:spcPts val="0"/>
              </a:spcAft>
              <a:buClr>
                <a:srgbClr val="000000"/>
              </a:buClr>
              <a:buSzPts val="1500"/>
              <a:buChar char="●"/>
            </a:pPr>
            <a:r>
              <a:rPr lang="fr-FR" sz="2000">
                <a:solidFill>
                  <a:srgbClr val="000000"/>
                </a:solidFill>
                <a:latin typeface="Times New Roman"/>
                <a:ea typeface="Times New Roman"/>
                <a:cs typeface="Times New Roman"/>
                <a:sym typeface="Times New Roman"/>
              </a:rPr>
              <a:t>Les processus sont organisés sous forme d’une arborescence ou chaque processus a un seul père et peut avoir plusieurs fils. </a:t>
            </a:r>
            <a:endParaRPr/>
          </a:p>
          <a:p>
            <a:pPr marL="342900" lvl="0" indent="-342900" algn="just" rtl="0">
              <a:lnSpc>
                <a:spcPct val="100000"/>
              </a:lnSpc>
              <a:spcBef>
                <a:spcPts val="400"/>
              </a:spcBef>
              <a:spcAft>
                <a:spcPts val="0"/>
              </a:spcAft>
              <a:buClr>
                <a:srgbClr val="000000"/>
              </a:buClr>
              <a:buSzPts val="1500"/>
              <a:buChar char="●"/>
            </a:pPr>
            <a:r>
              <a:rPr lang="fr-FR" sz="2000">
                <a:solidFill>
                  <a:srgbClr val="000000"/>
                </a:solidFill>
                <a:latin typeface="Times New Roman"/>
                <a:ea typeface="Times New Roman"/>
                <a:cs typeface="Times New Roman"/>
                <a:sym typeface="Times New Roman"/>
              </a:rPr>
              <a:t>Un processus est identifié par un PID (Process IDentifier) et un PPID (Parent Process IDentifier).</a:t>
            </a:r>
            <a:endParaRPr/>
          </a:p>
          <a:p>
            <a:pPr marL="342900" lvl="0" indent="-342900" algn="just" rtl="0">
              <a:lnSpc>
                <a:spcPct val="100000"/>
              </a:lnSpc>
              <a:spcBef>
                <a:spcPts val="400"/>
              </a:spcBef>
              <a:spcAft>
                <a:spcPts val="0"/>
              </a:spcAft>
              <a:buClr>
                <a:srgbClr val="000000"/>
              </a:buClr>
              <a:buSzPts val="1500"/>
              <a:buChar char="●"/>
            </a:pPr>
            <a:r>
              <a:rPr lang="fr-FR" sz="2000">
                <a:solidFill>
                  <a:srgbClr val="000000"/>
                </a:solidFill>
                <a:latin typeface="Times New Roman"/>
                <a:ea typeface="Times New Roman"/>
                <a:cs typeface="Times New Roman"/>
                <a:sym typeface="Times New Roman"/>
              </a:rPr>
              <a:t>Exemple: L’arborescence des processus sous Linux</a:t>
            </a:r>
            <a:endParaRPr/>
          </a:p>
        </p:txBody>
      </p:sp>
      <p:grpSp>
        <p:nvGrpSpPr>
          <p:cNvPr id="762" name="Google Shape;762;p109"/>
          <p:cNvGrpSpPr/>
          <p:nvPr/>
        </p:nvGrpSpPr>
        <p:grpSpPr>
          <a:xfrm>
            <a:off x="1376176" y="3576637"/>
            <a:ext cx="6216043" cy="2665413"/>
            <a:chOff x="1596045" y="4149725"/>
            <a:chExt cx="6216043" cy="2665413"/>
          </a:xfrm>
        </p:grpSpPr>
        <p:sp>
          <p:nvSpPr>
            <p:cNvPr id="763" name="Google Shape;763;p109"/>
            <p:cNvSpPr/>
            <p:nvPr/>
          </p:nvSpPr>
          <p:spPr>
            <a:xfrm>
              <a:off x="4211638" y="4149725"/>
              <a:ext cx="863600" cy="433388"/>
            </a:xfrm>
            <a:prstGeom prst="rect">
              <a:avLst/>
            </a:prstGeom>
            <a:solidFill>
              <a:schemeClr val="lt1"/>
            </a:solidFill>
            <a:ln w="28575" cap="flat" cmpd="sng">
              <a:solidFill>
                <a:schemeClr val="dk1"/>
              </a:solidFill>
              <a:prstDash val="solid"/>
              <a:miter lim="800000"/>
              <a:headEnd type="none" w="sm" len="sm"/>
              <a:tailEnd type="none" w="sm" len="sm"/>
            </a:ln>
            <a:effectLst>
              <a:outerShdw dist="35921" dir="2700000" algn="ctr" rotWithShape="0">
                <a:schemeClr val="lt2"/>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init</a:t>
              </a:r>
              <a:endParaRPr sz="1400" b="0" i="0" u="none" strike="noStrike" cap="none">
                <a:solidFill>
                  <a:srgbClr val="000000"/>
                </a:solidFill>
                <a:latin typeface="Arial"/>
                <a:ea typeface="Arial"/>
                <a:cs typeface="Arial"/>
                <a:sym typeface="Arial"/>
              </a:endParaRPr>
            </a:p>
          </p:txBody>
        </p:sp>
        <p:grpSp>
          <p:nvGrpSpPr>
            <p:cNvPr id="764" name="Google Shape;764;p109"/>
            <p:cNvGrpSpPr/>
            <p:nvPr/>
          </p:nvGrpSpPr>
          <p:grpSpPr>
            <a:xfrm>
              <a:off x="1596045" y="4581525"/>
              <a:ext cx="6216043" cy="1085471"/>
              <a:chOff x="1007" y="2886"/>
              <a:chExt cx="3914" cy="683"/>
            </a:xfrm>
          </p:grpSpPr>
          <p:grpSp>
            <p:nvGrpSpPr>
              <p:cNvPr id="765" name="Google Shape;765;p109"/>
              <p:cNvGrpSpPr/>
              <p:nvPr/>
            </p:nvGrpSpPr>
            <p:grpSpPr>
              <a:xfrm>
                <a:off x="1007" y="3065"/>
                <a:ext cx="3914" cy="504"/>
                <a:chOff x="1007" y="3246"/>
                <a:chExt cx="3914" cy="504"/>
              </a:xfrm>
            </p:grpSpPr>
            <p:sp>
              <p:nvSpPr>
                <p:cNvPr id="766" name="Google Shape;766;p109"/>
                <p:cNvSpPr/>
                <p:nvPr/>
              </p:nvSpPr>
              <p:spPr>
                <a:xfrm>
                  <a:off x="1171" y="3339"/>
                  <a:ext cx="816" cy="363"/>
                </a:xfrm>
                <a:prstGeom prst="rect">
                  <a:avLst/>
                </a:prstGeom>
                <a:solidFill>
                  <a:schemeClr val="lt1"/>
                </a:solidFill>
                <a:ln w="28575" cap="flat" cmpd="sng">
                  <a:solidFill>
                    <a:schemeClr val="dk1"/>
                  </a:solidFill>
                  <a:prstDash val="solid"/>
                  <a:miter lim="800000"/>
                  <a:headEnd type="none" w="sm" len="sm"/>
                  <a:tailEnd type="none" w="sm" len="sm"/>
                </a:ln>
                <a:effectLst>
                  <a:outerShdw dist="35921" dir="2700000" algn="ctr" rotWithShape="0">
                    <a:schemeClr val="lt2"/>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Login: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Mot de passe:</a:t>
                  </a:r>
                  <a:endParaRPr sz="1400" b="0" i="0" u="none" strike="noStrike" cap="none">
                    <a:solidFill>
                      <a:srgbClr val="000000"/>
                    </a:solidFill>
                    <a:latin typeface="Arial"/>
                    <a:ea typeface="Arial"/>
                    <a:cs typeface="Arial"/>
                    <a:sym typeface="Arial"/>
                  </a:endParaRPr>
                </a:p>
              </p:txBody>
            </p:sp>
            <p:sp>
              <p:nvSpPr>
                <p:cNvPr id="767" name="Google Shape;767;p109"/>
                <p:cNvSpPr txBox="1"/>
                <p:nvPr/>
              </p:nvSpPr>
              <p:spPr>
                <a:xfrm rot="5580058">
                  <a:off x="848" y="3421"/>
                  <a:ext cx="497" cy="1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rgbClr val="003366"/>
                      </a:solidFill>
                      <a:latin typeface="Arial"/>
                      <a:ea typeface="Arial"/>
                      <a:cs typeface="Arial"/>
                      <a:sym typeface="Arial"/>
                    </a:rPr>
                    <a:t>Terminal 1</a:t>
                  </a:r>
                  <a:endParaRPr sz="1400" b="0" i="0" u="none" strike="noStrike" cap="none">
                    <a:solidFill>
                      <a:srgbClr val="000000"/>
                    </a:solidFill>
                    <a:latin typeface="Arial"/>
                    <a:ea typeface="Arial"/>
                    <a:cs typeface="Arial"/>
                    <a:sym typeface="Arial"/>
                  </a:endParaRPr>
                </a:p>
              </p:txBody>
            </p:sp>
            <p:sp>
              <p:nvSpPr>
                <p:cNvPr id="768" name="Google Shape;768;p109"/>
                <p:cNvSpPr/>
                <p:nvPr/>
              </p:nvSpPr>
              <p:spPr>
                <a:xfrm>
                  <a:off x="2291" y="3339"/>
                  <a:ext cx="816" cy="363"/>
                </a:xfrm>
                <a:prstGeom prst="rect">
                  <a:avLst/>
                </a:prstGeom>
                <a:solidFill>
                  <a:schemeClr val="lt1"/>
                </a:solidFill>
                <a:ln w="28575" cap="flat" cmpd="sng">
                  <a:solidFill>
                    <a:schemeClr val="dk1"/>
                  </a:solidFill>
                  <a:prstDash val="solid"/>
                  <a:miter lim="800000"/>
                  <a:headEnd type="none" w="sm" len="sm"/>
                  <a:tailEnd type="none" w="sm" len="sm"/>
                </a:ln>
                <a:effectLst>
                  <a:outerShdw dist="35921" dir="2700000" algn="ctr" rotWithShape="0">
                    <a:schemeClr val="lt2"/>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Login: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Mot de passe:</a:t>
                  </a:r>
                  <a:endParaRPr sz="1400" b="0" i="0" u="none" strike="noStrike" cap="none">
                    <a:solidFill>
                      <a:srgbClr val="000000"/>
                    </a:solidFill>
                    <a:latin typeface="Arial"/>
                    <a:ea typeface="Arial"/>
                    <a:cs typeface="Arial"/>
                    <a:sym typeface="Arial"/>
                  </a:endParaRPr>
                </a:p>
              </p:txBody>
            </p:sp>
            <p:sp>
              <p:nvSpPr>
                <p:cNvPr id="769" name="Google Shape;769;p109"/>
                <p:cNvSpPr/>
                <p:nvPr/>
              </p:nvSpPr>
              <p:spPr>
                <a:xfrm>
                  <a:off x="4105" y="3339"/>
                  <a:ext cx="816" cy="363"/>
                </a:xfrm>
                <a:prstGeom prst="rect">
                  <a:avLst/>
                </a:prstGeom>
                <a:solidFill>
                  <a:schemeClr val="lt1"/>
                </a:solidFill>
                <a:ln w="28575" cap="flat" cmpd="sng">
                  <a:solidFill>
                    <a:schemeClr val="dk1"/>
                  </a:solidFill>
                  <a:prstDash val="solid"/>
                  <a:miter lim="800000"/>
                  <a:headEnd type="none" w="sm" len="sm"/>
                  <a:tailEnd type="none" w="sm" len="sm"/>
                </a:ln>
                <a:effectLst>
                  <a:outerShdw dist="35921" dir="2700000" algn="ctr" rotWithShape="0">
                    <a:schemeClr val="lt2"/>
                  </a:outerShdw>
                </a:effectLst>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Login: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Mot de passe:</a:t>
                  </a:r>
                  <a:endParaRPr sz="1400" b="0" i="0" u="none" strike="noStrike" cap="none">
                    <a:solidFill>
                      <a:srgbClr val="000000"/>
                    </a:solidFill>
                    <a:latin typeface="Arial"/>
                    <a:ea typeface="Arial"/>
                    <a:cs typeface="Arial"/>
                    <a:sym typeface="Arial"/>
                  </a:endParaRPr>
                </a:p>
              </p:txBody>
            </p:sp>
            <p:sp>
              <p:nvSpPr>
                <p:cNvPr id="770" name="Google Shape;770;p109"/>
                <p:cNvSpPr txBox="1"/>
                <p:nvPr/>
              </p:nvSpPr>
              <p:spPr>
                <a:xfrm>
                  <a:off x="3469" y="3339"/>
                  <a:ext cx="590" cy="2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3366"/>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
              <p:nvSpPr>
                <p:cNvPr id="771" name="Google Shape;771;p109"/>
                <p:cNvSpPr txBox="1"/>
                <p:nvPr/>
              </p:nvSpPr>
              <p:spPr>
                <a:xfrm rot="5580058">
                  <a:off x="1964" y="3421"/>
                  <a:ext cx="497" cy="1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rgbClr val="003366"/>
                      </a:solidFill>
                      <a:latin typeface="Arial"/>
                      <a:ea typeface="Arial"/>
                      <a:cs typeface="Arial"/>
                      <a:sym typeface="Arial"/>
                    </a:rPr>
                    <a:t>Terminal 2</a:t>
                  </a:r>
                  <a:endParaRPr sz="1400" b="0" i="0" u="none" strike="noStrike" cap="none">
                    <a:solidFill>
                      <a:srgbClr val="000000"/>
                    </a:solidFill>
                    <a:latin typeface="Arial"/>
                    <a:ea typeface="Arial"/>
                    <a:cs typeface="Arial"/>
                    <a:sym typeface="Arial"/>
                  </a:endParaRPr>
                </a:p>
              </p:txBody>
            </p:sp>
            <p:sp>
              <p:nvSpPr>
                <p:cNvPr id="772" name="Google Shape;772;p109"/>
                <p:cNvSpPr txBox="1"/>
                <p:nvPr/>
              </p:nvSpPr>
              <p:spPr>
                <a:xfrm rot="5580058">
                  <a:off x="3779" y="3421"/>
                  <a:ext cx="497" cy="1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000"/>
                    <a:buFont typeface="Arial"/>
                    <a:buNone/>
                  </a:pPr>
                  <a:r>
                    <a:rPr lang="fr-FR" sz="1000" b="0" i="0" u="none" strike="noStrike" cap="none">
                      <a:solidFill>
                        <a:srgbClr val="003366"/>
                      </a:solidFill>
                      <a:latin typeface="Arial"/>
                      <a:ea typeface="Arial"/>
                      <a:cs typeface="Arial"/>
                      <a:sym typeface="Arial"/>
                    </a:rPr>
                    <a:t>Terminal n</a:t>
                  </a:r>
                  <a:endParaRPr sz="1400" b="0" i="0" u="none" strike="noStrike" cap="none">
                    <a:solidFill>
                      <a:srgbClr val="000000"/>
                    </a:solidFill>
                    <a:latin typeface="Arial"/>
                    <a:ea typeface="Arial"/>
                    <a:cs typeface="Arial"/>
                    <a:sym typeface="Arial"/>
                  </a:endParaRPr>
                </a:p>
              </p:txBody>
            </p:sp>
          </p:grpSp>
          <p:grpSp>
            <p:nvGrpSpPr>
              <p:cNvPr id="773" name="Google Shape;773;p109"/>
              <p:cNvGrpSpPr/>
              <p:nvPr/>
            </p:nvGrpSpPr>
            <p:grpSpPr>
              <a:xfrm>
                <a:off x="1610" y="2886"/>
                <a:ext cx="2903" cy="272"/>
                <a:chOff x="1610" y="3067"/>
                <a:chExt cx="2903" cy="272"/>
              </a:xfrm>
            </p:grpSpPr>
            <p:cxnSp>
              <p:nvCxnSpPr>
                <p:cNvPr id="774" name="Google Shape;774;p109"/>
                <p:cNvCxnSpPr/>
                <p:nvPr/>
              </p:nvCxnSpPr>
              <p:spPr>
                <a:xfrm>
                  <a:off x="2925" y="3067"/>
                  <a:ext cx="0" cy="272"/>
                </a:xfrm>
                <a:prstGeom prst="straightConnector1">
                  <a:avLst/>
                </a:prstGeom>
                <a:noFill/>
                <a:ln w="28575" cap="flat" cmpd="sng">
                  <a:solidFill>
                    <a:schemeClr val="dk1"/>
                  </a:solidFill>
                  <a:prstDash val="solid"/>
                  <a:round/>
                  <a:headEnd type="none" w="sm" len="sm"/>
                  <a:tailEnd type="none" w="sm" len="sm"/>
                </a:ln>
              </p:spPr>
            </p:cxnSp>
            <p:cxnSp>
              <p:nvCxnSpPr>
                <p:cNvPr id="775" name="Google Shape;775;p109"/>
                <p:cNvCxnSpPr/>
                <p:nvPr/>
              </p:nvCxnSpPr>
              <p:spPr>
                <a:xfrm>
                  <a:off x="1610" y="3158"/>
                  <a:ext cx="2903" cy="0"/>
                </a:xfrm>
                <a:prstGeom prst="straightConnector1">
                  <a:avLst/>
                </a:prstGeom>
                <a:noFill/>
                <a:ln w="28575" cap="flat" cmpd="sng">
                  <a:solidFill>
                    <a:schemeClr val="dk1"/>
                  </a:solidFill>
                  <a:prstDash val="solid"/>
                  <a:round/>
                  <a:headEnd type="none" w="sm" len="sm"/>
                  <a:tailEnd type="none" w="sm" len="sm"/>
                </a:ln>
              </p:spPr>
            </p:cxnSp>
            <p:cxnSp>
              <p:nvCxnSpPr>
                <p:cNvPr id="776" name="Google Shape;776;p109"/>
                <p:cNvCxnSpPr/>
                <p:nvPr/>
              </p:nvCxnSpPr>
              <p:spPr>
                <a:xfrm>
                  <a:off x="1610" y="3158"/>
                  <a:ext cx="0" cy="181"/>
                </a:xfrm>
                <a:prstGeom prst="straightConnector1">
                  <a:avLst/>
                </a:prstGeom>
                <a:noFill/>
                <a:ln w="28575" cap="flat" cmpd="sng">
                  <a:solidFill>
                    <a:schemeClr val="dk1"/>
                  </a:solidFill>
                  <a:prstDash val="solid"/>
                  <a:round/>
                  <a:headEnd type="none" w="sm" len="sm"/>
                  <a:tailEnd type="none" w="sm" len="sm"/>
                </a:ln>
              </p:spPr>
            </p:cxnSp>
            <p:cxnSp>
              <p:nvCxnSpPr>
                <p:cNvPr id="777" name="Google Shape;777;p109"/>
                <p:cNvCxnSpPr/>
                <p:nvPr/>
              </p:nvCxnSpPr>
              <p:spPr>
                <a:xfrm>
                  <a:off x="4513" y="3158"/>
                  <a:ext cx="0" cy="181"/>
                </a:xfrm>
                <a:prstGeom prst="straightConnector1">
                  <a:avLst/>
                </a:prstGeom>
                <a:noFill/>
                <a:ln w="28575" cap="flat" cmpd="sng">
                  <a:solidFill>
                    <a:schemeClr val="dk1"/>
                  </a:solidFill>
                  <a:prstDash val="solid"/>
                  <a:round/>
                  <a:headEnd type="none" w="sm" len="sm"/>
                  <a:tailEnd type="none" w="sm" len="sm"/>
                </a:ln>
              </p:spPr>
            </p:cxnSp>
          </p:grpSp>
        </p:grpSp>
        <p:grpSp>
          <p:nvGrpSpPr>
            <p:cNvPr id="778" name="Google Shape;778;p109"/>
            <p:cNvGrpSpPr/>
            <p:nvPr/>
          </p:nvGrpSpPr>
          <p:grpSpPr>
            <a:xfrm>
              <a:off x="3635375" y="5589588"/>
              <a:ext cx="1296988" cy="577850"/>
              <a:chOff x="2290" y="3521"/>
              <a:chExt cx="817" cy="364"/>
            </a:xfrm>
          </p:grpSpPr>
          <p:sp>
            <p:nvSpPr>
              <p:cNvPr id="779" name="Google Shape;779;p109"/>
              <p:cNvSpPr/>
              <p:nvPr/>
            </p:nvSpPr>
            <p:spPr>
              <a:xfrm>
                <a:off x="2290" y="3612"/>
                <a:ext cx="817" cy="273"/>
              </a:xfrm>
              <a:prstGeom prst="rect">
                <a:avLst/>
              </a:prstGeom>
              <a:solidFill>
                <a:schemeClr val="lt1"/>
              </a:solidFill>
              <a:ln w="28575" cap="flat" cmpd="sng">
                <a:solidFill>
                  <a:schemeClr val="dk1"/>
                </a:solidFill>
                <a:prstDash val="solid"/>
                <a:miter lim="800000"/>
                <a:headEnd type="none" w="sm" len="sm"/>
                <a:tailEnd type="none" w="sm" len="sm"/>
              </a:ln>
              <a:effectLst>
                <a:outerShdw dist="35921" dir="2700000" algn="ctr" rotWithShape="0">
                  <a:schemeClr val="lt2"/>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shell</a:t>
                </a:r>
                <a:endParaRPr sz="1400" b="0" i="0" u="none" strike="noStrike" cap="none">
                  <a:solidFill>
                    <a:srgbClr val="000000"/>
                  </a:solidFill>
                  <a:latin typeface="Arial"/>
                  <a:ea typeface="Arial"/>
                  <a:cs typeface="Arial"/>
                  <a:sym typeface="Arial"/>
                </a:endParaRPr>
              </a:p>
            </p:txBody>
          </p:sp>
          <p:cxnSp>
            <p:nvCxnSpPr>
              <p:cNvPr id="780" name="Google Shape;780;p109"/>
              <p:cNvCxnSpPr/>
              <p:nvPr/>
            </p:nvCxnSpPr>
            <p:spPr>
              <a:xfrm>
                <a:off x="2699" y="3521"/>
                <a:ext cx="0" cy="91"/>
              </a:xfrm>
              <a:prstGeom prst="straightConnector1">
                <a:avLst/>
              </a:prstGeom>
              <a:noFill/>
              <a:ln w="28575" cap="flat" cmpd="sng">
                <a:solidFill>
                  <a:schemeClr val="dk1"/>
                </a:solidFill>
                <a:prstDash val="solid"/>
                <a:round/>
                <a:headEnd type="none" w="sm" len="sm"/>
                <a:tailEnd type="none" w="sm" len="sm"/>
              </a:ln>
            </p:spPr>
          </p:cxnSp>
        </p:grpSp>
        <p:grpSp>
          <p:nvGrpSpPr>
            <p:cNvPr id="781" name="Google Shape;781;p109"/>
            <p:cNvGrpSpPr/>
            <p:nvPr/>
          </p:nvGrpSpPr>
          <p:grpSpPr>
            <a:xfrm>
              <a:off x="3635375" y="6165850"/>
              <a:ext cx="1296988" cy="649288"/>
              <a:chOff x="2290" y="3884"/>
              <a:chExt cx="817" cy="409"/>
            </a:xfrm>
          </p:grpSpPr>
          <p:sp>
            <p:nvSpPr>
              <p:cNvPr id="782" name="Google Shape;782;p109"/>
              <p:cNvSpPr/>
              <p:nvPr/>
            </p:nvSpPr>
            <p:spPr>
              <a:xfrm>
                <a:off x="2290" y="4020"/>
                <a:ext cx="817" cy="273"/>
              </a:xfrm>
              <a:prstGeom prst="rect">
                <a:avLst/>
              </a:prstGeom>
              <a:solidFill>
                <a:schemeClr val="lt1"/>
              </a:solidFill>
              <a:ln w="28575" cap="flat" cmpd="sng">
                <a:solidFill>
                  <a:schemeClr val="dk1"/>
                </a:solidFill>
                <a:prstDash val="solid"/>
                <a:miter lim="800000"/>
                <a:headEnd type="none" w="sm" len="sm"/>
                <a:tailEnd type="none" w="sm" len="sm"/>
              </a:ln>
              <a:effectLst>
                <a:outerShdw dist="35921" dir="2700000" algn="ctr" rotWithShape="0">
                  <a:schemeClr val="lt2"/>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ls</a:t>
                </a:r>
                <a:endParaRPr sz="1800" b="0" i="0" u="none" strike="noStrike" cap="none">
                  <a:solidFill>
                    <a:srgbClr val="003366"/>
                  </a:solidFill>
                  <a:latin typeface="Arial"/>
                  <a:ea typeface="Arial"/>
                  <a:cs typeface="Arial"/>
                  <a:sym typeface="Arial"/>
                </a:endParaRPr>
              </a:p>
            </p:txBody>
          </p:sp>
          <p:cxnSp>
            <p:nvCxnSpPr>
              <p:cNvPr id="783" name="Google Shape;783;p109"/>
              <p:cNvCxnSpPr/>
              <p:nvPr/>
            </p:nvCxnSpPr>
            <p:spPr>
              <a:xfrm>
                <a:off x="2699" y="3884"/>
                <a:ext cx="0" cy="136"/>
              </a:xfrm>
              <a:prstGeom prst="straightConnector1">
                <a:avLst/>
              </a:prstGeom>
              <a:noFill/>
              <a:ln w="28575" cap="flat" cmpd="sng">
                <a:solidFill>
                  <a:schemeClr val="dk1"/>
                </a:solidFill>
                <a:prstDash val="solid"/>
                <a:round/>
                <a:headEnd type="none" w="sm" len="sm"/>
                <a:tailEnd type="none" w="sm" len="sm"/>
              </a:ln>
            </p:spPr>
          </p:cxnSp>
        </p:grpSp>
      </p:grpSp>
      <p:sp>
        <p:nvSpPr>
          <p:cNvPr id="784" name="Google Shape;784;p109"/>
          <p:cNvSpPr txBox="1"/>
          <p:nvPr/>
        </p:nvSpPr>
        <p:spPr>
          <a:xfrm>
            <a:off x="8870188" y="6656475"/>
            <a:ext cx="206375" cy="156068"/>
          </a:xfrm>
          <a:prstGeom prst="rect">
            <a:avLst/>
          </a:prstGeom>
          <a:noFill/>
          <a:ln>
            <a:noFill/>
          </a:ln>
        </p:spPr>
        <p:txBody>
          <a:bodyPr spcFirstLastPara="1" wrap="square" lIns="0" tIns="0" rIns="0" bIns="0" anchor="t" anchorCtr="0">
            <a:spAutoFit/>
          </a:bodyPr>
          <a:lstStyle/>
          <a:p>
            <a:pPr marL="25400" marR="0" lvl="0" indent="0" algn="l" rtl="0">
              <a:lnSpc>
                <a:spcPct val="103333"/>
              </a:lnSpc>
              <a:spcBef>
                <a:spcPts val="0"/>
              </a:spcBef>
              <a:spcAft>
                <a:spcPts val="0"/>
              </a:spcAft>
              <a:buClr>
                <a:srgbClr val="8A8A8A"/>
              </a:buClr>
              <a:buSzPts val="1200"/>
              <a:buFont typeface="Calibri"/>
              <a:buNone/>
            </a:pPr>
            <a:r>
              <a:rPr lang="fr-FR" sz="1200" b="0" i="0" u="none" strike="noStrike" cap="none">
                <a:solidFill>
                  <a:srgbClr val="8A8A8A"/>
                </a:solidFill>
                <a:latin typeface="Calibri"/>
                <a:ea typeface="Calibri"/>
                <a:cs typeface="Calibri"/>
                <a:sym typeface="Calibri"/>
              </a:rPr>
              <a:t>9</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110"/>
          <p:cNvSpPr>
            <a:spLocks noGrp="1"/>
          </p:cNvSpPr>
          <p:nvPr>
            <p:ph type="title"/>
          </p:nvPr>
        </p:nvSpPr>
        <p:spPr>
          <a:xfrm>
            <a:off x="228600" y="0"/>
            <a:ext cx="8367713" cy="1143000"/>
          </a:xfrm>
          <a:prstGeom prst="roundRect">
            <a:avLst>
              <a:gd name="adj" fmla="val 21667"/>
            </a:avLst>
          </a:prstGeom>
          <a:noFill/>
          <a:ln>
            <a:noFill/>
          </a:ln>
        </p:spPr>
        <p:txBody>
          <a:bodyPr spcFirstLastPara="1" wrap="square" lIns="91425" tIns="45700" rIns="91425" bIns="45700" anchor="b" anchorCtr="0">
            <a:noAutofit/>
          </a:bodyPr>
          <a:lstStyle/>
          <a:p>
            <a:pPr marL="1895120" lvl="0" indent="0" algn="l" rtl="0">
              <a:lnSpc>
                <a:spcPct val="90000"/>
              </a:lnSpc>
              <a:spcBef>
                <a:spcPts val="0"/>
              </a:spcBef>
              <a:spcAft>
                <a:spcPts val="0"/>
              </a:spcAft>
              <a:buSzPts val="1400"/>
              <a:buNone/>
            </a:pPr>
            <a:r>
              <a:rPr lang="fr-FR" sz="2800" u="sng">
                <a:solidFill>
                  <a:srgbClr val="000204"/>
                </a:solidFill>
              </a:rPr>
              <a:t>Arborescence des processus unix</a:t>
            </a:r>
            <a:endParaRPr sz="2800" u="sng">
              <a:solidFill>
                <a:srgbClr val="000204"/>
              </a:solidFill>
            </a:endParaRPr>
          </a:p>
        </p:txBody>
      </p:sp>
      <p:sp>
        <p:nvSpPr>
          <p:cNvPr id="791" name="Google Shape;791;p110"/>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27</a:t>
            </a:fld>
            <a:endParaRPr>
              <a:solidFill>
                <a:srgbClr val="FFFFFF"/>
              </a:solidFill>
            </a:endParaRPr>
          </a:p>
        </p:txBody>
      </p:sp>
      <p:pic>
        <p:nvPicPr>
          <p:cNvPr id="792" name="Google Shape;792;p110"/>
          <p:cNvPicPr preferRelativeResize="0"/>
          <p:nvPr/>
        </p:nvPicPr>
        <p:blipFill rotWithShape="1">
          <a:blip r:embed="rId3">
            <a:alphaModFix/>
          </a:blip>
          <a:srcRect/>
          <a:stretch/>
        </p:blipFill>
        <p:spPr>
          <a:xfrm>
            <a:off x="705380" y="1524000"/>
            <a:ext cx="8057620" cy="47180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97"/>
        <p:cNvGrpSpPr/>
        <p:nvPr/>
      </p:nvGrpSpPr>
      <p:grpSpPr>
        <a:xfrm>
          <a:off x="0" y="0"/>
          <a:ext cx="0" cy="0"/>
          <a:chOff x="0" y="0"/>
          <a:chExt cx="0" cy="0"/>
        </a:xfrm>
      </p:grpSpPr>
      <p:sp>
        <p:nvSpPr>
          <p:cNvPr id="798" name="Google Shape;798;p111"/>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28</a:t>
            </a:fld>
            <a:endParaRPr>
              <a:solidFill>
                <a:srgbClr val="FFFFFF"/>
              </a:solidFill>
            </a:endParaRPr>
          </a:p>
        </p:txBody>
      </p:sp>
      <p:sp>
        <p:nvSpPr>
          <p:cNvPr id="799" name="Google Shape;799;p111"/>
          <p:cNvSpPr>
            <a:spLocks noGrp="1"/>
          </p:cNvSpPr>
          <p:nvPr>
            <p:ph type="title"/>
          </p:nvPr>
        </p:nvSpPr>
        <p:spPr>
          <a:xfrm>
            <a:off x="719925" y="507825"/>
            <a:ext cx="7924800" cy="779400"/>
          </a:xfrm>
          <a:prstGeom prst="roundRect">
            <a:avLst>
              <a:gd name="adj" fmla="val 21667"/>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1400"/>
              <a:buNone/>
            </a:pPr>
            <a:r>
              <a:rPr lang="fr-FR"/>
              <a:t> </a:t>
            </a:r>
            <a:r>
              <a:rPr lang="fr-FR" sz="2800" u="sng">
                <a:solidFill>
                  <a:srgbClr val="000204"/>
                </a:solidFill>
              </a:rPr>
              <a:t>états  d’un  processus </a:t>
            </a:r>
            <a:endParaRPr/>
          </a:p>
        </p:txBody>
      </p:sp>
      <p:grpSp>
        <p:nvGrpSpPr>
          <p:cNvPr id="800" name="Google Shape;800;p111"/>
          <p:cNvGrpSpPr/>
          <p:nvPr/>
        </p:nvGrpSpPr>
        <p:grpSpPr>
          <a:xfrm>
            <a:off x="4437914" y="2511024"/>
            <a:ext cx="4361516" cy="3359293"/>
            <a:chOff x="2952" y="1884"/>
            <a:chExt cx="2746" cy="2116"/>
          </a:xfrm>
        </p:grpSpPr>
        <p:sp>
          <p:nvSpPr>
            <p:cNvPr id="801" name="Google Shape;801;p111"/>
            <p:cNvSpPr/>
            <p:nvPr/>
          </p:nvSpPr>
          <p:spPr>
            <a:xfrm>
              <a:off x="2952" y="1884"/>
              <a:ext cx="806" cy="260"/>
            </a:xfrm>
            <a:prstGeom prst="ellipse">
              <a:avLst/>
            </a:prstGeom>
            <a:solidFill>
              <a:schemeClr val="lt1"/>
            </a:solidFill>
            <a:ln w="28575" cap="flat" cmpd="sng">
              <a:solidFill>
                <a:schemeClr val="dk1"/>
              </a:solidFill>
              <a:prstDash val="solid"/>
              <a:round/>
              <a:headEnd type="none" w="sm" len="sm"/>
              <a:tailEnd type="none" w="sm" len="sm"/>
            </a:ln>
            <a:effectLst>
              <a:outerShdw dist="107763" dir="135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Nouveau</a:t>
              </a:r>
              <a:endParaRPr sz="1400" b="0" i="0" u="none" strike="noStrike" cap="none">
                <a:solidFill>
                  <a:srgbClr val="000000"/>
                </a:solidFill>
                <a:latin typeface="Arial"/>
                <a:ea typeface="Arial"/>
                <a:cs typeface="Arial"/>
                <a:sym typeface="Arial"/>
              </a:endParaRPr>
            </a:p>
          </p:txBody>
        </p:sp>
        <p:sp>
          <p:nvSpPr>
            <p:cNvPr id="802" name="Google Shape;802;p111"/>
            <p:cNvSpPr/>
            <p:nvPr/>
          </p:nvSpPr>
          <p:spPr>
            <a:xfrm>
              <a:off x="4949" y="2205"/>
              <a:ext cx="749" cy="260"/>
            </a:xfrm>
            <a:prstGeom prst="ellipse">
              <a:avLst/>
            </a:prstGeom>
            <a:solidFill>
              <a:schemeClr val="lt1"/>
            </a:solidFill>
            <a:ln w="28575" cap="flat" cmpd="sng">
              <a:solidFill>
                <a:schemeClr val="dk1"/>
              </a:solidFill>
              <a:prstDash val="solid"/>
              <a:round/>
              <a:headEnd type="none" w="sm" len="sm"/>
              <a:tailEnd type="none" w="sm" len="sm"/>
            </a:ln>
            <a:effectLst>
              <a:outerShdw dist="107763" dir="189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Terminé</a:t>
              </a:r>
              <a:endParaRPr sz="1400" b="0" i="0" u="none" strike="noStrike" cap="none">
                <a:solidFill>
                  <a:srgbClr val="000000"/>
                </a:solidFill>
                <a:latin typeface="Arial"/>
                <a:ea typeface="Arial"/>
                <a:cs typeface="Arial"/>
                <a:sym typeface="Arial"/>
              </a:endParaRPr>
            </a:p>
          </p:txBody>
        </p:sp>
        <p:sp>
          <p:nvSpPr>
            <p:cNvPr id="803" name="Google Shape;803;p111"/>
            <p:cNvSpPr/>
            <p:nvPr/>
          </p:nvSpPr>
          <p:spPr>
            <a:xfrm>
              <a:off x="4173" y="3293"/>
              <a:ext cx="686" cy="273"/>
            </a:xfrm>
            <a:prstGeom prst="ellipse">
              <a:avLst/>
            </a:prstGeom>
            <a:solidFill>
              <a:schemeClr val="lt1"/>
            </a:solidFill>
            <a:ln w="28575" cap="flat" cmpd="sng">
              <a:solidFill>
                <a:schemeClr val="dk1"/>
              </a:solidFill>
              <a:prstDash val="solid"/>
              <a:round/>
              <a:headEnd type="none" w="sm" len="sm"/>
              <a:tailEnd type="none" w="sm" len="sm"/>
            </a:ln>
            <a:effectLst>
              <a:outerShdw dist="35921" dir="27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Bloqué</a:t>
              </a:r>
              <a:endParaRPr sz="1400" b="0" i="0" u="none" strike="noStrike" cap="none">
                <a:solidFill>
                  <a:srgbClr val="000000"/>
                </a:solidFill>
                <a:latin typeface="Arial"/>
                <a:ea typeface="Arial"/>
                <a:cs typeface="Arial"/>
                <a:sym typeface="Arial"/>
              </a:endParaRPr>
            </a:p>
          </p:txBody>
        </p:sp>
        <p:sp>
          <p:nvSpPr>
            <p:cNvPr id="804" name="Google Shape;804;p111"/>
            <p:cNvSpPr/>
            <p:nvPr/>
          </p:nvSpPr>
          <p:spPr>
            <a:xfrm>
              <a:off x="3470" y="2671"/>
              <a:ext cx="736" cy="342"/>
            </a:xfrm>
            <a:prstGeom prst="ellipse">
              <a:avLst/>
            </a:prstGeom>
            <a:solidFill>
              <a:schemeClr val="lt1"/>
            </a:solidFill>
            <a:ln w="28575" cap="flat" cmpd="sng">
              <a:solidFill>
                <a:schemeClr val="dk1"/>
              </a:solidFill>
              <a:prstDash val="solid"/>
              <a:round/>
              <a:headEnd type="none" w="sm" len="sm"/>
              <a:tailEnd type="none" w="sm" len="sm"/>
            </a:ln>
            <a:effectLst>
              <a:outerShdw dist="107763" dir="135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Prêt</a:t>
              </a:r>
              <a:endParaRPr sz="1400" b="0" i="0" u="none" strike="noStrike" cap="none">
                <a:solidFill>
                  <a:srgbClr val="000000"/>
                </a:solidFill>
                <a:latin typeface="Arial"/>
                <a:ea typeface="Arial"/>
                <a:cs typeface="Arial"/>
                <a:sym typeface="Arial"/>
              </a:endParaRPr>
            </a:p>
          </p:txBody>
        </p:sp>
        <p:sp>
          <p:nvSpPr>
            <p:cNvPr id="805" name="Google Shape;805;p111"/>
            <p:cNvSpPr/>
            <p:nvPr/>
          </p:nvSpPr>
          <p:spPr>
            <a:xfrm>
              <a:off x="4614" y="2671"/>
              <a:ext cx="623" cy="386"/>
            </a:xfrm>
            <a:prstGeom prst="ellipse">
              <a:avLst/>
            </a:prstGeom>
            <a:solidFill>
              <a:schemeClr val="lt1"/>
            </a:solidFill>
            <a:ln w="28575" cap="flat" cmpd="sng">
              <a:solidFill>
                <a:schemeClr val="dk1"/>
              </a:solidFill>
              <a:prstDash val="solid"/>
              <a:round/>
              <a:headEnd type="none" w="sm" len="sm"/>
              <a:tailEnd type="none" w="sm" len="sm"/>
            </a:ln>
            <a:effectLst>
              <a:outerShdw dist="107763" dir="189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cxnSp>
          <p:nvCxnSpPr>
            <p:cNvPr id="806" name="Google Shape;806;p111"/>
            <p:cNvCxnSpPr>
              <a:endCxn id="804" idx="1"/>
            </p:cNvCxnSpPr>
            <p:nvPr/>
          </p:nvCxnSpPr>
          <p:spPr>
            <a:xfrm rot="16200000" flipH="1">
              <a:off x="3069" y="2213"/>
              <a:ext cx="610" cy="407"/>
            </a:xfrm>
            <a:prstGeom prst="curvedConnector3">
              <a:avLst>
                <a:gd name="adj1" fmla="val 50000"/>
              </a:avLst>
            </a:prstGeom>
            <a:noFill/>
            <a:ln w="9525" cap="flat" cmpd="sng">
              <a:solidFill>
                <a:schemeClr val="dk1"/>
              </a:solidFill>
              <a:prstDash val="solid"/>
              <a:round/>
              <a:headEnd type="none" w="sm" len="sm"/>
              <a:tailEnd type="triangle" w="med" len="med"/>
            </a:ln>
          </p:spPr>
        </p:cxnSp>
        <p:cxnSp>
          <p:nvCxnSpPr>
            <p:cNvPr id="807" name="Google Shape;807;p111"/>
            <p:cNvCxnSpPr>
              <a:stCxn id="803" idx="1"/>
              <a:endCxn id="804" idx="4"/>
            </p:cNvCxnSpPr>
            <p:nvPr/>
          </p:nvCxnSpPr>
          <p:spPr>
            <a:xfrm rot="16200000" flipV="1">
              <a:off x="3896" y="2955"/>
              <a:ext cx="320" cy="435"/>
            </a:xfrm>
            <a:prstGeom prst="curvedConnector3">
              <a:avLst>
                <a:gd name="adj1" fmla="val 50000"/>
              </a:avLst>
            </a:prstGeom>
            <a:noFill/>
            <a:ln w="9525" cap="flat" cmpd="sng">
              <a:solidFill>
                <a:schemeClr val="dk1"/>
              </a:solidFill>
              <a:prstDash val="solid"/>
              <a:round/>
              <a:headEnd type="none" w="sm" len="sm"/>
              <a:tailEnd type="triangle" w="med" len="med"/>
            </a:ln>
          </p:spPr>
        </p:cxnSp>
        <p:cxnSp>
          <p:nvCxnSpPr>
            <p:cNvPr id="808" name="Google Shape;808;p111"/>
            <p:cNvCxnSpPr>
              <a:stCxn id="805" idx="4"/>
              <a:endCxn id="803" idx="7"/>
            </p:cNvCxnSpPr>
            <p:nvPr/>
          </p:nvCxnSpPr>
          <p:spPr>
            <a:xfrm rot="5400000">
              <a:off x="4704" y="3112"/>
              <a:ext cx="276" cy="167"/>
            </a:xfrm>
            <a:prstGeom prst="curvedConnector3">
              <a:avLst>
                <a:gd name="adj1" fmla="val 50000"/>
              </a:avLst>
            </a:prstGeom>
            <a:noFill/>
            <a:ln w="9525" cap="flat" cmpd="sng">
              <a:solidFill>
                <a:schemeClr val="dk1"/>
              </a:solidFill>
              <a:prstDash val="solid"/>
              <a:round/>
              <a:headEnd type="none" w="sm" len="sm"/>
              <a:tailEnd type="triangle" w="med" len="med"/>
            </a:ln>
          </p:spPr>
        </p:cxnSp>
        <p:cxnSp>
          <p:nvCxnSpPr>
            <p:cNvPr id="809" name="Google Shape;809;p111"/>
            <p:cNvCxnSpPr>
              <a:stCxn id="805" idx="1"/>
              <a:endCxn id="804" idx="7"/>
            </p:cNvCxnSpPr>
            <p:nvPr/>
          </p:nvCxnSpPr>
          <p:spPr>
            <a:xfrm rot="16200000" flipV="1">
              <a:off x="4399" y="2421"/>
              <a:ext cx="6" cy="607"/>
            </a:xfrm>
            <a:prstGeom prst="curvedConnector3">
              <a:avLst>
                <a:gd name="adj1" fmla="val 3111857"/>
              </a:avLst>
            </a:prstGeom>
            <a:noFill/>
            <a:ln w="9525" cap="flat" cmpd="sng">
              <a:solidFill>
                <a:schemeClr val="dk1"/>
              </a:solidFill>
              <a:prstDash val="solid"/>
              <a:round/>
              <a:headEnd type="none" w="sm" len="sm"/>
              <a:tailEnd type="triangle" w="med" len="med"/>
            </a:ln>
          </p:spPr>
        </p:cxnSp>
        <p:cxnSp>
          <p:nvCxnSpPr>
            <p:cNvPr id="810" name="Google Shape;810;p111"/>
            <p:cNvCxnSpPr>
              <a:stCxn id="804" idx="5"/>
              <a:endCxn id="805" idx="3"/>
            </p:cNvCxnSpPr>
            <p:nvPr/>
          </p:nvCxnSpPr>
          <p:spPr>
            <a:xfrm rot="16200000" flipH="1">
              <a:off x="4383" y="2678"/>
              <a:ext cx="38" cy="607"/>
            </a:xfrm>
            <a:prstGeom prst="curvedConnector3">
              <a:avLst>
                <a:gd name="adj1" fmla="val 633927"/>
              </a:avLst>
            </a:prstGeom>
            <a:noFill/>
            <a:ln w="9525" cap="flat" cmpd="sng">
              <a:solidFill>
                <a:schemeClr val="dk1"/>
              </a:solidFill>
              <a:prstDash val="solid"/>
              <a:round/>
              <a:headEnd type="none" w="sm" len="sm"/>
              <a:tailEnd type="triangle" w="med" len="med"/>
            </a:ln>
          </p:spPr>
        </p:cxnSp>
        <p:cxnSp>
          <p:nvCxnSpPr>
            <p:cNvPr id="811" name="Google Shape;811;p111"/>
            <p:cNvCxnSpPr>
              <a:stCxn id="805" idx="7"/>
              <a:endCxn id="802" idx="4"/>
            </p:cNvCxnSpPr>
            <p:nvPr/>
          </p:nvCxnSpPr>
          <p:spPr>
            <a:xfrm rot="5400000" flipH="1" flipV="1">
              <a:off x="5103" y="2507"/>
              <a:ext cx="263" cy="178"/>
            </a:xfrm>
            <a:prstGeom prst="curvedConnector3">
              <a:avLst>
                <a:gd name="adj1" fmla="val 50000"/>
              </a:avLst>
            </a:prstGeom>
            <a:noFill/>
            <a:ln w="9525" cap="flat" cmpd="sng">
              <a:solidFill>
                <a:schemeClr val="dk1"/>
              </a:solidFill>
              <a:prstDash val="solid"/>
              <a:round/>
              <a:headEnd type="none" w="sm" len="sm"/>
              <a:tailEnd type="triangle" w="med" len="med"/>
            </a:ln>
          </p:spPr>
        </p:cxnSp>
        <p:sp>
          <p:nvSpPr>
            <p:cNvPr id="812" name="Google Shape;812;p111"/>
            <p:cNvSpPr txBox="1"/>
            <p:nvPr/>
          </p:nvSpPr>
          <p:spPr>
            <a:xfrm>
              <a:off x="3470" y="2477"/>
              <a:ext cx="272" cy="2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❶</a:t>
              </a:r>
              <a:endParaRPr sz="1400" b="0" i="0" u="none" strike="noStrike" cap="none">
                <a:solidFill>
                  <a:srgbClr val="000000"/>
                </a:solidFill>
                <a:latin typeface="Arial"/>
                <a:ea typeface="Arial"/>
                <a:cs typeface="Arial"/>
                <a:sym typeface="Arial"/>
              </a:endParaRPr>
            </a:p>
          </p:txBody>
        </p:sp>
        <p:sp>
          <p:nvSpPr>
            <p:cNvPr id="813" name="Google Shape;813;p111"/>
            <p:cNvSpPr txBox="1"/>
            <p:nvPr/>
          </p:nvSpPr>
          <p:spPr>
            <a:xfrm>
              <a:off x="4286" y="2972"/>
              <a:ext cx="272" cy="2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❷</a:t>
              </a:r>
              <a:endParaRPr sz="1400" b="0" i="0" u="none" strike="noStrike" cap="none">
                <a:solidFill>
                  <a:srgbClr val="000000"/>
                </a:solidFill>
                <a:latin typeface="Arial"/>
                <a:ea typeface="Arial"/>
                <a:cs typeface="Arial"/>
                <a:sym typeface="Arial"/>
              </a:endParaRPr>
            </a:p>
          </p:txBody>
        </p:sp>
        <p:sp>
          <p:nvSpPr>
            <p:cNvPr id="814" name="Google Shape;814;p111"/>
            <p:cNvSpPr txBox="1"/>
            <p:nvPr/>
          </p:nvSpPr>
          <p:spPr>
            <a:xfrm>
              <a:off x="4286" y="2432"/>
              <a:ext cx="272" cy="2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❸</a:t>
              </a:r>
              <a:endParaRPr sz="1400" b="0" i="0" u="none" strike="noStrike" cap="none">
                <a:solidFill>
                  <a:srgbClr val="000000"/>
                </a:solidFill>
                <a:latin typeface="Arial"/>
                <a:ea typeface="Arial"/>
                <a:cs typeface="Arial"/>
                <a:sym typeface="Arial"/>
              </a:endParaRPr>
            </a:p>
          </p:txBody>
        </p:sp>
        <p:sp>
          <p:nvSpPr>
            <p:cNvPr id="815" name="Google Shape;815;p111"/>
            <p:cNvSpPr txBox="1"/>
            <p:nvPr/>
          </p:nvSpPr>
          <p:spPr>
            <a:xfrm>
              <a:off x="5103" y="2519"/>
              <a:ext cx="272" cy="2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❻</a:t>
              </a:r>
              <a:endParaRPr sz="1400" b="0" i="0" u="none" strike="noStrike" cap="none">
                <a:solidFill>
                  <a:srgbClr val="000000"/>
                </a:solidFill>
                <a:latin typeface="Arial"/>
                <a:ea typeface="Arial"/>
                <a:cs typeface="Arial"/>
                <a:sym typeface="Arial"/>
              </a:endParaRPr>
            </a:p>
          </p:txBody>
        </p:sp>
        <p:sp>
          <p:nvSpPr>
            <p:cNvPr id="816" name="Google Shape;816;p111"/>
            <p:cNvSpPr txBox="1"/>
            <p:nvPr/>
          </p:nvSpPr>
          <p:spPr>
            <a:xfrm>
              <a:off x="3923" y="3108"/>
              <a:ext cx="272" cy="2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❺</a:t>
              </a:r>
              <a:endParaRPr sz="1400" b="0" i="0" u="none" strike="noStrike" cap="none">
                <a:solidFill>
                  <a:srgbClr val="000000"/>
                </a:solidFill>
                <a:latin typeface="Arial"/>
                <a:ea typeface="Arial"/>
                <a:cs typeface="Arial"/>
                <a:sym typeface="Arial"/>
              </a:endParaRPr>
            </a:p>
          </p:txBody>
        </p:sp>
        <p:sp>
          <p:nvSpPr>
            <p:cNvPr id="817" name="Google Shape;817;p111"/>
            <p:cNvSpPr txBox="1"/>
            <p:nvPr/>
          </p:nvSpPr>
          <p:spPr>
            <a:xfrm>
              <a:off x="4649" y="3112"/>
              <a:ext cx="272" cy="2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❹</a:t>
              </a:r>
              <a:endParaRPr sz="1400" b="0" i="0" u="none" strike="noStrike" cap="none">
                <a:solidFill>
                  <a:srgbClr val="000000"/>
                </a:solidFill>
                <a:latin typeface="Arial"/>
                <a:ea typeface="Arial"/>
                <a:cs typeface="Arial"/>
                <a:sym typeface="Arial"/>
              </a:endParaRPr>
            </a:p>
          </p:txBody>
        </p:sp>
        <p:sp>
          <p:nvSpPr>
            <p:cNvPr id="818" name="Google Shape;818;p111"/>
            <p:cNvSpPr txBox="1"/>
            <p:nvPr/>
          </p:nvSpPr>
          <p:spPr>
            <a:xfrm>
              <a:off x="3334" y="3748"/>
              <a:ext cx="2268" cy="2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0" i="0" u="none" strike="noStrike" cap="none">
                  <a:solidFill>
                    <a:srgbClr val="000000"/>
                  </a:solidFill>
                  <a:latin typeface="Times New Roman"/>
                  <a:ea typeface="Times New Roman"/>
                  <a:cs typeface="Times New Roman"/>
                  <a:sym typeface="Times New Roman"/>
                </a:rPr>
                <a:t>Graphe des états d’un processus</a:t>
              </a:r>
              <a:endParaRPr sz="1400" b="0" i="0" u="none" strike="noStrike" cap="none">
                <a:solidFill>
                  <a:srgbClr val="000000"/>
                </a:solidFill>
                <a:latin typeface="Arial"/>
                <a:ea typeface="Arial"/>
                <a:cs typeface="Arial"/>
                <a:sym typeface="Arial"/>
              </a:endParaRPr>
            </a:p>
          </p:txBody>
        </p:sp>
      </p:grpSp>
      <p:sp>
        <p:nvSpPr>
          <p:cNvPr id="819" name="Google Shape;819;p111"/>
          <p:cNvSpPr txBox="1">
            <a:spLocks noGrp="1"/>
          </p:cNvSpPr>
          <p:nvPr>
            <p:ph type="body" idx="1"/>
          </p:nvPr>
        </p:nvSpPr>
        <p:spPr>
          <a:xfrm>
            <a:off x="479425" y="1597026"/>
            <a:ext cx="7766050" cy="850900"/>
          </a:xfrm>
          <a:prstGeom prst="rect">
            <a:avLst/>
          </a:prstGeom>
          <a:noFill/>
          <a:ln>
            <a:noFill/>
          </a:ln>
        </p:spPr>
        <p:txBody>
          <a:bodyPr spcFirstLastPara="1" wrap="square" lIns="91425" tIns="45700" rIns="91425" bIns="45700" anchor="t" anchorCtr="0">
            <a:noAutofit/>
          </a:bodyPr>
          <a:lstStyle/>
          <a:p>
            <a:pPr marL="0" lvl="0" indent="0" algn="just" rtl="0">
              <a:lnSpc>
                <a:spcPct val="100000"/>
              </a:lnSpc>
              <a:spcBef>
                <a:spcPts val="0"/>
              </a:spcBef>
              <a:spcAft>
                <a:spcPts val="0"/>
              </a:spcAft>
              <a:buSzPts val="1500"/>
              <a:buNone/>
            </a:pPr>
            <a:r>
              <a:rPr lang="fr-FR" sz="2000">
                <a:solidFill>
                  <a:srgbClr val="000000"/>
                </a:solidFill>
                <a:latin typeface="Times New Roman"/>
                <a:ea typeface="Times New Roman"/>
                <a:cs typeface="Times New Roman"/>
                <a:sym typeface="Times New Roman"/>
              </a:rPr>
              <a:t>Lorsqu’un processus s’exécute; il change d’état. Il peut se trouver dans l’un des trois états principaux suivants:</a:t>
            </a:r>
            <a:endParaRPr/>
          </a:p>
        </p:txBody>
      </p:sp>
      <p:sp>
        <p:nvSpPr>
          <p:cNvPr id="820" name="Google Shape;820;p111"/>
          <p:cNvSpPr/>
          <p:nvPr/>
        </p:nvSpPr>
        <p:spPr>
          <a:xfrm>
            <a:off x="410370" y="2757644"/>
            <a:ext cx="4032250" cy="3108543"/>
          </a:xfrm>
          <a:prstGeom prst="rect">
            <a:avLst/>
          </a:prstGeom>
          <a:noFill/>
          <a:ln>
            <a:noFill/>
          </a:ln>
        </p:spPr>
        <p:txBody>
          <a:bodyPr spcFirstLastPara="1" wrap="square" lIns="91425" tIns="45700" rIns="91425" bIns="45700" anchor="t" anchorCtr="0">
            <a:noAutofit/>
          </a:bodyPr>
          <a:lstStyle/>
          <a:p>
            <a:pPr marL="0" marR="0" lvl="1" indent="0" algn="just" rtl="0">
              <a:lnSpc>
                <a:spcPct val="100000"/>
              </a:lnSpc>
              <a:spcBef>
                <a:spcPts val="0"/>
              </a:spcBef>
              <a:spcAft>
                <a:spcPts val="0"/>
              </a:spcAft>
              <a:buClr>
                <a:srgbClr val="000000"/>
              </a:buClr>
              <a:buSzPts val="2000"/>
              <a:buFont typeface="Arial"/>
              <a:buNone/>
            </a:pPr>
            <a:r>
              <a:rPr lang="fr-FR" sz="2000" b="0" i="0" u="none" strike="noStrike" cap="none">
                <a:solidFill>
                  <a:srgbClr val="000000"/>
                </a:solidFill>
                <a:latin typeface="Times New Roman"/>
                <a:ea typeface="Times New Roman"/>
                <a:cs typeface="Times New Roman"/>
                <a:sym typeface="Times New Roman"/>
              </a:rPr>
              <a:t> Prêt (Ready) : le processus attend son tour pour s’exécuter</a:t>
            </a:r>
            <a:endParaRPr sz="1400" b="0" i="0" u="none" strike="noStrike" cap="none">
              <a:solidFill>
                <a:srgbClr val="000000"/>
              </a:solidFill>
              <a:latin typeface="Arial"/>
              <a:ea typeface="Arial"/>
              <a:cs typeface="Arial"/>
              <a:sym typeface="Arial"/>
            </a:endParaRPr>
          </a:p>
          <a:p>
            <a:pPr marL="0" marR="0" lvl="1" indent="0" algn="just" rtl="0">
              <a:lnSpc>
                <a:spcPct val="100000"/>
              </a:lnSpc>
              <a:spcBef>
                <a:spcPts val="40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1" indent="0" algn="just" rtl="0">
              <a:lnSpc>
                <a:spcPct val="100000"/>
              </a:lnSpc>
              <a:spcBef>
                <a:spcPts val="400"/>
              </a:spcBef>
              <a:spcAft>
                <a:spcPts val="0"/>
              </a:spcAft>
              <a:buClr>
                <a:srgbClr val="000000"/>
              </a:buClr>
              <a:buSzPts val="2000"/>
              <a:buFont typeface="Arial"/>
              <a:buNone/>
            </a:pPr>
            <a:r>
              <a:rPr lang="fr-FR" sz="2000" b="0" i="0" u="none" strike="noStrike" cap="none">
                <a:solidFill>
                  <a:srgbClr val="000000"/>
                </a:solidFill>
                <a:latin typeface="Times New Roman"/>
                <a:ea typeface="Times New Roman"/>
                <a:cs typeface="Times New Roman"/>
                <a:sym typeface="Times New Roman"/>
              </a:rPr>
              <a:t> Élu (Running) : les instructions sont en cours d’exécution.</a:t>
            </a:r>
            <a:endParaRPr sz="1400" b="0" i="0" u="none" strike="noStrike" cap="none">
              <a:solidFill>
                <a:srgbClr val="000000"/>
              </a:solidFill>
              <a:latin typeface="Arial"/>
              <a:ea typeface="Arial"/>
              <a:cs typeface="Arial"/>
              <a:sym typeface="Arial"/>
            </a:endParaRPr>
          </a:p>
          <a:p>
            <a:pPr marL="0" marR="0" lvl="1" indent="0" algn="just" rtl="0">
              <a:lnSpc>
                <a:spcPct val="100000"/>
              </a:lnSpc>
              <a:spcBef>
                <a:spcPts val="400"/>
              </a:spcBef>
              <a:spcAft>
                <a:spcPts val="0"/>
              </a:spcAft>
              <a:buClr>
                <a:srgbClr val="000000"/>
              </a:buClr>
              <a:buSzPts val="2000"/>
              <a:buFont typeface="Arial"/>
              <a:buNone/>
            </a:pPr>
            <a:endParaRPr sz="2000" b="0" i="0" u="none" strike="noStrike" cap="none">
              <a:solidFill>
                <a:srgbClr val="000000"/>
              </a:solidFill>
              <a:latin typeface="Times New Roman"/>
              <a:ea typeface="Times New Roman"/>
              <a:cs typeface="Times New Roman"/>
              <a:sym typeface="Times New Roman"/>
            </a:endParaRPr>
          </a:p>
          <a:p>
            <a:pPr marL="0" marR="0" lvl="1" indent="0" algn="just" rtl="0">
              <a:lnSpc>
                <a:spcPct val="100000"/>
              </a:lnSpc>
              <a:spcBef>
                <a:spcPts val="400"/>
              </a:spcBef>
              <a:spcAft>
                <a:spcPts val="0"/>
              </a:spcAft>
              <a:buClr>
                <a:srgbClr val="000000"/>
              </a:buClr>
              <a:buSzPts val="2000"/>
              <a:buFont typeface="Arial"/>
              <a:buNone/>
            </a:pPr>
            <a:r>
              <a:rPr lang="fr-FR" sz="2000" b="0" i="0" u="none" strike="noStrike" cap="none">
                <a:solidFill>
                  <a:srgbClr val="000000"/>
                </a:solidFill>
                <a:latin typeface="Times New Roman"/>
                <a:ea typeface="Times New Roman"/>
                <a:cs typeface="Times New Roman"/>
                <a:sym typeface="Times New Roman"/>
              </a:rPr>
              <a:t> Bloqué (Sleep) : le processus bloqué en attente d’événement: signal, E/S, …</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0"/>
                                        </p:tgtEl>
                                        <p:attrNameLst>
                                          <p:attrName>style.visibility</p:attrName>
                                        </p:attrNameLst>
                                      </p:cBhvr>
                                      <p:to>
                                        <p:strVal val="visible"/>
                                      </p:to>
                                    </p:set>
                                    <p:animEffect transition="in" filter="fade">
                                      <p:cBhvr>
                                        <p:cTn id="7" dur="500"/>
                                        <p:tgtEl>
                                          <p:spTgt spid="82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00"/>
                                        </p:tgtEl>
                                        <p:attrNameLst>
                                          <p:attrName>style.visibility</p:attrName>
                                        </p:attrNameLst>
                                      </p:cBhvr>
                                      <p:to>
                                        <p:strVal val="visible"/>
                                      </p:to>
                                    </p:set>
                                    <p:animEffect transition="in" filter="fade">
                                      <p:cBhvr>
                                        <p:cTn id="12" dur="1000"/>
                                        <p:tgtEl>
                                          <p:spTgt spid="8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12"/>
          <p:cNvSpPr>
            <a:spLocks noGrp="1"/>
          </p:cNvSpPr>
          <p:nvPr>
            <p:ph type="title"/>
          </p:nvPr>
        </p:nvSpPr>
        <p:spPr>
          <a:xfrm>
            <a:off x="302814" y="10412"/>
            <a:ext cx="8096250" cy="1143000"/>
          </a:xfrm>
          <a:prstGeom prst="roundRect">
            <a:avLst>
              <a:gd name="adj" fmla="val 21667"/>
            </a:avLst>
          </a:prstGeom>
          <a:noFill/>
          <a:ln>
            <a:noFill/>
          </a:ln>
        </p:spPr>
        <p:txBody>
          <a:bodyPr spcFirstLastPara="1" wrap="square" lIns="91425" tIns="45700" rIns="91425" bIns="45700" anchor="b" anchorCtr="0">
            <a:noAutofit/>
          </a:bodyPr>
          <a:lstStyle/>
          <a:p>
            <a:pPr marL="0" lvl="0" indent="0" algn="ctr" rtl="0">
              <a:lnSpc>
                <a:spcPct val="90000"/>
              </a:lnSpc>
              <a:spcBef>
                <a:spcPts val="0"/>
              </a:spcBef>
              <a:spcAft>
                <a:spcPts val="0"/>
              </a:spcAft>
              <a:buSzPts val="1400"/>
              <a:buNone/>
            </a:pPr>
            <a:r>
              <a:rPr lang="fr-FR" sz="2800" u="sng">
                <a:solidFill>
                  <a:srgbClr val="000204"/>
                </a:solidFill>
                <a:latin typeface="Times New Roman"/>
                <a:ea typeface="Times New Roman"/>
                <a:cs typeface="Times New Roman"/>
                <a:sym typeface="Times New Roman"/>
              </a:rPr>
              <a:t> Transitions</a:t>
            </a:r>
            <a:endParaRPr/>
          </a:p>
        </p:txBody>
      </p:sp>
      <p:sp>
        <p:nvSpPr>
          <p:cNvPr id="826" name="Google Shape;826;p112"/>
          <p:cNvSpPr txBox="1">
            <a:spLocks noGrp="1"/>
          </p:cNvSpPr>
          <p:nvPr>
            <p:ph type="body" idx="1"/>
          </p:nvPr>
        </p:nvSpPr>
        <p:spPr>
          <a:xfrm>
            <a:off x="302814" y="1967706"/>
            <a:ext cx="4805363" cy="3724275"/>
          </a:xfrm>
          <a:prstGeom prst="rect">
            <a:avLst/>
          </a:prstGeom>
          <a:noFill/>
          <a:ln>
            <a:noFill/>
          </a:ln>
        </p:spPr>
        <p:txBody>
          <a:bodyPr spcFirstLastPara="1" wrap="square" lIns="91425" tIns="45700" rIns="91425" bIns="45700" anchor="t" anchorCtr="0">
            <a:noAutofit/>
          </a:bodyPr>
          <a:lstStyle/>
          <a:p>
            <a:pPr marL="457200" lvl="0" indent="-457200" algn="l" rtl="0">
              <a:lnSpc>
                <a:spcPct val="100000"/>
              </a:lnSpc>
              <a:spcBef>
                <a:spcPts val="0"/>
              </a:spcBef>
              <a:spcAft>
                <a:spcPts val="0"/>
              </a:spcAft>
              <a:buClr>
                <a:srgbClr val="000000"/>
              </a:buClr>
              <a:buSzPts val="1800"/>
              <a:buFont typeface="Arial"/>
              <a:buAutoNum type="arabicPeriod"/>
            </a:pPr>
            <a:r>
              <a:rPr lang="fr-FR" sz="2400">
                <a:solidFill>
                  <a:srgbClr val="000000"/>
                </a:solidFill>
                <a:latin typeface="Times New Roman"/>
                <a:ea typeface="Times New Roman"/>
                <a:cs typeface="Times New Roman"/>
                <a:sym typeface="Times New Roman"/>
              </a:rPr>
              <a:t>Création du processus</a:t>
            </a:r>
            <a:endParaRPr/>
          </a:p>
          <a:p>
            <a:pPr marL="457200" lvl="0" indent="-457200" algn="l" rtl="0">
              <a:lnSpc>
                <a:spcPct val="100000"/>
              </a:lnSpc>
              <a:spcBef>
                <a:spcPts val="480"/>
              </a:spcBef>
              <a:spcAft>
                <a:spcPts val="0"/>
              </a:spcAft>
              <a:buClr>
                <a:srgbClr val="000000"/>
              </a:buClr>
              <a:buSzPts val="1800"/>
              <a:buFont typeface="Arial"/>
              <a:buAutoNum type="arabicPeriod"/>
            </a:pPr>
            <a:r>
              <a:rPr lang="fr-FR" sz="2400">
                <a:solidFill>
                  <a:srgbClr val="000000"/>
                </a:solidFill>
                <a:latin typeface="Times New Roman"/>
                <a:ea typeface="Times New Roman"/>
                <a:cs typeface="Times New Roman"/>
                <a:sym typeface="Times New Roman"/>
              </a:rPr>
              <a:t>Allocation du processeur</a:t>
            </a:r>
            <a:endParaRPr/>
          </a:p>
          <a:p>
            <a:pPr marL="457200" lvl="0" indent="-457200" algn="just" rtl="0">
              <a:lnSpc>
                <a:spcPct val="100000"/>
              </a:lnSpc>
              <a:spcBef>
                <a:spcPts val="480"/>
              </a:spcBef>
              <a:spcAft>
                <a:spcPts val="0"/>
              </a:spcAft>
              <a:buClr>
                <a:srgbClr val="000000"/>
              </a:buClr>
              <a:buSzPts val="1800"/>
              <a:buFont typeface="Arial"/>
              <a:buAutoNum type="arabicPeriod"/>
            </a:pPr>
            <a:r>
              <a:rPr lang="fr-FR" sz="2400">
                <a:solidFill>
                  <a:srgbClr val="000000"/>
                </a:solidFill>
                <a:latin typeface="Times New Roman"/>
                <a:ea typeface="Times New Roman"/>
                <a:cs typeface="Times New Roman"/>
                <a:sym typeface="Times New Roman"/>
              </a:rPr>
              <a:t>Fin du temps alloué sur le processeur, l’exécution du processus n’est pas terminée</a:t>
            </a:r>
            <a:endParaRPr/>
          </a:p>
          <a:p>
            <a:pPr marL="457200" lvl="0" indent="-457200" algn="just" rtl="0">
              <a:lnSpc>
                <a:spcPct val="100000"/>
              </a:lnSpc>
              <a:spcBef>
                <a:spcPts val="480"/>
              </a:spcBef>
              <a:spcAft>
                <a:spcPts val="0"/>
              </a:spcAft>
              <a:buClr>
                <a:srgbClr val="000000"/>
              </a:buClr>
              <a:buSzPts val="1800"/>
              <a:buFont typeface="Arial"/>
              <a:buAutoNum type="arabicPeriod"/>
            </a:pPr>
            <a:r>
              <a:rPr lang="fr-FR" sz="2400">
                <a:solidFill>
                  <a:srgbClr val="000000"/>
                </a:solidFill>
                <a:latin typeface="Times New Roman"/>
                <a:ea typeface="Times New Roman"/>
                <a:cs typeface="Times New Roman"/>
                <a:sym typeface="Times New Roman"/>
              </a:rPr>
              <a:t>Opération E/S</a:t>
            </a:r>
            <a:endParaRPr/>
          </a:p>
          <a:p>
            <a:pPr marL="457200" lvl="0" indent="-457200" algn="just" rtl="0">
              <a:lnSpc>
                <a:spcPct val="100000"/>
              </a:lnSpc>
              <a:spcBef>
                <a:spcPts val="480"/>
              </a:spcBef>
              <a:spcAft>
                <a:spcPts val="0"/>
              </a:spcAft>
              <a:buClr>
                <a:srgbClr val="000000"/>
              </a:buClr>
              <a:buSzPts val="1800"/>
              <a:buFont typeface="Arial"/>
              <a:buAutoNum type="arabicPeriod"/>
            </a:pPr>
            <a:r>
              <a:rPr lang="fr-FR" sz="2400">
                <a:solidFill>
                  <a:srgbClr val="000000"/>
                </a:solidFill>
                <a:latin typeface="Times New Roman"/>
                <a:ea typeface="Times New Roman"/>
                <a:cs typeface="Times New Roman"/>
                <a:sym typeface="Times New Roman"/>
              </a:rPr>
              <a:t>Fin opération E/S</a:t>
            </a:r>
            <a:endParaRPr/>
          </a:p>
          <a:p>
            <a:pPr marL="457200" lvl="0" indent="-457200" algn="just" rtl="0">
              <a:lnSpc>
                <a:spcPct val="100000"/>
              </a:lnSpc>
              <a:spcBef>
                <a:spcPts val="480"/>
              </a:spcBef>
              <a:spcAft>
                <a:spcPts val="0"/>
              </a:spcAft>
              <a:buClr>
                <a:srgbClr val="000000"/>
              </a:buClr>
              <a:buSzPts val="1800"/>
              <a:buFont typeface="Arial"/>
              <a:buAutoNum type="arabicPeriod"/>
            </a:pPr>
            <a:r>
              <a:rPr lang="fr-FR" sz="2400">
                <a:solidFill>
                  <a:srgbClr val="000000"/>
                </a:solidFill>
                <a:latin typeface="Times New Roman"/>
                <a:ea typeface="Times New Roman"/>
                <a:cs typeface="Times New Roman"/>
                <a:sym typeface="Times New Roman"/>
              </a:rPr>
              <a:t>Exécution terminée</a:t>
            </a:r>
            <a:endParaRPr/>
          </a:p>
        </p:txBody>
      </p:sp>
      <p:sp>
        <p:nvSpPr>
          <p:cNvPr id="827" name="Google Shape;827;p112"/>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29</a:t>
            </a:fld>
            <a:endParaRPr>
              <a:solidFill>
                <a:srgbClr val="FFFFFF"/>
              </a:solidFill>
            </a:endParaRPr>
          </a:p>
        </p:txBody>
      </p:sp>
      <p:grpSp>
        <p:nvGrpSpPr>
          <p:cNvPr id="828" name="Google Shape;828;p112"/>
          <p:cNvGrpSpPr/>
          <p:nvPr/>
        </p:nvGrpSpPr>
        <p:grpSpPr>
          <a:xfrm>
            <a:off x="4706361" y="2011218"/>
            <a:ext cx="4439226" cy="3981592"/>
            <a:chOff x="2940" y="1840"/>
            <a:chExt cx="2795" cy="2508"/>
          </a:xfrm>
        </p:grpSpPr>
        <p:sp>
          <p:nvSpPr>
            <p:cNvPr id="829" name="Google Shape;829;p112"/>
            <p:cNvSpPr/>
            <p:nvPr/>
          </p:nvSpPr>
          <p:spPr>
            <a:xfrm>
              <a:off x="2940" y="1840"/>
              <a:ext cx="818" cy="273"/>
            </a:xfrm>
            <a:prstGeom prst="ellipse">
              <a:avLst/>
            </a:prstGeom>
            <a:solidFill>
              <a:schemeClr val="lt1"/>
            </a:solidFill>
            <a:ln w="28575" cap="flat" cmpd="sng">
              <a:solidFill>
                <a:schemeClr val="dk1"/>
              </a:solidFill>
              <a:prstDash val="solid"/>
              <a:round/>
              <a:headEnd type="none" w="sm" len="sm"/>
              <a:tailEnd type="none" w="sm" len="sm"/>
            </a:ln>
            <a:effectLst>
              <a:outerShdw dist="107763" dir="135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Nouveau</a:t>
              </a:r>
              <a:endParaRPr sz="1400" b="0" i="0" u="none" strike="noStrike" cap="none">
                <a:solidFill>
                  <a:srgbClr val="000000"/>
                </a:solidFill>
                <a:latin typeface="Arial"/>
                <a:ea typeface="Arial"/>
                <a:cs typeface="Arial"/>
                <a:sym typeface="Arial"/>
              </a:endParaRPr>
            </a:p>
          </p:txBody>
        </p:sp>
        <p:sp>
          <p:nvSpPr>
            <p:cNvPr id="830" name="Google Shape;830;p112"/>
            <p:cNvSpPr/>
            <p:nvPr/>
          </p:nvSpPr>
          <p:spPr>
            <a:xfrm>
              <a:off x="4961" y="2236"/>
              <a:ext cx="774" cy="273"/>
            </a:xfrm>
            <a:prstGeom prst="ellipse">
              <a:avLst/>
            </a:prstGeom>
            <a:solidFill>
              <a:schemeClr val="lt1"/>
            </a:solidFill>
            <a:ln w="28575" cap="flat" cmpd="sng">
              <a:solidFill>
                <a:schemeClr val="dk1"/>
              </a:solidFill>
              <a:prstDash val="solid"/>
              <a:round/>
              <a:headEnd type="none" w="sm" len="sm"/>
              <a:tailEnd type="none" w="sm" len="sm"/>
            </a:ln>
            <a:effectLst>
              <a:outerShdw dist="107763" dir="189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Terminé</a:t>
              </a:r>
              <a:endParaRPr sz="1400" b="0" i="0" u="none" strike="noStrike" cap="none">
                <a:solidFill>
                  <a:srgbClr val="000000"/>
                </a:solidFill>
                <a:latin typeface="Arial"/>
                <a:ea typeface="Arial"/>
                <a:cs typeface="Arial"/>
                <a:sym typeface="Arial"/>
              </a:endParaRPr>
            </a:p>
          </p:txBody>
        </p:sp>
        <p:sp>
          <p:nvSpPr>
            <p:cNvPr id="831" name="Google Shape;831;p112"/>
            <p:cNvSpPr/>
            <p:nvPr/>
          </p:nvSpPr>
          <p:spPr>
            <a:xfrm>
              <a:off x="4173" y="3293"/>
              <a:ext cx="692" cy="273"/>
            </a:xfrm>
            <a:prstGeom prst="ellipse">
              <a:avLst/>
            </a:prstGeom>
            <a:solidFill>
              <a:schemeClr val="lt1"/>
            </a:solidFill>
            <a:ln w="28575" cap="flat" cmpd="sng">
              <a:solidFill>
                <a:schemeClr val="dk1"/>
              </a:solidFill>
              <a:prstDash val="solid"/>
              <a:round/>
              <a:headEnd type="none" w="sm" len="sm"/>
              <a:tailEnd type="none" w="sm" len="sm"/>
            </a:ln>
            <a:effectLst>
              <a:outerShdw dist="35921" dir="27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Bloqué</a:t>
              </a:r>
              <a:endParaRPr sz="1400" b="0" i="0" u="none" strike="noStrike" cap="none">
                <a:solidFill>
                  <a:srgbClr val="000000"/>
                </a:solidFill>
                <a:latin typeface="Arial"/>
                <a:ea typeface="Arial"/>
                <a:cs typeface="Arial"/>
                <a:sym typeface="Arial"/>
              </a:endParaRPr>
            </a:p>
          </p:txBody>
        </p:sp>
        <p:sp>
          <p:nvSpPr>
            <p:cNvPr id="832" name="Google Shape;832;p112"/>
            <p:cNvSpPr/>
            <p:nvPr/>
          </p:nvSpPr>
          <p:spPr>
            <a:xfrm>
              <a:off x="3526" y="2671"/>
              <a:ext cx="680" cy="317"/>
            </a:xfrm>
            <a:prstGeom prst="ellipse">
              <a:avLst/>
            </a:prstGeom>
            <a:solidFill>
              <a:schemeClr val="lt1"/>
            </a:solidFill>
            <a:ln w="28575" cap="flat" cmpd="sng">
              <a:solidFill>
                <a:schemeClr val="dk1"/>
              </a:solidFill>
              <a:prstDash val="solid"/>
              <a:round/>
              <a:headEnd type="none" w="sm" len="sm"/>
              <a:tailEnd type="none" w="sm" len="sm"/>
            </a:ln>
            <a:effectLst>
              <a:outerShdw dist="107763" dir="135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Prêt</a:t>
              </a:r>
              <a:endParaRPr sz="1400" b="0" i="0" u="none" strike="noStrike" cap="none">
                <a:solidFill>
                  <a:srgbClr val="000000"/>
                </a:solidFill>
                <a:latin typeface="Arial"/>
                <a:ea typeface="Arial"/>
                <a:cs typeface="Arial"/>
                <a:sym typeface="Arial"/>
              </a:endParaRPr>
            </a:p>
          </p:txBody>
        </p:sp>
        <p:sp>
          <p:nvSpPr>
            <p:cNvPr id="833" name="Google Shape;833;p112"/>
            <p:cNvSpPr/>
            <p:nvPr/>
          </p:nvSpPr>
          <p:spPr>
            <a:xfrm>
              <a:off x="4614" y="2671"/>
              <a:ext cx="724" cy="273"/>
            </a:xfrm>
            <a:prstGeom prst="ellipse">
              <a:avLst/>
            </a:prstGeom>
            <a:solidFill>
              <a:schemeClr val="lt1"/>
            </a:solidFill>
            <a:ln w="28575" cap="flat" cmpd="sng">
              <a:solidFill>
                <a:schemeClr val="dk1"/>
              </a:solidFill>
              <a:prstDash val="solid"/>
              <a:round/>
              <a:headEnd type="none" w="sm" len="sm"/>
              <a:tailEnd type="none" w="sm" len="sm"/>
            </a:ln>
            <a:effectLst>
              <a:outerShdw dist="107763" dir="18900000" algn="ctr" rotWithShape="0">
                <a:schemeClr val="lt2">
                  <a:alpha val="48627"/>
                </a:schemeClr>
              </a:outerShdw>
            </a:effectLst>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3366"/>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cxnSp>
          <p:nvCxnSpPr>
            <p:cNvPr id="834" name="Google Shape;834;p112"/>
            <p:cNvCxnSpPr>
              <a:cxnSpLocks/>
            </p:cNvCxnSpPr>
            <p:nvPr/>
          </p:nvCxnSpPr>
          <p:spPr>
            <a:xfrm rot="16200000" flipH="1">
              <a:off x="3095" y="2187"/>
              <a:ext cx="606" cy="455"/>
            </a:xfrm>
            <a:prstGeom prst="curvedConnector3">
              <a:avLst>
                <a:gd name="adj1" fmla="val 50000"/>
              </a:avLst>
            </a:prstGeom>
            <a:noFill/>
            <a:ln w="9525" cap="flat" cmpd="sng">
              <a:solidFill>
                <a:schemeClr val="dk1"/>
              </a:solidFill>
              <a:prstDash val="solid"/>
              <a:round/>
              <a:headEnd type="none" w="sm" len="sm"/>
              <a:tailEnd type="triangle" w="med" len="med"/>
            </a:ln>
          </p:spPr>
        </p:cxnSp>
        <p:cxnSp>
          <p:nvCxnSpPr>
            <p:cNvPr id="835" name="Google Shape;835;p112"/>
            <p:cNvCxnSpPr>
              <a:stCxn id="831" idx="1"/>
              <a:endCxn id="832" idx="4"/>
            </p:cNvCxnSpPr>
            <p:nvPr/>
          </p:nvCxnSpPr>
          <p:spPr>
            <a:xfrm rot="16200000" flipV="1">
              <a:off x="3898" y="2956"/>
              <a:ext cx="345" cy="408"/>
            </a:xfrm>
            <a:prstGeom prst="curvedConnector3">
              <a:avLst>
                <a:gd name="adj1" fmla="val 50000"/>
              </a:avLst>
            </a:prstGeom>
            <a:noFill/>
            <a:ln w="9525" cap="flat" cmpd="sng">
              <a:solidFill>
                <a:schemeClr val="dk1"/>
              </a:solidFill>
              <a:prstDash val="solid"/>
              <a:round/>
              <a:headEnd type="none" w="sm" len="sm"/>
              <a:tailEnd type="triangle" w="med" len="med"/>
            </a:ln>
          </p:spPr>
        </p:cxnSp>
        <p:cxnSp>
          <p:nvCxnSpPr>
            <p:cNvPr id="836" name="Google Shape;836;p112"/>
            <p:cNvCxnSpPr>
              <a:stCxn id="833" idx="4"/>
              <a:endCxn id="831" idx="7"/>
            </p:cNvCxnSpPr>
            <p:nvPr/>
          </p:nvCxnSpPr>
          <p:spPr>
            <a:xfrm rot="5400000">
              <a:off x="4675" y="3032"/>
              <a:ext cx="389" cy="212"/>
            </a:xfrm>
            <a:prstGeom prst="curvedConnector3">
              <a:avLst>
                <a:gd name="adj1" fmla="val 50000"/>
              </a:avLst>
            </a:prstGeom>
            <a:noFill/>
            <a:ln w="9525" cap="flat" cmpd="sng">
              <a:solidFill>
                <a:schemeClr val="dk1"/>
              </a:solidFill>
              <a:prstDash val="solid"/>
              <a:round/>
              <a:headEnd type="none" w="sm" len="sm"/>
              <a:tailEnd type="triangle" w="med" len="med"/>
            </a:ln>
          </p:spPr>
        </p:cxnSp>
        <p:cxnSp>
          <p:nvCxnSpPr>
            <p:cNvPr id="837" name="Google Shape;837;p112"/>
            <p:cNvCxnSpPr>
              <a:stCxn id="833" idx="1"/>
              <a:endCxn id="832" idx="7"/>
            </p:cNvCxnSpPr>
            <p:nvPr/>
          </p:nvCxnSpPr>
          <p:spPr>
            <a:xfrm rot="16200000" flipH="1" flipV="1">
              <a:off x="4410" y="2407"/>
              <a:ext cx="6" cy="614"/>
            </a:xfrm>
            <a:prstGeom prst="curvedConnector3">
              <a:avLst>
                <a:gd name="adj1" fmla="val -2855034"/>
              </a:avLst>
            </a:prstGeom>
            <a:noFill/>
            <a:ln w="9525" cap="flat" cmpd="sng">
              <a:solidFill>
                <a:schemeClr val="dk1"/>
              </a:solidFill>
              <a:prstDash val="solid"/>
              <a:round/>
              <a:headEnd type="none" w="sm" len="sm"/>
              <a:tailEnd type="triangle" w="med" len="med"/>
            </a:ln>
          </p:spPr>
        </p:cxnSp>
        <p:cxnSp>
          <p:nvCxnSpPr>
            <p:cNvPr id="838" name="Google Shape;838;p112"/>
            <p:cNvCxnSpPr>
              <a:stCxn id="832" idx="5"/>
              <a:endCxn id="833" idx="3"/>
            </p:cNvCxnSpPr>
            <p:nvPr/>
          </p:nvCxnSpPr>
          <p:spPr>
            <a:xfrm rot="5400000" flipH="1" flipV="1">
              <a:off x="4394" y="2616"/>
              <a:ext cx="38" cy="614"/>
            </a:xfrm>
            <a:prstGeom prst="curvedConnector3">
              <a:avLst>
                <a:gd name="adj1" fmla="val -507019"/>
              </a:avLst>
            </a:prstGeom>
            <a:noFill/>
            <a:ln w="9525" cap="flat" cmpd="sng">
              <a:solidFill>
                <a:schemeClr val="dk1"/>
              </a:solidFill>
              <a:prstDash val="solid"/>
              <a:round/>
              <a:headEnd type="none" w="sm" len="sm"/>
              <a:tailEnd type="triangle" w="med" len="med"/>
            </a:ln>
          </p:spPr>
        </p:cxnSp>
        <p:cxnSp>
          <p:nvCxnSpPr>
            <p:cNvPr id="839" name="Google Shape;839;p112"/>
            <p:cNvCxnSpPr>
              <a:stCxn id="833" idx="7"/>
              <a:endCxn id="830" idx="4"/>
            </p:cNvCxnSpPr>
            <p:nvPr/>
          </p:nvCxnSpPr>
          <p:spPr>
            <a:xfrm rot="5400000" flipH="1" flipV="1">
              <a:off x="5189" y="2552"/>
              <a:ext cx="202" cy="116"/>
            </a:xfrm>
            <a:prstGeom prst="curvedConnector3">
              <a:avLst>
                <a:gd name="adj1" fmla="val 50000"/>
              </a:avLst>
            </a:prstGeom>
            <a:noFill/>
            <a:ln w="9525" cap="flat" cmpd="sng">
              <a:solidFill>
                <a:schemeClr val="dk1"/>
              </a:solidFill>
              <a:prstDash val="solid"/>
              <a:round/>
              <a:headEnd type="none" w="sm" len="sm"/>
              <a:tailEnd type="triangle" w="med" len="med"/>
            </a:ln>
          </p:spPr>
        </p:cxnSp>
        <p:sp>
          <p:nvSpPr>
            <p:cNvPr id="840" name="Google Shape;840;p112"/>
            <p:cNvSpPr txBox="1"/>
            <p:nvPr/>
          </p:nvSpPr>
          <p:spPr>
            <a:xfrm>
              <a:off x="3470" y="2477"/>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❶</a:t>
              </a:r>
              <a:endParaRPr sz="1400" b="0" i="0" u="none" strike="noStrike" cap="none">
                <a:solidFill>
                  <a:srgbClr val="000000"/>
                </a:solidFill>
                <a:latin typeface="Arial"/>
                <a:ea typeface="Arial"/>
                <a:cs typeface="Arial"/>
                <a:sym typeface="Arial"/>
              </a:endParaRPr>
            </a:p>
          </p:txBody>
        </p:sp>
        <p:sp>
          <p:nvSpPr>
            <p:cNvPr id="841" name="Google Shape;841;p112"/>
            <p:cNvSpPr txBox="1"/>
            <p:nvPr/>
          </p:nvSpPr>
          <p:spPr>
            <a:xfrm>
              <a:off x="4286" y="2972"/>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❷</a:t>
              </a:r>
              <a:endParaRPr sz="1400" b="0" i="0" u="none" strike="noStrike" cap="none">
                <a:solidFill>
                  <a:srgbClr val="000000"/>
                </a:solidFill>
                <a:latin typeface="Arial"/>
                <a:ea typeface="Arial"/>
                <a:cs typeface="Arial"/>
                <a:sym typeface="Arial"/>
              </a:endParaRPr>
            </a:p>
          </p:txBody>
        </p:sp>
        <p:sp>
          <p:nvSpPr>
            <p:cNvPr id="842" name="Google Shape;842;p112"/>
            <p:cNvSpPr txBox="1"/>
            <p:nvPr/>
          </p:nvSpPr>
          <p:spPr>
            <a:xfrm>
              <a:off x="4286" y="2432"/>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❸</a:t>
              </a:r>
              <a:endParaRPr sz="1400" b="0" i="0" u="none" strike="noStrike" cap="none">
                <a:solidFill>
                  <a:srgbClr val="000000"/>
                </a:solidFill>
                <a:latin typeface="Arial"/>
                <a:ea typeface="Arial"/>
                <a:cs typeface="Arial"/>
                <a:sym typeface="Arial"/>
              </a:endParaRPr>
            </a:p>
          </p:txBody>
        </p:sp>
        <p:sp>
          <p:nvSpPr>
            <p:cNvPr id="843" name="Google Shape;843;p112"/>
            <p:cNvSpPr txBox="1"/>
            <p:nvPr/>
          </p:nvSpPr>
          <p:spPr>
            <a:xfrm>
              <a:off x="5103" y="2519"/>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❻</a:t>
              </a:r>
              <a:endParaRPr sz="1400" b="0" i="0" u="none" strike="noStrike" cap="none">
                <a:solidFill>
                  <a:srgbClr val="000000"/>
                </a:solidFill>
                <a:latin typeface="Arial"/>
                <a:ea typeface="Arial"/>
                <a:cs typeface="Arial"/>
                <a:sym typeface="Arial"/>
              </a:endParaRPr>
            </a:p>
          </p:txBody>
        </p:sp>
        <p:sp>
          <p:nvSpPr>
            <p:cNvPr id="844" name="Google Shape;844;p112"/>
            <p:cNvSpPr txBox="1"/>
            <p:nvPr/>
          </p:nvSpPr>
          <p:spPr>
            <a:xfrm>
              <a:off x="3923" y="3108"/>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❺</a:t>
              </a:r>
              <a:endParaRPr sz="1400" b="0" i="0" u="none" strike="noStrike" cap="none">
                <a:solidFill>
                  <a:srgbClr val="000000"/>
                </a:solidFill>
                <a:latin typeface="Arial"/>
                <a:ea typeface="Arial"/>
                <a:cs typeface="Arial"/>
                <a:sym typeface="Arial"/>
              </a:endParaRPr>
            </a:p>
          </p:txBody>
        </p:sp>
        <p:sp>
          <p:nvSpPr>
            <p:cNvPr id="845" name="Google Shape;845;p112"/>
            <p:cNvSpPr txBox="1"/>
            <p:nvPr/>
          </p:nvSpPr>
          <p:spPr>
            <a:xfrm>
              <a:off x="4649" y="3112"/>
              <a:ext cx="300" cy="3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Arial"/>
                  <a:ea typeface="Arial"/>
                  <a:cs typeface="Arial"/>
                  <a:sym typeface="Arial"/>
                </a:rPr>
                <a:t>❹</a:t>
              </a:r>
              <a:endParaRPr sz="1400" b="0" i="0" u="none" strike="noStrike" cap="none">
                <a:solidFill>
                  <a:srgbClr val="000000"/>
                </a:solidFill>
                <a:latin typeface="Arial"/>
                <a:ea typeface="Arial"/>
                <a:cs typeface="Arial"/>
                <a:sym typeface="Arial"/>
              </a:endParaRPr>
            </a:p>
          </p:txBody>
        </p:sp>
        <p:sp>
          <p:nvSpPr>
            <p:cNvPr id="846" name="Google Shape;846;p112"/>
            <p:cNvSpPr txBox="1"/>
            <p:nvPr/>
          </p:nvSpPr>
          <p:spPr>
            <a:xfrm>
              <a:off x="3334" y="3748"/>
              <a:ext cx="2400" cy="600"/>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a:solidFill>
                    <a:srgbClr val="000000"/>
                  </a:solidFill>
                  <a:latin typeface="Times New Roman"/>
                  <a:ea typeface="Times New Roman"/>
                  <a:cs typeface="Times New Roman"/>
                  <a:sym typeface="Times New Roman"/>
                </a:rPr>
                <a:t>Graphe des états d’un processus</a:t>
              </a:r>
              <a:endParaRPr sz="1400" b="0" i="0" u="none" strike="noStrike" cap="none">
                <a:solidFill>
                  <a:srgbClr val="000000"/>
                </a:solidFill>
                <a:latin typeface="Arial"/>
                <a:ea typeface="Arial"/>
                <a:cs typeface="Arial"/>
                <a:sym typeface="Arial"/>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850"/>
        <p:cNvGrpSpPr/>
        <p:nvPr/>
      </p:nvGrpSpPr>
      <p:grpSpPr>
        <a:xfrm>
          <a:off x="0" y="0"/>
          <a:ext cx="0" cy="0"/>
          <a:chOff x="0" y="0"/>
          <a:chExt cx="0" cy="0"/>
        </a:xfrm>
      </p:grpSpPr>
      <p:sp>
        <p:nvSpPr>
          <p:cNvPr id="851" name="Google Shape;851;p113"/>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30</a:t>
            </a:fld>
            <a:endParaRPr>
              <a:solidFill>
                <a:srgbClr val="FFFFFF"/>
              </a:solidFill>
            </a:endParaRPr>
          </a:p>
        </p:txBody>
      </p:sp>
      <p:sp>
        <p:nvSpPr>
          <p:cNvPr id="852" name="Google Shape;852;p113"/>
          <p:cNvSpPr>
            <a:spLocks noGrp="1"/>
          </p:cNvSpPr>
          <p:nvPr>
            <p:ph type="title"/>
          </p:nvPr>
        </p:nvSpPr>
        <p:spPr>
          <a:xfrm>
            <a:off x="671513" y="432196"/>
            <a:ext cx="7924800" cy="548481"/>
          </a:xfrm>
          <a:prstGeom prst="roundRect">
            <a:avLst>
              <a:gd name="adj" fmla="val 21667"/>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1400"/>
              <a:buNone/>
            </a:pPr>
            <a:br>
              <a:rPr lang="fr-FR" sz="2800" u="sng">
                <a:solidFill>
                  <a:srgbClr val="000204"/>
                </a:solidFill>
              </a:rPr>
            </a:br>
            <a:r>
              <a:rPr lang="fr-FR" sz="2800" u="sng">
                <a:solidFill>
                  <a:srgbClr val="000204"/>
                </a:solidFill>
              </a:rPr>
              <a:t>Commutation de contexte</a:t>
            </a:r>
            <a:endParaRPr/>
          </a:p>
        </p:txBody>
      </p:sp>
      <p:sp>
        <p:nvSpPr>
          <p:cNvPr id="853" name="Google Shape;853;p113"/>
          <p:cNvSpPr txBox="1">
            <a:spLocks noGrp="1"/>
          </p:cNvSpPr>
          <p:nvPr>
            <p:ph type="body" idx="1"/>
          </p:nvPr>
        </p:nvSpPr>
        <p:spPr>
          <a:xfrm>
            <a:off x="534723" y="1800755"/>
            <a:ext cx="3589338" cy="3724275"/>
          </a:xfrm>
          <a:prstGeom prst="rect">
            <a:avLst/>
          </a:prstGeom>
          <a:noFill/>
          <a:ln>
            <a:noFill/>
          </a:ln>
        </p:spPr>
        <p:txBody>
          <a:bodyPr spcFirstLastPara="1" wrap="square" lIns="91425" tIns="45700" rIns="91425" bIns="45700" anchor="t" anchorCtr="0">
            <a:noAutofit/>
          </a:bodyPr>
          <a:lstStyle/>
          <a:p>
            <a:pPr marL="342900" lvl="0" indent="-342900" algn="just" rtl="0">
              <a:lnSpc>
                <a:spcPct val="90000"/>
              </a:lnSpc>
              <a:spcBef>
                <a:spcPts val="0"/>
              </a:spcBef>
              <a:spcAft>
                <a:spcPts val="0"/>
              </a:spcAft>
              <a:buClr>
                <a:srgbClr val="000204"/>
              </a:buClr>
              <a:buSzPts val="1500"/>
              <a:buChar char="●"/>
            </a:pPr>
            <a:r>
              <a:rPr lang="fr-FR" sz="2000">
                <a:solidFill>
                  <a:srgbClr val="000204"/>
                </a:solidFill>
                <a:latin typeface="Times New Roman"/>
                <a:ea typeface="Times New Roman"/>
                <a:cs typeface="Times New Roman"/>
                <a:sym typeface="Times New Roman"/>
              </a:rPr>
              <a:t>Sur un système multiprogrammé, le SE doit redonner le contrôle du processeur d’un processus à un autre en effectuant des commutations de contexte. </a:t>
            </a:r>
            <a:endParaRPr/>
          </a:p>
          <a:p>
            <a:pPr marL="342900" lvl="0" indent="-342900" algn="just" rtl="0">
              <a:lnSpc>
                <a:spcPct val="90000"/>
              </a:lnSpc>
              <a:spcBef>
                <a:spcPts val="400"/>
              </a:spcBef>
              <a:spcAft>
                <a:spcPts val="0"/>
              </a:spcAft>
              <a:buClr>
                <a:srgbClr val="000204"/>
              </a:buClr>
              <a:buSzPts val="1500"/>
              <a:buChar char="●"/>
            </a:pPr>
            <a:r>
              <a:rPr lang="fr-FR" sz="2000">
                <a:solidFill>
                  <a:srgbClr val="000204"/>
                </a:solidFill>
                <a:latin typeface="Times New Roman"/>
                <a:ea typeface="Times New Roman"/>
                <a:cs typeface="Times New Roman"/>
                <a:sym typeface="Times New Roman"/>
              </a:rPr>
              <a:t>La commutation de contexte consiste à mémoriser le PCB du processus courant et charger le PCB du processus à élire.</a:t>
            </a:r>
            <a:endParaRPr/>
          </a:p>
        </p:txBody>
      </p:sp>
      <p:grpSp>
        <p:nvGrpSpPr>
          <p:cNvPr id="854" name="Google Shape;854;p113"/>
          <p:cNvGrpSpPr/>
          <p:nvPr/>
        </p:nvGrpSpPr>
        <p:grpSpPr>
          <a:xfrm>
            <a:off x="4716463" y="1800755"/>
            <a:ext cx="4427537" cy="4220633"/>
            <a:chOff x="2971" y="1616"/>
            <a:chExt cx="2789" cy="2177"/>
          </a:xfrm>
        </p:grpSpPr>
        <p:sp>
          <p:nvSpPr>
            <p:cNvPr id="855" name="Google Shape;855;p113"/>
            <p:cNvSpPr/>
            <p:nvPr/>
          </p:nvSpPr>
          <p:spPr>
            <a:xfrm>
              <a:off x="3424" y="1798"/>
              <a:ext cx="91" cy="362"/>
            </a:xfrm>
            <a:prstGeom prst="downArrow">
              <a:avLst>
                <a:gd name="adj1" fmla="val 50000"/>
                <a:gd name="adj2" fmla="val 99451"/>
              </a:avLst>
            </a:prstGeom>
            <a:solidFill>
              <a:srgbClr val="808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56" name="Google Shape;856;p113"/>
            <p:cNvSpPr/>
            <p:nvPr/>
          </p:nvSpPr>
          <p:spPr>
            <a:xfrm>
              <a:off x="3425" y="2205"/>
              <a:ext cx="45" cy="1225"/>
            </a:xfrm>
            <a:prstGeom prst="rect">
              <a:avLst/>
            </a:prstGeom>
            <a:solidFill>
              <a:schemeClr val="lt1"/>
            </a:solidFill>
            <a:ln w="9525" cap="flat" cmpd="sng">
              <a:solidFill>
                <a:schemeClr val="dk1"/>
              </a:solidFill>
              <a:prstDash val="dashDot"/>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57" name="Google Shape;857;p113"/>
            <p:cNvSpPr/>
            <p:nvPr/>
          </p:nvSpPr>
          <p:spPr>
            <a:xfrm>
              <a:off x="3424" y="3475"/>
              <a:ext cx="91" cy="318"/>
            </a:xfrm>
            <a:prstGeom prst="downArrow">
              <a:avLst>
                <a:gd name="adj1" fmla="val 50000"/>
                <a:gd name="adj2" fmla="val 87363"/>
              </a:avLst>
            </a:prstGeom>
            <a:solidFill>
              <a:srgbClr val="808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58" name="Google Shape;858;p113"/>
            <p:cNvSpPr/>
            <p:nvPr/>
          </p:nvSpPr>
          <p:spPr>
            <a:xfrm>
              <a:off x="5239" y="2523"/>
              <a:ext cx="90" cy="544"/>
            </a:xfrm>
            <a:prstGeom prst="downArrow">
              <a:avLst>
                <a:gd name="adj1" fmla="val 50000"/>
                <a:gd name="adj2" fmla="val 151111"/>
              </a:avLst>
            </a:prstGeom>
            <a:solidFill>
              <a:srgbClr val="808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59" name="Google Shape;859;p113"/>
            <p:cNvSpPr/>
            <p:nvPr/>
          </p:nvSpPr>
          <p:spPr>
            <a:xfrm>
              <a:off x="5284" y="1797"/>
              <a:ext cx="45" cy="681"/>
            </a:xfrm>
            <a:prstGeom prst="rect">
              <a:avLst/>
            </a:prstGeom>
            <a:solidFill>
              <a:schemeClr val="lt1"/>
            </a:solidFill>
            <a:ln w="9525" cap="flat" cmpd="sng">
              <a:solidFill>
                <a:schemeClr val="dk1"/>
              </a:solidFill>
              <a:prstDash val="dashDot"/>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60" name="Google Shape;860;p113"/>
            <p:cNvSpPr/>
            <p:nvPr/>
          </p:nvSpPr>
          <p:spPr>
            <a:xfrm>
              <a:off x="5284" y="3113"/>
              <a:ext cx="45" cy="635"/>
            </a:xfrm>
            <a:prstGeom prst="rect">
              <a:avLst/>
            </a:prstGeom>
            <a:solidFill>
              <a:schemeClr val="lt1"/>
            </a:solidFill>
            <a:ln w="9525" cap="flat" cmpd="sng">
              <a:solidFill>
                <a:schemeClr val="dk1"/>
              </a:solidFill>
              <a:prstDash val="dashDot"/>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61" name="Google Shape;861;p113"/>
            <p:cNvSpPr txBox="1"/>
            <p:nvPr/>
          </p:nvSpPr>
          <p:spPr>
            <a:xfrm>
              <a:off x="3787" y="2160"/>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Sauvegarde PCB</a:t>
              </a:r>
              <a:r>
                <a:rPr lang="fr-FR" sz="1000" b="0" i="0" u="none" strike="noStrike" cap="none">
                  <a:solidFill>
                    <a:srgbClr val="000204"/>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862" name="Google Shape;862;p113"/>
            <p:cNvSpPr txBox="1"/>
            <p:nvPr/>
          </p:nvSpPr>
          <p:spPr>
            <a:xfrm>
              <a:off x="3787" y="3015"/>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Sauvegarde PCB</a:t>
              </a:r>
              <a:r>
                <a:rPr lang="fr-FR" sz="1000" b="0" i="0" u="none" strike="noStrike" cap="none">
                  <a:solidFill>
                    <a:srgbClr val="000204"/>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863" name="Google Shape;863;p113"/>
            <p:cNvSpPr txBox="1"/>
            <p:nvPr/>
          </p:nvSpPr>
          <p:spPr>
            <a:xfrm>
              <a:off x="3787" y="2385"/>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Recharge PCB</a:t>
              </a:r>
              <a:r>
                <a:rPr lang="fr-FR" sz="1000" b="0" i="0" u="none" strike="noStrike" cap="none">
                  <a:solidFill>
                    <a:srgbClr val="000204"/>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864" name="Google Shape;864;p113"/>
            <p:cNvSpPr txBox="1"/>
            <p:nvPr/>
          </p:nvSpPr>
          <p:spPr>
            <a:xfrm>
              <a:off x="3787" y="3267"/>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Recharge PCB</a:t>
              </a:r>
              <a:r>
                <a:rPr lang="fr-FR" sz="1000" b="0" i="0" u="none" strike="noStrike" cap="none">
                  <a:solidFill>
                    <a:srgbClr val="000204"/>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cxnSp>
          <p:nvCxnSpPr>
            <p:cNvPr id="865" name="Google Shape;865;p113"/>
            <p:cNvCxnSpPr>
              <a:stCxn id="858" idx="0"/>
              <a:endCxn id="863" idx="3"/>
            </p:cNvCxnSpPr>
            <p:nvPr/>
          </p:nvCxnSpPr>
          <p:spPr>
            <a:xfrm>
              <a:off x="5134" y="2373"/>
              <a:ext cx="0" cy="300"/>
            </a:xfrm>
            <a:prstGeom prst="curvedConnector2">
              <a:avLst/>
            </a:prstGeom>
            <a:noFill/>
            <a:ln w="9525" cap="flat" cmpd="sng">
              <a:solidFill>
                <a:schemeClr val="dk1"/>
              </a:solidFill>
              <a:prstDash val="solid"/>
              <a:round/>
              <a:headEnd type="triangle" w="med" len="med"/>
              <a:tailEnd type="none" w="sm" len="sm"/>
            </a:ln>
          </p:spPr>
        </p:cxnSp>
        <p:cxnSp>
          <p:nvCxnSpPr>
            <p:cNvPr id="866" name="Google Shape;866;p113"/>
            <p:cNvCxnSpPr>
              <a:stCxn id="858" idx="2"/>
              <a:endCxn id="862" idx="3"/>
            </p:cNvCxnSpPr>
            <p:nvPr/>
          </p:nvCxnSpPr>
          <p:spPr>
            <a:xfrm>
              <a:off x="5134" y="2917"/>
              <a:ext cx="0" cy="300"/>
            </a:xfrm>
            <a:prstGeom prst="curvedConnector2">
              <a:avLst/>
            </a:prstGeom>
            <a:noFill/>
            <a:ln w="9525" cap="flat" cmpd="sng">
              <a:solidFill>
                <a:schemeClr val="dk1"/>
              </a:solidFill>
              <a:prstDash val="solid"/>
              <a:round/>
              <a:headEnd type="none" w="sm" len="sm"/>
              <a:tailEnd type="triangle" w="med" len="med"/>
            </a:ln>
          </p:spPr>
        </p:cxnSp>
        <p:cxnSp>
          <p:nvCxnSpPr>
            <p:cNvPr id="867" name="Google Shape;867;p113"/>
            <p:cNvCxnSpPr>
              <a:stCxn id="857" idx="0"/>
              <a:endCxn id="864" idx="1"/>
            </p:cNvCxnSpPr>
            <p:nvPr/>
          </p:nvCxnSpPr>
          <p:spPr>
            <a:xfrm rot="10800000">
              <a:off x="3620" y="3325"/>
              <a:ext cx="0" cy="300"/>
            </a:xfrm>
            <a:prstGeom prst="curvedConnector2">
              <a:avLst/>
            </a:prstGeom>
            <a:noFill/>
            <a:ln w="9525" cap="flat" cmpd="sng">
              <a:solidFill>
                <a:schemeClr val="dk1"/>
              </a:solidFill>
              <a:prstDash val="solid"/>
              <a:round/>
              <a:headEnd type="triangle" w="med" len="med"/>
              <a:tailEnd type="none" w="sm" len="sm"/>
            </a:ln>
          </p:spPr>
        </p:cxnSp>
        <p:cxnSp>
          <p:nvCxnSpPr>
            <p:cNvPr id="868" name="Google Shape;868;p113"/>
            <p:cNvCxnSpPr>
              <a:stCxn id="861" idx="1"/>
              <a:endCxn id="855" idx="2"/>
            </p:cNvCxnSpPr>
            <p:nvPr/>
          </p:nvCxnSpPr>
          <p:spPr>
            <a:xfrm rot="10800000">
              <a:off x="3487" y="2259"/>
              <a:ext cx="300" cy="0"/>
            </a:xfrm>
            <a:prstGeom prst="curvedConnector2">
              <a:avLst/>
            </a:prstGeom>
            <a:noFill/>
            <a:ln w="9525" cap="flat" cmpd="sng">
              <a:solidFill>
                <a:schemeClr val="dk1"/>
              </a:solidFill>
              <a:prstDash val="solid"/>
              <a:round/>
              <a:headEnd type="triangle" w="med" len="med"/>
              <a:tailEnd type="none" w="sm" len="sm"/>
            </a:ln>
          </p:spPr>
        </p:cxnSp>
        <p:sp>
          <p:nvSpPr>
            <p:cNvPr id="869" name="Google Shape;869;p113"/>
            <p:cNvSpPr txBox="1"/>
            <p:nvPr/>
          </p:nvSpPr>
          <p:spPr>
            <a:xfrm>
              <a:off x="3334" y="1616"/>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P0</a:t>
              </a:r>
              <a:endParaRPr sz="1400" b="0" i="0" u="none" strike="noStrike" cap="none">
                <a:solidFill>
                  <a:srgbClr val="000000"/>
                </a:solidFill>
                <a:latin typeface="Arial"/>
                <a:ea typeface="Arial"/>
                <a:cs typeface="Arial"/>
                <a:sym typeface="Arial"/>
              </a:endParaRPr>
            </a:p>
          </p:txBody>
        </p:sp>
        <p:sp>
          <p:nvSpPr>
            <p:cNvPr id="870" name="Google Shape;870;p113"/>
            <p:cNvSpPr txBox="1"/>
            <p:nvPr/>
          </p:nvSpPr>
          <p:spPr>
            <a:xfrm>
              <a:off x="5194" y="1616"/>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P1</a:t>
              </a:r>
              <a:endParaRPr sz="1400" b="0" i="0" u="none" strike="noStrike" cap="none">
                <a:solidFill>
                  <a:srgbClr val="000000"/>
                </a:solidFill>
                <a:latin typeface="Arial"/>
                <a:ea typeface="Arial"/>
                <a:cs typeface="Arial"/>
                <a:sym typeface="Arial"/>
              </a:endParaRPr>
            </a:p>
          </p:txBody>
        </p:sp>
        <p:sp>
          <p:nvSpPr>
            <p:cNvPr id="871" name="Google Shape;871;p113"/>
            <p:cNvSpPr txBox="1"/>
            <p:nvPr/>
          </p:nvSpPr>
          <p:spPr>
            <a:xfrm>
              <a:off x="3152" y="1877"/>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sp>
          <p:nvSpPr>
            <p:cNvPr id="872" name="Google Shape;872;p113"/>
            <p:cNvSpPr txBox="1"/>
            <p:nvPr/>
          </p:nvSpPr>
          <p:spPr>
            <a:xfrm>
              <a:off x="3153" y="3465"/>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sp>
          <p:nvSpPr>
            <p:cNvPr id="873" name="Google Shape;873;p113"/>
            <p:cNvSpPr txBox="1"/>
            <p:nvPr/>
          </p:nvSpPr>
          <p:spPr>
            <a:xfrm>
              <a:off x="5284" y="2659"/>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sp>
          <p:nvSpPr>
            <p:cNvPr id="874" name="Google Shape;874;p113"/>
            <p:cNvSpPr txBox="1"/>
            <p:nvPr/>
          </p:nvSpPr>
          <p:spPr>
            <a:xfrm>
              <a:off x="2971" y="2659"/>
              <a:ext cx="453"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Inactif</a:t>
              </a:r>
              <a:endParaRPr sz="1400" b="0" i="0" u="none" strike="noStrike" cap="none">
                <a:solidFill>
                  <a:srgbClr val="000000"/>
                </a:solidFill>
                <a:latin typeface="Arial"/>
                <a:ea typeface="Arial"/>
                <a:cs typeface="Arial"/>
                <a:sym typeface="Arial"/>
              </a:endParaRPr>
            </a:p>
          </p:txBody>
        </p:sp>
        <p:sp>
          <p:nvSpPr>
            <p:cNvPr id="875" name="Google Shape;875;p113"/>
            <p:cNvSpPr txBox="1"/>
            <p:nvPr/>
          </p:nvSpPr>
          <p:spPr>
            <a:xfrm>
              <a:off x="5307" y="3339"/>
              <a:ext cx="453"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Inactif</a:t>
              </a:r>
              <a:endParaRPr sz="1400" b="0" i="0" u="none" strike="noStrike" cap="none">
                <a:solidFill>
                  <a:srgbClr val="000000"/>
                </a:solidFill>
                <a:latin typeface="Arial"/>
                <a:ea typeface="Arial"/>
                <a:cs typeface="Arial"/>
                <a:sym typeface="Arial"/>
              </a:endParaRPr>
            </a:p>
          </p:txBody>
        </p:sp>
        <p:sp>
          <p:nvSpPr>
            <p:cNvPr id="876" name="Google Shape;876;p113"/>
            <p:cNvSpPr txBox="1"/>
            <p:nvPr/>
          </p:nvSpPr>
          <p:spPr>
            <a:xfrm>
              <a:off x="5307" y="1933"/>
              <a:ext cx="453"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Inactif</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4"/>
                                        </p:tgtEl>
                                        <p:attrNameLst>
                                          <p:attrName>style.visibility</p:attrName>
                                        </p:attrNameLst>
                                      </p:cBhvr>
                                      <p:to>
                                        <p:strVal val="visible"/>
                                      </p:to>
                                    </p:set>
                                    <p:animEffect transition="in" filter="fade">
                                      <p:cBhvr>
                                        <p:cTn id="7" dur="2000"/>
                                        <p:tgtEl>
                                          <p:spTgt spid="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880"/>
        <p:cNvGrpSpPr/>
        <p:nvPr/>
      </p:nvGrpSpPr>
      <p:grpSpPr>
        <a:xfrm>
          <a:off x="0" y="0"/>
          <a:ext cx="0" cy="0"/>
          <a:chOff x="0" y="0"/>
          <a:chExt cx="0" cy="0"/>
        </a:xfrm>
      </p:grpSpPr>
      <p:sp>
        <p:nvSpPr>
          <p:cNvPr id="881" name="Google Shape;881;p114"/>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31</a:t>
            </a:fld>
            <a:endParaRPr>
              <a:solidFill>
                <a:srgbClr val="FFFFFF"/>
              </a:solidFill>
            </a:endParaRPr>
          </a:p>
        </p:txBody>
      </p:sp>
      <p:sp>
        <p:nvSpPr>
          <p:cNvPr id="882" name="Google Shape;882;p114"/>
          <p:cNvSpPr>
            <a:spLocks noGrp="1"/>
          </p:cNvSpPr>
          <p:nvPr>
            <p:ph type="title"/>
          </p:nvPr>
        </p:nvSpPr>
        <p:spPr>
          <a:xfrm>
            <a:off x="671513" y="370946"/>
            <a:ext cx="7924800" cy="644525"/>
          </a:xfrm>
          <a:prstGeom prst="roundRect">
            <a:avLst>
              <a:gd name="adj" fmla="val 21667"/>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1400"/>
              <a:buNone/>
            </a:pPr>
            <a:r>
              <a:rPr lang="fr-FR" sz="2800" u="sng">
                <a:solidFill>
                  <a:srgbClr val="000204"/>
                </a:solidFill>
              </a:rPr>
              <a:t>Commutation de contexte</a:t>
            </a:r>
            <a:endParaRPr/>
          </a:p>
        </p:txBody>
      </p:sp>
      <p:sp>
        <p:nvSpPr>
          <p:cNvPr id="883" name="Google Shape;883;p114"/>
          <p:cNvSpPr txBox="1">
            <a:spLocks noGrp="1"/>
          </p:cNvSpPr>
          <p:nvPr>
            <p:ph type="body" idx="1"/>
          </p:nvPr>
        </p:nvSpPr>
        <p:spPr>
          <a:xfrm>
            <a:off x="377825" y="1158083"/>
            <a:ext cx="8805863" cy="3724275"/>
          </a:xfrm>
          <a:prstGeom prst="rect">
            <a:avLst/>
          </a:prstGeom>
          <a:noFill/>
          <a:ln>
            <a:noFill/>
          </a:ln>
        </p:spPr>
        <p:txBody>
          <a:bodyPr spcFirstLastPara="1" wrap="square" lIns="91425" tIns="45700" rIns="91425" bIns="45700" anchor="t" anchorCtr="0">
            <a:noAutofit/>
          </a:bodyPr>
          <a:lstStyle/>
          <a:p>
            <a:pPr marL="342900" lvl="0" indent="-247650" algn="just" rtl="0">
              <a:lnSpc>
                <a:spcPct val="100000"/>
              </a:lnSpc>
              <a:spcBef>
                <a:spcPts val="0"/>
              </a:spcBef>
              <a:spcAft>
                <a:spcPts val="0"/>
              </a:spcAft>
              <a:buSzPts val="1500"/>
              <a:buNone/>
            </a:pPr>
            <a:endParaRPr sz="2000"/>
          </a:p>
          <a:p>
            <a:pPr marL="0" lvl="0" indent="0" algn="just" rtl="0">
              <a:lnSpc>
                <a:spcPct val="100000"/>
              </a:lnSpc>
              <a:spcBef>
                <a:spcPts val="400"/>
              </a:spcBef>
              <a:spcAft>
                <a:spcPts val="0"/>
              </a:spcAft>
              <a:buSzPts val="1500"/>
              <a:buNone/>
            </a:pPr>
            <a:r>
              <a:rPr lang="fr-FR" sz="2000">
                <a:solidFill>
                  <a:srgbClr val="000204"/>
                </a:solidFill>
              </a:rPr>
              <a:t>Le basculement d'un processus à l'autre est géré par le noyau.</a:t>
            </a:r>
            <a:endParaRPr/>
          </a:p>
          <a:p>
            <a:pPr marL="342900" lvl="0" indent="-247650" algn="just" rtl="0">
              <a:lnSpc>
                <a:spcPct val="100000"/>
              </a:lnSpc>
              <a:spcBef>
                <a:spcPts val="400"/>
              </a:spcBef>
              <a:spcAft>
                <a:spcPts val="0"/>
              </a:spcAft>
              <a:buSzPts val="1500"/>
              <a:buNone/>
            </a:pPr>
            <a:endParaRPr sz="2000">
              <a:solidFill>
                <a:srgbClr val="000204"/>
              </a:solidFill>
            </a:endParaRPr>
          </a:p>
          <a:p>
            <a:pPr marL="355600" lvl="0" indent="-355600" algn="just" rtl="0">
              <a:lnSpc>
                <a:spcPct val="100000"/>
              </a:lnSpc>
              <a:spcBef>
                <a:spcPts val="400"/>
              </a:spcBef>
              <a:spcAft>
                <a:spcPts val="0"/>
              </a:spcAft>
              <a:buSzPts val="1500"/>
              <a:buFont typeface="Arial"/>
              <a:buChar char="•"/>
            </a:pPr>
            <a:r>
              <a:rPr lang="fr-FR" sz="2000">
                <a:solidFill>
                  <a:srgbClr val="000204"/>
                </a:solidFill>
              </a:rPr>
              <a:t>Suspendre le processus P0</a:t>
            </a:r>
            <a:endParaRPr/>
          </a:p>
          <a:p>
            <a:pPr marL="355600" lvl="0" indent="-355600" algn="just" rtl="0">
              <a:lnSpc>
                <a:spcPct val="100000"/>
              </a:lnSpc>
              <a:spcBef>
                <a:spcPts val="400"/>
              </a:spcBef>
              <a:spcAft>
                <a:spcPts val="0"/>
              </a:spcAft>
              <a:buSzPts val="1500"/>
              <a:buFont typeface="Arial"/>
              <a:buChar char="•"/>
            </a:pPr>
            <a:r>
              <a:rPr lang="fr-FR" sz="2000">
                <a:solidFill>
                  <a:srgbClr val="000204"/>
                </a:solidFill>
              </a:rPr>
              <a:t>Mettre à jour le PCB de P0</a:t>
            </a:r>
            <a:endParaRPr/>
          </a:p>
          <a:p>
            <a:pPr marL="355600" lvl="0" indent="-355600" algn="just" rtl="0">
              <a:lnSpc>
                <a:spcPct val="100000"/>
              </a:lnSpc>
              <a:spcBef>
                <a:spcPts val="400"/>
              </a:spcBef>
              <a:spcAft>
                <a:spcPts val="0"/>
              </a:spcAft>
              <a:buSzPts val="1500"/>
              <a:buFont typeface="Arial"/>
              <a:buChar char="•"/>
            </a:pPr>
            <a:r>
              <a:rPr lang="fr-FR" sz="2000">
                <a:solidFill>
                  <a:srgbClr val="000204"/>
                </a:solidFill>
              </a:rPr>
              <a:t>Restaurer le PCB de P1</a:t>
            </a:r>
            <a:endParaRPr/>
          </a:p>
          <a:p>
            <a:pPr marL="355600" lvl="0" indent="-355600" algn="just" rtl="0">
              <a:lnSpc>
                <a:spcPct val="100000"/>
              </a:lnSpc>
              <a:spcBef>
                <a:spcPts val="400"/>
              </a:spcBef>
              <a:spcAft>
                <a:spcPts val="0"/>
              </a:spcAft>
              <a:buSzPts val="1500"/>
              <a:buFont typeface="Arial"/>
              <a:buChar char="•"/>
            </a:pPr>
            <a:r>
              <a:rPr lang="fr-FR" sz="2000">
                <a:solidFill>
                  <a:srgbClr val="000204"/>
                </a:solidFill>
              </a:rPr>
              <a:t>Reconfigurer l'espace mémoire</a:t>
            </a:r>
            <a:endParaRPr/>
          </a:p>
          <a:p>
            <a:pPr marL="355600" lvl="0" indent="-355600" algn="just" rtl="0">
              <a:lnSpc>
                <a:spcPct val="100000"/>
              </a:lnSpc>
              <a:spcBef>
                <a:spcPts val="400"/>
              </a:spcBef>
              <a:spcAft>
                <a:spcPts val="0"/>
              </a:spcAft>
              <a:buSzPts val="1500"/>
              <a:buFont typeface="Arial"/>
              <a:buChar char="•"/>
            </a:pPr>
            <a:r>
              <a:rPr lang="fr-FR" sz="2000">
                <a:solidFill>
                  <a:srgbClr val="000204"/>
                </a:solidFill>
              </a:rPr>
              <a:t>Démarrer P1</a:t>
            </a:r>
            <a:endParaRPr/>
          </a:p>
        </p:txBody>
      </p:sp>
      <p:grpSp>
        <p:nvGrpSpPr>
          <p:cNvPr id="884" name="Google Shape;884;p114"/>
          <p:cNvGrpSpPr/>
          <p:nvPr/>
        </p:nvGrpSpPr>
        <p:grpSpPr>
          <a:xfrm>
            <a:off x="4716463" y="3187700"/>
            <a:ext cx="4427537" cy="3455988"/>
            <a:chOff x="2971" y="1616"/>
            <a:chExt cx="2789" cy="2177"/>
          </a:xfrm>
        </p:grpSpPr>
        <p:sp>
          <p:nvSpPr>
            <p:cNvPr id="885" name="Google Shape;885;p114"/>
            <p:cNvSpPr/>
            <p:nvPr/>
          </p:nvSpPr>
          <p:spPr>
            <a:xfrm>
              <a:off x="3424" y="1798"/>
              <a:ext cx="91" cy="362"/>
            </a:xfrm>
            <a:prstGeom prst="downArrow">
              <a:avLst>
                <a:gd name="adj1" fmla="val 50000"/>
                <a:gd name="adj2" fmla="val 99451"/>
              </a:avLst>
            </a:prstGeom>
            <a:solidFill>
              <a:srgbClr val="808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86" name="Google Shape;886;p114"/>
            <p:cNvSpPr/>
            <p:nvPr/>
          </p:nvSpPr>
          <p:spPr>
            <a:xfrm>
              <a:off x="3425" y="2205"/>
              <a:ext cx="45" cy="1225"/>
            </a:xfrm>
            <a:prstGeom prst="rect">
              <a:avLst/>
            </a:prstGeom>
            <a:solidFill>
              <a:schemeClr val="lt1"/>
            </a:solidFill>
            <a:ln w="9525" cap="flat" cmpd="sng">
              <a:solidFill>
                <a:schemeClr val="dk1"/>
              </a:solidFill>
              <a:prstDash val="dashDot"/>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87" name="Google Shape;887;p114"/>
            <p:cNvSpPr/>
            <p:nvPr/>
          </p:nvSpPr>
          <p:spPr>
            <a:xfrm>
              <a:off x="3424" y="3475"/>
              <a:ext cx="91" cy="318"/>
            </a:xfrm>
            <a:prstGeom prst="downArrow">
              <a:avLst>
                <a:gd name="adj1" fmla="val 50000"/>
                <a:gd name="adj2" fmla="val 87363"/>
              </a:avLst>
            </a:prstGeom>
            <a:solidFill>
              <a:srgbClr val="808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88" name="Google Shape;888;p114"/>
            <p:cNvSpPr/>
            <p:nvPr/>
          </p:nvSpPr>
          <p:spPr>
            <a:xfrm>
              <a:off x="5239" y="2523"/>
              <a:ext cx="90" cy="544"/>
            </a:xfrm>
            <a:prstGeom prst="downArrow">
              <a:avLst>
                <a:gd name="adj1" fmla="val 50000"/>
                <a:gd name="adj2" fmla="val 151111"/>
              </a:avLst>
            </a:prstGeom>
            <a:solidFill>
              <a:srgbClr val="808080"/>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89" name="Google Shape;889;p114"/>
            <p:cNvSpPr/>
            <p:nvPr/>
          </p:nvSpPr>
          <p:spPr>
            <a:xfrm>
              <a:off x="5284" y="1797"/>
              <a:ext cx="45" cy="681"/>
            </a:xfrm>
            <a:prstGeom prst="rect">
              <a:avLst/>
            </a:prstGeom>
            <a:solidFill>
              <a:schemeClr val="lt1"/>
            </a:solidFill>
            <a:ln w="9525" cap="flat" cmpd="sng">
              <a:solidFill>
                <a:schemeClr val="dk1"/>
              </a:solidFill>
              <a:prstDash val="dashDot"/>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90" name="Google Shape;890;p114"/>
            <p:cNvSpPr/>
            <p:nvPr/>
          </p:nvSpPr>
          <p:spPr>
            <a:xfrm>
              <a:off x="5284" y="3113"/>
              <a:ext cx="45" cy="635"/>
            </a:xfrm>
            <a:prstGeom prst="rect">
              <a:avLst/>
            </a:prstGeom>
            <a:solidFill>
              <a:schemeClr val="lt1"/>
            </a:solidFill>
            <a:ln w="9525" cap="flat" cmpd="sng">
              <a:solidFill>
                <a:schemeClr val="dk1"/>
              </a:solidFill>
              <a:prstDash val="dashDot"/>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204"/>
                </a:solidFill>
                <a:latin typeface="Arial"/>
                <a:ea typeface="Arial"/>
                <a:cs typeface="Arial"/>
                <a:sym typeface="Arial"/>
              </a:endParaRPr>
            </a:p>
          </p:txBody>
        </p:sp>
        <p:sp>
          <p:nvSpPr>
            <p:cNvPr id="891" name="Google Shape;891;p114"/>
            <p:cNvSpPr txBox="1"/>
            <p:nvPr/>
          </p:nvSpPr>
          <p:spPr>
            <a:xfrm>
              <a:off x="3787" y="2160"/>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Sauvegarde PCB</a:t>
              </a:r>
              <a:r>
                <a:rPr lang="fr-FR" sz="1000" b="0" i="0" u="none" strike="noStrike" cap="none">
                  <a:solidFill>
                    <a:srgbClr val="000204"/>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sp>
          <p:nvSpPr>
            <p:cNvPr id="892" name="Google Shape;892;p114"/>
            <p:cNvSpPr txBox="1"/>
            <p:nvPr/>
          </p:nvSpPr>
          <p:spPr>
            <a:xfrm>
              <a:off x="3787" y="3015"/>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Sauvegarde PCB</a:t>
              </a:r>
              <a:r>
                <a:rPr lang="fr-FR" sz="1000" b="0" i="0" u="none" strike="noStrike" cap="none">
                  <a:solidFill>
                    <a:srgbClr val="000204"/>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893" name="Google Shape;893;p114"/>
            <p:cNvSpPr txBox="1"/>
            <p:nvPr/>
          </p:nvSpPr>
          <p:spPr>
            <a:xfrm>
              <a:off x="3787" y="2385"/>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Recharge PCB</a:t>
              </a:r>
              <a:r>
                <a:rPr lang="fr-FR" sz="1000" b="0" i="0" u="none" strike="noStrike" cap="none">
                  <a:solidFill>
                    <a:srgbClr val="000204"/>
                  </a:solidFill>
                  <a:latin typeface="Arial"/>
                  <a:ea typeface="Arial"/>
                  <a:cs typeface="Arial"/>
                  <a:sym typeface="Arial"/>
                </a:rPr>
                <a:t>1</a:t>
              </a:r>
              <a:endParaRPr sz="1400" b="0" i="0" u="none" strike="noStrike" cap="none">
                <a:solidFill>
                  <a:srgbClr val="000000"/>
                </a:solidFill>
                <a:latin typeface="Arial"/>
                <a:ea typeface="Arial"/>
                <a:cs typeface="Arial"/>
                <a:sym typeface="Arial"/>
              </a:endParaRPr>
            </a:p>
          </p:txBody>
        </p:sp>
        <p:sp>
          <p:nvSpPr>
            <p:cNvPr id="894" name="Google Shape;894;p114"/>
            <p:cNvSpPr txBox="1"/>
            <p:nvPr/>
          </p:nvSpPr>
          <p:spPr>
            <a:xfrm>
              <a:off x="3787" y="3267"/>
              <a:ext cx="1225" cy="198"/>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Recharge PCB</a:t>
              </a:r>
              <a:r>
                <a:rPr lang="fr-FR" sz="1000" b="0" i="0" u="none" strike="noStrike" cap="none">
                  <a:solidFill>
                    <a:srgbClr val="000204"/>
                  </a:solidFill>
                  <a:latin typeface="Arial"/>
                  <a:ea typeface="Arial"/>
                  <a:cs typeface="Arial"/>
                  <a:sym typeface="Arial"/>
                </a:rPr>
                <a:t>0</a:t>
              </a:r>
              <a:endParaRPr sz="1400" b="0" i="0" u="none" strike="noStrike" cap="none">
                <a:solidFill>
                  <a:srgbClr val="000000"/>
                </a:solidFill>
                <a:latin typeface="Arial"/>
                <a:ea typeface="Arial"/>
                <a:cs typeface="Arial"/>
                <a:sym typeface="Arial"/>
              </a:endParaRPr>
            </a:p>
          </p:txBody>
        </p:sp>
        <p:cxnSp>
          <p:nvCxnSpPr>
            <p:cNvPr id="895" name="Google Shape;895;p114"/>
            <p:cNvCxnSpPr>
              <a:stCxn id="888" idx="0"/>
              <a:endCxn id="893" idx="3"/>
            </p:cNvCxnSpPr>
            <p:nvPr/>
          </p:nvCxnSpPr>
          <p:spPr>
            <a:xfrm>
              <a:off x="5134" y="2373"/>
              <a:ext cx="0" cy="300"/>
            </a:xfrm>
            <a:prstGeom prst="curvedConnector2">
              <a:avLst/>
            </a:prstGeom>
            <a:noFill/>
            <a:ln w="9525" cap="flat" cmpd="sng">
              <a:solidFill>
                <a:schemeClr val="dk1"/>
              </a:solidFill>
              <a:prstDash val="solid"/>
              <a:round/>
              <a:headEnd type="triangle" w="med" len="med"/>
              <a:tailEnd type="none" w="sm" len="sm"/>
            </a:ln>
          </p:spPr>
        </p:cxnSp>
        <p:cxnSp>
          <p:nvCxnSpPr>
            <p:cNvPr id="896" name="Google Shape;896;p114"/>
            <p:cNvCxnSpPr>
              <a:stCxn id="888" idx="2"/>
              <a:endCxn id="892" idx="3"/>
            </p:cNvCxnSpPr>
            <p:nvPr/>
          </p:nvCxnSpPr>
          <p:spPr>
            <a:xfrm>
              <a:off x="5134" y="2917"/>
              <a:ext cx="0" cy="300"/>
            </a:xfrm>
            <a:prstGeom prst="curvedConnector2">
              <a:avLst/>
            </a:prstGeom>
            <a:noFill/>
            <a:ln w="9525" cap="flat" cmpd="sng">
              <a:solidFill>
                <a:schemeClr val="dk1"/>
              </a:solidFill>
              <a:prstDash val="solid"/>
              <a:round/>
              <a:headEnd type="none" w="sm" len="sm"/>
              <a:tailEnd type="triangle" w="med" len="med"/>
            </a:ln>
          </p:spPr>
        </p:cxnSp>
        <p:cxnSp>
          <p:nvCxnSpPr>
            <p:cNvPr id="897" name="Google Shape;897;p114"/>
            <p:cNvCxnSpPr>
              <a:stCxn id="887" idx="0"/>
              <a:endCxn id="894" idx="1"/>
            </p:cNvCxnSpPr>
            <p:nvPr/>
          </p:nvCxnSpPr>
          <p:spPr>
            <a:xfrm rot="10800000">
              <a:off x="3620" y="3325"/>
              <a:ext cx="0" cy="300"/>
            </a:xfrm>
            <a:prstGeom prst="curvedConnector2">
              <a:avLst/>
            </a:prstGeom>
            <a:noFill/>
            <a:ln w="9525" cap="flat" cmpd="sng">
              <a:solidFill>
                <a:schemeClr val="dk1"/>
              </a:solidFill>
              <a:prstDash val="solid"/>
              <a:round/>
              <a:headEnd type="triangle" w="med" len="med"/>
              <a:tailEnd type="none" w="sm" len="sm"/>
            </a:ln>
          </p:spPr>
        </p:cxnSp>
        <p:cxnSp>
          <p:nvCxnSpPr>
            <p:cNvPr id="898" name="Google Shape;898;p114"/>
            <p:cNvCxnSpPr>
              <a:stCxn id="891" idx="1"/>
              <a:endCxn id="885" idx="2"/>
            </p:cNvCxnSpPr>
            <p:nvPr/>
          </p:nvCxnSpPr>
          <p:spPr>
            <a:xfrm rot="10800000">
              <a:off x="3487" y="2259"/>
              <a:ext cx="300" cy="0"/>
            </a:xfrm>
            <a:prstGeom prst="curvedConnector2">
              <a:avLst/>
            </a:prstGeom>
            <a:noFill/>
            <a:ln w="9525" cap="flat" cmpd="sng">
              <a:solidFill>
                <a:schemeClr val="dk1"/>
              </a:solidFill>
              <a:prstDash val="solid"/>
              <a:round/>
              <a:headEnd type="triangle" w="med" len="med"/>
              <a:tailEnd type="none" w="sm" len="sm"/>
            </a:ln>
          </p:spPr>
        </p:cxnSp>
        <p:sp>
          <p:nvSpPr>
            <p:cNvPr id="899" name="Google Shape;899;p114"/>
            <p:cNvSpPr txBox="1"/>
            <p:nvPr/>
          </p:nvSpPr>
          <p:spPr>
            <a:xfrm>
              <a:off x="3334" y="1616"/>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P0</a:t>
              </a:r>
              <a:endParaRPr sz="1400" b="0" i="0" u="none" strike="noStrike" cap="none">
                <a:solidFill>
                  <a:srgbClr val="000000"/>
                </a:solidFill>
                <a:latin typeface="Arial"/>
                <a:ea typeface="Arial"/>
                <a:cs typeface="Arial"/>
                <a:sym typeface="Arial"/>
              </a:endParaRPr>
            </a:p>
          </p:txBody>
        </p:sp>
        <p:sp>
          <p:nvSpPr>
            <p:cNvPr id="900" name="Google Shape;900;p114"/>
            <p:cNvSpPr txBox="1"/>
            <p:nvPr/>
          </p:nvSpPr>
          <p:spPr>
            <a:xfrm>
              <a:off x="5194" y="1616"/>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P1</a:t>
              </a:r>
              <a:endParaRPr sz="1400" b="0" i="0" u="none" strike="noStrike" cap="none">
                <a:solidFill>
                  <a:srgbClr val="000000"/>
                </a:solidFill>
                <a:latin typeface="Arial"/>
                <a:ea typeface="Arial"/>
                <a:cs typeface="Arial"/>
                <a:sym typeface="Arial"/>
              </a:endParaRPr>
            </a:p>
          </p:txBody>
        </p:sp>
        <p:sp>
          <p:nvSpPr>
            <p:cNvPr id="901" name="Google Shape;901;p114"/>
            <p:cNvSpPr txBox="1"/>
            <p:nvPr/>
          </p:nvSpPr>
          <p:spPr>
            <a:xfrm>
              <a:off x="3152" y="1877"/>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sp>
          <p:nvSpPr>
            <p:cNvPr id="902" name="Google Shape;902;p114"/>
            <p:cNvSpPr txBox="1"/>
            <p:nvPr/>
          </p:nvSpPr>
          <p:spPr>
            <a:xfrm>
              <a:off x="3153" y="3465"/>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sp>
          <p:nvSpPr>
            <p:cNvPr id="903" name="Google Shape;903;p114"/>
            <p:cNvSpPr txBox="1"/>
            <p:nvPr/>
          </p:nvSpPr>
          <p:spPr>
            <a:xfrm>
              <a:off x="5284" y="2659"/>
              <a:ext cx="317"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Élu</a:t>
              </a:r>
              <a:endParaRPr sz="1400" b="0" i="0" u="none" strike="noStrike" cap="none">
                <a:solidFill>
                  <a:srgbClr val="000000"/>
                </a:solidFill>
                <a:latin typeface="Arial"/>
                <a:ea typeface="Arial"/>
                <a:cs typeface="Arial"/>
                <a:sym typeface="Arial"/>
              </a:endParaRPr>
            </a:p>
          </p:txBody>
        </p:sp>
        <p:sp>
          <p:nvSpPr>
            <p:cNvPr id="904" name="Google Shape;904;p114"/>
            <p:cNvSpPr txBox="1"/>
            <p:nvPr/>
          </p:nvSpPr>
          <p:spPr>
            <a:xfrm>
              <a:off x="2971" y="2659"/>
              <a:ext cx="453"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Inactif</a:t>
              </a:r>
              <a:endParaRPr sz="1400" b="0" i="0" u="none" strike="noStrike" cap="none">
                <a:solidFill>
                  <a:srgbClr val="000000"/>
                </a:solidFill>
                <a:latin typeface="Arial"/>
                <a:ea typeface="Arial"/>
                <a:cs typeface="Arial"/>
                <a:sym typeface="Arial"/>
              </a:endParaRPr>
            </a:p>
          </p:txBody>
        </p:sp>
        <p:sp>
          <p:nvSpPr>
            <p:cNvPr id="905" name="Google Shape;905;p114"/>
            <p:cNvSpPr txBox="1"/>
            <p:nvPr/>
          </p:nvSpPr>
          <p:spPr>
            <a:xfrm>
              <a:off x="5307" y="3339"/>
              <a:ext cx="453"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Inactif</a:t>
              </a:r>
              <a:endParaRPr sz="1400" b="0" i="0" u="none" strike="noStrike" cap="none">
                <a:solidFill>
                  <a:srgbClr val="000000"/>
                </a:solidFill>
                <a:latin typeface="Arial"/>
                <a:ea typeface="Arial"/>
                <a:cs typeface="Arial"/>
                <a:sym typeface="Arial"/>
              </a:endParaRPr>
            </a:p>
          </p:txBody>
        </p:sp>
        <p:sp>
          <p:nvSpPr>
            <p:cNvPr id="906" name="Google Shape;906;p114"/>
            <p:cNvSpPr txBox="1"/>
            <p:nvPr/>
          </p:nvSpPr>
          <p:spPr>
            <a:xfrm>
              <a:off x="5307" y="1933"/>
              <a:ext cx="453" cy="1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fr-FR" sz="1400" b="0" i="0" u="none" strike="noStrike" cap="none">
                  <a:solidFill>
                    <a:srgbClr val="000204"/>
                  </a:solidFill>
                  <a:latin typeface="Arial"/>
                  <a:ea typeface="Arial"/>
                  <a:cs typeface="Arial"/>
                  <a:sym typeface="Arial"/>
                </a:rPr>
                <a:t>Inactif</a:t>
              </a:r>
              <a:endParaRPr sz="1400" b="0" i="0" u="none" strike="noStrike" cap="none">
                <a:solidFill>
                  <a:srgbClr val="000000"/>
                </a:solidFill>
                <a:latin typeface="Arial"/>
                <a:ea typeface="Arial"/>
                <a:cs typeface="Arial"/>
                <a:sym typeface="Arial"/>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84"/>
                                        </p:tgtEl>
                                        <p:attrNameLst>
                                          <p:attrName>style.visibility</p:attrName>
                                        </p:attrNameLst>
                                      </p:cBhvr>
                                      <p:to>
                                        <p:strVal val="visible"/>
                                      </p:to>
                                    </p:set>
                                    <p:animEffect transition="in" filter="fade">
                                      <p:cBhvr>
                                        <p:cTn id="7" dur="2000"/>
                                        <p:tgtEl>
                                          <p:spTgt spid="8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11"/>
        <p:cNvGrpSpPr/>
        <p:nvPr/>
      </p:nvGrpSpPr>
      <p:grpSpPr>
        <a:xfrm>
          <a:off x="0" y="0"/>
          <a:ext cx="0" cy="0"/>
          <a:chOff x="0" y="0"/>
          <a:chExt cx="0" cy="0"/>
        </a:xfrm>
      </p:grpSpPr>
      <p:sp>
        <p:nvSpPr>
          <p:cNvPr id="912" name="Google Shape;912;p115"/>
          <p:cNvSpPr>
            <a:spLocks noGrp="1"/>
          </p:cNvSpPr>
          <p:nvPr>
            <p:ph type="title"/>
          </p:nvPr>
        </p:nvSpPr>
        <p:spPr>
          <a:xfrm>
            <a:off x="671513" y="-73024"/>
            <a:ext cx="7924800" cy="1143000"/>
          </a:xfrm>
          <a:prstGeom prst="roundRect">
            <a:avLst>
              <a:gd name="adj" fmla="val 21667"/>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1400"/>
              <a:buNone/>
            </a:pPr>
            <a:r>
              <a:rPr lang="fr-FR" sz="3200" u="sng">
                <a:solidFill>
                  <a:srgbClr val="000204"/>
                </a:solidFill>
              </a:rPr>
              <a:t>table de processus : </a:t>
            </a:r>
            <a:br>
              <a:rPr lang="fr-FR" sz="3200" u="sng">
                <a:solidFill>
                  <a:srgbClr val="000204"/>
                </a:solidFill>
              </a:rPr>
            </a:br>
            <a:r>
              <a:rPr lang="fr-FR" sz="3200">
                <a:solidFill>
                  <a:srgbClr val="006666"/>
                </a:solidFill>
              </a:rPr>
              <a:t>	 </a:t>
            </a:r>
            <a:endParaRPr/>
          </a:p>
        </p:txBody>
      </p:sp>
      <p:sp>
        <p:nvSpPr>
          <p:cNvPr id="913" name="Google Shape;913;p115"/>
          <p:cNvSpPr txBox="1">
            <a:spLocks noGrp="1"/>
          </p:cNvSpPr>
          <p:nvPr>
            <p:ph type="body" idx="1"/>
          </p:nvPr>
        </p:nvSpPr>
        <p:spPr>
          <a:xfrm>
            <a:off x="377825" y="1752600"/>
            <a:ext cx="7693025" cy="3724275"/>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500"/>
              <a:buNone/>
            </a:pPr>
            <a:r>
              <a:rPr lang="fr-FR" sz="2000"/>
              <a:t> </a:t>
            </a:r>
            <a:endParaRPr/>
          </a:p>
        </p:txBody>
      </p:sp>
      <p:sp>
        <p:nvSpPr>
          <p:cNvPr id="914" name="Google Shape;914;p115"/>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32</a:t>
            </a:fld>
            <a:endParaRPr>
              <a:solidFill>
                <a:srgbClr val="FFFFFF"/>
              </a:solidFill>
            </a:endParaRPr>
          </a:p>
        </p:txBody>
      </p:sp>
      <p:pic>
        <p:nvPicPr>
          <p:cNvPr id="915" name="Google Shape;915;p115"/>
          <p:cNvPicPr preferRelativeResize="0"/>
          <p:nvPr/>
        </p:nvPicPr>
        <p:blipFill rotWithShape="1">
          <a:blip r:embed="rId3">
            <a:alphaModFix/>
          </a:blip>
          <a:srcRect/>
          <a:stretch/>
        </p:blipFill>
        <p:spPr>
          <a:xfrm>
            <a:off x="377825" y="4021510"/>
            <a:ext cx="8099426" cy="2220540"/>
          </a:xfrm>
          <a:prstGeom prst="rect">
            <a:avLst/>
          </a:prstGeom>
          <a:noFill/>
          <a:ln>
            <a:noFill/>
          </a:ln>
          <a:effectLst>
            <a:outerShdw blurRad="292100" dist="139700" dir="2700000" algn="tl" rotWithShape="0">
              <a:srgbClr val="333333">
                <a:alpha val="63529"/>
              </a:srgbClr>
            </a:outerShdw>
          </a:effectLst>
        </p:spPr>
      </p:pic>
      <p:pic>
        <p:nvPicPr>
          <p:cNvPr id="916" name="Google Shape;916;p115" descr="Résultat de recherche d'images pour &quot;table de processus&quot;"/>
          <p:cNvPicPr preferRelativeResize="0"/>
          <p:nvPr/>
        </p:nvPicPr>
        <p:blipFill rotWithShape="1">
          <a:blip r:embed="rId4">
            <a:alphaModFix/>
          </a:blip>
          <a:srcRect/>
          <a:stretch/>
        </p:blipFill>
        <p:spPr>
          <a:xfrm>
            <a:off x="2224088" y="874712"/>
            <a:ext cx="4819650" cy="27400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921"/>
        <p:cNvGrpSpPr/>
        <p:nvPr/>
      </p:nvGrpSpPr>
      <p:grpSpPr>
        <a:xfrm>
          <a:off x="0" y="0"/>
          <a:ext cx="0" cy="0"/>
          <a:chOff x="0" y="0"/>
          <a:chExt cx="0" cy="0"/>
        </a:xfrm>
      </p:grpSpPr>
      <p:sp>
        <p:nvSpPr>
          <p:cNvPr id="922" name="Google Shape;922;p1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800"/>
              <a:buFont typeface="Calibri"/>
              <a:buNone/>
            </a:pPr>
            <a:r>
              <a:rPr lang="fr-FR" sz="2800" b="1" u="sng"/>
              <a:t>Ordonnancement</a:t>
            </a:r>
            <a:br>
              <a:rPr lang="fr-FR" sz="2800" b="1" u="sng"/>
            </a:br>
            <a:endParaRPr sz="2800" b="1" u="sng"/>
          </a:p>
        </p:txBody>
      </p:sp>
      <p:grpSp>
        <p:nvGrpSpPr>
          <p:cNvPr id="923" name="Google Shape;923;p116"/>
          <p:cNvGrpSpPr/>
          <p:nvPr/>
        </p:nvGrpSpPr>
        <p:grpSpPr>
          <a:xfrm>
            <a:off x="837110" y="2459689"/>
            <a:ext cx="7316289" cy="1557814"/>
            <a:chOff x="227511" y="4297918"/>
            <a:chExt cx="7316289" cy="1557814"/>
          </a:xfrm>
        </p:grpSpPr>
        <p:sp>
          <p:nvSpPr>
            <p:cNvPr id="924" name="Google Shape;924;p116"/>
            <p:cNvSpPr/>
            <p:nvPr/>
          </p:nvSpPr>
          <p:spPr>
            <a:xfrm>
              <a:off x="5791200" y="4496274"/>
              <a:ext cx="1752600" cy="609600"/>
            </a:xfrm>
            <a:prstGeom prst="roundRect">
              <a:avLst>
                <a:gd name="adj" fmla="val 16667"/>
              </a:avLst>
            </a:prstGeom>
            <a:solidFill>
              <a:schemeClr val="accent1"/>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rgbClr val="FFFFFF"/>
                  </a:solidFill>
                  <a:latin typeface="Calibri"/>
                  <a:ea typeface="Calibri"/>
                  <a:cs typeface="Calibri"/>
                  <a:sym typeface="Calibri"/>
                </a:rPr>
                <a:t>CPU</a:t>
              </a:r>
              <a:endParaRPr sz="1400" b="0" i="0" u="none" strike="noStrike" cap="none">
                <a:solidFill>
                  <a:srgbClr val="000000"/>
                </a:solidFill>
                <a:latin typeface="Arial"/>
                <a:ea typeface="Arial"/>
                <a:cs typeface="Arial"/>
                <a:sym typeface="Arial"/>
              </a:endParaRPr>
            </a:p>
          </p:txBody>
        </p:sp>
        <p:sp>
          <p:nvSpPr>
            <p:cNvPr id="925" name="Google Shape;925;p116"/>
            <p:cNvSpPr/>
            <p:nvPr/>
          </p:nvSpPr>
          <p:spPr>
            <a:xfrm>
              <a:off x="227511" y="4572000"/>
              <a:ext cx="533400" cy="381000"/>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rgbClr val="FFFFFF"/>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926" name="Google Shape;926;p116"/>
            <p:cNvSpPr/>
            <p:nvPr/>
          </p:nvSpPr>
          <p:spPr>
            <a:xfrm>
              <a:off x="945968" y="4667250"/>
              <a:ext cx="304800" cy="190500"/>
            </a:xfrm>
            <a:prstGeom prst="rightArrow">
              <a:avLst>
                <a:gd name="adj1" fmla="val 50000"/>
                <a:gd name="adj2" fmla="val 50000"/>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27" name="Google Shape;927;p116"/>
            <p:cNvPicPr preferRelativeResize="0"/>
            <p:nvPr/>
          </p:nvPicPr>
          <p:blipFill rotWithShape="1">
            <a:blip r:embed="rId3">
              <a:alphaModFix/>
            </a:blip>
            <a:srcRect/>
            <a:stretch/>
          </p:blipFill>
          <p:spPr>
            <a:xfrm>
              <a:off x="2103437" y="4667250"/>
              <a:ext cx="334963" cy="249238"/>
            </a:xfrm>
            <a:prstGeom prst="rect">
              <a:avLst/>
            </a:prstGeom>
            <a:noFill/>
            <a:ln>
              <a:noFill/>
            </a:ln>
          </p:spPr>
        </p:pic>
        <p:sp>
          <p:nvSpPr>
            <p:cNvPr id="928" name="Google Shape;928;p116"/>
            <p:cNvSpPr/>
            <p:nvPr/>
          </p:nvSpPr>
          <p:spPr>
            <a:xfrm>
              <a:off x="1434737" y="4558267"/>
              <a:ext cx="533400" cy="39473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rgbClr val="FFFFFF"/>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929" name="Google Shape;929;p116"/>
            <p:cNvSpPr/>
            <p:nvPr/>
          </p:nvSpPr>
          <p:spPr>
            <a:xfrm>
              <a:off x="2549432" y="4594502"/>
              <a:ext cx="533400" cy="394733"/>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fr-FR" sz="1800" b="1" i="0" u="none" strike="noStrike" cap="none">
                  <a:solidFill>
                    <a:srgbClr val="FFFFFF"/>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cxnSp>
          <p:nvCxnSpPr>
            <p:cNvPr id="930" name="Google Shape;930;p116"/>
            <p:cNvCxnSpPr/>
            <p:nvPr/>
          </p:nvCxnSpPr>
          <p:spPr>
            <a:xfrm>
              <a:off x="3200400" y="4831620"/>
              <a:ext cx="2286000" cy="22862"/>
            </a:xfrm>
            <a:prstGeom prst="straightConnector1">
              <a:avLst/>
            </a:prstGeom>
            <a:noFill/>
            <a:ln w="9525" cap="flat" cmpd="sng">
              <a:solidFill>
                <a:srgbClr val="4A7DBA"/>
              </a:solidFill>
              <a:prstDash val="solid"/>
              <a:round/>
              <a:headEnd type="none" w="sm" len="sm"/>
              <a:tailEnd type="stealth" w="med" len="med"/>
            </a:ln>
          </p:spPr>
        </p:cxnSp>
        <p:sp>
          <p:nvSpPr>
            <p:cNvPr id="931" name="Google Shape;931;p116"/>
            <p:cNvSpPr txBox="1"/>
            <p:nvPr/>
          </p:nvSpPr>
          <p:spPr>
            <a:xfrm>
              <a:off x="3200400" y="4297918"/>
              <a:ext cx="243840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   A qui allouer?</a:t>
              </a:r>
              <a:endParaRPr sz="1400" b="0" i="0" u="none" strike="noStrike" cap="none">
                <a:solidFill>
                  <a:srgbClr val="000000"/>
                </a:solidFill>
                <a:latin typeface="Arial"/>
                <a:ea typeface="Arial"/>
                <a:cs typeface="Arial"/>
                <a:sym typeface="Arial"/>
              </a:endParaRPr>
            </a:p>
          </p:txBody>
        </p:sp>
        <p:sp>
          <p:nvSpPr>
            <p:cNvPr id="932" name="Google Shape;932;p116"/>
            <p:cNvSpPr/>
            <p:nvPr/>
          </p:nvSpPr>
          <p:spPr>
            <a:xfrm rot="5400000">
              <a:off x="1519336" y="3922905"/>
              <a:ext cx="382703" cy="2744288"/>
            </a:xfrm>
            <a:prstGeom prst="rightBrace">
              <a:avLst>
                <a:gd name="adj1" fmla="val 8333"/>
                <a:gd name="adj2" fmla="val 49460"/>
              </a:avLst>
            </a:prstGeom>
            <a:noFill/>
            <a:ln w="9525" cap="flat" cmpd="sng">
              <a:solidFill>
                <a:srgbClr val="4A7DB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3" name="Google Shape;933;p116"/>
            <p:cNvSpPr txBox="1"/>
            <p:nvPr/>
          </p:nvSpPr>
          <p:spPr>
            <a:xfrm>
              <a:off x="280850" y="5486400"/>
              <a:ext cx="3048000" cy="36933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File d’attente CPU</a:t>
              </a:r>
              <a:endParaRPr sz="1400" b="0" i="0" u="none" strike="noStrike" cap="none">
                <a:solidFill>
                  <a:srgbClr val="000000"/>
                </a:solidFill>
                <a:latin typeface="Arial"/>
                <a:ea typeface="Arial"/>
                <a:cs typeface="Arial"/>
                <a:sym typeface="Arial"/>
              </a:endParaRPr>
            </a:p>
          </p:txBody>
        </p:sp>
      </p:grpSp>
      <p:sp>
        <p:nvSpPr>
          <p:cNvPr id="934" name="Google Shape;934;p116"/>
          <p:cNvSpPr txBox="1"/>
          <p:nvPr/>
        </p:nvSpPr>
        <p:spPr>
          <a:xfrm>
            <a:off x="510261" y="1222605"/>
            <a:ext cx="7659189"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Times New Roman"/>
                <a:ea typeface="Times New Roman"/>
                <a:cs typeface="Times New Roman"/>
                <a:sym typeface="Times New Roman"/>
              </a:rPr>
              <a:t> Lorsqu’un ordinateur est multiprogrammé, il possède fréquemment plusieurs processus en concurrence pour l’obtention de temps processeur. </a:t>
            </a:r>
            <a:endParaRPr sz="1400" b="0" i="0" u="none" strike="noStrike" cap="none">
              <a:solidFill>
                <a:srgbClr val="000000"/>
              </a:solidFill>
              <a:latin typeface="Arial"/>
              <a:ea typeface="Arial"/>
              <a:cs typeface="Arial"/>
              <a:sym typeface="Arial"/>
            </a:endParaRPr>
          </a:p>
        </p:txBody>
      </p:sp>
      <p:sp>
        <p:nvSpPr>
          <p:cNvPr id="935" name="Google Shape;935;p116"/>
          <p:cNvSpPr txBox="1"/>
          <p:nvPr/>
        </p:nvSpPr>
        <p:spPr>
          <a:xfrm>
            <a:off x="830571" y="4267200"/>
            <a:ext cx="7018570" cy="2031325"/>
          </a:xfrm>
          <a:prstGeom prst="rect">
            <a:avLst/>
          </a:prstGeom>
          <a:noFill/>
          <a:ln>
            <a:noFill/>
          </a:ln>
        </p:spPr>
        <p:txBody>
          <a:bodyPr spcFirstLastPara="1" wrap="square" lIns="91425" tIns="45700" rIns="91425" bIns="45700" anchor="t" anchorCtr="0">
            <a:spAutoFit/>
          </a:bodyPr>
          <a:lstStyle/>
          <a:p>
            <a:pPr marL="0" marR="0" lvl="0" indent="0" algn="just"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Times New Roman"/>
                <a:ea typeface="Times New Roman"/>
                <a:cs typeface="Times New Roman"/>
                <a:sym typeface="Times New Roman"/>
              </a:rPr>
              <a:t>→ S’il n’y a qu’un seul processeur,  un choix de processus  à exécuter  doit être fait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Times New Roman"/>
                <a:ea typeface="Times New Roman"/>
                <a:cs typeface="Times New Roman"/>
                <a:sym typeface="Times New Roman"/>
              </a:rPr>
              <a:t>La partie du système d’exploitation qui effectue ce choix se nomme l’ordonnanceur (scheduler)  et l’algorithme qu’il emploie s’appel algorithme d’ordonnancement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36" name="Google Shape;936;p1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33</a:t>
            </a:fld>
            <a:endParaRPr>
              <a:solidFill>
                <a:srgbClr val="888888"/>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117"/>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34</a:t>
            </a:fld>
            <a:endParaRPr>
              <a:solidFill>
                <a:srgbClr val="FFFFFF"/>
              </a:solidFill>
            </a:endParaRPr>
          </a:p>
        </p:txBody>
      </p:sp>
      <p:sp>
        <p:nvSpPr>
          <p:cNvPr id="942" name="Google Shape;942;p117"/>
          <p:cNvSpPr>
            <a:spLocks noGrp="1"/>
          </p:cNvSpPr>
          <p:nvPr>
            <p:ph type="title"/>
          </p:nvPr>
        </p:nvSpPr>
        <p:spPr>
          <a:xfrm>
            <a:off x="377825" y="25400"/>
            <a:ext cx="7924800" cy="1143000"/>
          </a:xfrm>
          <a:prstGeom prst="roundRect">
            <a:avLst>
              <a:gd name="adj" fmla="val 21667"/>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SzPts val="1400"/>
              <a:buNone/>
            </a:pPr>
            <a:r>
              <a:rPr lang="fr-FR" u="sng">
                <a:solidFill>
                  <a:srgbClr val="000204"/>
                </a:solidFill>
              </a:rPr>
              <a:t>Ordonnancement des processus</a:t>
            </a:r>
            <a:endParaRPr/>
          </a:p>
        </p:txBody>
      </p:sp>
      <p:sp>
        <p:nvSpPr>
          <p:cNvPr id="943" name="Google Shape;943;p117"/>
          <p:cNvSpPr txBox="1"/>
          <p:nvPr/>
        </p:nvSpPr>
        <p:spPr>
          <a:xfrm>
            <a:off x="914400" y="2133600"/>
            <a:ext cx="7705725" cy="28622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204"/>
                </a:solidFill>
                <a:latin typeface="Arial"/>
                <a:ea typeface="Arial"/>
                <a:cs typeface="Arial"/>
                <a:sym typeface="Arial"/>
              </a:rPr>
              <a:t>Les algorithmes d’ordonnancement: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204"/>
              </a:solidFill>
              <a:latin typeface="Arial"/>
              <a:ea typeface="Arial"/>
              <a:cs typeface="Arial"/>
              <a:sym typeface="Arial"/>
            </a:endParaRPr>
          </a:p>
          <a:p>
            <a:pPr marL="185738" marR="0" lvl="0" indent="-185738" algn="l" rtl="0">
              <a:lnSpc>
                <a:spcPct val="100000"/>
              </a:lnSpc>
              <a:spcBef>
                <a:spcPts val="0"/>
              </a:spcBef>
              <a:spcAft>
                <a:spcPts val="0"/>
              </a:spcAft>
              <a:buClr>
                <a:srgbClr val="000204"/>
              </a:buClr>
              <a:buSzPts val="2000"/>
              <a:buFont typeface="Arial"/>
              <a:buChar char="•"/>
            </a:pPr>
            <a:r>
              <a:rPr lang="fr-FR" sz="2000" b="1" i="0" u="none" strike="noStrike" cap="none">
                <a:solidFill>
                  <a:srgbClr val="000204"/>
                </a:solidFill>
                <a:latin typeface="Arial"/>
                <a:ea typeface="Arial"/>
                <a:cs typeface="Arial"/>
                <a:sym typeface="Arial"/>
              </a:rPr>
              <a:t>FCFS: </a:t>
            </a:r>
            <a:r>
              <a:rPr lang="fr-FR" sz="2000" b="0" i="0" u="none" strike="noStrike" cap="none">
                <a:solidFill>
                  <a:srgbClr val="000204"/>
                </a:solidFill>
                <a:latin typeface="Arial"/>
                <a:ea typeface="Arial"/>
                <a:cs typeface="Arial"/>
                <a:sym typeface="Arial"/>
              </a:rPr>
              <a:t>First Come First Served</a:t>
            </a:r>
            <a:endParaRPr sz="1400" b="0" i="0" u="none" strike="noStrike" cap="none">
              <a:solidFill>
                <a:srgbClr val="000000"/>
              </a:solidFill>
              <a:latin typeface="Arial"/>
              <a:ea typeface="Arial"/>
              <a:cs typeface="Arial"/>
              <a:sym typeface="Arial"/>
            </a:endParaRPr>
          </a:p>
          <a:p>
            <a:pPr marL="185738" marR="0" lvl="0" indent="-58736" algn="l" rtl="0">
              <a:lnSpc>
                <a:spcPct val="100000"/>
              </a:lnSpc>
              <a:spcBef>
                <a:spcPts val="0"/>
              </a:spcBef>
              <a:spcAft>
                <a:spcPts val="0"/>
              </a:spcAft>
              <a:buClr>
                <a:schemeClr val="dk1"/>
              </a:buClr>
              <a:buSzPts val="2000"/>
              <a:buFont typeface="Arial"/>
              <a:buNone/>
            </a:pPr>
            <a:endParaRPr sz="2000" b="0" i="0" u="none" strike="noStrike" cap="none">
              <a:solidFill>
                <a:srgbClr val="000204"/>
              </a:solidFill>
              <a:latin typeface="Arial"/>
              <a:ea typeface="Arial"/>
              <a:cs typeface="Arial"/>
              <a:sym typeface="Arial"/>
            </a:endParaRPr>
          </a:p>
          <a:p>
            <a:pPr marL="185738" marR="0" lvl="0" indent="-185738" algn="l" rtl="0">
              <a:lnSpc>
                <a:spcPct val="100000"/>
              </a:lnSpc>
              <a:spcBef>
                <a:spcPts val="0"/>
              </a:spcBef>
              <a:spcAft>
                <a:spcPts val="0"/>
              </a:spcAft>
              <a:buClr>
                <a:srgbClr val="000204"/>
              </a:buClr>
              <a:buSzPts val="2000"/>
              <a:buFont typeface="Arial"/>
              <a:buChar char="•"/>
            </a:pPr>
            <a:r>
              <a:rPr lang="fr-FR" sz="2000" b="1" i="0" u="none" strike="noStrike" cap="none">
                <a:solidFill>
                  <a:srgbClr val="000204"/>
                </a:solidFill>
                <a:latin typeface="Arial"/>
                <a:ea typeface="Arial"/>
                <a:cs typeface="Arial"/>
                <a:sym typeface="Arial"/>
              </a:rPr>
              <a:t>SJF: </a:t>
            </a:r>
            <a:r>
              <a:rPr lang="fr-FR" sz="2000" b="0" i="0" u="none" strike="noStrike" cap="none">
                <a:solidFill>
                  <a:srgbClr val="000204"/>
                </a:solidFill>
                <a:latin typeface="Arial"/>
                <a:ea typeface="Arial"/>
                <a:cs typeface="Arial"/>
                <a:sym typeface="Arial"/>
              </a:rPr>
              <a:t>Shortest Job First</a:t>
            </a:r>
            <a:endParaRPr sz="1400" b="0" i="0" u="none" strike="noStrike" cap="none">
              <a:solidFill>
                <a:srgbClr val="000000"/>
              </a:solidFill>
              <a:latin typeface="Arial"/>
              <a:ea typeface="Arial"/>
              <a:cs typeface="Arial"/>
              <a:sym typeface="Arial"/>
            </a:endParaRPr>
          </a:p>
          <a:p>
            <a:pPr marL="185738" marR="0" lvl="0" indent="-58736" algn="l" rtl="0">
              <a:lnSpc>
                <a:spcPct val="100000"/>
              </a:lnSpc>
              <a:spcBef>
                <a:spcPts val="0"/>
              </a:spcBef>
              <a:spcAft>
                <a:spcPts val="0"/>
              </a:spcAft>
              <a:buClr>
                <a:schemeClr val="dk1"/>
              </a:buClr>
              <a:buSzPts val="2000"/>
              <a:buFont typeface="Arial"/>
              <a:buNone/>
            </a:pPr>
            <a:endParaRPr sz="2000" b="0" i="0" u="none" strike="noStrike" cap="none">
              <a:solidFill>
                <a:srgbClr val="000204"/>
              </a:solidFill>
              <a:latin typeface="Arial"/>
              <a:ea typeface="Arial"/>
              <a:cs typeface="Arial"/>
              <a:sym typeface="Arial"/>
            </a:endParaRPr>
          </a:p>
          <a:p>
            <a:pPr marL="185738" marR="0" lvl="0" indent="-185738" algn="l" rtl="0">
              <a:lnSpc>
                <a:spcPct val="100000"/>
              </a:lnSpc>
              <a:spcBef>
                <a:spcPts val="0"/>
              </a:spcBef>
              <a:spcAft>
                <a:spcPts val="0"/>
              </a:spcAft>
              <a:buClr>
                <a:srgbClr val="000204"/>
              </a:buClr>
              <a:buSzPts val="2000"/>
              <a:buFont typeface="Arial"/>
              <a:buChar char="•"/>
            </a:pPr>
            <a:r>
              <a:rPr lang="fr-FR" sz="2000" b="1" i="0" u="none" strike="noStrike" cap="none">
                <a:solidFill>
                  <a:srgbClr val="000204"/>
                </a:solidFill>
                <a:latin typeface="Arial"/>
                <a:ea typeface="Arial"/>
                <a:cs typeface="Arial"/>
                <a:sym typeface="Arial"/>
              </a:rPr>
              <a:t>RR: </a:t>
            </a:r>
            <a:r>
              <a:rPr lang="fr-FR" sz="2000" b="0" i="0" u="none" strike="noStrike" cap="none">
                <a:solidFill>
                  <a:srgbClr val="000204"/>
                </a:solidFill>
                <a:latin typeface="Arial"/>
                <a:ea typeface="Arial"/>
                <a:cs typeface="Arial"/>
                <a:sym typeface="Arial"/>
              </a:rPr>
              <a:t>Round-Robin</a:t>
            </a:r>
            <a:endParaRPr sz="1400" b="0" i="0" u="none" strike="noStrike" cap="none">
              <a:solidFill>
                <a:srgbClr val="000000"/>
              </a:solidFill>
              <a:latin typeface="Arial"/>
              <a:ea typeface="Arial"/>
              <a:cs typeface="Arial"/>
              <a:sym typeface="Arial"/>
            </a:endParaRPr>
          </a:p>
          <a:p>
            <a:pPr marL="185738" marR="0" lvl="0" indent="-58736" algn="l" rtl="0">
              <a:lnSpc>
                <a:spcPct val="100000"/>
              </a:lnSpc>
              <a:spcBef>
                <a:spcPts val="0"/>
              </a:spcBef>
              <a:spcAft>
                <a:spcPts val="0"/>
              </a:spcAft>
              <a:buClr>
                <a:schemeClr val="dk1"/>
              </a:buClr>
              <a:buSzPts val="2000"/>
              <a:buFont typeface="Arial"/>
              <a:buNone/>
            </a:pPr>
            <a:endParaRPr sz="2000" b="0" i="0" u="none" strike="noStrike" cap="none">
              <a:solidFill>
                <a:srgbClr val="000204"/>
              </a:solidFill>
              <a:latin typeface="Arial"/>
              <a:ea typeface="Arial"/>
              <a:cs typeface="Arial"/>
              <a:sym typeface="Arial"/>
            </a:endParaRPr>
          </a:p>
          <a:p>
            <a:pPr marL="185738" marR="0" lvl="0" indent="-185738" algn="l" rtl="0">
              <a:lnSpc>
                <a:spcPct val="100000"/>
              </a:lnSpc>
              <a:spcBef>
                <a:spcPts val="0"/>
              </a:spcBef>
              <a:spcAft>
                <a:spcPts val="0"/>
              </a:spcAft>
              <a:buClr>
                <a:srgbClr val="000204"/>
              </a:buClr>
              <a:buSzPts val="2000"/>
              <a:buFont typeface="Arial"/>
              <a:buChar char="•"/>
            </a:pPr>
            <a:r>
              <a:rPr lang="fr-FR" sz="2000" b="1" i="0" u="none" strike="noStrike" cap="none">
                <a:solidFill>
                  <a:srgbClr val="000204"/>
                </a:solidFill>
                <a:latin typeface="Arial"/>
                <a:ea typeface="Arial"/>
                <a:cs typeface="Arial"/>
                <a:sym typeface="Arial"/>
              </a:rPr>
              <a:t>Ordonnancement par priorité</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118"/>
          <p:cNvSpPr txBox="1"/>
          <p:nvPr/>
        </p:nvSpPr>
        <p:spPr>
          <a:xfrm>
            <a:off x="6345211" y="2479687"/>
            <a:ext cx="2059305" cy="650875"/>
          </a:xfrm>
          <a:prstGeom prst="rect">
            <a:avLst/>
          </a:prstGeom>
          <a:solidFill>
            <a:srgbClr val="DEDEDE"/>
          </a:solidFill>
          <a:ln w="9525" cap="flat" cmpd="sng">
            <a:solidFill>
              <a:srgbClr val="000000"/>
            </a:solidFill>
            <a:prstDash val="solid"/>
            <a:round/>
            <a:headEnd type="none" w="sm" len="sm"/>
            <a:tailEnd type="none" w="sm" len="sm"/>
          </a:ln>
        </p:spPr>
        <p:txBody>
          <a:bodyPr spcFirstLastPara="1" wrap="square" lIns="0" tIns="28575" rIns="0" bIns="0" anchor="t" anchorCtr="0">
            <a:spAutoFit/>
          </a:bodyPr>
          <a:lstStyle/>
          <a:p>
            <a:pPr marL="92710" marR="464819" lvl="0" indent="0" algn="l" rtl="0">
              <a:lnSpc>
                <a:spcPct val="100600"/>
              </a:lnSpc>
              <a:spcBef>
                <a:spcPts val="0"/>
              </a:spcBef>
              <a:spcAft>
                <a:spcPts val="0"/>
              </a:spcAft>
              <a:buClr>
                <a:srgbClr val="000000"/>
              </a:buClr>
              <a:buSzPts val="1800"/>
              <a:buFont typeface="Arial"/>
              <a:buNone/>
            </a:pPr>
            <a:r>
              <a:rPr lang="fr-FR" sz="1800" b="0" i="0" u="none" strike="noStrike" cap="none">
                <a:solidFill>
                  <a:srgbClr val="003366"/>
                </a:solidFill>
                <a:latin typeface="Calibri"/>
                <a:ea typeface="Calibri"/>
                <a:cs typeface="Calibri"/>
                <a:sym typeface="Calibri"/>
              </a:rPr>
              <a:t>Scheduler  (Ordonnanceur</a:t>
            </a:r>
            <a:r>
              <a:rPr lang="fr-FR" sz="1800" b="0" i="0" u="none" strike="noStrike" cap="none">
                <a:solidFill>
                  <a:srgbClr val="003366"/>
                </a:solidFill>
                <a:latin typeface="Times New Roman"/>
                <a:ea typeface="Times New Roman"/>
                <a:cs typeface="Times New Roman"/>
                <a:sym typeface="Times New Roman"/>
              </a:rPr>
              <a:t>)</a:t>
            </a:r>
            <a:endParaRPr sz="1800" b="0" i="0" u="none" strike="noStrike" cap="none">
              <a:solidFill>
                <a:srgbClr val="000000"/>
              </a:solidFill>
              <a:latin typeface="Times New Roman"/>
              <a:ea typeface="Times New Roman"/>
              <a:cs typeface="Times New Roman"/>
              <a:sym typeface="Times New Roman"/>
            </a:endParaRPr>
          </a:p>
        </p:txBody>
      </p:sp>
      <p:sp>
        <p:nvSpPr>
          <p:cNvPr id="950" name="Google Shape;950;p118"/>
          <p:cNvSpPr/>
          <p:nvPr/>
        </p:nvSpPr>
        <p:spPr>
          <a:xfrm>
            <a:off x="6915124" y="3186125"/>
            <a:ext cx="1619250" cy="1243330"/>
          </a:xfrm>
          <a:custGeom>
            <a:avLst/>
            <a:gdLst/>
            <a:ahLst/>
            <a:cxnLst/>
            <a:rect l="l" t="t" r="r" b="b"/>
            <a:pathLst>
              <a:path w="1619250" h="1243329" extrusionOk="0">
                <a:moveTo>
                  <a:pt x="0" y="0"/>
                </a:moveTo>
                <a:lnTo>
                  <a:pt x="1619250" y="0"/>
                </a:lnTo>
                <a:lnTo>
                  <a:pt x="1619250" y="1243012"/>
                </a:lnTo>
                <a:lnTo>
                  <a:pt x="0" y="1243012"/>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1" name="Google Shape;951;p118"/>
          <p:cNvSpPr txBox="1"/>
          <p:nvPr/>
        </p:nvSpPr>
        <p:spPr>
          <a:xfrm>
            <a:off x="6915124" y="3186919"/>
            <a:ext cx="1619250" cy="1242695"/>
          </a:xfrm>
          <a:prstGeom prst="rect">
            <a:avLst/>
          </a:prstGeom>
          <a:noFill/>
          <a:ln w="9525" cap="flat" cmpd="sng">
            <a:solidFill>
              <a:srgbClr val="000000"/>
            </a:solidFill>
            <a:prstDash val="solid"/>
            <a:round/>
            <a:headEnd type="none" w="sm" len="sm"/>
            <a:tailEnd type="none" w="sm" len="sm"/>
          </a:ln>
        </p:spPr>
        <p:txBody>
          <a:bodyPr spcFirstLastPara="1" wrap="square" lIns="0" tIns="29200" rIns="0" bIns="0" anchor="t" anchorCtr="0">
            <a:spAutoFit/>
          </a:bodyPr>
          <a:lstStyle/>
          <a:p>
            <a:pPr marL="90805" marR="29210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Calibri"/>
                <a:ea typeface="Calibri"/>
                <a:cs typeface="Calibri"/>
                <a:sym typeface="Calibri"/>
              </a:rPr>
              <a:t>File des  Process prêts</a:t>
            </a:r>
            <a:endParaRPr sz="1800" b="0" i="0" u="none" strike="noStrike" cap="none">
              <a:solidFill>
                <a:srgbClr val="000000"/>
              </a:solidFill>
              <a:latin typeface="Calibri"/>
              <a:ea typeface="Calibri"/>
              <a:cs typeface="Calibri"/>
              <a:sym typeface="Calibri"/>
            </a:endParaRPr>
          </a:p>
        </p:txBody>
      </p:sp>
      <p:sp>
        <p:nvSpPr>
          <p:cNvPr id="952" name="Google Shape;952;p118"/>
          <p:cNvSpPr txBox="1"/>
          <p:nvPr/>
        </p:nvSpPr>
        <p:spPr>
          <a:xfrm>
            <a:off x="8099331" y="3900015"/>
            <a:ext cx="85090" cy="168910"/>
          </a:xfrm>
          <a:prstGeom prst="rect">
            <a:avLst/>
          </a:prstGeom>
          <a:noFill/>
          <a:ln>
            <a:noFill/>
          </a:ln>
        </p:spPr>
        <p:txBody>
          <a:bodyPr spcFirstLastPara="1" wrap="square" lIns="0" tIns="0" rIns="0" bIns="0" anchor="t" anchorCtr="0">
            <a:spAutoFit/>
          </a:bodyPr>
          <a:lstStyle/>
          <a:p>
            <a:pPr marL="0" marR="0" lvl="0" indent="0" algn="l" rtl="0">
              <a:lnSpc>
                <a:spcPct val="109166"/>
              </a:lnSpc>
              <a:spcBef>
                <a:spcPts val="0"/>
              </a:spcBef>
              <a:spcAft>
                <a:spcPts val="0"/>
              </a:spcAft>
              <a:buClr>
                <a:srgbClr val="000000"/>
              </a:buClr>
              <a:buSzPts val="1200"/>
              <a:buFont typeface="Arial"/>
              <a:buNone/>
            </a:pPr>
            <a:r>
              <a:rPr lang="fr-FR" sz="1200" b="0" i="0" u="none" strike="noStrike" cap="none">
                <a:solidFill>
                  <a:srgbClr val="003366"/>
                </a:solidFill>
                <a:latin typeface="Times New Roman"/>
                <a:ea typeface="Times New Roman"/>
                <a:cs typeface="Times New Roman"/>
                <a:sym typeface="Times New Roman"/>
              </a:rPr>
              <a:t>P</a:t>
            </a:r>
            <a:endParaRPr sz="1200" b="0" i="0" u="none" strike="noStrike" cap="none">
              <a:solidFill>
                <a:srgbClr val="000000"/>
              </a:solidFill>
              <a:latin typeface="Times New Roman"/>
              <a:ea typeface="Times New Roman"/>
              <a:cs typeface="Times New Roman"/>
              <a:sym typeface="Times New Roman"/>
            </a:endParaRPr>
          </a:p>
        </p:txBody>
      </p:sp>
      <p:sp>
        <p:nvSpPr>
          <p:cNvPr id="953" name="Google Shape;953;p118"/>
          <p:cNvSpPr txBox="1"/>
          <p:nvPr/>
        </p:nvSpPr>
        <p:spPr>
          <a:xfrm>
            <a:off x="7311931" y="3900015"/>
            <a:ext cx="85090" cy="168910"/>
          </a:xfrm>
          <a:prstGeom prst="rect">
            <a:avLst/>
          </a:prstGeom>
          <a:noFill/>
          <a:ln>
            <a:noFill/>
          </a:ln>
        </p:spPr>
        <p:txBody>
          <a:bodyPr spcFirstLastPara="1" wrap="square" lIns="0" tIns="0" rIns="0" bIns="0" anchor="t" anchorCtr="0">
            <a:spAutoFit/>
          </a:bodyPr>
          <a:lstStyle/>
          <a:p>
            <a:pPr marL="0" marR="0" lvl="0" indent="0" algn="l" rtl="0">
              <a:lnSpc>
                <a:spcPct val="109166"/>
              </a:lnSpc>
              <a:spcBef>
                <a:spcPts val="0"/>
              </a:spcBef>
              <a:spcAft>
                <a:spcPts val="0"/>
              </a:spcAft>
              <a:buClr>
                <a:srgbClr val="000000"/>
              </a:buClr>
              <a:buSzPts val="1200"/>
              <a:buFont typeface="Arial"/>
              <a:buNone/>
            </a:pPr>
            <a:r>
              <a:rPr lang="fr-FR" sz="1200" b="0" i="0" u="none" strike="noStrike" cap="none">
                <a:solidFill>
                  <a:srgbClr val="003366"/>
                </a:solidFill>
                <a:latin typeface="Times New Roman"/>
                <a:ea typeface="Times New Roman"/>
                <a:cs typeface="Times New Roman"/>
                <a:sym typeface="Times New Roman"/>
              </a:rPr>
              <a:t>P</a:t>
            </a:r>
            <a:endParaRPr sz="1200" b="0" i="0" u="none" strike="noStrike" cap="none">
              <a:solidFill>
                <a:srgbClr val="000000"/>
              </a:solidFill>
              <a:latin typeface="Times New Roman"/>
              <a:ea typeface="Times New Roman"/>
              <a:cs typeface="Times New Roman"/>
              <a:sym typeface="Times New Roman"/>
            </a:endParaRPr>
          </a:p>
        </p:txBody>
      </p:sp>
      <p:graphicFrame>
        <p:nvGraphicFramePr>
          <p:cNvPr id="954" name="Google Shape;954;p118"/>
          <p:cNvGraphicFramePr/>
          <p:nvPr/>
        </p:nvGraphicFramePr>
        <p:xfrm>
          <a:off x="6989736" y="3887800"/>
          <a:ext cx="1439550" cy="192088"/>
        </p:xfrm>
        <a:graphic>
          <a:graphicData uri="http://schemas.openxmlformats.org/drawingml/2006/table">
            <a:tbl>
              <a:tblPr firstRow="1" bandRow="1">
                <a:noFill/>
              </a:tblPr>
              <a:tblGrid>
                <a:gridCol w="351150">
                  <a:extLst>
                    <a:ext uri="{9D8B030D-6E8A-4147-A177-3AD203B41FA5}">
                      <a16:colId xmlns:a16="http://schemas.microsoft.com/office/drawing/2014/main" val="20000"/>
                    </a:ext>
                  </a:extLst>
                </a:gridCol>
                <a:gridCol w="389900">
                  <a:extLst>
                    <a:ext uri="{9D8B030D-6E8A-4147-A177-3AD203B41FA5}">
                      <a16:colId xmlns:a16="http://schemas.microsoft.com/office/drawing/2014/main" val="20001"/>
                    </a:ext>
                  </a:extLst>
                </a:gridCol>
                <a:gridCol w="398150">
                  <a:extLst>
                    <a:ext uri="{9D8B030D-6E8A-4147-A177-3AD203B41FA5}">
                      <a16:colId xmlns:a16="http://schemas.microsoft.com/office/drawing/2014/main" val="20002"/>
                    </a:ext>
                  </a:extLst>
                </a:gridCol>
                <a:gridCol w="300350">
                  <a:extLst>
                    <a:ext uri="{9D8B030D-6E8A-4147-A177-3AD203B41FA5}">
                      <a16:colId xmlns:a16="http://schemas.microsoft.com/office/drawing/2014/main" val="20003"/>
                    </a:ext>
                  </a:extLst>
                </a:gridCol>
              </a:tblGrid>
              <a:tr h="192075">
                <a:tc>
                  <a:txBody>
                    <a:bodyPr/>
                    <a:lstStyle/>
                    <a:p>
                      <a:pPr marL="1270" marR="0" lvl="0" indent="0" algn="l" rtl="0">
                        <a:lnSpc>
                          <a:spcPct val="114166"/>
                        </a:lnSpc>
                        <a:spcBef>
                          <a:spcPts val="0"/>
                        </a:spcBef>
                        <a:spcAft>
                          <a:spcPts val="0"/>
                        </a:spcAft>
                        <a:buClr>
                          <a:srgbClr val="000000"/>
                        </a:buClr>
                        <a:buSzPts val="1200"/>
                        <a:buFont typeface="Arial"/>
                        <a:buNone/>
                      </a:pPr>
                      <a:r>
                        <a:rPr lang="fr-FR" sz="1200" u="none" strike="noStrike" cap="none">
                          <a:solidFill>
                            <a:srgbClr val="003366"/>
                          </a:solidFill>
                          <a:latin typeface="Times New Roman"/>
                          <a:ea typeface="Times New Roman"/>
                          <a:cs typeface="Times New Roman"/>
                          <a:sym typeface="Times New Roman"/>
                        </a:rPr>
                        <a:t>PCB</a:t>
                      </a:r>
                      <a:endParaRPr sz="12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EDEDE"/>
                    </a:solidFill>
                  </a:tcPr>
                </a:tc>
                <a:tc>
                  <a:txBody>
                    <a:bodyPr/>
                    <a:lstStyle/>
                    <a:p>
                      <a:pPr marL="51435" marR="0" lvl="0" indent="0" algn="l" rtl="0">
                        <a:lnSpc>
                          <a:spcPct val="114166"/>
                        </a:lnSpc>
                        <a:spcBef>
                          <a:spcPts val="0"/>
                        </a:spcBef>
                        <a:spcAft>
                          <a:spcPts val="0"/>
                        </a:spcAft>
                        <a:buClr>
                          <a:srgbClr val="000000"/>
                        </a:buClr>
                        <a:buSzPts val="1200"/>
                        <a:buFont typeface="Arial"/>
                        <a:buNone/>
                      </a:pPr>
                      <a:r>
                        <a:rPr lang="fr-FR" sz="1200" u="none" strike="noStrike" cap="none">
                          <a:solidFill>
                            <a:srgbClr val="003366"/>
                          </a:solidFill>
                          <a:latin typeface="Times New Roman"/>
                          <a:ea typeface="Times New Roman"/>
                          <a:cs typeface="Times New Roman"/>
                          <a:sym typeface="Times New Roman"/>
                        </a:rPr>
                        <a:t>CB</a:t>
                      </a:r>
                      <a:endParaRPr sz="12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EDEDE"/>
                    </a:solidFill>
                  </a:tcPr>
                </a:tc>
                <a:tc>
                  <a:txBody>
                    <a:bodyPr/>
                    <a:lstStyle/>
                    <a:p>
                      <a:pPr marL="20955" marR="0" lvl="0" indent="0" algn="l" rtl="0">
                        <a:lnSpc>
                          <a:spcPct val="114166"/>
                        </a:lnSpc>
                        <a:spcBef>
                          <a:spcPts val="0"/>
                        </a:spcBef>
                        <a:spcAft>
                          <a:spcPts val="0"/>
                        </a:spcAft>
                        <a:buClr>
                          <a:srgbClr val="000000"/>
                        </a:buClr>
                        <a:buSzPts val="1200"/>
                        <a:buFont typeface="Arial"/>
                        <a:buNone/>
                      </a:pPr>
                      <a:r>
                        <a:rPr lang="fr-FR" sz="1200" u="none" strike="noStrike" cap="none">
                          <a:solidFill>
                            <a:srgbClr val="003366"/>
                          </a:solidFill>
                          <a:latin typeface="Times New Roman"/>
                          <a:ea typeface="Times New Roman"/>
                          <a:cs typeface="Times New Roman"/>
                          <a:sym typeface="Times New Roman"/>
                        </a:rPr>
                        <a:t>PCB</a:t>
                      </a:r>
                      <a:endParaRPr sz="12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EDEDE"/>
                    </a:solidFill>
                  </a:tcPr>
                </a:tc>
                <a:tc>
                  <a:txBody>
                    <a:bodyPr/>
                    <a:lstStyle/>
                    <a:p>
                      <a:pPr marL="51435" marR="0" lvl="0" indent="0" algn="l" rtl="0">
                        <a:lnSpc>
                          <a:spcPct val="114166"/>
                        </a:lnSpc>
                        <a:spcBef>
                          <a:spcPts val="0"/>
                        </a:spcBef>
                        <a:spcAft>
                          <a:spcPts val="0"/>
                        </a:spcAft>
                        <a:buClr>
                          <a:srgbClr val="000000"/>
                        </a:buClr>
                        <a:buSzPts val="1200"/>
                        <a:buFont typeface="Arial"/>
                        <a:buNone/>
                      </a:pPr>
                      <a:r>
                        <a:rPr lang="fr-FR" sz="1200" u="none" strike="noStrike" cap="none">
                          <a:solidFill>
                            <a:srgbClr val="003366"/>
                          </a:solidFill>
                          <a:latin typeface="Times New Roman"/>
                          <a:ea typeface="Times New Roman"/>
                          <a:cs typeface="Times New Roman"/>
                          <a:sym typeface="Times New Roman"/>
                        </a:rPr>
                        <a:t>CB</a:t>
                      </a:r>
                      <a:endParaRPr sz="1200" u="none" strike="noStrike" cap="none">
                        <a:latin typeface="Times New Roman"/>
                        <a:ea typeface="Times New Roman"/>
                        <a:cs typeface="Times New Roman"/>
                        <a:sym typeface="Times New Roman"/>
                      </a:endParaRPr>
                    </a:p>
                  </a:txBody>
                  <a:tcPr marL="0" marR="0" marT="0" marB="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DEDEDE"/>
                    </a:solidFill>
                  </a:tcPr>
                </a:tc>
                <a:extLst>
                  <a:ext uri="{0D108BD9-81ED-4DB2-BD59-A6C34878D82A}">
                    <a16:rowId xmlns:a16="http://schemas.microsoft.com/office/drawing/2014/main" val="10000"/>
                  </a:ext>
                </a:extLst>
              </a:tr>
            </a:tbl>
          </a:graphicData>
        </a:graphic>
      </p:graphicFrame>
      <p:sp>
        <p:nvSpPr>
          <p:cNvPr id="955" name="Google Shape;955;p118"/>
          <p:cNvSpPr/>
          <p:nvPr/>
        </p:nvSpPr>
        <p:spPr>
          <a:xfrm>
            <a:off x="1430313" y="2344757"/>
            <a:ext cx="7161530" cy="2557780"/>
          </a:xfrm>
          <a:custGeom>
            <a:avLst/>
            <a:gdLst/>
            <a:ahLst/>
            <a:cxnLst/>
            <a:rect l="l" t="t" r="r" b="b"/>
            <a:pathLst>
              <a:path w="7161530" h="2557779" extrusionOk="0">
                <a:moveTo>
                  <a:pt x="6775386" y="1443697"/>
                </a:moveTo>
                <a:lnTo>
                  <a:pt x="7158075" y="1149210"/>
                </a:lnTo>
                <a:lnTo>
                  <a:pt x="7161199" y="6070"/>
                </a:lnTo>
                <a:lnTo>
                  <a:pt x="7810" y="0"/>
                </a:lnTo>
                <a:lnTo>
                  <a:pt x="6248" y="359956"/>
                </a:lnTo>
                <a:lnTo>
                  <a:pt x="4686" y="1008138"/>
                </a:lnTo>
                <a:lnTo>
                  <a:pt x="3124" y="1611325"/>
                </a:lnTo>
                <a:lnTo>
                  <a:pt x="1562" y="2224239"/>
                </a:lnTo>
                <a:lnTo>
                  <a:pt x="0" y="255746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6" name="Google Shape;956;p118"/>
          <p:cNvSpPr/>
          <p:nvPr/>
        </p:nvSpPr>
        <p:spPr>
          <a:xfrm>
            <a:off x="8155369" y="3750513"/>
            <a:ext cx="83820" cy="76835"/>
          </a:xfrm>
          <a:custGeom>
            <a:avLst/>
            <a:gdLst/>
            <a:ahLst/>
            <a:cxnLst/>
            <a:rect l="l" t="t" r="r" b="b"/>
            <a:pathLst>
              <a:path w="83820" h="76835" extrusionOk="0">
                <a:moveTo>
                  <a:pt x="37160" y="0"/>
                </a:moveTo>
                <a:lnTo>
                  <a:pt x="0" y="76669"/>
                </a:lnTo>
                <a:lnTo>
                  <a:pt x="83629" y="60388"/>
                </a:lnTo>
                <a:lnTo>
                  <a:pt x="3716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7" name="Google Shape;957;p118"/>
          <p:cNvSpPr/>
          <p:nvPr/>
        </p:nvSpPr>
        <p:spPr>
          <a:xfrm>
            <a:off x="1595406" y="5023589"/>
            <a:ext cx="2762250" cy="27940"/>
          </a:xfrm>
          <a:custGeom>
            <a:avLst/>
            <a:gdLst/>
            <a:ahLst/>
            <a:cxnLst/>
            <a:rect l="l" t="t" r="r" b="b"/>
            <a:pathLst>
              <a:path w="2762250" h="27939" extrusionOk="0">
                <a:moveTo>
                  <a:pt x="0" y="27851"/>
                </a:moveTo>
                <a:lnTo>
                  <a:pt x="2762250" y="0"/>
                </a:lnTo>
              </a:path>
            </a:pathLst>
          </a:custGeom>
          <a:noFill/>
          <a:ln w="28575" cap="flat" cmpd="sng">
            <a:solidFill>
              <a:srgbClr val="FF0000"/>
            </a:solidFill>
            <a:prstDash val="dot"/>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8" name="Google Shape;958;p118"/>
          <p:cNvSpPr/>
          <p:nvPr/>
        </p:nvSpPr>
        <p:spPr>
          <a:xfrm>
            <a:off x="4342942" y="4980866"/>
            <a:ext cx="86360" cy="85725"/>
          </a:xfrm>
          <a:custGeom>
            <a:avLst/>
            <a:gdLst/>
            <a:ahLst/>
            <a:cxnLst/>
            <a:rect l="l" t="t" r="r" b="b"/>
            <a:pathLst>
              <a:path w="86360" h="85725" extrusionOk="0">
                <a:moveTo>
                  <a:pt x="0" y="0"/>
                </a:moveTo>
                <a:lnTo>
                  <a:pt x="863" y="85724"/>
                </a:lnTo>
                <a:lnTo>
                  <a:pt x="86156" y="41998"/>
                </a:lnTo>
                <a:lnTo>
                  <a:pt x="0"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59" name="Google Shape;959;p118"/>
          <p:cNvSpPr/>
          <p:nvPr/>
        </p:nvSpPr>
        <p:spPr>
          <a:xfrm>
            <a:off x="2227232" y="4357702"/>
            <a:ext cx="774700" cy="355600"/>
          </a:xfrm>
          <a:custGeom>
            <a:avLst/>
            <a:gdLst/>
            <a:ahLst/>
            <a:cxnLst/>
            <a:rect l="l" t="t" r="r" b="b"/>
            <a:pathLst>
              <a:path w="774700" h="355600" extrusionOk="0">
                <a:moveTo>
                  <a:pt x="387350" y="0"/>
                </a:moveTo>
                <a:lnTo>
                  <a:pt x="324518" y="2327"/>
                </a:lnTo>
                <a:lnTo>
                  <a:pt x="264915" y="9064"/>
                </a:lnTo>
                <a:lnTo>
                  <a:pt x="209338" y="19845"/>
                </a:lnTo>
                <a:lnTo>
                  <a:pt x="158584" y="34305"/>
                </a:lnTo>
                <a:lnTo>
                  <a:pt x="113450" y="52076"/>
                </a:lnTo>
                <a:lnTo>
                  <a:pt x="74734" y="72793"/>
                </a:lnTo>
                <a:lnTo>
                  <a:pt x="43234" y="96090"/>
                </a:lnTo>
                <a:lnTo>
                  <a:pt x="5069" y="148959"/>
                </a:lnTo>
                <a:lnTo>
                  <a:pt x="0" y="177799"/>
                </a:lnTo>
                <a:lnTo>
                  <a:pt x="5069" y="206640"/>
                </a:lnTo>
                <a:lnTo>
                  <a:pt x="43234" y="259509"/>
                </a:lnTo>
                <a:lnTo>
                  <a:pt x="74734" y="282806"/>
                </a:lnTo>
                <a:lnTo>
                  <a:pt x="113450" y="303523"/>
                </a:lnTo>
                <a:lnTo>
                  <a:pt x="158584" y="321294"/>
                </a:lnTo>
                <a:lnTo>
                  <a:pt x="209338" y="335754"/>
                </a:lnTo>
                <a:lnTo>
                  <a:pt x="264915" y="346535"/>
                </a:lnTo>
                <a:lnTo>
                  <a:pt x="324518" y="353272"/>
                </a:lnTo>
                <a:lnTo>
                  <a:pt x="387350" y="355599"/>
                </a:lnTo>
                <a:lnTo>
                  <a:pt x="450181" y="353272"/>
                </a:lnTo>
                <a:lnTo>
                  <a:pt x="509784" y="346535"/>
                </a:lnTo>
                <a:lnTo>
                  <a:pt x="565361" y="335754"/>
                </a:lnTo>
                <a:lnTo>
                  <a:pt x="616115" y="321294"/>
                </a:lnTo>
                <a:lnTo>
                  <a:pt x="661249" y="303523"/>
                </a:lnTo>
                <a:lnTo>
                  <a:pt x="699965" y="282806"/>
                </a:lnTo>
                <a:lnTo>
                  <a:pt x="731465" y="259509"/>
                </a:lnTo>
                <a:lnTo>
                  <a:pt x="769630" y="206640"/>
                </a:lnTo>
                <a:lnTo>
                  <a:pt x="774700" y="177799"/>
                </a:lnTo>
                <a:lnTo>
                  <a:pt x="769630" y="148959"/>
                </a:lnTo>
                <a:lnTo>
                  <a:pt x="731465" y="96090"/>
                </a:lnTo>
                <a:lnTo>
                  <a:pt x="699965" y="72793"/>
                </a:lnTo>
                <a:lnTo>
                  <a:pt x="661249" y="52076"/>
                </a:lnTo>
                <a:lnTo>
                  <a:pt x="616115" y="34305"/>
                </a:lnTo>
                <a:lnTo>
                  <a:pt x="565361" y="19845"/>
                </a:lnTo>
                <a:lnTo>
                  <a:pt x="509784" y="9064"/>
                </a:lnTo>
                <a:lnTo>
                  <a:pt x="450181" y="2327"/>
                </a:lnTo>
                <a:lnTo>
                  <a:pt x="38735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0" name="Google Shape;960;p118"/>
          <p:cNvSpPr/>
          <p:nvPr/>
        </p:nvSpPr>
        <p:spPr>
          <a:xfrm>
            <a:off x="2227232" y="4357702"/>
            <a:ext cx="774700" cy="355600"/>
          </a:xfrm>
          <a:custGeom>
            <a:avLst/>
            <a:gdLst/>
            <a:ahLst/>
            <a:cxnLst/>
            <a:rect l="l" t="t" r="r" b="b"/>
            <a:pathLst>
              <a:path w="774700" h="355600" extrusionOk="0">
                <a:moveTo>
                  <a:pt x="0" y="177799"/>
                </a:moveTo>
                <a:lnTo>
                  <a:pt x="19746" y="121601"/>
                </a:lnTo>
                <a:lnTo>
                  <a:pt x="74734" y="72793"/>
                </a:lnTo>
                <a:lnTo>
                  <a:pt x="113450" y="52076"/>
                </a:lnTo>
                <a:lnTo>
                  <a:pt x="158584" y="34305"/>
                </a:lnTo>
                <a:lnTo>
                  <a:pt x="209338" y="19845"/>
                </a:lnTo>
                <a:lnTo>
                  <a:pt x="264915" y="9064"/>
                </a:lnTo>
                <a:lnTo>
                  <a:pt x="324518" y="2327"/>
                </a:lnTo>
                <a:lnTo>
                  <a:pt x="387350" y="0"/>
                </a:lnTo>
                <a:lnTo>
                  <a:pt x="450181" y="2327"/>
                </a:lnTo>
                <a:lnTo>
                  <a:pt x="509784" y="9064"/>
                </a:lnTo>
                <a:lnTo>
                  <a:pt x="565361" y="19845"/>
                </a:lnTo>
                <a:lnTo>
                  <a:pt x="616115" y="34305"/>
                </a:lnTo>
                <a:lnTo>
                  <a:pt x="661249" y="52076"/>
                </a:lnTo>
                <a:lnTo>
                  <a:pt x="699965" y="72793"/>
                </a:lnTo>
                <a:lnTo>
                  <a:pt x="731465" y="96090"/>
                </a:lnTo>
                <a:lnTo>
                  <a:pt x="769630" y="148959"/>
                </a:lnTo>
                <a:lnTo>
                  <a:pt x="774700" y="177799"/>
                </a:lnTo>
                <a:lnTo>
                  <a:pt x="769630" y="206640"/>
                </a:lnTo>
                <a:lnTo>
                  <a:pt x="754953" y="233998"/>
                </a:lnTo>
                <a:lnTo>
                  <a:pt x="699965" y="282806"/>
                </a:lnTo>
                <a:lnTo>
                  <a:pt x="661249" y="303523"/>
                </a:lnTo>
                <a:lnTo>
                  <a:pt x="616115" y="321294"/>
                </a:lnTo>
                <a:lnTo>
                  <a:pt x="565361" y="335754"/>
                </a:lnTo>
                <a:lnTo>
                  <a:pt x="509784" y="346535"/>
                </a:lnTo>
                <a:lnTo>
                  <a:pt x="450181" y="353272"/>
                </a:lnTo>
                <a:lnTo>
                  <a:pt x="387350" y="355599"/>
                </a:lnTo>
                <a:lnTo>
                  <a:pt x="324518" y="353272"/>
                </a:lnTo>
                <a:lnTo>
                  <a:pt x="264915" y="346535"/>
                </a:lnTo>
                <a:lnTo>
                  <a:pt x="209338" y="335754"/>
                </a:lnTo>
                <a:lnTo>
                  <a:pt x="158584" y="321294"/>
                </a:lnTo>
                <a:lnTo>
                  <a:pt x="113450" y="303523"/>
                </a:lnTo>
                <a:lnTo>
                  <a:pt x="74734" y="282806"/>
                </a:lnTo>
                <a:lnTo>
                  <a:pt x="43234" y="259509"/>
                </a:lnTo>
                <a:lnTo>
                  <a:pt x="5069" y="206640"/>
                </a:lnTo>
                <a:lnTo>
                  <a:pt x="0" y="17779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1" name="Google Shape;961;p118"/>
          <p:cNvSpPr txBox="1"/>
          <p:nvPr/>
        </p:nvSpPr>
        <p:spPr>
          <a:xfrm>
            <a:off x="1927142" y="4386409"/>
            <a:ext cx="975994" cy="26924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fr-FR" sz="1600" b="1" i="0" u="sng" strike="noStrike" cap="none">
                <a:solidFill>
                  <a:srgbClr val="003366"/>
                </a:solidFill>
                <a:latin typeface="Times New Roman"/>
                <a:ea typeface="Times New Roman"/>
                <a:cs typeface="Times New Roman"/>
                <a:sym typeface="Times New Roman"/>
              </a:rPr>
              <a:t> 	</a:t>
            </a:r>
            <a:r>
              <a:rPr lang="fr-FR" sz="1600" b="1" i="0" u="none" strike="noStrike" cap="none">
                <a:solidFill>
                  <a:srgbClr val="003366"/>
                </a:solidFill>
                <a:latin typeface="Times New Roman"/>
                <a:ea typeface="Times New Roman"/>
                <a:cs typeface="Times New Roman"/>
                <a:sym typeface="Times New Roman"/>
              </a:rPr>
              <a:t>  CPU4</a:t>
            </a:r>
            <a:endParaRPr sz="1600" b="0" i="0" u="none" strike="noStrike" cap="none">
              <a:solidFill>
                <a:srgbClr val="000000"/>
              </a:solidFill>
              <a:latin typeface="Times New Roman"/>
              <a:ea typeface="Times New Roman"/>
              <a:cs typeface="Times New Roman"/>
              <a:sym typeface="Times New Roman"/>
            </a:endParaRPr>
          </a:p>
        </p:txBody>
      </p:sp>
      <p:sp>
        <p:nvSpPr>
          <p:cNvPr id="962" name="Google Shape;962;p118"/>
          <p:cNvSpPr/>
          <p:nvPr/>
        </p:nvSpPr>
        <p:spPr>
          <a:xfrm>
            <a:off x="2212944" y="3694127"/>
            <a:ext cx="789305" cy="355600"/>
          </a:xfrm>
          <a:custGeom>
            <a:avLst/>
            <a:gdLst/>
            <a:ahLst/>
            <a:cxnLst/>
            <a:rect l="l" t="t" r="r" b="b"/>
            <a:pathLst>
              <a:path w="789305" h="355600" extrusionOk="0">
                <a:moveTo>
                  <a:pt x="394500" y="0"/>
                </a:moveTo>
                <a:lnTo>
                  <a:pt x="330508" y="2327"/>
                </a:lnTo>
                <a:lnTo>
                  <a:pt x="269805" y="9064"/>
                </a:lnTo>
                <a:lnTo>
                  <a:pt x="213202" y="19845"/>
                </a:lnTo>
                <a:lnTo>
                  <a:pt x="161511" y="34305"/>
                </a:lnTo>
                <a:lnTo>
                  <a:pt x="115544" y="52076"/>
                </a:lnTo>
                <a:lnTo>
                  <a:pt x="76114" y="72793"/>
                </a:lnTo>
                <a:lnTo>
                  <a:pt x="44032" y="96090"/>
                </a:lnTo>
                <a:lnTo>
                  <a:pt x="5163" y="148959"/>
                </a:lnTo>
                <a:lnTo>
                  <a:pt x="0" y="177799"/>
                </a:lnTo>
                <a:lnTo>
                  <a:pt x="5163" y="206640"/>
                </a:lnTo>
                <a:lnTo>
                  <a:pt x="44032" y="259509"/>
                </a:lnTo>
                <a:lnTo>
                  <a:pt x="76114" y="282806"/>
                </a:lnTo>
                <a:lnTo>
                  <a:pt x="115544" y="303523"/>
                </a:lnTo>
                <a:lnTo>
                  <a:pt x="161511" y="321294"/>
                </a:lnTo>
                <a:lnTo>
                  <a:pt x="213202" y="335754"/>
                </a:lnTo>
                <a:lnTo>
                  <a:pt x="269805" y="346535"/>
                </a:lnTo>
                <a:lnTo>
                  <a:pt x="330508" y="353272"/>
                </a:lnTo>
                <a:lnTo>
                  <a:pt x="394500" y="355599"/>
                </a:lnTo>
                <a:lnTo>
                  <a:pt x="458487" y="353272"/>
                </a:lnTo>
                <a:lnTo>
                  <a:pt x="519188" y="346535"/>
                </a:lnTo>
                <a:lnTo>
                  <a:pt x="575789" y="335754"/>
                </a:lnTo>
                <a:lnTo>
                  <a:pt x="627478" y="321294"/>
                </a:lnTo>
                <a:lnTo>
                  <a:pt x="673444" y="303523"/>
                </a:lnTo>
                <a:lnTo>
                  <a:pt x="712874" y="282806"/>
                </a:lnTo>
                <a:lnTo>
                  <a:pt x="744955" y="259509"/>
                </a:lnTo>
                <a:lnTo>
                  <a:pt x="783824" y="206640"/>
                </a:lnTo>
                <a:lnTo>
                  <a:pt x="788987" y="177799"/>
                </a:lnTo>
                <a:lnTo>
                  <a:pt x="783824" y="148959"/>
                </a:lnTo>
                <a:lnTo>
                  <a:pt x="744955" y="96090"/>
                </a:lnTo>
                <a:lnTo>
                  <a:pt x="712874" y="72793"/>
                </a:lnTo>
                <a:lnTo>
                  <a:pt x="673444" y="52076"/>
                </a:lnTo>
                <a:lnTo>
                  <a:pt x="627478" y="34305"/>
                </a:lnTo>
                <a:lnTo>
                  <a:pt x="575789" y="19845"/>
                </a:lnTo>
                <a:lnTo>
                  <a:pt x="519188" y="9064"/>
                </a:lnTo>
                <a:lnTo>
                  <a:pt x="458487" y="2327"/>
                </a:lnTo>
                <a:lnTo>
                  <a:pt x="394500"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3" name="Google Shape;963;p118"/>
          <p:cNvSpPr/>
          <p:nvPr/>
        </p:nvSpPr>
        <p:spPr>
          <a:xfrm>
            <a:off x="2212944" y="3694127"/>
            <a:ext cx="789305" cy="355600"/>
          </a:xfrm>
          <a:custGeom>
            <a:avLst/>
            <a:gdLst/>
            <a:ahLst/>
            <a:cxnLst/>
            <a:rect l="l" t="t" r="r" b="b"/>
            <a:pathLst>
              <a:path w="789305" h="355600" extrusionOk="0">
                <a:moveTo>
                  <a:pt x="0" y="177799"/>
                </a:moveTo>
                <a:lnTo>
                  <a:pt x="20111" y="121601"/>
                </a:lnTo>
                <a:lnTo>
                  <a:pt x="76114" y="72793"/>
                </a:lnTo>
                <a:lnTo>
                  <a:pt x="115544" y="52076"/>
                </a:lnTo>
                <a:lnTo>
                  <a:pt x="161511" y="34305"/>
                </a:lnTo>
                <a:lnTo>
                  <a:pt x="213202" y="19845"/>
                </a:lnTo>
                <a:lnTo>
                  <a:pt x="269805" y="9064"/>
                </a:lnTo>
                <a:lnTo>
                  <a:pt x="330508" y="2327"/>
                </a:lnTo>
                <a:lnTo>
                  <a:pt x="394500" y="0"/>
                </a:lnTo>
                <a:lnTo>
                  <a:pt x="458487" y="2327"/>
                </a:lnTo>
                <a:lnTo>
                  <a:pt x="519188" y="9064"/>
                </a:lnTo>
                <a:lnTo>
                  <a:pt x="575789" y="19845"/>
                </a:lnTo>
                <a:lnTo>
                  <a:pt x="627478" y="34305"/>
                </a:lnTo>
                <a:lnTo>
                  <a:pt x="673444" y="52076"/>
                </a:lnTo>
                <a:lnTo>
                  <a:pt x="712874" y="72793"/>
                </a:lnTo>
                <a:lnTo>
                  <a:pt x="744955" y="96090"/>
                </a:lnTo>
                <a:lnTo>
                  <a:pt x="783824" y="148959"/>
                </a:lnTo>
                <a:lnTo>
                  <a:pt x="788987" y="177799"/>
                </a:lnTo>
                <a:lnTo>
                  <a:pt x="783824" y="206640"/>
                </a:lnTo>
                <a:lnTo>
                  <a:pt x="768876" y="233998"/>
                </a:lnTo>
                <a:lnTo>
                  <a:pt x="712874" y="282806"/>
                </a:lnTo>
                <a:lnTo>
                  <a:pt x="673444" y="303523"/>
                </a:lnTo>
                <a:lnTo>
                  <a:pt x="627478" y="321294"/>
                </a:lnTo>
                <a:lnTo>
                  <a:pt x="575789" y="335754"/>
                </a:lnTo>
                <a:lnTo>
                  <a:pt x="519188" y="346535"/>
                </a:lnTo>
                <a:lnTo>
                  <a:pt x="458487" y="353272"/>
                </a:lnTo>
                <a:lnTo>
                  <a:pt x="394500" y="355599"/>
                </a:lnTo>
                <a:lnTo>
                  <a:pt x="330508" y="353272"/>
                </a:lnTo>
                <a:lnTo>
                  <a:pt x="269805" y="346535"/>
                </a:lnTo>
                <a:lnTo>
                  <a:pt x="213202" y="335754"/>
                </a:lnTo>
                <a:lnTo>
                  <a:pt x="161511" y="321294"/>
                </a:lnTo>
                <a:lnTo>
                  <a:pt x="115544" y="303523"/>
                </a:lnTo>
                <a:lnTo>
                  <a:pt x="76114" y="282806"/>
                </a:lnTo>
                <a:lnTo>
                  <a:pt x="44032" y="259509"/>
                </a:lnTo>
                <a:lnTo>
                  <a:pt x="5163" y="206640"/>
                </a:lnTo>
                <a:lnTo>
                  <a:pt x="0" y="177799"/>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4" name="Google Shape;964;p118"/>
          <p:cNvSpPr/>
          <p:nvPr/>
        </p:nvSpPr>
        <p:spPr>
          <a:xfrm>
            <a:off x="2200244" y="3055952"/>
            <a:ext cx="808355" cy="355600"/>
          </a:xfrm>
          <a:custGeom>
            <a:avLst/>
            <a:gdLst/>
            <a:ahLst/>
            <a:cxnLst/>
            <a:rect l="l" t="t" r="r" b="b"/>
            <a:pathLst>
              <a:path w="808355" h="355600" extrusionOk="0">
                <a:moveTo>
                  <a:pt x="404025" y="0"/>
                </a:moveTo>
                <a:lnTo>
                  <a:pt x="338489" y="2327"/>
                </a:lnTo>
                <a:lnTo>
                  <a:pt x="276321" y="9064"/>
                </a:lnTo>
                <a:lnTo>
                  <a:pt x="218351" y="19845"/>
                </a:lnTo>
                <a:lnTo>
                  <a:pt x="165412" y="34305"/>
                </a:lnTo>
                <a:lnTo>
                  <a:pt x="118335" y="52076"/>
                </a:lnTo>
                <a:lnTo>
                  <a:pt x="77952" y="72793"/>
                </a:lnTo>
                <a:lnTo>
                  <a:pt x="45096" y="96090"/>
                </a:lnTo>
                <a:lnTo>
                  <a:pt x="5287" y="148959"/>
                </a:lnTo>
                <a:lnTo>
                  <a:pt x="0" y="177800"/>
                </a:lnTo>
                <a:lnTo>
                  <a:pt x="5287" y="206640"/>
                </a:lnTo>
                <a:lnTo>
                  <a:pt x="45096" y="259509"/>
                </a:lnTo>
                <a:lnTo>
                  <a:pt x="77952" y="282806"/>
                </a:lnTo>
                <a:lnTo>
                  <a:pt x="118335" y="303523"/>
                </a:lnTo>
                <a:lnTo>
                  <a:pt x="165412" y="321294"/>
                </a:lnTo>
                <a:lnTo>
                  <a:pt x="218351" y="335754"/>
                </a:lnTo>
                <a:lnTo>
                  <a:pt x="276321" y="346535"/>
                </a:lnTo>
                <a:lnTo>
                  <a:pt x="338489" y="353272"/>
                </a:lnTo>
                <a:lnTo>
                  <a:pt x="404025" y="355600"/>
                </a:lnTo>
                <a:lnTo>
                  <a:pt x="469557" y="353272"/>
                </a:lnTo>
                <a:lnTo>
                  <a:pt x="531722" y="346535"/>
                </a:lnTo>
                <a:lnTo>
                  <a:pt x="589690" y="335754"/>
                </a:lnTo>
                <a:lnTo>
                  <a:pt x="642628" y="321294"/>
                </a:lnTo>
                <a:lnTo>
                  <a:pt x="689703" y="303523"/>
                </a:lnTo>
                <a:lnTo>
                  <a:pt x="730085" y="282806"/>
                </a:lnTo>
                <a:lnTo>
                  <a:pt x="762941" y="259509"/>
                </a:lnTo>
                <a:lnTo>
                  <a:pt x="802749" y="206640"/>
                </a:lnTo>
                <a:lnTo>
                  <a:pt x="808037" y="177800"/>
                </a:lnTo>
                <a:lnTo>
                  <a:pt x="802749" y="148959"/>
                </a:lnTo>
                <a:lnTo>
                  <a:pt x="762941" y="96090"/>
                </a:lnTo>
                <a:lnTo>
                  <a:pt x="730085" y="72793"/>
                </a:lnTo>
                <a:lnTo>
                  <a:pt x="689703" y="52076"/>
                </a:lnTo>
                <a:lnTo>
                  <a:pt x="642628" y="34305"/>
                </a:lnTo>
                <a:lnTo>
                  <a:pt x="589690" y="19845"/>
                </a:lnTo>
                <a:lnTo>
                  <a:pt x="531722" y="9064"/>
                </a:lnTo>
                <a:lnTo>
                  <a:pt x="469557" y="2327"/>
                </a:lnTo>
                <a:lnTo>
                  <a:pt x="404025" y="0"/>
                </a:lnTo>
                <a:close/>
              </a:path>
            </a:pathLst>
          </a:custGeom>
          <a:solidFill>
            <a:srgbClr val="FFFF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5" name="Google Shape;965;p118"/>
          <p:cNvSpPr/>
          <p:nvPr/>
        </p:nvSpPr>
        <p:spPr>
          <a:xfrm>
            <a:off x="2200244" y="3055952"/>
            <a:ext cx="808355" cy="355600"/>
          </a:xfrm>
          <a:custGeom>
            <a:avLst/>
            <a:gdLst/>
            <a:ahLst/>
            <a:cxnLst/>
            <a:rect l="l" t="t" r="r" b="b"/>
            <a:pathLst>
              <a:path w="808355" h="355600" extrusionOk="0">
                <a:moveTo>
                  <a:pt x="0" y="177800"/>
                </a:moveTo>
                <a:lnTo>
                  <a:pt x="20597" y="121601"/>
                </a:lnTo>
                <a:lnTo>
                  <a:pt x="77952" y="72793"/>
                </a:lnTo>
                <a:lnTo>
                  <a:pt x="118335" y="52076"/>
                </a:lnTo>
                <a:lnTo>
                  <a:pt x="165412" y="34305"/>
                </a:lnTo>
                <a:lnTo>
                  <a:pt x="218351" y="19845"/>
                </a:lnTo>
                <a:lnTo>
                  <a:pt x="276321" y="9064"/>
                </a:lnTo>
                <a:lnTo>
                  <a:pt x="338489" y="2327"/>
                </a:lnTo>
                <a:lnTo>
                  <a:pt x="404025" y="0"/>
                </a:lnTo>
                <a:lnTo>
                  <a:pt x="469557" y="2327"/>
                </a:lnTo>
                <a:lnTo>
                  <a:pt x="531722" y="9064"/>
                </a:lnTo>
                <a:lnTo>
                  <a:pt x="589690" y="19845"/>
                </a:lnTo>
                <a:lnTo>
                  <a:pt x="642628" y="34305"/>
                </a:lnTo>
                <a:lnTo>
                  <a:pt x="689703" y="52076"/>
                </a:lnTo>
                <a:lnTo>
                  <a:pt x="730085" y="72793"/>
                </a:lnTo>
                <a:lnTo>
                  <a:pt x="762941" y="96090"/>
                </a:lnTo>
                <a:lnTo>
                  <a:pt x="802749" y="148959"/>
                </a:lnTo>
                <a:lnTo>
                  <a:pt x="808037" y="177800"/>
                </a:lnTo>
                <a:lnTo>
                  <a:pt x="802749" y="206640"/>
                </a:lnTo>
                <a:lnTo>
                  <a:pt x="787440" y="233998"/>
                </a:lnTo>
                <a:lnTo>
                  <a:pt x="730085" y="282806"/>
                </a:lnTo>
                <a:lnTo>
                  <a:pt x="689703" y="303523"/>
                </a:lnTo>
                <a:lnTo>
                  <a:pt x="642628" y="321294"/>
                </a:lnTo>
                <a:lnTo>
                  <a:pt x="589690" y="335754"/>
                </a:lnTo>
                <a:lnTo>
                  <a:pt x="531722" y="346535"/>
                </a:lnTo>
                <a:lnTo>
                  <a:pt x="469557" y="353272"/>
                </a:lnTo>
                <a:lnTo>
                  <a:pt x="404025" y="355600"/>
                </a:lnTo>
                <a:lnTo>
                  <a:pt x="338489" y="353272"/>
                </a:lnTo>
                <a:lnTo>
                  <a:pt x="276321" y="346535"/>
                </a:lnTo>
                <a:lnTo>
                  <a:pt x="218351" y="335754"/>
                </a:lnTo>
                <a:lnTo>
                  <a:pt x="165412" y="321294"/>
                </a:lnTo>
                <a:lnTo>
                  <a:pt x="118335" y="303523"/>
                </a:lnTo>
                <a:lnTo>
                  <a:pt x="77952" y="282806"/>
                </a:lnTo>
                <a:lnTo>
                  <a:pt x="45096" y="259509"/>
                </a:lnTo>
                <a:lnTo>
                  <a:pt x="5287" y="206640"/>
                </a:lnTo>
                <a:lnTo>
                  <a:pt x="0" y="1778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6" name="Google Shape;966;p118"/>
          <p:cNvSpPr txBox="1"/>
          <p:nvPr/>
        </p:nvSpPr>
        <p:spPr>
          <a:xfrm>
            <a:off x="1665268" y="3084659"/>
            <a:ext cx="1236980" cy="269240"/>
          </a:xfrm>
          <a:prstGeom prst="rect">
            <a:avLst/>
          </a:prstGeom>
          <a:noFill/>
          <a:ln>
            <a:noFill/>
          </a:ln>
        </p:spPr>
        <p:txBody>
          <a:bodyPr spcFirstLastPara="1" wrap="square" lIns="0" tIns="12050" rIns="0" bIns="0" anchor="t" anchorCtr="0">
            <a:spAutoFit/>
          </a:bodyPr>
          <a:lstStyle/>
          <a:p>
            <a:pPr marL="12700" marR="0" lvl="0" indent="0" algn="l" rtl="0">
              <a:lnSpc>
                <a:spcPct val="100000"/>
              </a:lnSpc>
              <a:spcBef>
                <a:spcPts val="0"/>
              </a:spcBef>
              <a:spcAft>
                <a:spcPts val="0"/>
              </a:spcAft>
              <a:buClr>
                <a:srgbClr val="000000"/>
              </a:buClr>
              <a:buSzPts val="1600"/>
              <a:buFont typeface="Arial"/>
              <a:buNone/>
            </a:pPr>
            <a:r>
              <a:rPr lang="fr-FR" sz="1600" b="1" i="0" u="none" strike="noStrike" cap="none">
                <a:solidFill>
                  <a:srgbClr val="003366"/>
                </a:solidFill>
                <a:latin typeface="Times New Roman"/>
                <a:ea typeface="Times New Roman"/>
                <a:cs typeface="Times New Roman"/>
                <a:sym typeface="Times New Roman"/>
              </a:rPr>
              <a:t> 	CPU1</a:t>
            </a:r>
            <a:endParaRPr sz="1600" b="0" i="0" u="none" strike="noStrike" cap="none">
              <a:solidFill>
                <a:srgbClr val="000000"/>
              </a:solidFill>
              <a:latin typeface="Times New Roman"/>
              <a:ea typeface="Times New Roman"/>
              <a:cs typeface="Times New Roman"/>
              <a:sym typeface="Times New Roman"/>
            </a:endParaRPr>
          </a:p>
        </p:txBody>
      </p:sp>
      <p:sp>
        <p:nvSpPr>
          <p:cNvPr id="967" name="Google Shape;967;p118"/>
          <p:cNvSpPr/>
          <p:nvPr/>
        </p:nvSpPr>
        <p:spPr>
          <a:xfrm>
            <a:off x="3876649" y="3487750"/>
            <a:ext cx="1797050" cy="650875"/>
          </a:xfrm>
          <a:custGeom>
            <a:avLst/>
            <a:gdLst/>
            <a:ahLst/>
            <a:cxnLst/>
            <a:rect l="l" t="t" r="r" b="b"/>
            <a:pathLst>
              <a:path w="1797050" h="650875" extrusionOk="0">
                <a:moveTo>
                  <a:pt x="0" y="0"/>
                </a:moveTo>
                <a:lnTo>
                  <a:pt x="1797050" y="0"/>
                </a:lnTo>
                <a:lnTo>
                  <a:pt x="1797050" y="650875"/>
                </a:lnTo>
                <a:lnTo>
                  <a:pt x="0" y="650875"/>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68" name="Google Shape;968;p118"/>
          <p:cNvSpPr txBox="1"/>
          <p:nvPr/>
        </p:nvSpPr>
        <p:spPr>
          <a:xfrm>
            <a:off x="3956908" y="3505531"/>
            <a:ext cx="101981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Calibri"/>
                <a:ea typeface="Calibri"/>
                <a:cs typeface="Calibri"/>
                <a:sym typeface="Calibri"/>
              </a:rPr>
              <a:t>Dispatcher</a:t>
            </a:r>
            <a:endParaRPr sz="1800" b="0" i="0" u="none" strike="noStrike" cap="none">
              <a:solidFill>
                <a:srgbClr val="000000"/>
              </a:solidFill>
              <a:latin typeface="Calibri"/>
              <a:ea typeface="Calibri"/>
              <a:cs typeface="Calibri"/>
              <a:sym typeface="Calibri"/>
            </a:endParaRPr>
          </a:p>
        </p:txBody>
      </p:sp>
      <p:sp>
        <p:nvSpPr>
          <p:cNvPr id="969" name="Google Shape;969;p118"/>
          <p:cNvSpPr txBox="1"/>
          <p:nvPr/>
        </p:nvSpPr>
        <p:spPr>
          <a:xfrm>
            <a:off x="3956908" y="3779851"/>
            <a:ext cx="117856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Calibri"/>
                <a:ea typeface="Calibri"/>
                <a:cs typeface="Calibri"/>
                <a:sym typeface="Calibri"/>
              </a:rPr>
              <a:t>(répartiteur)</a:t>
            </a:r>
            <a:endParaRPr sz="1800" b="0" i="0" u="none" strike="noStrike" cap="none">
              <a:solidFill>
                <a:srgbClr val="000000"/>
              </a:solidFill>
              <a:latin typeface="Calibri"/>
              <a:ea typeface="Calibri"/>
              <a:cs typeface="Calibri"/>
              <a:sym typeface="Calibri"/>
            </a:endParaRPr>
          </a:p>
        </p:txBody>
      </p:sp>
      <p:sp>
        <p:nvSpPr>
          <p:cNvPr id="970" name="Google Shape;970;p118"/>
          <p:cNvSpPr/>
          <p:nvPr/>
        </p:nvSpPr>
        <p:spPr>
          <a:xfrm>
            <a:off x="2990491" y="3269300"/>
            <a:ext cx="815340" cy="544195"/>
          </a:xfrm>
          <a:custGeom>
            <a:avLst/>
            <a:gdLst/>
            <a:ahLst/>
            <a:cxnLst/>
            <a:rect l="l" t="t" r="r" b="b"/>
            <a:pathLst>
              <a:path w="815339" h="544195" extrusionOk="0">
                <a:moveTo>
                  <a:pt x="814997" y="544017"/>
                </a:moveTo>
                <a:lnTo>
                  <a:pt x="0" y="0"/>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1" name="Google Shape;971;p118"/>
          <p:cNvSpPr/>
          <p:nvPr/>
        </p:nvSpPr>
        <p:spPr>
          <a:xfrm>
            <a:off x="2937673" y="3234047"/>
            <a:ext cx="85090" cy="74295"/>
          </a:xfrm>
          <a:custGeom>
            <a:avLst/>
            <a:gdLst/>
            <a:ahLst/>
            <a:cxnLst/>
            <a:rect l="l" t="t" r="r" b="b"/>
            <a:pathLst>
              <a:path w="85089" h="74295" extrusionOk="0">
                <a:moveTo>
                  <a:pt x="0" y="0"/>
                </a:moveTo>
                <a:lnTo>
                  <a:pt x="42227" y="73990"/>
                </a:lnTo>
                <a:lnTo>
                  <a:pt x="84531" y="10604"/>
                </a:lnTo>
                <a:lnTo>
                  <a:pt x="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2" name="Google Shape;972;p118"/>
          <p:cNvSpPr/>
          <p:nvPr/>
        </p:nvSpPr>
        <p:spPr>
          <a:xfrm>
            <a:off x="2993933" y="3813317"/>
            <a:ext cx="812165" cy="54610"/>
          </a:xfrm>
          <a:custGeom>
            <a:avLst/>
            <a:gdLst/>
            <a:ahLst/>
            <a:cxnLst/>
            <a:rect l="l" t="t" r="r" b="b"/>
            <a:pathLst>
              <a:path w="812164" h="54610" extrusionOk="0">
                <a:moveTo>
                  <a:pt x="811555" y="0"/>
                </a:moveTo>
                <a:lnTo>
                  <a:pt x="0" y="54076"/>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3" name="Google Shape;973;p118"/>
          <p:cNvSpPr/>
          <p:nvPr/>
        </p:nvSpPr>
        <p:spPr>
          <a:xfrm>
            <a:off x="2930577" y="3828520"/>
            <a:ext cx="78740" cy="76200"/>
          </a:xfrm>
          <a:custGeom>
            <a:avLst/>
            <a:gdLst/>
            <a:ahLst/>
            <a:cxnLst/>
            <a:rect l="l" t="t" r="r" b="b"/>
            <a:pathLst>
              <a:path w="78739" h="76200" extrusionOk="0">
                <a:moveTo>
                  <a:pt x="73494" y="0"/>
                </a:moveTo>
                <a:lnTo>
                  <a:pt x="0" y="43091"/>
                </a:lnTo>
                <a:lnTo>
                  <a:pt x="78562" y="76034"/>
                </a:lnTo>
                <a:lnTo>
                  <a:pt x="7349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4" name="Google Shape;974;p118"/>
          <p:cNvSpPr/>
          <p:nvPr/>
        </p:nvSpPr>
        <p:spPr>
          <a:xfrm>
            <a:off x="2979531" y="3813317"/>
            <a:ext cx="826135" cy="682625"/>
          </a:xfrm>
          <a:custGeom>
            <a:avLst/>
            <a:gdLst/>
            <a:ahLst/>
            <a:cxnLst/>
            <a:rect l="l" t="t" r="r" b="b"/>
            <a:pathLst>
              <a:path w="826135" h="682625" extrusionOk="0">
                <a:moveTo>
                  <a:pt x="825957" y="0"/>
                </a:moveTo>
                <a:lnTo>
                  <a:pt x="0" y="682142"/>
                </a:lnTo>
              </a:path>
            </a:pathLst>
          </a:custGeom>
          <a:noFill/>
          <a:ln w="127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5" name="Google Shape;975;p118"/>
          <p:cNvSpPr/>
          <p:nvPr/>
        </p:nvSpPr>
        <p:spPr>
          <a:xfrm>
            <a:off x="2930568" y="4457989"/>
            <a:ext cx="83185" cy="78105"/>
          </a:xfrm>
          <a:custGeom>
            <a:avLst/>
            <a:gdLst/>
            <a:ahLst/>
            <a:cxnLst/>
            <a:rect l="l" t="t" r="r" b="b"/>
            <a:pathLst>
              <a:path w="83185" h="78104" extrusionOk="0">
                <a:moveTo>
                  <a:pt x="34493" y="0"/>
                </a:moveTo>
                <a:lnTo>
                  <a:pt x="0" y="77901"/>
                </a:lnTo>
                <a:lnTo>
                  <a:pt x="83019" y="58750"/>
                </a:lnTo>
                <a:lnTo>
                  <a:pt x="3449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6" name="Google Shape;976;p118"/>
          <p:cNvSpPr/>
          <p:nvPr/>
        </p:nvSpPr>
        <p:spPr>
          <a:xfrm>
            <a:off x="6486499" y="3810688"/>
            <a:ext cx="434975" cy="0"/>
          </a:xfrm>
          <a:custGeom>
            <a:avLst/>
            <a:gdLst/>
            <a:ahLst/>
            <a:cxnLst/>
            <a:rect l="l" t="t" r="r" b="b"/>
            <a:pathLst>
              <a:path w="434975" h="120000" extrusionOk="0">
                <a:moveTo>
                  <a:pt x="0" y="0"/>
                </a:moveTo>
                <a:lnTo>
                  <a:pt x="434969" y="0"/>
                </a:lnTo>
              </a:path>
            </a:pathLst>
          </a:custGeom>
          <a:noFill/>
          <a:ln w="172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7" name="Google Shape;977;p118"/>
          <p:cNvSpPr/>
          <p:nvPr/>
        </p:nvSpPr>
        <p:spPr>
          <a:xfrm>
            <a:off x="5730844" y="3810688"/>
            <a:ext cx="206375" cy="0"/>
          </a:xfrm>
          <a:custGeom>
            <a:avLst/>
            <a:gdLst/>
            <a:ahLst/>
            <a:cxnLst/>
            <a:rect l="l" t="t" r="r" b="b"/>
            <a:pathLst>
              <a:path w="206375" h="120000" extrusionOk="0">
                <a:moveTo>
                  <a:pt x="0" y="0"/>
                </a:moveTo>
                <a:lnTo>
                  <a:pt x="206380" y="0"/>
                </a:lnTo>
              </a:path>
            </a:pathLst>
          </a:custGeom>
          <a:noFill/>
          <a:ln w="172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8" name="Google Shape;978;p118"/>
          <p:cNvSpPr/>
          <p:nvPr/>
        </p:nvSpPr>
        <p:spPr>
          <a:xfrm>
            <a:off x="5673689" y="3774793"/>
            <a:ext cx="76835" cy="76200"/>
          </a:xfrm>
          <a:custGeom>
            <a:avLst/>
            <a:gdLst/>
            <a:ahLst/>
            <a:cxnLst/>
            <a:rect l="l" t="t" r="r" b="b"/>
            <a:pathLst>
              <a:path w="76835" h="76200" extrusionOk="0">
                <a:moveTo>
                  <a:pt x="76060" y="0"/>
                </a:moveTo>
                <a:lnTo>
                  <a:pt x="0" y="38392"/>
                </a:lnTo>
                <a:lnTo>
                  <a:pt x="76352" y="76200"/>
                </a:lnTo>
                <a:lnTo>
                  <a:pt x="76060"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79" name="Google Shape;979;p118"/>
          <p:cNvSpPr/>
          <p:nvPr/>
        </p:nvSpPr>
        <p:spPr>
          <a:xfrm>
            <a:off x="5524469" y="3808427"/>
            <a:ext cx="3239135" cy="1214755"/>
          </a:xfrm>
          <a:custGeom>
            <a:avLst/>
            <a:gdLst/>
            <a:ahLst/>
            <a:cxnLst/>
            <a:rect l="l" t="t" r="r" b="b"/>
            <a:pathLst>
              <a:path w="3239134" h="1214754" extrusionOk="0">
                <a:moveTo>
                  <a:pt x="3081337" y="0"/>
                </a:moveTo>
                <a:lnTo>
                  <a:pt x="3238563" y="0"/>
                </a:lnTo>
                <a:lnTo>
                  <a:pt x="3238563" y="1214437"/>
                </a:lnTo>
                <a:lnTo>
                  <a:pt x="0" y="1214437"/>
                </a:lnTo>
              </a:path>
            </a:pathLst>
          </a:custGeom>
          <a:noFill/>
          <a:ln w="28550" cap="flat" cmpd="sng">
            <a:solidFill>
              <a:srgbClr val="0000FF"/>
            </a:solidFill>
            <a:prstDash val="lgDashDot"/>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0" name="Google Shape;980;p118"/>
          <p:cNvSpPr/>
          <p:nvPr/>
        </p:nvSpPr>
        <p:spPr>
          <a:xfrm>
            <a:off x="8534370" y="3765560"/>
            <a:ext cx="85725" cy="85725"/>
          </a:xfrm>
          <a:custGeom>
            <a:avLst/>
            <a:gdLst/>
            <a:ahLst/>
            <a:cxnLst/>
            <a:rect l="l" t="t" r="r" b="b"/>
            <a:pathLst>
              <a:path w="85725" h="85725" extrusionOk="0">
                <a:moveTo>
                  <a:pt x="85725" y="0"/>
                </a:moveTo>
                <a:lnTo>
                  <a:pt x="0" y="42862"/>
                </a:lnTo>
                <a:lnTo>
                  <a:pt x="85725" y="85724"/>
                </a:lnTo>
                <a:lnTo>
                  <a:pt x="85725"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1" name="Google Shape;981;p118"/>
          <p:cNvSpPr/>
          <p:nvPr/>
        </p:nvSpPr>
        <p:spPr>
          <a:xfrm>
            <a:off x="1885301" y="3286197"/>
            <a:ext cx="76835" cy="76200"/>
          </a:xfrm>
          <a:custGeom>
            <a:avLst/>
            <a:gdLst/>
            <a:ahLst/>
            <a:cxnLst/>
            <a:rect l="l" t="t" r="r" b="b"/>
            <a:pathLst>
              <a:path w="76835" h="76200" extrusionOk="0">
                <a:moveTo>
                  <a:pt x="75552" y="0"/>
                </a:moveTo>
                <a:lnTo>
                  <a:pt x="0" y="39357"/>
                </a:lnTo>
                <a:lnTo>
                  <a:pt x="76822" y="76187"/>
                </a:lnTo>
                <a:lnTo>
                  <a:pt x="75552"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2" name="Google Shape;982;p118"/>
          <p:cNvSpPr/>
          <p:nvPr/>
        </p:nvSpPr>
        <p:spPr>
          <a:xfrm>
            <a:off x="1889137" y="3928987"/>
            <a:ext cx="78105" cy="76200"/>
          </a:xfrm>
          <a:custGeom>
            <a:avLst/>
            <a:gdLst/>
            <a:ahLst/>
            <a:cxnLst/>
            <a:rect l="l" t="t" r="r" b="b"/>
            <a:pathLst>
              <a:path w="78105" h="76200" extrusionOk="0">
                <a:moveTo>
                  <a:pt x="74764" y="0"/>
                </a:moveTo>
                <a:lnTo>
                  <a:pt x="0" y="40843"/>
                </a:lnTo>
                <a:lnTo>
                  <a:pt x="77533" y="76149"/>
                </a:lnTo>
                <a:lnTo>
                  <a:pt x="74764"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3" name="Google Shape;983;p118"/>
          <p:cNvSpPr/>
          <p:nvPr/>
        </p:nvSpPr>
        <p:spPr>
          <a:xfrm>
            <a:off x="1882738" y="4591244"/>
            <a:ext cx="78105" cy="76200"/>
          </a:xfrm>
          <a:custGeom>
            <a:avLst/>
            <a:gdLst/>
            <a:ahLst/>
            <a:cxnLst/>
            <a:rect l="l" t="t" r="r" b="b"/>
            <a:pathLst>
              <a:path w="78105" h="76200" extrusionOk="0">
                <a:moveTo>
                  <a:pt x="74625" y="0"/>
                </a:moveTo>
                <a:lnTo>
                  <a:pt x="0" y="41097"/>
                </a:lnTo>
                <a:lnTo>
                  <a:pt x="77660" y="76136"/>
                </a:lnTo>
                <a:lnTo>
                  <a:pt x="7462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4" name="Google Shape;984;p118"/>
          <p:cNvSpPr/>
          <p:nvPr/>
        </p:nvSpPr>
        <p:spPr>
          <a:xfrm>
            <a:off x="1592226" y="2995627"/>
            <a:ext cx="8255" cy="2041525"/>
          </a:xfrm>
          <a:custGeom>
            <a:avLst/>
            <a:gdLst/>
            <a:ahLst/>
            <a:cxnLst/>
            <a:rect l="l" t="t" r="r" b="b"/>
            <a:pathLst>
              <a:path w="8255" h="2041525" extrusionOk="0">
                <a:moveTo>
                  <a:pt x="3968" y="-14287"/>
                </a:moveTo>
                <a:lnTo>
                  <a:pt x="3968" y="2055812"/>
                </a:lnTo>
              </a:path>
            </a:pathLst>
          </a:custGeom>
          <a:noFill/>
          <a:ln w="36500" cap="flat" cmpd="sng">
            <a:solidFill>
              <a:srgbClr val="FF0000"/>
            </a:solidFill>
            <a:prstDash val="dot"/>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5" name="Google Shape;985;p118"/>
          <p:cNvSpPr txBox="1"/>
          <p:nvPr/>
        </p:nvSpPr>
        <p:spPr>
          <a:xfrm>
            <a:off x="2030387" y="5132400"/>
            <a:ext cx="1986280" cy="244475"/>
          </a:xfrm>
          <a:prstGeom prst="rect">
            <a:avLst/>
          </a:prstGeom>
          <a:solidFill>
            <a:srgbClr val="DEDEDE"/>
          </a:solidFill>
          <a:ln>
            <a:noFill/>
          </a:ln>
        </p:spPr>
        <p:txBody>
          <a:bodyPr spcFirstLastPara="1" wrap="square" lIns="0" tIns="0" rIns="0" bIns="0" anchor="t" anchorCtr="0">
            <a:spAutoFit/>
          </a:bodyPr>
          <a:lstStyle/>
          <a:p>
            <a:pPr marL="1270" marR="0" lvl="0" indent="0" algn="l" rtl="0">
              <a:lnSpc>
                <a:spcPct val="114374"/>
              </a:lnSpc>
              <a:spcBef>
                <a:spcPts val="0"/>
              </a:spcBef>
              <a:spcAft>
                <a:spcPts val="0"/>
              </a:spcAft>
              <a:buClr>
                <a:srgbClr val="000000"/>
              </a:buClr>
              <a:buSzPts val="1600"/>
              <a:buFont typeface="Arial"/>
              <a:buNone/>
            </a:pPr>
            <a:r>
              <a:rPr lang="fr-FR" sz="1600" b="1" i="0" u="none" strike="noStrike" cap="none">
                <a:solidFill>
                  <a:srgbClr val="003366"/>
                </a:solidFill>
                <a:latin typeface="Times New Roman"/>
                <a:ea typeface="Times New Roman"/>
                <a:cs typeface="Times New Roman"/>
                <a:sym typeface="Times New Roman"/>
              </a:rPr>
              <a:t>Blocage</a:t>
            </a:r>
            <a:endParaRPr sz="1600" b="0" i="0" u="none" strike="noStrike" cap="none">
              <a:solidFill>
                <a:srgbClr val="000000"/>
              </a:solidFill>
              <a:latin typeface="Times New Roman"/>
              <a:ea typeface="Times New Roman"/>
              <a:cs typeface="Times New Roman"/>
              <a:sym typeface="Times New Roman"/>
            </a:endParaRPr>
          </a:p>
        </p:txBody>
      </p:sp>
      <p:sp>
        <p:nvSpPr>
          <p:cNvPr id="986" name="Google Shape;986;p118"/>
          <p:cNvSpPr txBox="1"/>
          <p:nvPr/>
        </p:nvSpPr>
        <p:spPr>
          <a:xfrm>
            <a:off x="5926111" y="5116525"/>
            <a:ext cx="1987550" cy="274955"/>
          </a:xfrm>
          <a:prstGeom prst="rect">
            <a:avLst/>
          </a:prstGeom>
          <a:solidFill>
            <a:srgbClr val="DEDEDE"/>
          </a:solidFill>
          <a:ln>
            <a:noFill/>
          </a:ln>
        </p:spPr>
        <p:txBody>
          <a:bodyPr spcFirstLastPara="1" wrap="square" lIns="0" tIns="0" rIns="0" bIns="0" anchor="t" anchorCtr="0">
            <a:spAutoFit/>
          </a:bodyPr>
          <a:lstStyle/>
          <a:p>
            <a:pPr marL="1270" marR="0" lvl="0" indent="0" algn="l" rtl="0">
              <a:lnSpc>
                <a:spcPct val="113277"/>
              </a:lnSpc>
              <a:spcBef>
                <a:spcPts val="0"/>
              </a:spcBef>
              <a:spcAft>
                <a:spcPts val="0"/>
              </a:spcAft>
              <a:buClr>
                <a:srgbClr val="000000"/>
              </a:buClr>
              <a:buSzPts val="1800"/>
              <a:buFont typeface="Arial"/>
              <a:buNone/>
            </a:pPr>
            <a:r>
              <a:rPr lang="fr-FR" sz="1800" b="1" i="0" u="none" strike="noStrike" cap="none">
                <a:solidFill>
                  <a:srgbClr val="003366"/>
                </a:solidFill>
                <a:latin typeface="Calibri"/>
                <a:ea typeface="Calibri"/>
                <a:cs typeface="Calibri"/>
                <a:sym typeface="Calibri"/>
              </a:rPr>
              <a:t>Réveil</a:t>
            </a:r>
            <a:endParaRPr sz="1800" b="0" i="0" u="none" strike="noStrike" cap="none">
              <a:solidFill>
                <a:srgbClr val="000000"/>
              </a:solidFill>
              <a:latin typeface="Calibri"/>
              <a:ea typeface="Calibri"/>
              <a:cs typeface="Calibri"/>
              <a:sym typeface="Calibri"/>
            </a:endParaRPr>
          </a:p>
        </p:txBody>
      </p:sp>
      <p:sp>
        <p:nvSpPr>
          <p:cNvPr id="987" name="Google Shape;987;p118"/>
          <p:cNvSpPr txBox="1"/>
          <p:nvPr/>
        </p:nvSpPr>
        <p:spPr>
          <a:xfrm>
            <a:off x="3644874" y="2393962"/>
            <a:ext cx="1989455" cy="274955"/>
          </a:xfrm>
          <a:prstGeom prst="rect">
            <a:avLst/>
          </a:prstGeom>
          <a:solidFill>
            <a:srgbClr val="DEDEDE"/>
          </a:solidFill>
          <a:ln>
            <a:noFill/>
          </a:ln>
        </p:spPr>
        <p:txBody>
          <a:bodyPr spcFirstLastPara="1" wrap="square" lIns="0" tIns="0" rIns="0" bIns="0" anchor="t" anchorCtr="0">
            <a:spAutoFit/>
          </a:bodyPr>
          <a:lstStyle/>
          <a:p>
            <a:pPr marL="1270" marR="0" lvl="0" indent="0" algn="l" rtl="0">
              <a:lnSpc>
                <a:spcPct val="113277"/>
              </a:lnSpc>
              <a:spcBef>
                <a:spcPts val="0"/>
              </a:spcBef>
              <a:spcAft>
                <a:spcPts val="0"/>
              </a:spcAft>
              <a:buClr>
                <a:srgbClr val="000000"/>
              </a:buClr>
              <a:buSzPts val="1800"/>
              <a:buFont typeface="Arial"/>
              <a:buNone/>
            </a:pPr>
            <a:r>
              <a:rPr lang="fr-FR" sz="1800" b="1" i="0" u="none" strike="noStrike" cap="none">
                <a:solidFill>
                  <a:srgbClr val="003366"/>
                </a:solidFill>
                <a:latin typeface="Calibri"/>
                <a:ea typeface="Calibri"/>
                <a:cs typeface="Calibri"/>
                <a:sym typeface="Calibri"/>
              </a:rPr>
              <a:t>Preemption</a:t>
            </a:r>
            <a:endParaRPr sz="1800" b="0" i="0" u="none" strike="noStrike" cap="none">
              <a:solidFill>
                <a:srgbClr val="000000"/>
              </a:solidFill>
              <a:latin typeface="Calibri"/>
              <a:ea typeface="Calibri"/>
              <a:cs typeface="Calibri"/>
              <a:sym typeface="Calibri"/>
            </a:endParaRPr>
          </a:p>
        </p:txBody>
      </p:sp>
      <p:sp>
        <p:nvSpPr>
          <p:cNvPr id="988" name="Google Shape;988;p118"/>
          <p:cNvSpPr/>
          <p:nvPr/>
        </p:nvSpPr>
        <p:spPr>
          <a:xfrm>
            <a:off x="3235299" y="3041662"/>
            <a:ext cx="549275" cy="1490980"/>
          </a:xfrm>
          <a:custGeom>
            <a:avLst/>
            <a:gdLst/>
            <a:ahLst/>
            <a:cxnLst/>
            <a:rect l="l" t="t" r="r" b="b"/>
            <a:pathLst>
              <a:path w="549275" h="1490979" extrusionOk="0">
                <a:moveTo>
                  <a:pt x="0" y="0"/>
                </a:moveTo>
                <a:lnTo>
                  <a:pt x="549275" y="0"/>
                </a:lnTo>
                <a:lnTo>
                  <a:pt x="549275" y="1490662"/>
                </a:lnTo>
                <a:lnTo>
                  <a:pt x="0" y="1490662"/>
                </a:lnTo>
                <a:lnTo>
                  <a:pt x="0" y="0"/>
                </a:lnTo>
                <a:close/>
              </a:path>
            </a:pathLst>
          </a:custGeom>
          <a:solidFill>
            <a:srgbClr val="DEDED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89" name="Google Shape;989;p118"/>
          <p:cNvSpPr txBox="1"/>
          <p:nvPr/>
        </p:nvSpPr>
        <p:spPr>
          <a:xfrm rot="-5400000">
            <a:off x="2960466" y="3717894"/>
            <a:ext cx="1105535" cy="546735"/>
          </a:xfrm>
          <a:prstGeom prst="rect">
            <a:avLst/>
          </a:prstGeom>
          <a:noFill/>
          <a:ln>
            <a:noFill/>
          </a:ln>
        </p:spPr>
        <p:txBody>
          <a:bodyPr spcFirstLastPara="1" wrap="square" lIns="0" tIns="1900" rIns="0" bIns="0" anchor="t" anchorCtr="0">
            <a:spAutoFit/>
          </a:bodyPr>
          <a:lstStyle/>
          <a:p>
            <a:pPr marL="12700" marR="5080" lvl="0" indent="0" algn="l" rtl="0">
              <a:lnSpc>
                <a:spcPct val="117222"/>
              </a:lnSpc>
              <a:spcBef>
                <a:spcPts val="0"/>
              </a:spcBef>
              <a:spcAft>
                <a:spcPts val="0"/>
              </a:spcAft>
              <a:buClr>
                <a:srgbClr val="000000"/>
              </a:buClr>
              <a:buSzPts val="1800"/>
              <a:buFont typeface="Arial"/>
              <a:buNone/>
            </a:pPr>
            <a:r>
              <a:rPr lang="fr-FR" sz="1800" b="0" i="0" u="none" strike="noStrike" cap="none">
                <a:solidFill>
                  <a:srgbClr val="003366"/>
                </a:solidFill>
                <a:latin typeface="Times New Roman"/>
                <a:ea typeface="Times New Roman"/>
                <a:cs typeface="Times New Roman"/>
                <a:sym typeface="Times New Roman"/>
              </a:rPr>
              <a:t>Election de  Processeurs</a:t>
            </a:r>
            <a:endParaRPr sz="1800" b="0" i="0" u="none" strike="noStrike" cap="none">
              <a:solidFill>
                <a:srgbClr val="000000"/>
              </a:solidFill>
              <a:latin typeface="Times New Roman"/>
              <a:ea typeface="Times New Roman"/>
              <a:cs typeface="Times New Roman"/>
              <a:sym typeface="Times New Roman"/>
            </a:endParaRPr>
          </a:p>
        </p:txBody>
      </p:sp>
      <p:sp>
        <p:nvSpPr>
          <p:cNvPr id="990" name="Google Shape;990;p118"/>
          <p:cNvSpPr/>
          <p:nvPr/>
        </p:nvSpPr>
        <p:spPr>
          <a:xfrm>
            <a:off x="5937224" y="3187712"/>
            <a:ext cx="549275" cy="1633855"/>
          </a:xfrm>
          <a:custGeom>
            <a:avLst/>
            <a:gdLst/>
            <a:ahLst/>
            <a:cxnLst/>
            <a:rect l="l" t="t" r="r" b="b"/>
            <a:pathLst>
              <a:path w="549275" h="1633854" extrusionOk="0">
                <a:moveTo>
                  <a:pt x="0" y="0"/>
                </a:moveTo>
                <a:lnTo>
                  <a:pt x="549275" y="0"/>
                </a:lnTo>
                <a:lnTo>
                  <a:pt x="549275" y="1633537"/>
                </a:lnTo>
                <a:lnTo>
                  <a:pt x="0" y="1633537"/>
                </a:lnTo>
                <a:lnTo>
                  <a:pt x="0" y="0"/>
                </a:lnTo>
                <a:close/>
              </a:path>
            </a:pathLst>
          </a:custGeom>
          <a:solidFill>
            <a:srgbClr val="DEDED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1" name="Google Shape;991;p118"/>
          <p:cNvSpPr txBox="1"/>
          <p:nvPr/>
        </p:nvSpPr>
        <p:spPr>
          <a:xfrm rot="-5400000">
            <a:off x="5753741" y="4097444"/>
            <a:ext cx="946150" cy="523875"/>
          </a:xfrm>
          <a:prstGeom prst="rect">
            <a:avLst/>
          </a:prstGeom>
          <a:noFill/>
          <a:ln>
            <a:noFill/>
          </a:ln>
        </p:spPr>
        <p:txBody>
          <a:bodyPr spcFirstLastPara="1" wrap="square" lIns="0" tIns="0" rIns="0" bIns="0" anchor="t" anchorCtr="0">
            <a:spAutoFit/>
          </a:bodyPr>
          <a:lstStyle/>
          <a:p>
            <a:pPr marL="12700" marR="0" lvl="0" indent="0" algn="l" rtl="0">
              <a:lnSpc>
                <a:spcPct val="114937"/>
              </a:lnSpc>
              <a:spcBef>
                <a:spcPts val="0"/>
              </a:spcBef>
              <a:spcAft>
                <a:spcPts val="0"/>
              </a:spcAft>
              <a:buClr>
                <a:srgbClr val="000000"/>
              </a:buClr>
              <a:buSzPts val="1600"/>
              <a:buFont typeface="Arial"/>
              <a:buNone/>
            </a:pPr>
            <a:r>
              <a:rPr lang="fr-FR" sz="1600" b="0" i="0" u="none" strike="noStrike" cap="none">
                <a:solidFill>
                  <a:srgbClr val="003366"/>
                </a:solidFill>
                <a:latin typeface="Times New Roman"/>
                <a:ea typeface="Times New Roman"/>
                <a:cs typeface="Times New Roman"/>
                <a:sym typeface="Times New Roman"/>
              </a:rPr>
              <a:t>Election de</a:t>
            </a:r>
            <a:endParaRPr sz="1600" b="0" i="0" u="none" strike="noStrike" cap="none">
              <a:solidFill>
                <a:srgbClr val="000000"/>
              </a:solidFill>
              <a:latin typeface="Times New Roman"/>
              <a:ea typeface="Times New Roman"/>
              <a:cs typeface="Times New Roman"/>
              <a:sym typeface="Times New Roman"/>
            </a:endParaRPr>
          </a:p>
          <a:p>
            <a:pPr marL="12700" marR="0" lvl="0" indent="0" algn="l" rtl="0">
              <a:lnSpc>
                <a:spcPct val="119722"/>
              </a:lnSpc>
              <a:spcBef>
                <a:spcPts val="0"/>
              </a:spcBef>
              <a:spcAft>
                <a:spcPts val="0"/>
              </a:spcAft>
              <a:buClr>
                <a:srgbClr val="000000"/>
              </a:buClr>
              <a:buSzPts val="1800"/>
              <a:buFont typeface="Arial"/>
              <a:buNone/>
            </a:pPr>
            <a:r>
              <a:rPr lang="fr-FR" sz="1800" b="0" i="0" u="none" strike="noStrike" cap="none">
                <a:solidFill>
                  <a:srgbClr val="003366"/>
                </a:solidFill>
                <a:latin typeface="Times New Roman"/>
                <a:ea typeface="Times New Roman"/>
                <a:cs typeface="Times New Roman"/>
                <a:sym typeface="Times New Roman"/>
              </a:rPr>
              <a:t>processus</a:t>
            </a:r>
            <a:endParaRPr sz="1800" b="0" i="0" u="none" strike="noStrike" cap="none">
              <a:solidFill>
                <a:srgbClr val="000000"/>
              </a:solidFill>
              <a:latin typeface="Times New Roman"/>
              <a:ea typeface="Times New Roman"/>
              <a:cs typeface="Times New Roman"/>
              <a:sym typeface="Times New Roman"/>
            </a:endParaRPr>
          </a:p>
        </p:txBody>
      </p:sp>
      <p:sp>
        <p:nvSpPr>
          <p:cNvPr id="992" name="Google Shape;992;p118"/>
          <p:cNvSpPr/>
          <p:nvPr/>
        </p:nvSpPr>
        <p:spPr>
          <a:xfrm>
            <a:off x="1425544" y="3056028"/>
            <a:ext cx="1320800" cy="1905"/>
          </a:xfrm>
          <a:custGeom>
            <a:avLst/>
            <a:gdLst/>
            <a:ahLst/>
            <a:cxnLst/>
            <a:rect l="l" t="t" r="r" b="b"/>
            <a:pathLst>
              <a:path w="1320800" h="1905" extrusionOk="0">
                <a:moveTo>
                  <a:pt x="1320800" y="1511"/>
                </a:moveTo>
                <a:lnTo>
                  <a:pt x="0" y="0"/>
                </a:lnTo>
              </a:path>
            </a:pathLst>
          </a:custGeom>
          <a:noFill/>
          <a:ln w="19050" cap="flat" cmpd="sng">
            <a:solidFill>
              <a:srgbClr val="0000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3" name="Google Shape;993;p118"/>
          <p:cNvSpPr/>
          <p:nvPr/>
        </p:nvSpPr>
        <p:spPr>
          <a:xfrm>
            <a:off x="1362040" y="3017936"/>
            <a:ext cx="76835" cy="76200"/>
          </a:xfrm>
          <a:custGeom>
            <a:avLst/>
            <a:gdLst/>
            <a:ahLst/>
            <a:cxnLst/>
            <a:rect l="l" t="t" r="r" b="b"/>
            <a:pathLst>
              <a:path w="76834" h="76200" extrusionOk="0">
                <a:moveTo>
                  <a:pt x="76250" y="0"/>
                </a:moveTo>
                <a:lnTo>
                  <a:pt x="0" y="38011"/>
                </a:lnTo>
                <a:lnTo>
                  <a:pt x="76161" y="76200"/>
                </a:lnTo>
                <a:lnTo>
                  <a:pt x="76250"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4" name="Google Shape;994;p118"/>
          <p:cNvSpPr/>
          <p:nvPr/>
        </p:nvSpPr>
        <p:spPr>
          <a:xfrm>
            <a:off x="1425544" y="3711590"/>
            <a:ext cx="1320800" cy="12700"/>
          </a:xfrm>
          <a:custGeom>
            <a:avLst/>
            <a:gdLst/>
            <a:ahLst/>
            <a:cxnLst/>
            <a:rect l="l" t="t" r="r" b="b"/>
            <a:pathLst>
              <a:path w="1320800" h="12700" extrusionOk="0">
                <a:moveTo>
                  <a:pt x="1320800" y="0"/>
                </a:moveTo>
                <a:lnTo>
                  <a:pt x="0" y="12115"/>
                </a:lnTo>
              </a:path>
            </a:pathLst>
          </a:custGeom>
          <a:noFill/>
          <a:ln w="19050" cap="flat" cmpd="sng">
            <a:solidFill>
              <a:srgbClr val="0000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5" name="Google Shape;995;p118"/>
          <p:cNvSpPr/>
          <p:nvPr/>
        </p:nvSpPr>
        <p:spPr>
          <a:xfrm>
            <a:off x="1362049" y="3685485"/>
            <a:ext cx="76835" cy="76200"/>
          </a:xfrm>
          <a:custGeom>
            <a:avLst/>
            <a:gdLst/>
            <a:ahLst/>
            <a:cxnLst/>
            <a:rect l="l" t="t" r="r" b="b"/>
            <a:pathLst>
              <a:path w="76834" h="76200" extrusionOk="0">
                <a:moveTo>
                  <a:pt x="75844" y="0"/>
                </a:moveTo>
                <a:lnTo>
                  <a:pt x="0" y="38798"/>
                </a:lnTo>
                <a:lnTo>
                  <a:pt x="76542" y="76200"/>
                </a:lnTo>
                <a:lnTo>
                  <a:pt x="75844"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6" name="Google Shape;996;p118"/>
          <p:cNvSpPr/>
          <p:nvPr/>
        </p:nvSpPr>
        <p:spPr>
          <a:xfrm>
            <a:off x="1425544" y="4357702"/>
            <a:ext cx="1320800" cy="6350"/>
          </a:xfrm>
          <a:custGeom>
            <a:avLst/>
            <a:gdLst/>
            <a:ahLst/>
            <a:cxnLst/>
            <a:rect l="l" t="t" r="r" b="b"/>
            <a:pathLst>
              <a:path w="1320800" h="6350" extrusionOk="0">
                <a:moveTo>
                  <a:pt x="1320800" y="0"/>
                </a:moveTo>
                <a:lnTo>
                  <a:pt x="0" y="6057"/>
                </a:lnTo>
              </a:path>
            </a:pathLst>
          </a:custGeom>
          <a:noFill/>
          <a:ln w="19050" cap="flat" cmpd="sng">
            <a:solidFill>
              <a:srgbClr val="0000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7" name="Google Shape;997;p118"/>
          <p:cNvSpPr/>
          <p:nvPr/>
        </p:nvSpPr>
        <p:spPr>
          <a:xfrm>
            <a:off x="1362041" y="4325598"/>
            <a:ext cx="76835" cy="76200"/>
          </a:xfrm>
          <a:custGeom>
            <a:avLst/>
            <a:gdLst/>
            <a:ahLst/>
            <a:cxnLst/>
            <a:rect l="l" t="t" r="r" b="b"/>
            <a:pathLst>
              <a:path w="76834" h="76200" extrusionOk="0">
                <a:moveTo>
                  <a:pt x="76022" y="0"/>
                </a:moveTo>
                <a:lnTo>
                  <a:pt x="0" y="38455"/>
                </a:lnTo>
                <a:lnTo>
                  <a:pt x="76377" y="76200"/>
                </a:lnTo>
                <a:lnTo>
                  <a:pt x="76022"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8" name="Google Shape;998;p118"/>
          <p:cNvSpPr/>
          <p:nvPr/>
        </p:nvSpPr>
        <p:spPr>
          <a:xfrm>
            <a:off x="1684318" y="3197363"/>
            <a:ext cx="574675" cy="1270"/>
          </a:xfrm>
          <a:custGeom>
            <a:avLst/>
            <a:gdLst/>
            <a:ahLst/>
            <a:cxnLst/>
            <a:rect l="l" t="t" r="r" b="b"/>
            <a:pathLst>
              <a:path w="574675" h="1269" extrusionOk="0">
                <a:moveTo>
                  <a:pt x="574662" y="1092"/>
                </a:moveTo>
                <a:lnTo>
                  <a:pt x="0" y="0"/>
                </a:lnTo>
              </a:path>
            </a:pathLst>
          </a:custGeom>
          <a:noFill/>
          <a:ln w="12700" cap="flat" cmpd="sng">
            <a:solidFill>
              <a:srgbClr val="FF00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999" name="Google Shape;999;p118"/>
          <p:cNvSpPr/>
          <p:nvPr/>
        </p:nvSpPr>
        <p:spPr>
          <a:xfrm>
            <a:off x="1620818" y="3159281"/>
            <a:ext cx="76835" cy="76200"/>
          </a:xfrm>
          <a:custGeom>
            <a:avLst/>
            <a:gdLst/>
            <a:ahLst/>
            <a:cxnLst/>
            <a:rect l="l" t="t" r="r" b="b"/>
            <a:pathLst>
              <a:path w="76835" h="76200" extrusionOk="0">
                <a:moveTo>
                  <a:pt x="76263" y="0"/>
                </a:moveTo>
                <a:lnTo>
                  <a:pt x="0" y="37960"/>
                </a:lnTo>
                <a:lnTo>
                  <a:pt x="76123" y="76200"/>
                </a:lnTo>
                <a:lnTo>
                  <a:pt x="76263"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0" name="Google Shape;1000;p118"/>
          <p:cNvSpPr/>
          <p:nvPr/>
        </p:nvSpPr>
        <p:spPr>
          <a:xfrm>
            <a:off x="1822674" y="4119769"/>
            <a:ext cx="577850" cy="3810"/>
          </a:xfrm>
          <a:custGeom>
            <a:avLst/>
            <a:gdLst/>
            <a:ahLst/>
            <a:cxnLst/>
            <a:rect l="l" t="t" r="r" b="b"/>
            <a:pathLst>
              <a:path w="577850" h="3810" extrusionOk="0">
                <a:moveTo>
                  <a:pt x="577494" y="0"/>
                </a:moveTo>
                <a:lnTo>
                  <a:pt x="0" y="3289"/>
                </a:lnTo>
              </a:path>
            </a:pathLst>
          </a:custGeom>
          <a:noFill/>
          <a:ln w="12675" cap="flat" cmpd="sng">
            <a:solidFill>
              <a:srgbClr val="FF00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1" name="Google Shape;1001;p118"/>
          <p:cNvSpPr/>
          <p:nvPr/>
        </p:nvSpPr>
        <p:spPr>
          <a:xfrm>
            <a:off x="1759178" y="4084877"/>
            <a:ext cx="76835" cy="76200"/>
          </a:xfrm>
          <a:custGeom>
            <a:avLst/>
            <a:gdLst/>
            <a:ahLst/>
            <a:cxnLst/>
            <a:rect l="l" t="t" r="r" b="b"/>
            <a:pathLst>
              <a:path w="76835" h="76200" extrusionOk="0">
                <a:moveTo>
                  <a:pt x="75984" y="0"/>
                </a:moveTo>
                <a:lnTo>
                  <a:pt x="0" y="38531"/>
                </a:lnTo>
                <a:lnTo>
                  <a:pt x="76415" y="76199"/>
                </a:lnTo>
                <a:lnTo>
                  <a:pt x="75984"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2" name="Google Shape;1002;p118"/>
          <p:cNvSpPr/>
          <p:nvPr/>
        </p:nvSpPr>
        <p:spPr>
          <a:xfrm>
            <a:off x="1815613" y="4780976"/>
            <a:ext cx="584835" cy="2540"/>
          </a:xfrm>
          <a:custGeom>
            <a:avLst/>
            <a:gdLst/>
            <a:ahLst/>
            <a:cxnLst/>
            <a:rect l="l" t="t" r="r" b="b"/>
            <a:pathLst>
              <a:path w="584835" h="2539" extrusionOk="0">
                <a:moveTo>
                  <a:pt x="584555" y="0"/>
                </a:moveTo>
                <a:lnTo>
                  <a:pt x="0" y="2197"/>
                </a:lnTo>
              </a:path>
            </a:pathLst>
          </a:custGeom>
          <a:noFill/>
          <a:ln w="12700" cap="flat" cmpd="sng">
            <a:solidFill>
              <a:srgbClr val="FF00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3" name="Google Shape;1003;p118"/>
          <p:cNvSpPr/>
          <p:nvPr/>
        </p:nvSpPr>
        <p:spPr>
          <a:xfrm>
            <a:off x="1752122" y="4745017"/>
            <a:ext cx="76835" cy="76200"/>
          </a:xfrm>
          <a:custGeom>
            <a:avLst/>
            <a:gdLst/>
            <a:ahLst/>
            <a:cxnLst/>
            <a:rect l="l" t="t" r="r" b="b"/>
            <a:pathLst>
              <a:path w="76835" h="76200" extrusionOk="0">
                <a:moveTo>
                  <a:pt x="76047" y="0"/>
                </a:moveTo>
                <a:lnTo>
                  <a:pt x="0" y="38392"/>
                </a:lnTo>
                <a:lnTo>
                  <a:pt x="76339" y="76200"/>
                </a:lnTo>
                <a:lnTo>
                  <a:pt x="76047" y="0"/>
                </a:lnTo>
                <a:close/>
              </a:path>
            </a:pathLst>
          </a:custGeom>
          <a:solidFill>
            <a:srgbClr val="FF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4" name="Google Shape;1004;p118"/>
          <p:cNvSpPr/>
          <p:nvPr/>
        </p:nvSpPr>
        <p:spPr>
          <a:xfrm>
            <a:off x="4429099" y="4473587"/>
            <a:ext cx="1095375" cy="1098550"/>
          </a:xfrm>
          <a:custGeom>
            <a:avLst/>
            <a:gdLst/>
            <a:ahLst/>
            <a:cxnLst/>
            <a:rect l="l" t="t" r="r" b="b"/>
            <a:pathLst>
              <a:path w="1095375" h="1098550" extrusionOk="0">
                <a:moveTo>
                  <a:pt x="0" y="0"/>
                </a:moveTo>
                <a:lnTo>
                  <a:pt x="1095375" y="0"/>
                </a:lnTo>
                <a:lnTo>
                  <a:pt x="1095375" y="1098550"/>
                </a:lnTo>
                <a:lnTo>
                  <a:pt x="0" y="1098550"/>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5" name="Google Shape;1005;p118"/>
          <p:cNvSpPr/>
          <p:nvPr/>
        </p:nvSpPr>
        <p:spPr>
          <a:xfrm>
            <a:off x="4989486" y="5146687"/>
            <a:ext cx="421005" cy="192405"/>
          </a:xfrm>
          <a:custGeom>
            <a:avLst/>
            <a:gdLst/>
            <a:ahLst/>
            <a:cxnLst/>
            <a:rect l="l" t="t" r="r" b="b"/>
            <a:pathLst>
              <a:path w="421004" h="192404" extrusionOk="0">
                <a:moveTo>
                  <a:pt x="0" y="0"/>
                </a:moveTo>
                <a:lnTo>
                  <a:pt x="420687" y="0"/>
                </a:lnTo>
                <a:lnTo>
                  <a:pt x="420687" y="192087"/>
                </a:lnTo>
                <a:lnTo>
                  <a:pt x="0" y="192087"/>
                </a:lnTo>
                <a:lnTo>
                  <a:pt x="0" y="0"/>
                </a:lnTo>
                <a:close/>
              </a:path>
            </a:pathLst>
          </a:custGeom>
          <a:solidFill>
            <a:srgbClr val="DEDED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6" name="Google Shape;1006;p118"/>
          <p:cNvSpPr/>
          <p:nvPr/>
        </p:nvSpPr>
        <p:spPr>
          <a:xfrm>
            <a:off x="4989486" y="5146687"/>
            <a:ext cx="421005" cy="192405"/>
          </a:xfrm>
          <a:custGeom>
            <a:avLst/>
            <a:gdLst/>
            <a:ahLst/>
            <a:cxnLst/>
            <a:rect l="l" t="t" r="r" b="b"/>
            <a:pathLst>
              <a:path w="421004" h="192404" extrusionOk="0">
                <a:moveTo>
                  <a:pt x="0" y="0"/>
                </a:moveTo>
                <a:lnTo>
                  <a:pt x="420687" y="0"/>
                </a:lnTo>
                <a:lnTo>
                  <a:pt x="420687" y="192087"/>
                </a:lnTo>
                <a:lnTo>
                  <a:pt x="0" y="192087"/>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7" name="Google Shape;1007;p118"/>
          <p:cNvSpPr/>
          <p:nvPr/>
        </p:nvSpPr>
        <p:spPr>
          <a:xfrm>
            <a:off x="4529111" y="5146687"/>
            <a:ext cx="421005" cy="192405"/>
          </a:xfrm>
          <a:custGeom>
            <a:avLst/>
            <a:gdLst/>
            <a:ahLst/>
            <a:cxnLst/>
            <a:rect l="l" t="t" r="r" b="b"/>
            <a:pathLst>
              <a:path w="421004" h="192404" extrusionOk="0">
                <a:moveTo>
                  <a:pt x="0" y="0"/>
                </a:moveTo>
                <a:lnTo>
                  <a:pt x="420687" y="0"/>
                </a:lnTo>
                <a:lnTo>
                  <a:pt x="420687" y="192087"/>
                </a:lnTo>
                <a:lnTo>
                  <a:pt x="0" y="192087"/>
                </a:lnTo>
                <a:lnTo>
                  <a:pt x="0" y="0"/>
                </a:lnTo>
                <a:close/>
              </a:path>
            </a:pathLst>
          </a:custGeom>
          <a:solidFill>
            <a:srgbClr val="DEDEDE"/>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8" name="Google Shape;1008;p118"/>
          <p:cNvSpPr/>
          <p:nvPr/>
        </p:nvSpPr>
        <p:spPr>
          <a:xfrm>
            <a:off x="4529111" y="5146687"/>
            <a:ext cx="421005" cy="192405"/>
          </a:xfrm>
          <a:custGeom>
            <a:avLst/>
            <a:gdLst/>
            <a:ahLst/>
            <a:cxnLst/>
            <a:rect l="l" t="t" r="r" b="b"/>
            <a:pathLst>
              <a:path w="421004" h="192404" extrusionOk="0">
                <a:moveTo>
                  <a:pt x="0" y="0"/>
                </a:moveTo>
                <a:lnTo>
                  <a:pt x="420687" y="0"/>
                </a:lnTo>
                <a:lnTo>
                  <a:pt x="420687" y="192087"/>
                </a:lnTo>
                <a:lnTo>
                  <a:pt x="0" y="192087"/>
                </a:lnTo>
                <a:lnTo>
                  <a:pt x="0" y="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09" name="Google Shape;1009;p118"/>
          <p:cNvSpPr txBox="1"/>
          <p:nvPr/>
        </p:nvSpPr>
        <p:spPr>
          <a:xfrm>
            <a:off x="4429099" y="4473587"/>
            <a:ext cx="1095375" cy="1098550"/>
          </a:xfrm>
          <a:prstGeom prst="rect">
            <a:avLst/>
          </a:prstGeom>
          <a:noFill/>
          <a:ln w="9525" cap="flat" cmpd="sng">
            <a:solidFill>
              <a:srgbClr val="000000"/>
            </a:solidFill>
            <a:prstDash val="solid"/>
            <a:round/>
            <a:headEnd type="none" w="sm" len="sm"/>
            <a:tailEnd type="none" w="sm" len="sm"/>
          </a:ln>
        </p:spPr>
        <p:txBody>
          <a:bodyPr spcFirstLastPara="1" wrap="square" lIns="0" tIns="30475" rIns="0" bIns="0" anchor="t" anchorCtr="0">
            <a:spAutoFit/>
          </a:bodyPr>
          <a:lstStyle/>
          <a:p>
            <a:pPr marL="90805" marR="258445"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3366"/>
                </a:solidFill>
                <a:latin typeface="Calibri"/>
                <a:ea typeface="Calibri"/>
                <a:cs typeface="Calibri"/>
                <a:sym typeface="Calibri"/>
              </a:rPr>
              <a:t>File des  bloques</a:t>
            </a:r>
            <a:endParaRPr sz="1800" b="0" i="0" u="none" strike="noStrike" cap="none">
              <a:solidFill>
                <a:srgbClr val="000000"/>
              </a:solidFill>
              <a:latin typeface="Calibri"/>
              <a:ea typeface="Calibri"/>
              <a:cs typeface="Calibri"/>
              <a:sym typeface="Calibri"/>
            </a:endParaRPr>
          </a:p>
          <a:p>
            <a:pPr marL="100965" marR="0" lvl="0" indent="0" algn="l" rtl="0">
              <a:lnSpc>
                <a:spcPct val="100000"/>
              </a:lnSpc>
              <a:spcBef>
                <a:spcPts val="665"/>
              </a:spcBef>
              <a:spcAft>
                <a:spcPts val="0"/>
              </a:spcAft>
              <a:buClr>
                <a:srgbClr val="000000"/>
              </a:buClr>
              <a:buSzPts val="1200"/>
              <a:buFont typeface="Arial"/>
              <a:buNone/>
            </a:pPr>
            <a:r>
              <a:rPr lang="fr-FR" sz="1200" b="0" i="0" u="none" strike="noStrike" cap="none">
                <a:solidFill>
                  <a:srgbClr val="003366"/>
                </a:solidFill>
                <a:latin typeface="Times New Roman"/>
                <a:ea typeface="Times New Roman"/>
                <a:cs typeface="Times New Roman"/>
                <a:sym typeface="Times New Roman"/>
              </a:rPr>
              <a:t>PCB	PCB</a:t>
            </a:r>
            <a:endParaRPr sz="1200" b="0" i="0" u="none" strike="noStrike" cap="none">
              <a:solidFill>
                <a:srgbClr val="000000"/>
              </a:solidFill>
              <a:latin typeface="Times New Roman"/>
              <a:ea typeface="Times New Roman"/>
              <a:cs typeface="Times New Roman"/>
              <a:sym typeface="Times New Roman"/>
            </a:endParaRPr>
          </a:p>
        </p:txBody>
      </p:sp>
      <p:sp>
        <p:nvSpPr>
          <p:cNvPr id="1010" name="Google Shape;1010;p118"/>
          <p:cNvSpPr/>
          <p:nvPr/>
        </p:nvSpPr>
        <p:spPr>
          <a:xfrm>
            <a:off x="142849" y="3441712"/>
            <a:ext cx="1217930" cy="622300"/>
          </a:xfrm>
          <a:custGeom>
            <a:avLst/>
            <a:gdLst/>
            <a:ahLst/>
            <a:cxnLst/>
            <a:rect l="l" t="t" r="r" b="b"/>
            <a:pathLst>
              <a:path w="1217930" h="622300" extrusionOk="0">
                <a:moveTo>
                  <a:pt x="0" y="0"/>
                </a:moveTo>
                <a:lnTo>
                  <a:pt x="1217612" y="0"/>
                </a:lnTo>
                <a:lnTo>
                  <a:pt x="1217612" y="622300"/>
                </a:lnTo>
                <a:lnTo>
                  <a:pt x="0" y="622300"/>
                </a:lnTo>
                <a:lnTo>
                  <a:pt x="0" y="0"/>
                </a:lnTo>
                <a:close/>
              </a:path>
            </a:pathLst>
          </a:custGeom>
          <a:solidFill>
            <a:srgbClr val="0000FF"/>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11" name="Google Shape;1011;p118"/>
          <p:cNvSpPr txBox="1"/>
          <p:nvPr/>
        </p:nvSpPr>
        <p:spPr>
          <a:xfrm>
            <a:off x="166143" y="3449774"/>
            <a:ext cx="883919" cy="574040"/>
          </a:xfrm>
          <a:prstGeom prst="rect">
            <a:avLst/>
          </a:prstGeom>
          <a:noFill/>
          <a:ln>
            <a:noFill/>
          </a:ln>
        </p:spPr>
        <p:txBody>
          <a:bodyPr spcFirstLastPara="1" wrap="square" lIns="0" tIns="12700" rIns="0" bIns="0" anchor="t" anchorCtr="0">
            <a:spAutoFit/>
          </a:bodyPr>
          <a:lstStyle/>
          <a:p>
            <a:pPr marL="12700" marR="508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FFFFFF"/>
                </a:solidFill>
                <a:latin typeface="Calibri"/>
                <a:ea typeface="Calibri"/>
                <a:cs typeface="Calibri"/>
                <a:sym typeface="Calibri"/>
              </a:rPr>
              <a:t>Sortie du  système</a:t>
            </a:r>
            <a:endParaRPr sz="1800" b="0" i="0" u="none" strike="noStrike" cap="none">
              <a:solidFill>
                <a:srgbClr val="000000"/>
              </a:solidFill>
              <a:latin typeface="Calibri"/>
              <a:ea typeface="Calibri"/>
              <a:cs typeface="Calibri"/>
              <a:sym typeface="Calibri"/>
            </a:endParaRPr>
          </a:p>
        </p:txBody>
      </p:sp>
      <p:sp>
        <p:nvSpPr>
          <p:cNvPr id="1012" name="Google Shape;1012;p118"/>
          <p:cNvSpPr txBox="1">
            <a:spLocks noGrp="1"/>
          </p:cNvSpPr>
          <p:nvPr>
            <p:ph type="ftr" idx="11"/>
          </p:nvPr>
        </p:nvSpPr>
        <p:spPr>
          <a:xfrm>
            <a:off x="3930554" y="6671715"/>
            <a:ext cx="1281429" cy="177800"/>
          </a:xfrm>
          <a:prstGeom prst="rect">
            <a:avLst/>
          </a:prstGeom>
          <a:noFill/>
          <a:ln>
            <a:noFill/>
          </a:ln>
        </p:spPr>
        <p:txBody>
          <a:bodyPr spcFirstLastPara="1" wrap="square" lIns="0" tIns="0" rIns="0" bIns="0" anchor="t" anchorCtr="0">
            <a:spAutoFit/>
          </a:bodyPr>
          <a:lstStyle/>
          <a:p>
            <a:pPr marL="12700" lvl="0" indent="0" algn="l" rtl="0">
              <a:lnSpc>
                <a:spcPct val="103333"/>
              </a:lnSpc>
              <a:spcBef>
                <a:spcPts val="0"/>
              </a:spcBef>
              <a:spcAft>
                <a:spcPts val="0"/>
              </a:spcAft>
              <a:buSzPts val="1400"/>
              <a:buNone/>
            </a:pPr>
            <a:r>
              <a:rPr lang="fr-FR"/>
              <a:t>Nadia Bel Hadj Aissa</a:t>
            </a:r>
            <a:endParaRPr/>
          </a:p>
        </p:txBody>
      </p:sp>
      <p:sp>
        <p:nvSpPr>
          <p:cNvPr id="1013" name="Google Shape;1013;p118"/>
          <p:cNvSpPr txBox="1">
            <a:spLocks noGrp="1"/>
          </p:cNvSpPr>
          <p:nvPr>
            <p:ph type="sldNum" idx="12"/>
          </p:nvPr>
        </p:nvSpPr>
        <p:spPr>
          <a:xfrm>
            <a:off x="8870245" y="667171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35</a:t>
            </a:fld>
            <a:endParaRPr/>
          </a:p>
        </p:txBody>
      </p:sp>
      <p:sp>
        <p:nvSpPr>
          <p:cNvPr id="1014" name="Google Shape;1014;p118"/>
          <p:cNvSpPr txBox="1"/>
          <p:nvPr/>
        </p:nvSpPr>
        <p:spPr>
          <a:xfrm>
            <a:off x="1908144" y="3696927"/>
            <a:ext cx="1017269" cy="299720"/>
          </a:xfrm>
          <a:prstGeom prst="rect">
            <a:avLst/>
          </a:prstGeom>
          <a:noFill/>
          <a:ln>
            <a:noFill/>
          </a:ln>
        </p:spPr>
        <p:txBody>
          <a:bodyPr spcFirstLastPara="1" wrap="square" lIns="0" tIns="38100" rIns="0" bIns="0" anchor="t" anchorCtr="0">
            <a:spAutoFit/>
          </a:bodyPr>
          <a:lstStyle/>
          <a:p>
            <a:pPr marL="38100" marR="0" lvl="0" indent="0" algn="l" rtl="0">
              <a:lnSpc>
                <a:spcPct val="100000"/>
              </a:lnSpc>
              <a:spcBef>
                <a:spcPts val="0"/>
              </a:spcBef>
              <a:spcAft>
                <a:spcPts val="0"/>
              </a:spcAft>
              <a:buClr>
                <a:srgbClr val="000000"/>
              </a:buClr>
              <a:buSzPts val="2700"/>
              <a:buFont typeface="Arial"/>
              <a:buNone/>
            </a:pPr>
            <a:r>
              <a:rPr lang="fr-FR" sz="2700" b="1" i="0" u="sng" strike="noStrike" cap="none" baseline="-25000">
                <a:solidFill>
                  <a:srgbClr val="FFFFFF"/>
                </a:solidFill>
                <a:latin typeface="Calibri"/>
                <a:ea typeface="Calibri"/>
                <a:cs typeface="Calibri"/>
                <a:sym typeface="Calibri"/>
              </a:rPr>
              <a:t> 	</a:t>
            </a:r>
            <a:r>
              <a:rPr lang="fr-FR" sz="2700" b="1" i="0" u="none" strike="noStrike" cap="none" baseline="-25000">
                <a:solidFill>
                  <a:srgbClr val="FFFFFF"/>
                </a:solidFill>
                <a:latin typeface="Calibri"/>
                <a:ea typeface="Calibri"/>
                <a:cs typeface="Calibri"/>
                <a:sym typeface="Calibri"/>
              </a:rPr>
              <a:t>  </a:t>
            </a:r>
            <a:r>
              <a:rPr lang="fr-FR" sz="1600" b="1" i="0" u="none" strike="noStrike" cap="none">
                <a:solidFill>
                  <a:srgbClr val="003366"/>
                </a:solidFill>
                <a:latin typeface="Times New Roman"/>
                <a:ea typeface="Times New Roman"/>
                <a:cs typeface="Times New Roman"/>
                <a:sym typeface="Times New Roman"/>
              </a:rPr>
              <a:t>CPU2</a:t>
            </a:r>
            <a:endParaRPr sz="1600" b="0" i="0" u="none" strike="noStrike" cap="none">
              <a:solidFill>
                <a:srgbClr val="000000"/>
              </a:solidFill>
              <a:latin typeface="Times New Roman"/>
              <a:ea typeface="Times New Roman"/>
              <a:cs typeface="Times New Roman"/>
              <a:sym typeface="Times New Roman"/>
            </a:endParaRPr>
          </a:p>
        </p:txBody>
      </p:sp>
      <p:sp>
        <p:nvSpPr>
          <p:cNvPr id="1015" name="Google Shape;1015;p118"/>
          <p:cNvSpPr txBox="1">
            <a:spLocks noGrp="1"/>
          </p:cNvSpPr>
          <p:nvPr>
            <p:ph type="title"/>
          </p:nvPr>
        </p:nvSpPr>
        <p:spPr>
          <a:xfrm>
            <a:off x="64477" y="255499"/>
            <a:ext cx="9015044" cy="574040"/>
          </a:xfrm>
          <a:prstGeom prst="rect">
            <a:avLst/>
          </a:prstGeom>
          <a:noFill/>
          <a:ln>
            <a:noFill/>
          </a:ln>
        </p:spPr>
        <p:txBody>
          <a:bodyPr spcFirstLastPara="1" wrap="square" lIns="0" tIns="0" rIns="0" bIns="0" anchor="t" anchorCtr="0">
            <a:spAutoFit/>
          </a:bodyPr>
          <a:lstStyle/>
          <a:p>
            <a:pPr marL="0" lvl="0" indent="0" algn="l" rtl="0">
              <a:lnSpc>
                <a:spcPct val="100000"/>
              </a:lnSpc>
              <a:spcBef>
                <a:spcPts val="0"/>
              </a:spcBef>
              <a:spcAft>
                <a:spcPts val="0"/>
              </a:spcAft>
              <a:buSzPts val="1400"/>
              <a:buNone/>
            </a:pPr>
            <a:r>
              <a:rPr lang="fr-FR" b="1" u="sng"/>
              <a:t>Les entités responsables de l’ordonnancement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019"/>
        <p:cNvGrpSpPr/>
        <p:nvPr/>
      </p:nvGrpSpPr>
      <p:grpSpPr>
        <a:xfrm>
          <a:off x="0" y="0"/>
          <a:ext cx="0" cy="0"/>
          <a:chOff x="0" y="0"/>
          <a:chExt cx="0" cy="0"/>
        </a:xfrm>
      </p:grpSpPr>
      <p:sp>
        <p:nvSpPr>
          <p:cNvPr id="1020" name="Google Shape;1020;p119"/>
          <p:cNvSpPr txBox="1">
            <a:spLocks noGrp="1"/>
          </p:cNvSpPr>
          <p:nvPr>
            <p:ph type="title"/>
          </p:nvPr>
        </p:nvSpPr>
        <p:spPr>
          <a:xfrm>
            <a:off x="64477" y="186919"/>
            <a:ext cx="6346825" cy="443711"/>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2800" u="sng">
                <a:latin typeface="Times New Roman"/>
                <a:ea typeface="Times New Roman"/>
                <a:cs typeface="Times New Roman"/>
                <a:sym typeface="Times New Roman"/>
              </a:rPr>
              <a:t>Critères d’Ordonnancement</a:t>
            </a:r>
            <a:endParaRPr sz="2800" u="sng">
              <a:latin typeface="Times New Roman"/>
              <a:ea typeface="Times New Roman"/>
              <a:cs typeface="Times New Roman"/>
              <a:sym typeface="Times New Roman"/>
            </a:endParaRPr>
          </a:p>
        </p:txBody>
      </p:sp>
      <p:sp>
        <p:nvSpPr>
          <p:cNvPr id="1021" name="Google Shape;1021;p119"/>
          <p:cNvSpPr txBox="1"/>
          <p:nvPr/>
        </p:nvSpPr>
        <p:spPr>
          <a:xfrm>
            <a:off x="78282" y="1886339"/>
            <a:ext cx="8456118" cy="2561599"/>
          </a:xfrm>
          <a:prstGeom prst="rect">
            <a:avLst/>
          </a:prstGeom>
          <a:noFill/>
          <a:ln>
            <a:noFill/>
          </a:ln>
        </p:spPr>
        <p:txBody>
          <a:bodyPr spcFirstLastPara="1" wrap="square" lIns="0" tIns="187325" rIns="0" bIns="0" anchor="t" anchorCtr="0">
            <a:spAutoFit/>
          </a:bodyPr>
          <a:lstStyle/>
          <a:p>
            <a:pPr marL="355600" marR="0" lvl="0" indent="-343535"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Times New Roman"/>
                <a:ea typeface="Times New Roman"/>
                <a:cs typeface="Times New Roman"/>
                <a:sym typeface="Times New Roman"/>
              </a:rPr>
              <a:t>Utilisation du CPU</a:t>
            </a:r>
            <a:endParaRPr sz="1400" b="0" i="0" u="none" strike="noStrike" cap="none">
              <a:solidFill>
                <a:srgbClr val="000000"/>
              </a:solidFill>
              <a:latin typeface="Arial"/>
              <a:ea typeface="Arial"/>
              <a:cs typeface="Arial"/>
              <a:sym typeface="Arial"/>
            </a:endParaRPr>
          </a:p>
          <a:p>
            <a:pPr marL="355600" marR="0" lvl="0" indent="-343535" algn="l" rtl="0">
              <a:lnSpc>
                <a:spcPct val="100000"/>
              </a:lnSpc>
              <a:spcBef>
                <a:spcPts val="1380"/>
              </a:spcBef>
              <a:spcAft>
                <a:spcPts val="0"/>
              </a:spcAft>
              <a:buClr>
                <a:srgbClr val="000000"/>
              </a:buClr>
              <a:buSzPts val="2000"/>
              <a:buFont typeface="Arial"/>
              <a:buChar char="•"/>
            </a:pPr>
            <a:r>
              <a:rPr lang="fr-FR" sz="2000" b="0" i="0" u="none" strike="noStrike" cap="none">
                <a:solidFill>
                  <a:srgbClr val="000000"/>
                </a:solidFill>
                <a:latin typeface="Times New Roman"/>
                <a:ea typeface="Times New Roman"/>
                <a:cs typeface="Times New Roman"/>
                <a:sym typeface="Times New Roman"/>
              </a:rPr>
              <a:t>Débit (Throughput): le nombre moyen de processus traités par unité de temps.</a:t>
            </a:r>
            <a:endParaRPr sz="2000" b="0" i="0" u="none" strike="noStrike" cap="none">
              <a:solidFill>
                <a:srgbClr val="000000"/>
              </a:solidFill>
              <a:latin typeface="Times New Roman"/>
              <a:ea typeface="Times New Roman"/>
              <a:cs typeface="Times New Roman"/>
              <a:sym typeface="Times New Roman"/>
            </a:endParaRPr>
          </a:p>
          <a:p>
            <a:pPr marL="355600" marR="0" lvl="0" indent="-342900" algn="l" rtl="0">
              <a:lnSpc>
                <a:spcPct val="100000"/>
              </a:lnSpc>
              <a:spcBef>
                <a:spcPts val="1730"/>
              </a:spcBef>
              <a:spcAft>
                <a:spcPts val="0"/>
              </a:spcAft>
              <a:buClr>
                <a:srgbClr val="000000"/>
              </a:buClr>
              <a:buSzPts val="2000"/>
              <a:buFont typeface="Arial"/>
              <a:buChar char="•"/>
            </a:pPr>
            <a:r>
              <a:rPr lang="fr-FR" sz="2000" b="0" i="0" u="none" strike="noStrike" cap="none">
                <a:solidFill>
                  <a:srgbClr val="000000"/>
                </a:solidFill>
                <a:latin typeface="Times New Roman"/>
                <a:ea typeface="Times New Roman"/>
                <a:cs typeface="Times New Roman"/>
                <a:sym typeface="Times New Roman"/>
              </a:rPr>
              <a:t>Temps de rotation (Turnaround time)</a:t>
            </a:r>
            <a:endParaRPr sz="1400" b="0" i="0" u="none" strike="noStrike" cap="none">
              <a:solidFill>
                <a:srgbClr val="000000"/>
              </a:solidFill>
              <a:latin typeface="Arial"/>
              <a:ea typeface="Arial"/>
              <a:cs typeface="Arial"/>
              <a:sym typeface="Arial"/>
            </a:endParaRPr>
          </a:p>
          <a:p>
            <a:pPr marL="355600" marR="0" lvl="0" indent="-343535" algn="l" rtl="0">
              <a:lnSpc>
                <a:spcPct val="100000"/>
              </a:lnSpc>
              <a:spcBef>
                <a:spcPts val="1725"/>
              </a:spcBef>
              <a:spcAft>
                <a:spcPts val="0"/>
              </a:spcAft>
              <a:buClr>
                <a:srgbClr val="000000"/>
              </a:buClr>
              <a:buSzPts val="2000"/>
              <a:buFont typeface="Arial"/>
              <a:buChar char="•"/>
            </a:pPr>
            <a:r>
              <a:rPr lang="fr-FR" sz="2000" b="0" i="0" u="none" strike="noStrike" cap="none">
                <a:solidFill>
                  <a:srgbClr val="000000"/>
                </a:solidFill>
                <a:latin typeface="Times New Roman"/>
                <a:ea typeface="Times New Roman"/>
                <a:cs typeface="Times New Roman"/>
                <a:sym typeface="Times New Roman"/>
              </a:rPr>
              <a:t>Temps d’attente</a:t>
            </a:r>
            <a:endParaRPr sz="1400" b="0" i="0" u="none" strike="noStrike" cap="none">
              <a:solidFill>
                <a:srgbClr val="000000"/>
              </a:solidFill>
              <a:latin typeface="Arial"/>
              <a:ea typeface="Arial"/>
              <a:cs typeface="Arial"/>
              <a:sym typeface="Arial"/>
            </a:endParaRPr>
          </a:p>
          <a:p>
            <a:pPr marL="355600" marR="0" lvl="0" indent="-343535" algn="l" rtl="0">
              <a:lnSpc>
                <a:spcPct val="100000"/>
              </a:lnSpc>
              <a:spcBef>
                <a:spcPts val="1730"/>
              </a:spcBef>
              <a:spcAft>
                <a:spcPts val="0"/>
              </a:spcAft>
              <a:buClr>
                <a:srgbClr val="000000"/>
              </a:buClr>
              <a:buSzPts val="2000"/>
              <a:buFont typeface="Arial"/>
              <a:buChar char="•"/>
            </a:pPr>
            <a:r>
              <a:rPr lang="fr-FR" sz="2000" b="0" i="0" u="none" strike="noStrike" cap="none">
                <a:solidFill>
                  <a:srgbClr val="000000"/>
                </a:solidFill>
                <a:latin typeface="Times New Roman"/>
                <a:ea typeface="Times New Roman"/>
                <a:cs typeface="Times New Roman"/>
                <a:sym typeface="Times New Roman"/>
              </a:rPr>
              <a:t>Temps de réponse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p120"/>
          <p:cNvSpPr txBox="1">
            <a:spLocks noGrp="1"/>
          </p:cNvSpPr>
          <p:nvPr>
            <p:ph type="title"/>
          </p:nvPr>
        </p:nvSpPr>
        <p:spPr>
          <a:xfrm>
            <a:off x="64477" y="186919"/>
            <a:ext cx="7486650" cy="511422"/>
          </a:xfrm>
          <a:prstGeom prst="rect">
            <a:avLst/>
          </a:prstGeom>
          <a:noFill/>
          <a:ln>
            <a:noFill/>
          </a:ln>
        </p:spPr>
        <p:txBody>
          <a:bodyPr spcFirstLastPara="1" wrap="square" lIns="0" tIns="12700" rIns="0" bIns="0" anchor="t" anchorCtr="0">
            <a:spAutoFit/>
          </a:bodyPr>
          <a:lstStyle/>
          <a:p>
            <a:pPr marL="12700" lvl="0" indent="0" algn="l" rtl="0">
              <a:lnSpc>
                <a:spcPct val="90000"/>
              </a:lnSpc>
              <a:spcBef>
                <a:spcPts val="0"/>
              </a:spcBef>
              <a:spcAft>
                <a:spcPts val="0"/>
              </a:spcAft>
              <a:buSzPts val="1400"/>
              <a:buNone/>
            </a:pPr>
            <a:r>
              <a:rPr lang="fr-FR" sz="3600" u="sng">
                <a:solidFill>
                  <a:srgbClr val="000204"/>
                </a:solidFill>
                <a:latin typeface="Calibri"/>
                <a:ea typeface="Calibri"/>
                <a:cs typeface="Calibri"/>
                <a:sym typeface="Calibri"/>
              </a:rPr>
              <a:t>Critères d’optimisation: max/min</a:t>
            </a:r>
            <a:endParaRPr/>
          </a:p>
        </p:txBody>
      </p:sp>
      <p:sp>
        <p:nvSpPr>
          <p:cNvPr id="1028" name="Google Shape;1028;p120"/>
          <p:cNvSpPr txBox="1"/>
          <p:nvPr/>
        </p:nvSpPr>
        <p:spPr>
          <a:xfrm>
            <a:off x="78739" y="1058655"/>
            <a:ext cx="8470800" cy="5016000"/>
          </a:xfrm>
          <a:prstGeom prst="rect">
            <a:avLst/>
          </a:prstGeom>
          <a:noFill/>
          <a:ln>
            <a:noFill/>
          </a:ln>
        </p:spPr>
        <p:txBody>
          <a:bodyPr spcFirstLastPara="1" wrap="square" lIns="0" tIns="126350" rIns="0" bIns="0" anchor="t" anchorCtr="0">
            <a:spAutoFit/>
          </a:bodyPr>
          <a:lstStyle/>
          <a:p>
            <a:pPr marL="355600" marR="5080" lvl="0" indent="-343535" algn="l" rtl="0">
              <a:lnSpc>
                <a:spcPct val="70000"/>
              </a:lnSpc>
              <a:spcBef>
                <a:spcPts val="0"/>
              </a:spcBef>
              <a:spcAft>
                <a:spcPts val="0"/>
              </a:spcAft>
              <a:buClr>
                <a:schemeClr val="dk1"/>
              </a:buClr>
              <a:buSzPts val="2500"/>
              <a:buFont typeface="Arial"/>
              <a:buChar char="•"/>
            </a:pPr>
            <a:r>
              <a:rPr lang="fr-FR" sz="2500" b="0" i="0" u="none" strike="noStrike" cap="none">
                <a:solidFill>
                  <a:schemeClr val="dk1"/>
                </a:solidFill>
                <a:latin typeface="Times New Roman"/>
                <a:ea typeface="Times New Roman"/>
                <a:cs typeface="Times New Roman"/>
                <a:sym typeface="Times New Roman"/>
              </a:rPr>
              <a:t>Les critères d’ordonnancement peuvent être ramenés à des  problèmes d’optimisation.	Chaque critère devra être maximiser  ou minimiser.</a:t>
            </a:r>
            <a:endParaRPr sz="2500" b="0" i="0" u="none" strike="noStrike" cap="none">
              <a:solidFill>
                <a:schemeClr val="dk1"/>
              </a:solidFill>
              <a:latin typeface="Times New Roman"/>
              <a:ea typeface="Times New Roman"/>
              <a:cs typeface="Times New Roman"/>
              <a:sym typeface="Times New Roman"/>
            </a:endParaRPr>
          </a:p>
          <a:p>
            <a:pPr marL="355600" marR="0" lvl="0" indent="-343535" algn="l" rtl="0">
              <a:lnSpc>
                <a:spcPct val="117200"/>
              </a:lnSpc>
              <a:spcBef>
                <a:spcPts val="0"/>
              </a:spcBef>
              <a:spcAft>
                <a:spcPts val="0"/>
              </a:spcAft>
              <a:buClr>
                <a:schemeClr val="dk1"/>
              </a:buClr>
              <a:buSzPts val="2500"/>
              <a:buFont typeface="Arial"/>
              <a:buChar char="•"/>
            </a:pPr>
            <a:r>
              <a:rPr lang="fr-FR" sz="2500" b="0" i="0" u="none" strike="noStrike" cap="none">
                <a:solidFill>
                  <a:schemeClr val="dk1"/>
                </a:solidFill>
                <a:latin typeface="Times New Roman"/>
                <a:ea typeface="Times New Roman"/>
                <a:cs typeface="Times New Roman"/>
                <a:sym typeface="Times New Roman"/>
              </a:rPr>
              <a:t>Utilisation du CPU</a:t>
            </a:r>
            <a:endParaRPr sz="2500" b="0" i="0" u="none" strike="noStrike" cap="none">
              <a:solidFill>
                <a:schemeClr val="dk1"/>
              </a:solidFill>
              <a:latin typeface="Times New Roman"/>
              <a:ea typeface="Times New Roman"/>
              <a:cs typeface="Times New Roman"/>
              <a:sym typeface="Times New Roman"/>
            </a:endParaRPr>
          </a:p>
          <a:p>
            <a:pPr marL="756285" marR="0" lvl="1" indent="-287019" algn="l" rtl="0">
              <a:lnSpc>
                <a:spcPct val="100000"/>
              </a:lnSpc>
              <a:spcBef>
                <a:spcPts val="20"/>
              </a:spcBef>
              <a:spcAft>
                <a:spcPts val="0"/>
              </a:spcAft>
              <a:buClr>
                <a:schemeClr val="dk1"/>
              </a:buClr>
              <a:buSzPts val="2000"/>
              <a:buFont typeface="Arial"/>
              <a:buChar char="–"/>
            </a:pPr>
            <a:r>
              <a:rPr lang="fr-FR" sz="2000" b="0" i="0" u="none" strike="noStrike" cap="none">
                <a:solidFill>
                  <a:schemeClr val="dk1"/>
                </a:solidFill>
                <a:latin typeface="Times New Roman"/>
                <a:ea typeface="Times New Roman"/>
                <a:cs typeface="Times New Roman"/>
                <a:sym typeface="Times New Roman"/>
              </a:rPr>
              <a:t>Maximiser</a:t>
            </a:r>
            <a:endParaRPr sz="2000" b="0" i="0" u="none" strike="noStrike" cap="none">
              <a:solidFill>
                <a:schemeClr val="dk1"/>
              </a:solidFill>
              <a:latin typeface="Times New Roman"/>
              <a:ea typeface="Times New Roman"/>
              <a:cs typeface="Times New Roman"/>
              <a:sym typeface="Times New Roman"/>
            </a:endParaRPr>
          </a:p>
          <a:p>
            <a:pPr marL="355600" marR="0" lvl="0" indent="-343535" algn="l" rtl="0">
              <a:lnSpc>
                <a:spcPct val="100000"/>
              </a:lnSpc>
              <a:spcBef>
                <a:spcPts val="520"/>
              </a:spcBef>
              <a:spcAft>
                <a:spcPts val="0"/>
              </a:spcAft>
              <a:buClr>
                <a:schemeClr val="dk1"/>
              </a:buClr>
              <a:buSzPts val="2500"/>
              <a:buFont typeface="Arial"/>
              <a:buChar char="•"/>
            </a:pPr>
            <a:r>
              <a:rPr lang="fr-FR" sz="2500" b="0" i="0" u="none" strike="noStrike" cap="none">
                <a:solidFill>
                  <a:schemeClr val="dk1"/>
                </a:solidFill>
                <a:latin typeface="Times New Roman"/>
                <a:ea typeface="Times New Roman"/>
                <a:cs typeface="Times New Roman"/>
                <a:sym typeface="Times New Roman"/>
              </a:rPr>
              <a:t>Débit (Throughput)</a:t>
            </a:r>
            <a:endParaRPr sz="2500" b="0" i="0" u="none" strike="noStrike" cap="none">
              <a:solidFill>
                <a:schemeClr val="dk1"/>
              </a:solidFill>
              <a:latin typeface="Times New Roman"/>
              <a:ea typeface="Times New Roman"/>
              <a:cs typeface="Times New Roman"/>
              <a:sym typeface="Times New Roman"/>
            </a:endParaRPr>
          </a:p>
          <a:p>
            <a:pPr marL="756285" marR="0" lvl="1" indent="-287019" algn="l" rtl="0">
              <a:lnSpc>
                <a:spcPct val="100000"/>
              </a:lnSpc>
              <a:spcBef>
                <a:spcPts val="515"/>
              </a:spcBef>
              <a:spcAft>
                <a:spcPts val="0"/>
              </a:spcAft>
              <a:buClr>
                <a:schemeClr val="dk1"/>
              </a:buClr>
              <a:buSzPts val="2000"/>
              <a:buFont typeface="Arial"/>
              <a:buChar char="–"/>
            </a:pPr>
            <a:r>
              <a:rPr lang="fr-FR" sz="2000" b="0" i="0" u="none" strike="noStrike" cap="none">
                <a:solidFill>
                  <a:schemeClr val="dk1"/>
                </a:solidFill>
                <a:latin typeface="Times New Roman"/>
                <a:ea typeface="Times New Roman"/>
                <a:cs typeface="Times New Roman"/>
                <a:sym typeface="Times New Roman"/>
              </a:rPr>
              <a:t>Maximiser</a:t>
            </a:r>
            <a:endParaRPr sz="2000" b="0" i="0" u="none" strike="noStrike" cap="none">
              <a:solidFill>
                <a:schemeClr val="dk1"/>
              </a:solidFill>
              <a:latin typeface="Times New Roman"/>
              <a:ea typeface="Times New Roman"/>
              <a:cs typeface="Times New Roman"/>
              <a:sym typeface="Times New Roman"/>
            </a:endParaRPr>
          </a:p>
          <a:p>
            <a:pPr marL="355600" marR="0" lvl="0" indent="-343535" algn="l" rtl="0">
              <a:lnSpc>
                <a:spcPct val="100000"/>
              </a:lnSpc>
              <a:spcBef>
                <a:spcPts val="565"/>
              </a:spcBef>
              <a:spcAft>
                <a:spcPts val="0"/>
              </a:spcAft>
              <a:buClr>
                <a:schemeClr val="dk1"/>
              </a:buClr>
              <a:buSzPts val="2500"/>
              <a:buFont typeface="Arial"/>
              <a:buChar char="•"/>
            </a:pPr>
            <a:r>
              <a:rPr lang="fr-FR" sz="2500" b="0" i="0" u="none" strike="noStrike" cap="none">
                <a:solidFill>
                  <a:schemeClr val="dk1"/>
                </a:solidFill>
                <a:latin typeface="Times New Roman"/>
                <a:ea typeface="Times New Roman"/>
                <a:cs typeface="Times New Roman"/>
                <a:sym typeface="Times New Roman"/>
              </a:rPr>
              <a:t>Temps de rotation (Turnaround time)</a:t>
            </a:r>
            <a:endParaRPr sz="2500" b="0" i="0" u="none" strike="noStrike" cap="none">
              <a:solidFill>
                <a:schemeClr val="dk1"/>
              </a:solidFill>
              <a:latin typeface="Times New Roman"/>
              <a:ea typeface="Times New Roman"/>
              <a:cs typeface="Times New Roman"/>
              <a:sym typeface="Times New Roman"/>
            </a:endParaRPr>
          </a:p>
          <a:p>
            <a:pPr marL="756285" marR="0" lvl="1" indent="-287019" algn="l" rtl="0">
              <a:lnSpc>
                <a:spcPct val="100000"/>
              </a:lnSpc>
              <a:spcBef>
                <a:spcPts val="515"/>
              </a:spcBef>
              <a:spcAft>
                <a:spcPts val="0"/>
              </a:spcAft>
              <a:buClr>
                <a:schemeClr val="dk1"/>
              </a:buClr>
              <a:buSzPts val="2000"/>
              <a:buFont typeface="Arial"/>
              <a:buChar char="–"/>
            </a:pPr>
            <a:r>
              <a:rPr lang="fr-FR" sz="2000" b="0" i="0" u="none" strike="noStrike" cap="none">
                <a:solidFill>
                  <a:schemeClr val="dk1"/>
                </a:solidFill>
                <a:latin typeface="Times New Roman"/>
                <a:ea typeface="Times New Roman"/>
                <a:cs typeface="Times New Roman"/>
                <a:sym typeface="Times New Roman"/>
              </a:rPr>
              <a:t>Minimiser</a:t>
            </a:r>
            <a:endParaRPr sz="2000" b="0" i="0" u="none" strike="noStrike" cap="none">
              <a:solidFill>
                <a:schemeClr val="dk1"/>
              </a:solidFill>
              <a:latin typeface="Times New Roman"/>
              <a:ea typeface="Times New Roman"/>
              <a:cs typeface="Times New Roman"/>
              <a:sym typeface="Times New Roman"/>
            </a:endParaRPr>
          </a:p>
          <a:p>
            <a:pPr marL="355600" marR="0" lvl="0" indent="-343535" algn="l" rtl="0">
              <a:lnSpc>
                <a:spcPct val="100000"/>
              </a:lnSpc>
              <a:spcBef>
                <a:spcPts val="565"/>
              </a:spcBef>
              <a:spcAft>
                <a:spcPts val="0"/>
              </a:spcAft>
              <a:buClr>
                <a:schemeClr val="dk1"/>
              </a:buClr>
              <a:buSzPts val="2500"/>
              <a:buFont typeface="Arial"/>
              <a:buChar char="•"/>
            </a:pPr>
            <a:r>
              <a:rPr lang="fr-FR" sz="2500" b="0" i="0" u="none" strike="noStrike" cap="none">
                <a:solidFill>
                  <a:schemeClr val="dk1"/>
                </a:solidFill>
                <a:latin typeface="Times New Roman"/>
                <a:ea typeface="Times New Roman"/>
                <a:cs typeface="Times New Roman"/>
                <a:sym typeface="Times New Roman"/>
              </a:rPr>
              <a:t>Temps d’attente</a:t>
            </a:r>
            <a:endParaRPr sz="2500" b="0" i="0" u="none" strike="noStrike" cap="none">
              <a:solidFill>
                <a:schemeClr val="dk1"/>
              </a:solidFill>
              <a:latin typeface="Times New Roman"/>
              <a:ea typeface="Times New Roman"/>
              <a:cs typeface="Times New Roman"/>
              <a:sym typeface="Times New Roman"/>
            </a:endParaRPr>
          </a:p>
          <a:p>
            <a:pPr marL="756285" marR="0" lvl="1" indent="-287019" algn="l" rtl="0">
              <a:lnSpc>
                <a:spcPct val="100000"/>
              </a:lnSpc>
              <a:spcBef>
                <a:spcPts val="515"/>
              </a:spcBef>
              <a:spcAft>
                <a:spcPts val="0"/>
              </a:spcAft>
              <a:buClr>
                <a:schemeClr val="dk1"/>
              </a:buClr>
              <a:buSzPts val="2000"/>
              <a:buFont typeface="Arial"/>
              <a:buChar char="–"/>
            </a:pPr>
            <a:r>
              <a:rPr lang="fr-FR" sz="2000" b="0" i="0" u="none" strike="noStrike" cap="none">
                <a:solidFill>
                  <a:schemeClr val="dk1"/>
                </a:solidFill>
                <a:latin typeface="Times New Roman"/>
                <a:ea typeface="Times New Roman"/>
                <a:cs typeface="Times New Roman"/>
                <a:sym typeface="Times New Roman"/>
              </a:rPr>
              <a:t>Minimiser</a:t>
            </a:r>
            <a:endParaRPr sz="2000" b="0" i="0" u="none" strike="noStrike" cap="none">
              <a:solidFill>
                <a:schemeClr val="dk1"/>
              </a:solidFill>
              <a:latin typeface="Times New Roman"/>
              <a:ea typeface="Times New Roman"/>
              <a:cs typeface="Times New Roman"/>
              <a:sym typeface="Times New Roman"/>
            </a:endParaRPr>
          </a:p>
          <a:p>
            <a:pPr marL="355600" marR="0" lvl="0" indent="-343535" algn="l" rtl="0">
              <a:lnSpc>
                <a:spcPct val="100000"/>
              </a:lnSpc>
              <a:spcBef>
                <a:spcPts val="565"/>
              </a:spcBef>
              <a:spcAft>
                <a:spcPts val="0"/>
              </a:spcAft>
              <a:buClr>
                <a:schemeClr val="dk1"/>
              </a:buClr>
              <a:buSzPts val="2500"/>
              <a:buFont typeface="Arial"/>
              <a:buChar char="•"/>
            </a:pPr>
            <a:r>
              <a:rPr lang="fr-FR" sz="2500" b="0" i="0" u="none" strike="noStrike" cap="none">
                <a:solidFill>
                  <a:schemeClr val="dk1"/>
                </a:solidFill>
                <a:latin typeface="Times New Roman"/>
                <a:ea typeface="Times New Roman"/>
                <a:cs typeface="Times New Roman"/>
                <a:sym typeface="Times New Roman"/>
              </a:rPr>
              <a:t>Temps de réponse</a:t>
            </a:r>
            <a:endParaRPr sz="2500" b="0" i="0" u="none" strike="noStrike" cap="none">
              <a:solidFill>
                <a:schemeClr val="dk1"/>
              </a:solidFill>
              <a:latin typeface="Times New Roman"/>
              <a:ea typeface="Times New Roman"/>
              <a:cs typeface="Times New Roman"/>
              <a:sym typeface="Times New Roman"/>
            </a:endParaRPr>
          </a:p>
          <a:p>
            <a:pPr marL="756285" marR="0" lvl="1" indent="-287019" algn="l" rtl="0">
              <a:lnSpc>
                <a:spcPct val="100000"/>
              </a:lnSpc>
              <a:spcBef>
                <a:spcPts val="515"/>
              </a:spcBef>
              <a:spcAft>
                <a:spcPts val="0"/>
              </a:spcAft>
              <a:buClr>
                <a:schemeClr val="dk1"/>
              </a:buClr>
              <a:buSzPts val="2000"/>
              <a:buFont typeface="Arial"/>
              <a:buChar char="–"/>
            </a:pPr>
            <a:r>
              <a:rPr lang="fr-FR" sz="2000" b="0" i="0" u="none" strike="noStrike" cap="none">
                <a:solidFill>
                  <a:schemeClr val="dk1"/>
                </a:solidFill>
                <a:latin typeface="Times New Roman"/>
                <a:ea typeface="Times New Roman"/>
                <a:cs typeface="Times New Roman"/>
                <a:sym typeface="Times New Roman"/>
              </a:rPr>
              <a:t>Minimiser</a:t>
            </a:r>
            <a:endParaRPr sz="2000" b="0" i="0" u="none" strike="noStrike" cap="none">
              <a:solidFill>
                <a:schemeClr val="dk1"/>
              </a:solidFill>
              <a:latin typeface="Times New Roman"/>
              <a:ea typeface="Times New Roman"/>
              <a:cs typeface="Times New Roman"/>
              <a:sym typeface="Times New Roman"/>
            </a:endParaRPr>
          </a:p>
        </p:txBody>
      </p:sp>
      <p:sp>
        <p:nvSpPr>
          <p:cNvPr id="1029" name="Google Shape;1029;p120"/>
          <p:cNvSpPr/>
          <p:nvPr/>
        </p:nvSpPr>
        <p:spPr>
          <a:xfrm>
            <a:off x="5815583" y="2104643"/>
            <a:ext cx="533400" cy="3980687"/>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30" name="Google Shape;1030;p120"/>
          <p:cNvSpPr/>
          <p:nvPr/>
        </p:nvSpPr>
        <p:spPr>
          <a:xfrm>
            <a:off x="5890259" y="4052315"/>
            <a:ext cx="85344" cy="85344"/>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31" name="Google Shape;1031;p120"/>
          <p:cNvSpPr/>
          <p:nvPr/>
        </p:nvSpPr>
        <p:spPr>
          <a:xfrm>
            <a:off x="5857883" y="2143116"/>
            <a:ext cx="428625" cy="3858260"/>
          </a:xfrm>
          <a:custGeom>
            <a:avLst/>
            <a:gdLst/>
            <a:ahLst/>
            <a:cxnLst/>
            <a:rect l="l" t="t" r="r" b="b"/>
            <a:pathLst>
              <a:path w="428625" h="3858260" extrusionOk="0">
                <a:moveTo>
                  <a:pt x="0" y="0"/>
                </a:moveTo>
                <a:lnTo>
                  <a:pt x="67740" y="1820"/>
                </a:lnTo>
                <a:lnTo>
                  <a:pt x="126571" y="6890"/>
                </a:lnTo>
                <a:lnTo>
                  <a:pt x="172963" y="14621"/>
                </a:lnTo>
                <a:lnTo>
                  <a:pt x="214312" y="35712"/>
                </a:lnTo>
                <a:lnTo>
                  <a:pt x="214312" y="1893112"/>
                </a:lnTo>
                <a:lnTo>
                  <a:pt x="225238" y="1904400"/>
                </a:lnTo>
                <a:lnTo>
                  <a:pt x="255661" y="1914203"/>
                </a:lnTo>
                <a:lnTo>
                  <a:pt x="302053" y="1921934"/>
                </a:lnTo>
                <a:lnTo>
                  <a:pt x="360884" y="1927004"/>
                </a:lnTo>
                <a:lnTo>
                  <a:pt x="428625" y="1928825"/>
                </a:lnTo>
                <a:lnTo>
                  <a:pt x="360884" y="1930645"/>
                </a:lnTo>
                <a:lnTo>
                  <a:pt x="302053" y="1935716"/>
                </a:lnTo>
                <a:lnTo>
                  <a:pt x="255661" y="1943449"/>
                </a:lnTo>
                <a:lnTo>
                  <a:pt x="214312" y="1964550"/>
                </a:lnTo>
                <a:lnTo>
                  <a:pt x="214312" y="3821938"/>
                </a:lnTo>
                <a:lnTo>
                  <a:pt x="203386" y="3833225"/>
                </a:lnTo>
                <a:lnTo>
                  <a:pt x="172963" y="3843029"/>
                </a:lnTo>
                <a:lnTo>
                  <a:pt x="126571" y="3850759"/>
                </a:lnTo>
                <a:lnTo>
                  <a:pt x="67740" y="3855829"/>
                </a:lnTo>
                <a:lnTo>
                  <a:pt x="0" y="3857650"/>
                </a:lnTo>
              </a:path>
            </a:pathLst>
          </a:custGeom>
          <a:noFill/>
          <a:ln w="38100" cap="flat" cmpd="sng">
            <a:solidFill>
              <a:srgbClr val="C0504D"/>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032" name="Google Shape;1032;p120"/>
          <p:cNvSpPr txBox="1"/>
          <p:nvPr/>
        </p:nvSpPr>
        <p:spPr>
          <a:xfrm rot="5400000">
            <a:off x="5008294" y="3738124"/>
            <a:ext cx="3594735" cy="584835"/>
          </a:xfrm>
          <a:prstGeom prst="rect">
            <a:avLst/>
          </a:prstGeom>
          <a:noFill/>
          <a:ln>
            <a:noFill/>
          </a:ln>
        </p:spPr>
        <p:txBody>
          <a:bodyPr spcFirstLastPara="1" wrap="square" lIns="0" tIns="0" rIns="0" bIns="0" anchor="t" anchorCtr="0">
            <a:spAutoFit/>
          </a:bodyPr>
          <a:lstStyle/>
          <a:p>
            <a:pPr marL="12700" marR="0" lvl="0" indent="0" algn="l" rtl="0">
              <a:lnSpc>
                <a:spcPct val="10025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Peuvent-ils tous être optimisés en</a:t>
            </a:r>
            <a:endParaRPr sz="2000" b="0" i="0" u="none" strike="noStrike" cap="none">
              <a:solidFill>
                <a:schemeClr val="dk1"/>
              </a:solidFill>
              <a:latin typeface="Calibri"/>
              <a:ea typeface="Calibri"/>
              <a:cs typeface="Calibri"/>
              <a:sym typeface="Calibri"/>
            </a:endParaRPr>
          </a:p>
          <a:p>
            <a:pPr marL="1270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même temps??</a:t>
            </a:r>
            <a:endParaRPr sz="2000" b="0" i="0" u="none" strike="noStrike" cap="none">
              <a:solidFill>
                <a:schemeClr val="dk1"/>
              </a:solidFill>
              <a:latin typeface="Calibri"/>
              <a:ea typeface="Calibri"/>
              <a:cs typeface="Calibri"/>
              <a:sym typeface="Calibri"/>
            </a:endParaRPr>
          </a:p>
        </p:txBody>
      </p:sp>
      <p:sp>
        <p:nvSpPr>
          <p:cNvPr id="1033" name="Google Shape;1033;p120"/>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37</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038"/>
        <p:cNvGrpSpPr/>
        <p:nvPr/>
      </p:nvGrpSpPr>
      <p:grpSpPr>
        <a:xfrm>
          <a:off x="0" y="0"/>
          <a:ext cx="0" cy="0"/>
          <a:chOff x="0" y="0"/>
          <a:chExt cx="0" cy="0"/>
        </a:xfrm>
      </p:grpSpPr>
      <p:sp>
        <p:nvSpPr>
          <p:cNvPr id="1039" name="Google Shape;1039;p121"/>
          <p:cNvSpPr txBox="1">
            <a:spLocks noGrp="1"/>
          </p:cNvSpPr>
          <p:nvPr>
            <p:ph type="title"/>
          </p:nvPr>
        </p:nvSpPr>
        <p:spPr>
          <a:xfrm>
            <a:off x="64477" y="186919"/>
            <a:ext cx="8088923"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4400" u="sng">
                <a:solidFill>
                  <a:srgbClr val="000204"/>
                </a:solidFill>
                <a:latin typeface="Calibri"/>
                <a:ea typeface="Calibri"/>
                <a:cs typeface="Calibri"/>
                <a:sym typeface="Calibri"/>
              </a:rPr>
              <a:t>Avec/Sans réquisition</a:t>
            </a:r>
            <a:endParaRPr sz="4400" u="sng">
              <a:solidFill>
                <a:srgbClr val="000204"/>
              </a:solidFill>
              <a:latin typeface="Calibri"/>
              <a:ea typeface="Calibri"/>
              <a:cs typeface="Calibri"/>
              <a:sym typeface="Calibri"/>
            </a:endParaRPr>
          </a:p>
        </p:txBody>
      </p:sp>
      <p:sp>
        <p:nvSpPr>
          <p:cNvPr id="1040" name="Google Shape;1040;p121"/>
          <p:cNvSpPr txBox="1"/>
          <p:nvPr/>
        </p:nvSpPr>
        <p:spPr>
          <a:xfrm>
            <a:off x="364459" y="1005505"/>
            <a:ext cx="8442900" cy="5527500"/>
          </a:xfrm>
          <a:prstGeom prst="rect">
            <a:avLst/>
          </a:prstGeom>
          <a:noFill/>
          <a:ln>
            <a:noFill/>
          </a:ln>
        </p:spPr>
        <p:txBody>
          <a:bodyPr spcFirstLastPara="1" wrap="square" lIns="0" tIns="12050" rIns="0" bIns="0" anchor="t" anchorCtr="0">
            <a:spAutoFit/>
          </a:bodyPr>
          <a:lstStyle/>
          <a:p>
            <a:pPr marL="355600" marR="0" lvl="0" indent="-342900" algn="l" rtl="0">
              <a:lnSpc>
                <a:spcPct val="100000"/>
              </a:lnSpc>
              <a:spcBef>
                <a:spcPts val="0"/>
              </a:spcBef>
              <a:spcAft>
                <a:spcPts val="0"/>
              </a:spcAft>
              <a:buClr>
                <a:schemeClr val="dk1"/>
              </a:buClr>
              <a:buSzPts val="2800"/>
              <a:buFont typeface="Arial"/>
              <a:buChar char="•"/>
            </a:pPr>
            <a:r>
              <a:rPr lang="fr-FR" sz="2800" b="1" i="0" u="sng" strike="noStrike" cap="none">
                <a:solidFill>
                  <a:schemeClr val="dk1"/>
                </a:solidFill>
                <a:latin typeface="Times New Roman"/>
                <a:ea typeface="Times New Roman"/>
                <a:cs typeface="Times New Roman"/>
                <a:sym typeface="Times New Roman"/>
              </a:rPr>
              <a:t>Ordonnancement sans réquisition (non préemptif):</a:t>
            </a:r>
            <a:endParaRPr sz="2800" b="0" i="0" u="none" strike="noStrike" cap="none">
              <a:solidFill>
                <a:schemeClr val="dk1"/>
              </a:solidFill>
              <a:latin typeface="Times New Roman"/>
              <a:ea typeface="Times New Roman"/>
              <a:cs typeface="Times New Roman"/>
              <a:sym typeface="Times New Roman"/>
            </a:endParaRPr>
          </a:p>
          <a:p>
            <a:pPr marL="756285" marR="5080" lvl="1" indent="-287019" algn="l" rtl="0">
              <a:lnSpc>
                <a:spcPct val="80000"/>
              </a:lnSpc>
              <a:spcBef>
                <a:spcPts val="590"/>
              </a:spcBef>
              <a:spcAft>
                <a:spcPts val="0"/>
              </a:spcAft>
              <a:buClr>
                <a:schemeClr val="dk1"/>
              </a:buClr>
              <a:buSzPts val="2400"/>
              <a:buFont typeface="Arial"/>
              <a:buChar char="–"/>
            </a:pPr>
            <a:r>
              <a:rPr lang="fr-FR" sz="2400" b="0" i="0" u="none" strike="noStrike" cap="none">
                <a:solidFill>
                  <a:schemeClr val="dk1"/>
                </a:solidFill>
                <a:latin typeface="Times New Roman"/>
                <a:ea typeface="Times New Roman"/>
                <a:cs typeface="Times New Roman"/>
                <a:sym typeface="Times New Roman"/>
              </a:rPr>
              <a:t>Une fois que le CPU a été allouée à un processus, ce dernier le  garde jusqu'à ce qu’il le libère, soit parce qu’il a terminé, soit  parce qu’il commute à l’état en attente.</a:t>
            </a:r>
            <a:endParaRPr sz="2400" b="0" i="0" u="none" strike="noStrike" cap="none">
              <a:solidFill>
                <a:schemeClr val="dk1"/>
              </a:solidFill>
              <a:latin typeface="Times New Roman"/>
              <a:ea typeface="Times New Roman"/>
              <a:cs typeface="Times New Roman"/>
              <a:sym typeface="Times New Roman"/>
            </a:endParaRPr>
          </a:p>
          <a:p>
            <a:pPr marL="756285" marR="52705" lvl="1" indent="-287019" algn="l" rtl="0">
              <a:lnSpc>
                <a:spcPct val="80000"/>
              </a:lnSpc>
              <a:spcBef>
                <a:spcPts val="580"/>
              </a:spcBef>
              <a:spcAft>
                <a:spcPts val="0"/>
              </a:spcAft>
              <a:buClr>
                <a:schemeClr val="dk1"/>
              </a:buClr>
              <a:buSzPts val="2400"/>
              <a:buFont typeface="Arial"/>
              <a:buChar char="–"/>
            </a:pPr>
            <a:r>
              <a:rPr lang="fr-FR" sz="2400" b="0" i="0" u="none" strike="noStrike" cap="none">
                <a:solidFill>
                  <a:schemeClr val="dk1"/>
                </a:solidFill>
                <a:latin typeface="Times New Roman"/>
                <a:ea typeface="Times New Roman"/>
                <a:cs typeface="Times New Roman"/>
                <a:sym typeface="Times New Roman"/>
              </a:rPr>
              <a:t>Algorithmes simples et faciles à mettre en œuvre mais pas  adaptés pour le temps partagé et seulement pour les système  de traitement par lots.</a:t>
            </a:r>
            <a:endParaRPr sz="2400" b="0" i="0" u="none" strike="noStrike" cap="none">
              <a:solidFill>
                <a:schemeClr val="dk1"/>
              </a:solidFill>
              <a:latin typeface="Times New Roman"/>
              <a:ea typeface="Times New Roman"/>
              <a:cs typeface="Times New Roman"/>
              <a:sym typeface="Times New Roman"/>
            </a:endParaRPr>
          </a:p>
          <a:p>
            <a:pPr marL="355600" marR="0" lvl="0" indent="-342900" algn="l" rtl="0">
              <a:lnSpc>
                <a:spcPct val="119464"/>
              </a:lnSpc>
              <a:spcBef>
                <a:spcPts val="0"/>
              </a:spcBef>
              <a:spcAft>
                <a:spcPts val="0"/>
              </a:spcAft>
              <a:buClr>
                <a:schemeClr val="dk1"/>
              </a:buClr>
              <a:buSzPts val="2800"/>
              <a:buFont typeface="Arial"/>
              <a:buChar char="•"/>
            </a:pPr>
            <a:r>
              <a:rPr lang="fr-FR" sz="2800" b="1" i="0" u="sng" strike="noStrike" cap="none">
                <a:solidFill>
                  <a:schemeClr val="dk1"/>
                </a:solidFill>
                <a:latin typeface="Times New Roman"/>
                <a:ea typeface="Times New Roman"/>
                <a:cs typeface="Times New Roman"/>
                <a:sym typeface="Times New Roman"/>
              </a:rPr>
              <a:t>Ordonnancement avec réquisition (préemptif):</a:t>
            </a:r>
            <a:endParaRPr sz="2800" b="0" i="0" u="none" strike="noStrike" cap="none">
              <a:solidFill>
                <a:schemeClr val="dk1"/>
              </a:solidFill>
              <a:latin typeface="Times New Roman"/>
              <a:ea typeface="Times New Roman"/>
              <a:cs typeface="Times New Roman"/>
              <a:sym typeface="Times New Roman"/>
            </a:endParaRPr>
          </a:p>
          <a:p>
            <a:pPr marL="756285" marR="441325" lvl="1" indent="-287019" algn="l" rtl="0">
              <a:lnSpc>
                <a:spcPct val="95833"/>
              </a:lnSpc>
              <a:spcBef>
                <a:spcPts val="575"/>
              </a:spcBef>
              <a:spcAft>
                <a:spcPts val="0"/>
              </a:spcAft>
              <a:buClr>
                <a:schemeClr val="dk1"/>
              </a:buClr>
              <a:buSzPts val="2400"/>
              <a:buFont typeface="Arial"/>
              <a:buChar char="–"/>
            </a:pPr>
            <a:r>
              <a:rPr lang="fr-FR" sz="2400" b="0" i="0" u="none" strike="noStrike" cap="none">
                <a:solidFill>
                  <a:schemeClr val="dk1"/>
                </a:solidFill>
                <a:latin typeface="Times New Roman"/>
                <a:ea typeface="Times New Roman"/>
                <a:cs typeface="Times New Roman"/>
                <a:sym typeface="Times New Roman"/>
              </a:rPr>
              <a:t>Un processus peut être suspendu à n’importe quel instant,  sans avoir été prévenu, pour laisser la place à un autre  processus.</a:t>
            </a:r>
            <a:endParaRPr sz="2400" b="0" i="0" u="none" strike="noStrike" cap="none">
              <a:solidFill>
                <a:schemeClr val="dk1"/>
              </a:solidFill>
              <a:latin typeface="Times New Roman"/>
              <a:ea typeface="Times New Roman"/>
              <a:cs typeface="Times New Roman"/>
              <a:sym typeface="Times New Roman"/>
            </a:endParaRPr>
          </a:p>
          <a:p>
            <a:pPr marL="756285" marR="151765" lvl="1" indent="-287019" algn="l" rtl="0">
              <a:lnSpc>
                <a:spcPct val="95833"/>
              </a:lnSpc>
              <a:spcBef>
                <a:spcPts val="585"/>
              </a:spcBef>
              <a:spcAft>
                <a:spcPts val="0"/>
              </a:spcAft>
              <a:buClr>
                <a:schemeClr val="dk1"/>
              </a:buClr>
              <a:buSzPts val="2400"/>
              <a:buFont typeface="Arial"/>
              <a:buChar char="–"/>
            </a:pPr>
            <a:r>
              <a:rPr lang="fr-FR" sz="2400" b="0" i="0" u="none" strike="noStrike" cap="none">
                <a:solidFill>
                  <a:schemeClr val="dk1"/>
                </a:solidFill>
                <a:latin typeface="Times New Roman"/>
                <a:ea typeface="Times New Roman"/>
                <a:cs typeface="Times New Roman"/>
                <a:sym typeface="Times New Roman"/>
              </a:rPr>
              <a:t>Implémentation plus coûteuse à cause de la commutation de  processus, utilisée dans les systèmes à temps partagé et  systèmes temps-réels.</a:t>
            </a:r>
            <a:endParaRPr sz="2400" b="0" i="0" u="none" strike="noStrike" cap="none">
              <a:solidFill>
                <a:schemeClr val="dk1"/>
              </a:solidFill>
              <a:latin typeface="Times New Roman"/>
              <a:ea typeface="Times New Roman"/>
              <a:cs typeface="Times New Roman"/>
              <a:sym typeface="Times New Roman"/>
            </a:endParaRPr>
          </a:p>
          <a:p>
            <a:pPr marL="756285" marR="0" lvl="1" indent="-287654" algn="l" rtl="0">
              <a:lnSpc>
                <a:spcPct val="100000"/>
              </a:lnSpc>
              <a:spcBef>
                <a:spcPts val="30"/>
              </a:spcBef>
              <a:spcAft>
                <a:spcPts val="0"/>
              </a:spcAft>
              <a:buClr>
                <a:schemeClr val="dk1"/>
              </a:buClr>
              <a:buSzPts val="2400"/>
              <a:buFont typeface="Arial"/>
              <a:buChar char="–"/>
            </a:pPr>
            <a:r>
              <a:rPr lang="fr-FR" sz="2400" b="0" i="0" u="none" strike="noStrike" cap="none">
                <a:solidFill>
                  <a:schemeClr val="dk1"/>
                </a:solidFill>
                <a:latin typeface="Times New Roman"/>
                <a:ea typeface="Times New Roman"/>
                <a:cs typeface="Times New Roman"/>
                <a:sym typeface="Times New Roman"/>
              </a:rPr>
              <a:t>Nécessité d’un mécanisme de synchronisation.</a:t>
            </a:r>
            <a:endParaRPr sz="2400" b="0" i="0" u="none" strike="noStrike" cap="none">
              <a:solidFill>
                <a:schemeClr val="dk1"/>
              </a:solidFill>
              <a:latin typeface="Times New Roman"/>
              <a:ea typeface="Times New Roman"/>
              <a:cs typeface="Times New Roman"/>
              <a:sym typeface="Times New Roman"/>
            </a:endParaRPr>
          </a:p>
        </p:txBody>
      </p:sp>
      <p:sp>
        <p:nvSpPr>
          <p:cNvPr id="1041" name="Google Shape;1041;p121"/>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38</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046"/>
        <p:cNvGrpSpPr/>
        <p:nvPr/>
      </p:nvGrpSpPr>
      <p:grpSpPr>
        <a:xfrm>
          <a:off x="0" y="0"/>
          <a:ext cx="0" cy="0"/>
          <a:chOff x="0" y="0"/>
          <a:chExt cx="0" cy="0"/>
        </a:xfrm>
      </p:grpSpPr>
      <p:sp>
        <p:nvSpPr>
          <p:cNvPr id="1047" name="Google Shape;1047;p122"/>
          <p:cNvSpPr txBox="1"/>
          <p:nvPr/>
        </p:nvSpPr>
        <p:spPr>
          <a:xfrm>
            <a:off x="0" y="434975"/>
            <a:ext cx="9144000" cy="1470025"/>
          </a:xfrm>
          <a:prstGeom prst="rect">
            <a:avLst/>
          </a:prstGeom>
          <a:noFill/>
          <a:ln>
            <a:noFill/>
          </a:ln>
        </p:spPr>
        <p:txBody>
          <a:bodyPr spcFirstLastPara="1" wrap="square" lIns="91425" tIns="45700" rIns="91425" bIns="45700" anchor="ctr" anchorCtr="0">
            <a:normAutofit/>
          </a:bodyPr>
          <a:lstStyle/>
          <a:p>
            <a:pPr marL="0" marR="0" lvl="0" indent="0" algn="l" rtl="0">
              <a:lnSpc>
                <a:spcPct val="100000"/>
              </a:lnSpc>
              <a:spcBef>
                <a:spcPts val="0"/>
              </a:spcBef>
              <a:spcAft>
                <a:spcPts val="0"/>
              </a:spcAft>
              <a:buClr>
                <a:schemeClr val="dk1"/>
              </a:buClr>
              <a:buSzPts val="3200"/>
              <a:buFont typeface="Calibri"/>
              <a:buNone/>
            </a:pPr>
            <a:endParaRPr sz="3200" b="1" i="0" u="sng" strike="noStrike" cap="none">
              <a:solidFill>
                <a:srgbClr val="000000"/>
              </a:solidFill>
              <a:latin typeface="Calibri"/>
              <a:ea typeface="Calibri"/>
              <a:cs typeface="Calibri"/>
              <a:sym typeface="Calibri"/>
            </a:endParaRPr>
          </a:p>
        </p:txBody>
      </p:sp>
      <p:sp>
        <p:nvSpPr>
          <p:cNvPr id="1048" name="Google Shape;1048;p122"/>
          <p:cNvSpPr txBox="1"/>
          <p:nvPr/>
        </p:nvSpPr>
        <p:spPr>
          <a:xfrm>
            <a:off x="0" y="25400"/>
            <a:ext cx="9144000" cy="58477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fr-FR" sz="3200" b="1" i="0" u="sng" strike="noStrike" cap="none">
                <a:solidFill>
                  <a:srgbClr val="000000"/>
                </a:solidFill>
                <a:latin typeface="Calibri"/>
                <a:ea typeface="Calibri"/>
                <a:cs typeface="Calibri"/>
                <a:sym typeface="Calibri"/>
              </a:rPr>
              <a:t>1 Cas : FCFS (</a:t>
            </a:r>
            <a:r>
              <a:rPr lang="fr-FR" sz="3200" b="1" i="0" u="sng" strike="noStrike" cap="none">
                <a:solidFill>
                  <a:srgbClr val="000000"/>
                </a:solidFill>
                <a:latin typeface="Helvetica Neue"/>
                <a:ea typeface="Helvetica Neue"/>
                <a:cs typeface="Helvetica Neue"/>
                <a:sym typeface="Helvetica Neue"/>
              </a:rPr>
              <a:t>Premier arrivé, premier servi</a:t>
            </a:r>
            <a:r>
              <a:rPr lang="fr-FR" sz="3200" b="0" i="0" u="sng" strike="noStrike" cap="none">
                <a:solidFill>
                  <a:srgbClr val="000000"/>
                </a:solidFill>
                <a:latin typeface="Calibri"/>
                <a:ea typeface="Calibri"/>
                <a:cs typeface="Calibri"/>
                <a:sym typeface="Calibri"/>
              </a:rPr>
              <a:t> </a:t>
            </a:r>
            <a:r>
              <a:rPr lang="fr-FR" sz="3200" b="1" i="0" u="sng" strike="noStrike" cap="none">
                <a:solidFill>
                  <a:srgbClr val="0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graphicFrame>
        <p:nvGraphicFramePr>
          <p:cNvPr id="1049" name="Google Shape;1049;p122"/>
          <p:cNvGraphicFramePr/>
          <p:nvPr/>
        </p:nvGraphicFramePr>
        <p:xfrm>
          <a:off x="179357" y="2655148"/>
          <a:ext cx="4064000" cy="1854250"/>
        </p:xfrm>
        <a:graphic>
          <a:graphicData uri="http://schemas.openxmlformats.org/drawingml/2006/table">
            <a:tbl>
              <a:tblPr firstRow="1" bandRow="1">
                <a:noFil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Processus</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Temps d’exécution</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3</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9</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7</a:t>
                      </a:r>
                      <a:endParaRPr sz="1400" u="none" strike="noStrike" cap="none"/>
                    </a:p>
                  </a:txBody>
                  <a:tcPr marL="91450" marR="91450" marT="45725" marB="45725"/>
                </a:tc>
                <a:extLst>
                  <a:ext uri="{0D108BD9-81ED-4DB2-BD59-A6C34878D82A}">
                    <a16:rowId xmlns:a16="http://schemas.microsoft.com/office/drawing/2014/main" val="10004"/>
                  </a:ext>
                </a:extLst>
              </a:tr>
            </a:tbl>
          </a:graphicData>
        </a:graphic>
      </p:graphicFrame>
      <p:sp>
        <p:nvSpPr>
          <p:cNvPr id="1050" name="Google Shape;1050;p122"/>
          <p:cNvSpPr/>
          <p:nvPr/>
        </p:nvSpPr>
        <p:spPr>
          <a:xfrm>
            <a:off x="109565" y="1258669"/>
            <a:ext cx="8229600" cy="64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Calibri"/>
                <a:ea typeface="Calibri"/>
                <a:cs typeface="Calibri"/>
                <a:sym typeface="Calibri"/>
              </a:rPr>
              <a:t>On suppose que  les processus arrivent en même temps à l’instant 0 et admis dans l’ordre : P1 , P3 , P2 , P4</a:t>
            </a:r>
            <a:endParaRPr sz="1400" b="0" i="0" u="none" strike="noStrike" cap="none">
              <a:solidFill>
                <a:srgbClr val="000000"/>
              </a:solidFill>
              <a:latin typeface="Arial"/>
              <a:ea typeface="Arial"/>
              <a:cs typeface="Arial"/>
              <a:sym typeface="Arial"/>
            </a:endParaRPr>
          </a:p>
        </p:txBody>
      </p:sp>
      <p:sp>
        <p:nvSpPr>
          <p:cNvPr id="1051" name="Google Shape;1051;p122"/>
          <p:cNvSpPr/>
          <p:nvPr/>
        </p:nvSpPr>
        <p:spPr>
          <a:xfrm>
            <a:off x="330200" y="5022371"/>
            <a:ext cx="7620000" cy="6096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052" name="Google Shape;1052;p122"/>
          <p:cNvCxnSpPr/>
          <p:nvPr/>
        </p:nvCxnSpPr>
        <p:spPr>
          <a:xfrm>
            <a:off x="330200" y="5022371"/>
            <a:ext cx="0" cy="762000"/>
          </a:xfrm>
          <a:prstGeom prst="straightConnector1">
            <a:avLst/>
          </a:prstGeom>
          <a:noFill/>
          <a:ln w="9525" cap="flat" cmpd="sng">
            <a:solidFill>
              <a:schemeClr val="dk1"/>
            </a:solidFill>
            <a:prstDash val="solid"/>
            <a:round/>
            <a:headEnd type="none" w="sm" len="sm"/>
            <a:tailEnd type="none" w="sm" len="sm"/>
          </a:ln>
        </p:spPr>
      </p:cxnSp>
      <p:cxnSp>
        <p:nvCxnSpPr>
          <p:cNvPr id="1053" name="Google Shape;1053;p122"/>
          <p:cNvCxnSpPr/>
          <p:nvPr/>
        </p:nvCxnSpPr>
        <p:spPr>
          <a:xfrm>
            <a:off x="1371600" y="5022371"/>
            <a:ext cx="0" cy="762000"/>
          </a:xfrm>
          <a:prstGeom prst="straightConnector1">
            <a:avLst/>
          </a:prstGeom>
          <a:noFill/>
          <a:ln w="9525" cap="flat" cmpd="sng">
            <a:solidFill>
              <a:schemeClr val="dk1"/>
            </a:solidFill>
            <a:prstDash val="solid"/>
            <a:round/>
            <a:headEnd type="none" w="sm" len="sm"/>
            <a:tailEnd type="none" w="sm" len="sm"/>
          </a:ln>
        </p:spPr>
      </p:cxnSp>
      <p:cxnSp>
        <p:nvCxnSpPr>
          <p:cNvPr id="1054" name="Google Shape;1054;p122"/>
          <p:cNvCxnSpPr/>
          <p:nvPr/>
        </p:nvCxnSpPr>
        <p:spPr>
          <a:xfrm>
            <a:off x="2971800" y="5035071"/>
            <a:ext cx="0" cy="762000"/>
          </a:xfrm>
          <a:prstGeom prst="straightConnector1">
            <a:avLst/>
          </a:prstGeom>
          <a:noFill/>
          <a:ln w="9525" cap="flat" cmpd="sng">
            <a:solidFill>
              <a:schemeClr val="dk1"/>
            </a:solidFill>
            <a:prstDash val="solid"/>
            <a:round/>
            <a:headEnd type="none" w="sm" len="sm"/>
            <a:tailEnd type="none" w="sm" len="sm"/>
          </a:ln>
        </p:spPr>
      </p:cxnSp>
      <p:cxnSp>
        <p:nvCxnSpPr>
          <p:cNvPr id="1055" name="Google Shape;1055;p122"/>
          <p:cNvCxnSpPr/>
          <p:nvPr/>
        </p:nvCxnSpPr>
        <p:spPr>
          <a:xfrm>
            <a:off x="5867400" y="5022371"/>
            <a:ext cx="0" cy="762000"/>
          </a:xfrm>
          <a:prstGeom prst="straightConnector1">
            <a:avLst/>
          </a:prstGeom>
          <a:noFill/>
          <a:ln w="9525" cap="flat" cmpd="sng">
            <a:solidFill>
              <a:schemeClr val="dk1"/>
            </a:solidFill>
            <a:prstDash val="solid"/>
            <a:round/>
            <a:headEnd type="none" w="sm" len="sm"/>
            <a:tailEnd type="none" w="sm" len="sm"/>
          </a:ln>
        </p:spPr>
      </p:cxnSp>
      <p:cxnSp>
        <p:nvCxnSpPr>
          <p:cNvPr id="1056" name="Google Shape;1056;p122"/>
          <p:cNvCxnSpPr/>
          <p:nvPr/>
        </p:nvCxnSpPr>
        <p:spPr>
          <a:xfrm>
            <a:off x="7950200" y="5035071"/>
            <a:ext cx="0" cy="762000"/>
          </a:xfrm>
          <a:prstGeom prst="straightConnector1">
            <a:avLst/>
          </a:prstGeom>
          <a:noFill/>
          <a:ln w="9525" cap="flat" cmpd="sng">
            <a:solidFill>
              <a:schemeClr val="dk1"/>
            </a:solidFill>
            <a:prstDash val="solid"/>
            <a:round/>
            <a:headEnd type="none" w="sm" len="sm"/>
            <a:tailEnd type="none" w="sm" len="sm"/>
          </a:ln>
        </p:spPr>
      </p:cxnSp>
      <p:sp>
        <p:nvSpPr>
          <p:cNvPr id="1057" name="Google Shape;1057;p122"/>
          <p:cNvSpPr txBox="1"/>
          <p:nvPr/>
        </p:nvSpPr>
        <p:spPr>
          <a:xfrm>
            <a:off x="609600" y="5142505"/>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058" name="Google Shape;1058;p122"/>
          <p:cNvSpPr txBox="1"/>
          <p:nvPr/>
        </p:nvSpPr>
        <p:spPr>
          <a:xfrm>
            <a:off x="1828800" y="5142505"/>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C0504D"/>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059" name="Google Shape;1059;p122"/>
          <p:cNvSpPr txBox="1"/>
          <p:nvPr/>
        </p:nvSpPr>
        <p:spPr>
          <a:xfrm>
            <a:off x="4068336" y="5142504"/>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C0504D"/>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060" name="Google Shape;1060;p122"/>
          <p:cNvSpPr txBox="1"/>
          <p:nvPr/>
        </p:nvSpPr>
        <p:spPr>
          <a:xfrm>
            <a:off x="6629400" y="5142503"/>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C0504D"/>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sp>
        <p:nvSpPr>
          <p:cNvPr id="1061" name="Google Shape;1061;p122"/>
          <p:cNvSpPr txBox="1"/>
          <p:nvPr/>
        </p:nvSpPr>
        <p:spPr>
          <a:xfrm>
            <a:off x="179357" y="5784371"/>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0</a:t>
            </a:r>
            <a:endParaRPr sz="1400" b="0" i="0" u="none" strike="noStrike" cap="none">
              <a:solidFill>
                <a:srgbClr val="000000"/>
              </a:solidFill>
              <a:latin typeface="Arial"/>
              <a:ea typeface="Arial"/>
              <a:cs typeface="Arial"/>
              <a:sym typeface="Arial"/>
            </a:endParaRPr>
          </a:p>
        </p:txBody>
      </p:sp>
      <p:sp>
        <p:nvSpPr>
          <p:cNvPr id="1062" name="Google Shape;1062;p122"/>
          <p:cNvSpPr txBox="1"/>
          <p:nvPr/>
        </p:nvSpPr>
        <p:spPr>
          <a:xfrm>
            <a:off x="1219200" y="5784371"/>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063" name="Google Shape;1063;p122"/>
          <p:cNvSpPr/>
          <p:nvPr/>
        </p:nvSpPr>
        <p:spPr>
          <a:xfrm>
            <a:off x="2819400" y="5796039"/>
            <a:ext cx="31451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8</a:t>
            </a:r>
            <a:endParaRPr sz="1400" b="0" i="0" u="none" strike="noStrike" cap="none">
              <a:solidFill>
                <a:srgbClr val="000000"/>
              </a:solidFill>
              <a:latin typeface="Arial"/>
              <a:ea typeface="Arial"/>
              <a:cs typeface="Arial"/>
              <a:sym typeface="Arial"/>
            </a:endParaRPr>
          </a:p>
        </p:txBody>
      </p:sp>
      <p:sp>
        <p:nvSpPr>
          <p:cNvPr id="1064" name="Google Shape;1064;p122"/>
          <p:cNvSpPr/>
          <p:nvPr/>
        </p:nvSpPr>
        <p:spPr>
          <a:xfrm>
            <a:off x="5705290" y="5784371"/>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17</a:t>
            </a:r>
            <a:endParaRPr sz="1400" b="0" i="0" u="none" strike="noStrike" cap="none">
              <a:solidFill>
                <a:srgbClr val="000000"/>
              </a:solidFill>
              <a:latin typeface="Arial"/>
              <a:ea typeface="Arial"/>
              <a:cs typeface="Arial"/>
              <a:sym typeface="Arial"/>
            </a:endParaRPr>
          </a:p>
        </p:txBody>
      </p:sp>
      <p:sp>
        <p:nvSpPr>
          <p:cNvPr id="1065" name="Google Shape;1065;p122"/>
          <p:cNvSpPr/>
          <p:nvPr/>
        </p:nvSpPr>
        <p:spPr>
          <a:xfrm>
            <a:off x="7772400" y="5765261"/>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24</a:t>
            </a:r>
            <a:endParaRPr sz="1400" b="0" i="0" u="none" strike="noStrike" cap="none">
              <a:solidFill>
                <a:srgbClr val="000000"/>
              </a:solidFill>
              <a:latin typeface="Arial"/>
              <a:ea typeface="Arial"/>
              <a:cs typeface="Arial"/>
              <a:sym typeface="Arial"/>
            </a:endParaRPr>
          </a:p>
        </p:txBody>
      </p:sp>
      <p:sp>
        <p:nvSpPr>
          <p:cNvPr id="1066" name="Google Shape;1066;p122"/>
          <p:cNvSpPr/>
          <p:nvPr/>
        </p:nvSpPr>
        <p:spPr>
          <a:xfrm>
            <a:off x="5241186" y="2556935"/>
            <a:ext cx="207261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Temps d’attente  </a:t>
            </a:r>
            <a:endParaRPr sz="1400" b="0" i="0" u="none" strike="noStrike" cap="none">
              <a:solidFill>
                <a:srgbClr val="000000"/>
              </a:solidFill>
              <a:latin typeface="Arial"/>
              <a:ea typeface="Arial"/>
              <a:cs typeface="Arial"/>
              <a:sym typeface="Arial"/>
            </a:endParaRPr>
          </a:p>
        </p:txBody>
      </p:sp>
      <p:sp>
        <p:nvSpPr>
          <p:cNvPr id="1067" name="Google Shape;1067;p122"/>
          <p:cNvSpPr/>
          <p:nvPr/>
        </p:nvSpPr>
        <p:spPr>
          <a:xfrm>
            <a:off x="5241186" y="2978576"/>
            <a:ext cx="44196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P1 = 0</a:t>
            </a:r>
            <a:endParaRPr sz="1400" b="0" i="0" u="none" strike="noStrike" cap="none">
              <a:solidFill>
                <a:srgbClr val="000000"/>
              </a:solidFill>
              <a:latin typeface="Arial"/>
              <a:ea typeface="Arial"/>
              <a:cs typeface="Arial"/>
              <a:sym typeface="Arial"/>
            </a:endParaRPr>
          </a:p>
        </p:txBody>
      </p:sp>
      <p:sp>
        <p:nvSpPr>
          <p:cNvPr id="1068" name="Google Shape;1068;p122"/>
          <p:cNvSpPr/>
          <p:nvPr/>
        </p:nvSpPr>
        <p:spPr>
          <a:xfrm>
            <a:off x="5247717" y="3378686"/>
            <a:ext cx="34225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P2 = 8 </a:t>
            </a:r>
            <a:endParaRPr sz="1400" b="0" i="0" u="none" strike="noStrike" cap="none">
              <a:solidFill>
                <a:srgbClr val="000000"/>
              </a:solidFill>
              <a:latin typeface="Arial"/>
              <a:ea typeface="Arial"/>
              <a:cs typeface="Arial"/>
              <a:sym typeface="Arial"/>
            </a:endParaRPr>
          </a:p>
        </p:txBody>
      </p:sp>
      <p:sp>
        <p:nvSpPr>
          <p:cNvPr id="1069" name="Google Shape;1069;p122"/>
          <p:cNvSpPr/>
          <p:nvPr/>
        </p:nvSpPr>
        <p:spPr>
          <a:xfrm>
            <a:off x="5254248" y="3867090"/>
            <a:ext cx="824265"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P3 = 3</a:t>
            </a:r>
            <a:endParaRPr sz="1400" b="0" i="0" u="none" strike="noStrike" cap="none">
              <a:solidFill>
                <a:srgbClr val="000000"/>
              </a:solidFill>
              <a:latin typeface="Arial"/>
              <a:ea typeface="Arial"/>
              <a:cs typeface="Arial"/>
              <a:sym typeface="Arial"/>
            </a:endParaRPr>
          </a:p>
        </p:txBody>
      </p:sp>
      <p:sp>
        <p:nvSpPr>
          <p:cNvPr id="1070" name="Google Shape;1070;p122"/>
          <p:cNvSpPr/>
          <p:nvPr/>
        </p:nvSpPr>
        <p:spPr>
          <a:xfrm>
            <a:off x="5323388" y="4288971"/>
            <a:ext cx="954107"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P4 = 17</a:t>
            </a:r>
            <a:endParaRPr sz="1400" b="0" i="0" u="none" strike="noStrike" cap="none">
              <a:solidFill>
                <a:srgbClr val="000000"/>
              </a:solidFill>
              <a:latin typeface="Arial"/>
              <a:ea typeface="Arial"/>
              <a:cs typeface="Arial"/>
              <a:sym typeface="Arial"/>
            </a:endParaRPr>
          </a:p>
        </p:txBody>
      </p:sp>
      <p:sp>
        <p:nvSpPr>
          <p:cNvPr id="1071" name="Google Shape;1071;p122"/>
          <p:cNvSpPr/>
          <p:nvPr/>
        </p:nvSpPr>
        <p:spPr>
          <a:xfrm>
            <a:off x="308062" y="6172200"/>
            <a:ext cx="8302537"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70C0"/>
                </a:solidFill>
                <a:latin typeface="Calibri"/>
                <a:ea typeface="Calibri"/>
                <a:cs typeface="Calibri"/>
                <a:sym typeface="Calibri"/>
              </a:rPr>
              <a:t>Temps d’attente moyen = (0 + 8 + 3 + 17) / 4 = 7</a:t>
            </a:r>
            <a:endParaRPr sz="1400" b="0" i="0" u="none" strike="noStrike" cap="none">
              <a:solidFill>
                <a:srgbClr val="000000"/>
              </a:solidFill>
              <a:latin typeface="Arial"/>
              <a:ea typeface="Arial"/>
              <a:cs typeface="Arial"/>
              <a:sym typeface="Arial"/>
            </a:endParaRPr>
          </a:p>
        </p:txBody>
      </p:sp>
      <p:sp>
        <p:nvSpPr>
          <p:cNvPr id="1072" name="Google Shape;1072;p122"/>
          <p:cNvSpPr txBox="1"/>
          <p:nvPr/>
        </p:nvSpPr>
        <p:spPr>
          <a:xfrm>
            <a:off x="0" y="791555"/>
            <a:ext cx="81598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 </a:t>
            </a:r>
            <a:r>
              <a:rPr lang="fr-FR" sz="1800" b="1" i="0" u="none" strike="noStrike" cap="none">
                <a:solidFill>
                  <a:srgbClr val="000000"/>
                </a:solidFill>
                <a:latin typeface="Calibri"/>
                <a:ea typeface="Calibri"/>
                <a:cs typeface="Calibri"/>
                <a:sym typeface="Calibri"/>
              </a:rPr>
              <a:t>l'unité centrale</a:t>
            </a:r>
            <a:r>
              <a:rPr lang="fr-FR" sz="1800" b="0" i="0" u="none" strike="noStrike" cap="none">
                <a:solidFill>
                  <a:srgbClr val="000000"/>
                </a:solidFill>
                <a:latin typeface="Calibri"/>
                <a:ea typeface="Calibri"/>
                <a:cs typeface="Calibri"/>
                <a:sym typeface="Calibri"/>
              </a:rPr>
              <a:t> </a:t>
            </a:r>
            <a:r>
              <a:rPr lang="fr-FR" sz="1800" b="1" i="0" u="none" strike="noStrike" cap="none">
                <a:solidFill>
                  <a:srgbClr val="000000"/>
                </a:solidFill>
                <a:latin typeface="Calibri"/>
                <a:ea typeface="Calibri"/>
                <a:cs typeface="Calibri"/>
                <a:sym typeface="Calibri"/>
              </a:rPr>
              <a:t>est allouée selon l'ordre de soumission des processus.</a:t>
            </a:r>
            <a:endParaRPr sz="1400" b="0" i="0" u="none" strike="noStrike" cap="none">
              <a:solidFill>
                <a:srgbClr val="000000"/>
              </a:solidFill>
              <a:latin typeface="Arial"/>
              <a:ea typeface="Arial"/>
              <a:cs typeface="Arial"/>
              <a:sym typeface="Arial"/>
            </a:endParaRPr>
          </a:p>
        </p:txBody>
      </p:sp>
      <p:sp>
        <p:nvSpPr>
          <p:cNvPr id="1073" name="Google Shape;1073;p122"/>
          <p:cNvSpPr txBox="1"/>
          <p:nvPr/>
        </p:nvSpPr>
        <p:spPr>
          <a:xfrm>
            <a:off x="179357" y="1910604"/>
            <a:ext cx="4279973"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Calibri"/>
                <a:ea typeface="Calibri"/>
                <a:cs typeface="Calibri"/>
                <a:sym typeface="Calibri"/>
              </a:rPr>
              <a:t>On considère l’ensemble des processus suivants : </a:t>
            </a:r>
            <a:endParaRPr sz="1400" b="0" i="0" u="none" strike="noStrike" cap="none">
              <a:solidFill>
                <a:srgbClr val="000000"/>
              </a:solidFill>
              <a:latin typeface="Arial"/>
              <a:ea typeface="Arial"/>
              <a:cs typeface="Arial"/>
              <a:sym typeface="Arial"/>
            </a:endParaRPr>
          </a:p>
        </p:txBody>
      </p:sp>
      <p:sp>
        <p:nvSpPr>
          <p:cNvPr id="1074" name="Google Shape;1074;p122"/>
          <p:cNvSpPr txBox="1"/>
          <p:nvPr/>
        </p:nvSpPr>
        <p:spPr>
          <a:xfrm>
            <a:off x="147578" y="4675533"/>
            <a:ext cx="775053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Le diagramme de Gantt pour l’ordonnancement FCFS de cet ensemble est :</a:t>
            </a:r>
            <a:endParaRPr sz="1400" b="0" i="0" u="none" strike="noStrike" cap="none">
              <a:solidFill>
                <a:srgbClr val="000000"/>
              </a:solidFill>
              <a:latin typeface="Arial"/>
              <a:ea typeface="Arial"/>
              <a:cs typeface="Arial"/>
              <a:sym typeface="Arial"/>
            </a:endParaRPr>
          </a:p>
        </p:txBody>
      </p:sp>
      <p:sp>
        <p:nvSpPr>
          <p:cNvPr id="1075" name="Google Shape;1075;p1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39</a:t>
            </a:fld>
            <a:endParaRPr>
              <a:solidFill>
                <a:srgbClr val="88888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51"/>
                                        </p:tgtEl>
                                        <p:attrNameLst>
                                          <p:attrName>style.visibility</p:attrName>
                                        </p:attrNameLst>
                                      </p:cBhvr>
                                      <p:to>
                                        <p:strVal val="visible"/>
                                      </p:to>
                                    </p:set>
                                    <p:animEffect transition="in" filter="fade">
                                      <p:cBhvr>
                                        <p:cTn id="7" dur="1000"/>
                                        <p:tgtEl>
                                          <p:spTgt spid="105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52"/>
                                        </p:tgtEl>
                                        <p:attrNameLst>
                                          <p:attrName>style.visibility</p:attrName>
                                        </p:attrNameLst>
                                      </p:cBhvr>
                                      <p:to>
                                        <p:strVal val="visible"/>
                                      </p:to>
                                    </p:set>
                                    <p:animEffect transition="in" filter="fade">
                                      <p:cBhvr>
                                        <p:cTn id="12" dur="1000"/>
                                        <p:tgtEl>
                                          <p:spTgt spid="1052"/>
                                        </p:tgtEl>
                                      </p:cBhvr>
                                    </p:animEffect>
                                  </p:childTnLst>
                                </p:cTn>
                              </p:par>
                              <p:par>
                                <p:cTn id="13" presetID="10" presetClass="entr" presetSubtype="0" fill="hold" nodeType="withEffect">
                                  <p:stCondLst>
                                    <p:cond delay="0"/>
                                  </p:stCondLst>
                                  <p:childTnLst>
                                    <p:set>
                                      <p:cBhvr>
                                        <p:cTn id="14" dur="1" fill="hold">
                                          <p:stCondLst>
                                            <p:cond delay="0"/>
                                          </p:stCondLst>
                                        </p:cTn>
                                        <p:tgtEl>
                                          <p:spTgt spid="1053"/>
                                        </p:tgtEl>
                                        <p:attrNameLst>
                                          <p:attrName>style.visibility</p:attrName>
                                        </p:attrNameLst>
                                      </p:cBhvr>
                                      <p:to>
                                        <p:strVal val="visible"/>
                                      </p:to>
                                    </p:set>
                                    <p:animEffect transition="in" filter="fade">
                                      <p:cBhvr>
                                        <p:cTn id="15" dur="1000"/>
                                        <p:tgtEl>
                                          <p:spTgt spid="1053"/>
                                        </p:tgtEl>
                                      </p:cBhvr>
                                    </p:animEffect>
                                  </p:childTnLst>
                                </p:cTn>
                              </p:par>
                              <p:par>
                                <p:cTn id="16" presetID="10" presetClass="entr" presetSubtype="0" fill="hold" nodeType="withEffect">
                                  <p:stCondLst>
                                    <p:cond delay="0"/>
                                  </p:stCondLst>
                                  <p:childTnLst>
                                    <p:set>
                                      <p:cBhvr>
                                        <p:cTn id="17" dur="1" fill="hold">
                                          <p:stCondLst>
                                            <p:cond delay="0"/>
                                          </p:stCondLst>
                                        </p:cTn>
                                        <p:tgtEl>
                                          <p:spTgt spid="1054"/>
                                        </p:tgtEl>
                                        <p:attrNameLst>
                                          <p:attrName>style.visibility</p:attrName>
                                        </p:attrNameLst>
                                      </p:cBhvr>
                                      <p:to>
                                        <p:strVal val="visible"/>
                                      </p:to>
                                    </p:set>
                                    <p:animEffect transition="in" filter="fade">
                                      <p:cBhvr>
                                        <p:cTn id="18" dur="1000"/>
                                        <p:tgtEl>
                                          <p:spTgt spid="1054"/>
                                        </p:tgtEl>
                                      </p:cBhvr>
                                    </p:animEffect>
                                  </p:childTnLst>
                                </p:cTn>
                              </p:par>
                              <p:par>
                                <p:cTn id="19" presetID="10" presetClass="entr" presetSubtype="0" fill="hold" nodeType="withEffect">
                                  <p:stCondLst>
                                    <p:cond delay="0"/>
                                  </p:stCondLst>
                                  <p:childTnLst>
                                    <p:set>
                                      <p:cBhvr>
                                        <p:cTn id="20" dur="1" fill="hold">
                                          <p:stCondLst>
                                            <p:cond delay="0"/>
                                          </p:stCondLst>
                                        </p:cTn>
                                        <p:tgtEl>
                                          <p:spTgt spid="1055"/>
                                        </p:tgtEl>
                                        <p:attrNameLst>
                                          <p:attrName>style.visibility</p:attrName>
                                        </p:attrNameLst>
                                      </p:cBhvr>
                                      <p:to>
                                        <p:strVal val="visible"/>
                                      </p:to>
                                    </p:set>
                                    <p:animEffect transition="in" filter="fade">
                                      <p:cBhvr>
                                        <p:cTn id="21" dur="1000"/>
                                        <p:tgtEl>
                                          <p:spTgt spid="1055"/>
                                        </p:tgtEl>
                                      </p:cBhvr>
                                    </p:animEffect>
                                  </p:childTnLst>
                                </p:cTn>
                              </p:par>
                              <p:par>
                                <p:cTn id="22" presetID="10" presetClass="entr" presetSubtype="0" fill="hold" nodeType="withEffect">
                                  <p:stCondLst>
                                    <p:cond delay="0"/>
                                  </p:stCondLst>
                                  <p:childTnLst>
                                    <p:set>
                                      <p:cBhvr>
                                        <p:cTn id="23" dur="1" fill="hold">
                                          <p:stCondLst>
                                            <p:cond delay="0"/>
                                          </p:stCondLst>
                                        </p:cTn>
                                        <p:tgtEl>
                                          <p:spTgt spid="1056"/>
                                        </p:tgtEl>
                                        <p:attrNameLst>
                                          <p:attrName>style.visibility</p:attrName>
                                        </p:attrNameLst>
                                      </p:cBhvr>
                                      <p:to>
                                        <p:strVal val="visible"/>
                                      </p:to>
                                    </p:set>
                                    <p:animEffect transition="in" filter="fade">
                                      <p:cBhvr>
                                        <p:cTn id="24" dur="1000"/>
                                        <p:tgtEl>
                                          <p:spTgt spid="1056"/>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61"/>
                                        </p:tgtEl>
                                        <p:attrNameLst>
                                          <p:attrName>style.visibility</p:attrName>
                                        </p:attrNameLst>
                                      </p:cBhvr>
                                      <p:to>
                                        <p:strVal val="visible"/>
                                      </p:to>
                                    </p:set>
                                    <p:animEffect transition="in" filter="fade">
                                      <p:cBhvr>
                                        <p:cTn id="29" dur="1000"/>
                                        <p:tgtEl>
                                          <p:spTgt spid="1061"/>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05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62"/>
                                        </p:tgtEl>
                                        <p:attrNameLst>
                                          <p:attrName>style.visibility</p:attrName>
                                        </p:attrNameLst>
                                      </p:cBhvr>
                                      <p:to>
                                        <p:strVal val="visible"/>
                                      </p:to>
                                    </p:set>
                                    <p:animEffect transition="in" filter="fade">
                                      <p:cBhvr>
                                        <p:cTn id="38" dur="1000"/>
                                        <p:tgtEl>
                                          <p:spTgt spid="1062"/>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5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63"/>
                                        </p:tgtEl>
                                        <p:attrNameLst>
                                          <p:attrName>style.visibility</p:attrName>
                                        </p:attrNameLst>
                                      </p:cBhvr>
                                      <p:to>
                                        <p:strVal val="visible"/>
                                      </p:to>
                                    </p:set>
                                    <p:animEffect transition="in" filter="fade">
                                      <p:cBhvr>
                                        <p:cTn id="47" dur="1000"/>
                                        <p:tgtEl>
                                          <p:spTgt spid="1063"/>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5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064"/>
                                        </p:tgtEl>
                                        <p:attrNameLst>
                                          <p:attrName>style.visibility</p:attrName>
                                        </p:attrNameLst>
                                      </p:cBhvr>
                                      <p:to>
                                        <p:strVal val="visible"/>
                                      </p:to>
                                    </p:set>
                                    <p:animEffect transition="in" filter="fade">
                                      <p:cBhvr>
                                        <p:cTn id="56" dur="1000"/>
                                        <p:tgtEl>
                                          <p:spTgt spid="1064"/>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06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065"/>
                                        </p:tgtEl>
                                        <p:attrNameLst>
                                          <p:attrName>style.visibility</p:attrName>
                                        </p:attrNameLst>
                                      </p:cBhvr>
                                      <p:to>
                                        <p:strVal val="visible"/>
                                      </p:to>
                                    </p:set>
                                    <p:animEffect transition="in" filter="fade">
                                      <p:cBhvr>
                                        <p:cTn id="65" dur="1000"/>
                                        <p:tgtEl>
                                          <p:spTgt spid="1065"/>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nodeType="clickEffect">
                                  <p:stCondLst>
                                    <p:cond delay="0"/>
                                  </p:stCondLst>
                                  <p:childTnLst>
                                    <p:set>
                                      <p:cBhvr>
                                        <p:cTn id="69" dur="1" fill="hold">
                                          <p:stCondLst>
                                            <p:cond delay="0"/>
                                          </p:stCondLst>
                                        </p:cTn>
                                        <p:tgtEl>
                                          <p:spTgt spid="1066"/>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0" presetClass="entr" presetSubtype="0" fill="hold" nodeType="clickEffect">
                                  <p:stCondLst>
                                    <p:cond delay="0"/>
                                  </p:stCondLst>
                                  <p:childTnLst>
                                    <p:set>
                                      <p:cBhvr>
                                        <p:cTn id="73" dur="1" fill="hold">
                                          <p:stCondLst>
                                            <p:cond delay="0"/>
                                          </p:stCondLst>
                                        </p:cTn>
                                        <p:tgtEl>
                                          <p:spTgt spid="1067"/>
                                        </p:tgtEl>
                                        <p:attrNameLst>
                                          <p:attrName>style.visibility</p:attrName>
                                        </p:attrNameLst>
                                      </p:cBhvr>
                                      <p:to>
                                        <p:strVal val="visible"/>
                                      </p:to>
                                    </p:set>
                                    <p:animEffect transition="in" filter="fade">
                                      <p:cBhvr>
                                        <p:cTn id="74" dur="1000"/>
                                        <p:tgtEl>
                                          <p:spTgt spid="1067"/>
                                        </p:tgtEl>
                                      </p:cBhvr>
                                    </p:animEffec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068"/>
                                        </p:tgtEl>
                                        <p:attrNameLst>
                                          <p:attrName>style.visibility</p:attrName>
                                        </p:attrNameLst>
                                      </p:cBhvr>
                                      <p:to>
                                        <p:strVal val="visible"/>
                                      </p:to>
                                    </p:set>
                                    <p:animEffect transition="in" filter="fade">
                                      <p:cBhvr>
                                        <p:cTn id="79" dur="1000"/>
                                        <p:tgtEl>
                                          <p:spTgt spid="1068"/>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069"/>
                                        </p:tgtEl>
                                        <p:attrNameLst>
                                          <p:attrName>style.visibility</p:attrName>
                                        </p:attrNameLst>
                                      </p:cBhvr>
                                      <p:to>
                                        <p:strVal val="visible"/>
                                      </p:to>
                                    </p:set>
                                    <p:animEffect transition="in" filter="fade">
                                      <p:cBhvr>
                                        <p:cTn id="84" dur="1000"/>
                                        <p:tgtEl>
                                          <p:spTgt spid="1069"/>
                                        </p:tgtEl>
                                      </p:cBhvr>
                                    </p:animEffec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070"/>
                                        </p:tgtEl>
                                        <p:attrNameLst>
                                          <p:attrName>style.visibility</p:attrName>
                                        </p:attrNameLst>
                                      </p:cBhvr>
                                      <p:to>
                                        <p:strVal val="visible"/>
                                      </p:to>
                                    </p:set>
                                    <p:animEffect transition="in" filter="fade">
                                      <p:cBhvr>
                                        <p:cTn id="89" dur="1000"/>
                                        <p:tgtEl>
                                          <p:spTgt spid="1070"/>
                                        </p:tgtEl>
                                      </p:cBhvr>
                                    </p:animEffect>
                                  </p:childTnLst>
                                </p:cTn>
                              </p:par>
                            </p:childTnLst>
                          </p:cTn>
                        </p:par>
                      </p:childTnLst>
                    </p:cTn>
                  </p:par>
                  <p:par>
                    <p:cTn id="90" fill="hold">
                      <p:stCondLst>
                        <p:cond delay="indefinite"/>
                      </p:stCondLst>
                      <p:childTnLst>
                        <p:par>
                          <p:cTn id="91" fill="hold">
                            <p:stCondLst>
                              <p:cond delay="0"/>
                            </p:stCondLst>
                            <p:childTnLst>
                              <p:par>
                                <p:cTn id="92" presetID="10" presetClass="entr" presetSubtype="0" fill="hold" nodeType="clickEffect">
                                  <p:stCondLst>
                                    <p:cond delay="0"/>
                                  </p:stCondLst>
                                  <p:childTnLst>
                                    <p:set>
                                      <p:cBhvr>
                                        <p:cTn id="93" dur="1" fill="hold">
                                          <p:stCondLst>
                                            <p:cond delay="0"/>
                                          </p:stCondLst>
                                        </p:cTn>
                                        <p:tgtEl>
                                          <p:spTgt spid="1071"/>
                                        </p:tgtEl>
                                        <p:attrNameLst>
                                          <p:attrName>style.visibility</p:attrName>
                                        </p:attrNameLst>
                                      </p:cBhvr>
                                      <p:to>
                                        <p:strVal val="visible"/>
                                      </p:to>
                                    </p:set>
                                    <p:animEffect transition="in" filter="fade">
                                      <p:cBhvr>
                                        <p:cTn id="94" dur="1822"/>
                                        <p:tgtEl>
                                          <p:spTgt spid="10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080"/>
        <p:cNvGrpSpPr/>
        <p:nvPr/>
      </p:nvGrpSpPr>
      <p:grpSpPr>
        <a:xfrm>
          <a:off x="0" y="0"/>
          <a:ext cx="0" cy="0"/>
          <a:chOff x="0" y="0"/>
          <a:chExt cx="0" cy="0"/>
        </a:xfrm>
      </p:grpSpPr>
      <p:sp>
        <p:nvSpPr>
          <p:cNvPr id="1081" name="Google Shape;1081;p123"/>
          <p:cNvSpPr txBox="1"/>
          <p:nvPr/>
        </p:nvSpPr>
        <p:spPr>
          <a:xfrm>
            <a:off x="12700" y="0"/>
            <a:ext cx="9144000" cy="14700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3200"/>
              <a:buFont typeface="Calibri"/>
              <a:buNone/>
            </a:pPr>
            <a:r>
              <a:rPr lang="fr-FR" sz="3200" b="1" i="0" u="sng" strike="noStrike" cap="none">
                <a:solidFill>
                  <a:srgbClr val="000000"/>
                </a:solidFill>
                <a:latin typeface="Calibri"/>
                <a:ea typeface="Calibri"/>
                <a:cs typeface="Calibri"/>
                <a:sym typeface="Calibri"/>
              </a:rPr>
              <a:t>2ème Cas : FCFS (</a:t>
            </a:r>
            <a:r>
              <a:rPr lang="fr-FR" sz="3200" b="1" i="0" u="sng" strike="noStrike" cap="none">
                <a:solidFill>
                  <a:srgbClr val="000000"/>
                </a:solidFill>
                <a:latin typeface="Helvetica Neue"/>
                <a:ea typeface="Helvetica Neue"/>
                <a:cs typeface="Helvetica Neue"/>
                <a:sym typeface="Helvetica Neue"/>
              </a:rPr>
              <a:t>Premier arrivé, premier servi</a:t>
            </a:r>
            <a:r>
              <a:rPr lang="fr-FR" sz="3200" b="0" i="0" u="sng" strike="noStrike" cap="none">
                <a:solidFill>
                  <a:srgbClr val="000000"/>
                </a:solidFill>
                <a:latin typeface="Calibri"/>
                <a:ea typeface="Calibri"/>
                <a:cs typeface="Calibri"/>
                <a:sym typeface="Calibri"/>
              </a:rPr>
              <a:t> </a:t>
            </a:r>
            <a:r>
              <a:rPr lang="fr-FR" sz="3200" b="1" i="0" u="sng" strike="noStrike" cap="none">
                <a:solidFill>
                  <a:srgbClr val="000000"/>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p:txBody>
      </p:sp>
      <p:graphicFrame>
        <p:nvGraphicFramePr>
          <p:cNvPr id="1082" name="Google Shape;1082;p123"/>
          <p:cNvGraphicFramePr/>
          <p:nvPr/>
        </p:nvGraphicFramePr>
        <p:xfrm>
          <a:off x="152400" y="1504890"/>
          <a:ext cx="4306950" cy="2062530"/>
        </p:xfrm>
        <a:graphic>
          <a:graphicData uri="http://schemas.openxmlformats.org/drawingml/2006/table">
            <a:tbl>
              <a:tblPr firstRow="1" bandRow="1">
                <a:noFill/>
              </a:tblPr>
              <a:tblGrid>
                <a:gridCol w="1435650">
                  <a:extLst>
                    <a:ext uri="{9D8B030D-6E8A-4147-A177-3AD203B41FA5}">
                      <a16:colId xmlns:a16="http://schemas.microsoft.com/office/drawing/2014/main" val="20000"/>
                    </a:ext>
                  </a:extLst>
                </a:gridCol>
                <a:gridCol w="1435650">
                  <a:extLst>
                    <a:ext uri="{9D8B030D-6E8A-4147-A177-3AD203B41FA5}">
                      <a16:colId xmlns:a16="http://schemas.microsoft.com/office/drawing/2014/main" val="20001"/>
                    </a:ext>
                  </a:extLst>
                </a:gridCol>
                <a:gridCol w="1435650">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Clr>
                          <a:srgbClr val="000000"/>
                        </a:buClr>
                        <a:buSzPts val="1600"/>
                        <a:buFont typeface="Arial"/>
                        <a:buNone/>
                      </a:pPr>
                      <a:r>
                        <a:rPr lang="fr-FR" sz="1600" u="none" strike="noStrike" cap="none"/>
                        <a:t>Processus</a:t>
                      </a:r>
                      <a:endParaRPr sz="16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600"/>
                        <a:buFont typeface="Arial"/>
                        <a:buNone/>
                      </a:pPr>
                      <a:r>
                        <a:rPr lang="fr-FR" sz="1600" u="none" strike="noStrike" cap="none"/>
                        <a:t>Temps d’exécution</a:t>
                      </a:r>
                      <a:endParaRPr sz="16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600"/>
                        <a:buFont typeface="Arial"/>
                        <a:buNone/>
                      </a:pPr>
                      <a:r>
                        <a:rPr lang="fr-FR" sz="1600" u="none" strike="noStrike" cap="none"/>
                        <a:t>Temps d’arrivée</a:t>
                      </a:r>
                      <a:endParaRPr sz="16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20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0</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3</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2</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9</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400" u="none" strike="noStrike" cap="none"/>
                    </a:p>
                  </a:txBody>
                  <a:tcPr marL="91450" marR="91450" marT="45725" marB="45725"/>
                </a:tc>
                <a:extLst>
                  <a:ext uri="{0D108BD9-81ED-4DB2-BD59-A6C34878D82A}">
                    <a16:rowId xmlns:a16="http://schemas.microsoft.com/office/drawing/2014/main" val="10004"/>
                  </a:ext>
                </a:extLst>
              </a:tr>
            </a:tbl>
          </a:graphicData>
        </a:graphic>
      </p:graphicFrame>
      <p:sp>
        <p:nvSpPr>
          <p:cNvPr id="1083" name="Google Shape;1083;p123"/>
          <p:cNvSpPr/>
          <p:nvPr/>
        </p:nvSpPr>
        <p:spPr>
          <a:xfrm>
            <a:off x="150843" y="4038600"/>
            <a:ext cx="7620000" cy="6096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084" name="Google Shape;1084;p123"/>
          <p:cNvCxnSpPr/>
          <p:nvPr/>
        </p:nvCxnSpPr>
        <p:spPr>
          <a:xfrm>
            <a:off x="150843" y="4038600"/>
            <a:ext cx="0" cy="762000"/>
          </a:xfrm>
          <a:prstGeom prst="straightConnector1">
            <a:avLst/>
          </a:prstGeom>
          <a:noFill/>
          <a:ln w="9525" cap="flat" cmpd="sng">
            <a:solidFill>
              <a:schemeClr val="dk1"/>
            </a:solidFill>
            <a:prstDash val="solid"/>
            <a:round/>
            <a:headEnd type="none" w="sm" len="sm"/>
            <a:tailEnd type="none" w="sm" len="sm"/>
          </a:ln>
        </p:spPr>
      </p:cxnSp>
      <p:cxnSp>
        <p:nvCxnSpPr>
          <p:cNvPr id="1085" name="Google Shape;1085;p123"/>
          <p:cNvCxnSpPr/>
          <p:nvPr/>
        </p:nvCxnSpPr>
        <p:spPr>
          <a:xfrm>
            <a:off x="3276600" y="4038600"/>
            <a:ext cx="0" cy="762000"/>
          </a:xfrm>
          <a:prstGeom prst="straightConnector1">
            <a:avLst/>
          </a:prstGeom>
          <a:noFill/>
          <a:ln w="9525" cap="flat" cmpd="sng">
            <a:solidFill>
              <a:schemeClr val="dk1"/>
            </a:solidFill>
            <a:prstDash val="solid"/>
            <a:round/>
            <a:headEnd type="none" w="sm" len="sm"/>
            <a:tailEnd type="none" w="sm" len="sm"/>
          </a:ln>
        </p:spPr>
      </p:cxnSp>
      <p:cxnSp>
        <p:nvCxnSpPr>
          <p:cNvPr id="1086" name="Google Shape;1086;p123"/>
          <p:cNvCxnSpPr/>
          <p:nvPr/>
        </p:nvCxnSpPr>
        <p:spPr>
          <a:xfrm>
            <a:off x="3973691" y="4038600"/>
            <a:ext cx="0" cy="762000"/>
          </a:xfrm>
          <a:prstGeom prst="straightConnector1">
            <a:avLst/>
          </a:prstGeom>
          <a:noFill/>
          <a:ln w="9525" cap="flat" cmpd="sng">
            <a:solidFill>
              <a:schemeClr val="dk1"/>
            </a:solidFill>
            <a:prstDash val="solid"/>
            <a:round/>
            <a:headEnd type="none" w="sm" len="sm"/>
            <a:tailEnd type="none" w="sm" len="sm"/>
          </a:ln>
        </p:spPr>
      </p:cxnSp>
      <p:cxnSp>
        <p:nvCxnSpPr>
          <p:cNvPr id="1087" name="Google Shape;1087;p123"/>
          <p:cNvCxnSpPr/>
          <p:nvPr/>
        </p:nvCxnSpPr>
        <p:spPr>
          <a:xfrm>
            <a:off x="6539577" y="4038600"/>
            <a:ext cx="0" cy="762000"/>
          </a:xfrm>
          <a:prstGeom prst="straightConnector1">
            <a:avLst/>
          </a:prstGeom>
          <a:noFill/>
          <a:ln w="9525" cap="flat" cmpd="sng">
            <a:solidFill>
              <a:schemeClr val="dk1"/>
            </a:solidFill>
            <a:prstDash val="solid"/>
            <a:round/>
            <a:headEnd type="none" w="sm" len="sm"/>
            <a:tailEnd type="none" w="sm" len="sm"/>
          </a:ln>
        </p:spPr>
      </p:cxnSp>
      <p:cxnSp>
        <p:nvCxnSpPr>
          <p:cNvPr id="1088" name="Google Shape;1088;p123"/>
          <p:cNvCxnSpPr/>
          <p:nvPr/>
        </p:nvCxnSpPr>
        <p:spPr>
          <a:xfrm>
            <a:off x="7770843" y="4051300"/>
            <a:ext cx="0" cy="762000"/>
          </a:xfrm>
          <a:prstGeom prst="straightConnector1">
            <a:avLst/>
          </a:prstGeom>
          <a:noFill/>
          <a:ln w="9525" cap="flat" cmpd="sng">
            <a:solidFill>
              <a:schemeClr val="dk1"/>
            </a:solidFill>
            <a:prstDash val="solid"/>
            <a:round/>
            <a:headEnd type="none" w="sm" len="sm"/>
            <a:tailEnd type="none" w="sm" len="sm"/>
          </a:ln>
        </p:spPr>
      </p:cxnSp>
      <p:sp>
        <p:nvSpPr>
          <p:cNvPr id="1089" name="Google Shape;1089;p123"/>
          <p:cNvSpPr txBox="1"/>
          <p:nvPr/>
        </p:nvSpPr>
        <p:spPr>
          <a:xfrm>
            <a:off x="0" y="480060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0</a:t>
            </a:r>
            <a:endParaRPr sz="1400" b="0" i="0" u="none" strike="noStrike" cap="none">
              <a:solidFill>
                <a:srgbClr val="000000"/>
              </a:solidFill>
              <a:latin typeface="Arial"/>
              <a:ea typeface="Arial"/>
              <a:cs typeface="Arial"/>
              <a:sym typeface="Arial"/>
            </a:endParaRPr>
          </a:p>
        </p:txBody>
      </p:sp>
      <p:sp>
        <p:nvSpPr>
          <p:cNvPr id="1090" name="Google Shape;1090;p123"/>
          <p:cNvSpPr/>
          <p:nvPr/>
        </p:nvSpPr>
        <p:spPr>
          <a:xfrm>
            <a:off x="4483734" y="1522148"/>
            <a:ext cx="4697889" cy="3385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rgbClr val="F79646"/>
                </a:solidFill>
                <a:latin typeface="Calibri"/>
                <a:ea typeface="Calibri"/>
                <a:cs typeface="Calibri"/>
                <a:sym typeface="Calibri"/>
              </a:rPr>
              <a:t>Temps d’attente : début d’exécution– temps d’arrivée</a:t>
            </a:r>
            <a:endParaRPr sz="1600" b="1" i="0" u="none" strike="noStrike" cap="none">
              <a:solidFill>
                <a:srgbClr val="F79646"/>
              </a:solidFill>
              <a:latin typeface="Calibri"/>
              <a:ea typeface="Calibri"/>
              <a:cs typeface="Calibri"/>
              <a:sym typeface="Calibri"/>
            </a:endParaRPr>
          </a:p>
        </p:txBody>
      </p:sp>
      <p:sp>
        <p:nvSpPr>
          <p:cNvPr id="1091" name="Google Shape;1091;p123"/>
          <p:cNvSpPr/>
          <p:nvPr/>
        </p:nvSpPr>
        <p:spPr>
          <a:xfrm>
            <a:off x="4572000" y="1866780"/>
            <a:ext cx="44196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P1 = 0 – 0   = 0</a:t>
            </a:r>
            <a:endParaRPr sz="1400" b="0" i="0" u="none" strike="noStrike" cap="none">
              <a:solidFill>
                <a:srgbClr val="000000"/>
              </a:solidFill>
              <a:latin typeface="Arial"/>
              <a:ea typeface="Arial"/>
              <a:cs typeface="Arial"/>
              <a:sym typeface="Arial"/>
            </a:endParaRPr>
          </a:p>
        </p:txBody>
      </p:sp>
      <p:sp>
        <p:nvSpPr>
          <p:cNvPr id="1092" name="Google Shape;1092;p123"/>
          <p:cNvSpPr/>
          <p:nvPr/>
        </p:nvSpPr>
        <p:spPr>
          <a:xfrm>
            <a:off x="4572000" y="2171580"/>
            <a:ext cx="34225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P2 = 24 – 3 = 21 </a:t>
            </a:r>
            <a:endParaRPr sz="1400" b="0" i="0" u="none" strike="noStrike" cap="none">
              <a:solidFill>
                <a:srgbClr val="000000"/>
              </a:solidFill>
              <a:latin typeface="Arial"/>
              <a:ea typeface="Arial"/>
              <a:cs typeface="Arial"/>
              <a:sym typeface="Arial"/>
            </a:endParaRPr>
          </a:p>
        </p:txBody>
      </p:sp>
      <p:sp>
        <p:nvSpPr>
          <p:cNvPr id="1093" name="Google Shape;1093;p123"/>
          <p:cNvSpPr/>
          <p:nvPr/>
        </p:nvSpPr>
        <p:spPr>
          <a:xfrm>
            <a:off x="4566208" y="2476380"/>
            <a:ext cx="183095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P3 = 20 – 2 = 18</a:t>
            </a:r>
            <a:endParaRPr sz="1400" b="0" i="0" u="none" strike="noStrike" cap="none">
              <a:solidFill>
                <a:srgbClr val="000000"/>
              </a:solidFill>
              <a:latin typeface="Arial"/>
              <a:ea typeface="Arial"/>
              <a:cs typeface="Arial"/>
              <a:sym typeface="Arial"/>
            </a:endParaRPr>
          </a:p>
        </p:txBody>
      </p:sp>
      <p:sp>
        <p:nvSpPr>
          <p:cNvPr id="1094" name="Google Shape;1094;p123"/>
          <p:cNvSpPr/>
          <p:nvPr/>
        </p:nvSpPr>
        <p:spPr>
          <a:xfrm>
            <a:off x="4572000" y="2781180"/>
            <a:ext cx="183095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P4 = 36 – 5 = 31</a:t>
            </a:r>
            <a:endParaRPr sz="1400" b="0" i="0" u="none" strike="noStrike" cap="none">
              <a:solidFill>
                <a:srgbClr val="000000"/>
              </a:solidFill>
              <a:latin typeface="Arial"/>
              <a:ea typeface="Arial"/>
              <a:cs typeface="Arial"/>
              <a:sym typeface="Arial"/>
            </a:endParaRPr>
          </a:p>
        </p:txBody>
      </p:sp>
      <p:sp>
        <p:nvSpPr>
          <p:cNvPr id="1095" name="Google Shape;1095;p123"/>
          <p:cNvSpPr txBox="1"/>
          <p:nvPr/>
        </p:nvSpPr>
        <p:spPr>
          <a:xfrm>
            <a:off x="3060848" y="480060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20</a:t>
            </a:r>
            <a:endParaRPr sz="1400" b="0" i="0" u="none" strike="noStrike" cap="none">
              <a:solidFill>
                <a:srgbClr val="000000"/>
              </a:solidFill>
              <a:latin typeface="Arial"/>
              <a:ea typeface="Arial"/>
              <a:cs typeface="Arial"/>
              <a:sym typeface="Arial"/>
            </a:endParaRPr>
          </a:p>
        </p:txBody>
      </p:sp>
      <p:sp>
        <p:nvSpPr>
          <p:cNvPr id="1096" name="Google Shape;1096;p123"/>
          <p:cNvSpPr txBox="1"/>
          <p:nvPr/>
        </p:nvSpPr>
        <p:spPr>
          <a:xfrm>
            <a:off x="3746648" y="480060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24</a:t>
            </a:r>
            <a:endParaRPr sz="1400" b="0" i="0" u="none" strike="noStrike" cap="none">
              <a:solidFill>
                <a:srgbClr val="000000"/>
              </a:solidFill>
              <a:latin typeface="Arial"/>
              <a:ea typeface="Arial"/>
              <a:cs typeface="Arial"/>
              <a:sym typeface="Arial"/>
            </a:endParaRPr>
          </a:p>
        </p:txBody>
      </p:sp>
      <p:sp>
        <p:nvSpPr>
          <p:cNvPr id="1097" name="Google Shape;1097;p123"/>
          <p:cNvSpPr txBox="1"/>
          <p:nvPr/>
        </p:nvSpPr>
        <p:spPr>
          <a:xfrm>
            <a:off x="1423034" y="411480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098" name="Google Shape;1098;p123"/>
          <p:cNvSpPr txBox="1"/>
          <p:nvPr/>
        </p:nvSpPr>
        <p:spPr>
          <a:xfrm>
            <a:off x="3404234" y="411480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099" name="Google Shape;1099;p123"/>
          <p:cNvSpPr txBox="1"/>
          <p:nvPr/>
        </p:nvSpPr>
        <p:spPr>
          <a:xfrm>
            <a:off x="4928234" y="411480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100" name="Google Shape;1100;p123"/>
          <p:cNvSpPr txBox="1"/>
          <p:nvPr/>
        </p:nvSpPr>
        <p:spPr>
          <a:xfrm>
            <a:off x="6858000" y="411480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sp>
        <p:nvSpPr>
          <p:cNvPr id="1101" name="Google Shape;1101;p123"/>
          <p:cNvSpPr txBox="1"/>
          <p:nvPr/>
        </p:nvSpPr>
        <p:spPr>
          <a:xfrm>
            <a:off x="6337448" y="480060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36</a:t>
            </a:r>
            <a:endParaRPr sz="1400" b="0" i="0" u="none" strike="noStrike" cap="none">
              <a:solidFill>
                <a:srgbClr val="000000"/>
              </a:solidFill>
              <a:latin typeface="Arial"/>
              <a:ea typeface="Arial"/>
              <a:cs typeface="Arial"/>
              <a:sym typeface="Arial"/>
            </a:endParaRPr>
          </a:p>
        </p:txBody>
      </p:sp>
      <p:sp>
        <p:nvSpPr>
          <p:cNvPr id="1102" name="Google Shape;1102;p123"/>
          <p:cNvSpPr txBox="1"/>
          <p:nvPr/>
        </p:nvSpPr>
        <p:spPr>
          <a:xfrm>
            <a:off x="7556648" y="480060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45</a:t>
            </a:r>
            <a:endParaRPr sz="1400" b="0" i="0" u="none" strike="noStrike" cap="none">
              <a:solidFill>
                <a:srgbClr val="000000"/>
              </a:solidFill>
              <a:latin typeface="Arial"/>
              <a:ea typeface="Arial"/>
              <a:cs typeface="Arial"/>
              <a:sym typeface="Arial"/>
            </a:endParaRPr>
          </a:p>
        </p:txBody>
      </p:sp>
      <p:sp>
        <p:nvSpPr>
          <p:cNvPr id="1103" name="Google Shape;1103;p123"/>
          <p:cNvSpPr/>
          <p:nvPr/>
        </p:nvSpPr>
        <p:spPr>
          <a:xfrm>
            <a:off x="157255" y="5710535"/>
            <a:ext cx="8302537"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70C0"/>
                </a:solidFill>
                <a:latin typeface="Calibri"/>
                <a:ea typeface="Calibri"/>
                <a:cs typeface="Calibri"/>
                <a:sym typeface="Calibri"/>
              </a:rPr>
              <a:t>Temps d’attente moyen = (0 + 21 + 18 + 31) / 4 = 70 / 4=17,5</a:t>
            </a:r>
            <a:endParaRPr sz="1400" b="0" i="0" u="none" strike="noStrike" cap="none">
              <a:solidFill>
                <a:srgbClr val="000000"/>
              </a:solidFill>
              <a:latin typeface="Arial"/>
              <a:ea typeface="Arial"/>
              <a:cs typeface="Arial"/>
              <a:sym typeface="Arial"/>
            </a:endParaRPr>
          </a:p>
        </p:txBody>
      </p:sp>
      <p:sp>
        <p:nvSpPr>
          <p:cNvPr id="1104" name="Google Shape;1104;p123"/>
          <p:cNvSpPr txBox="1"/>
          <p:nvPr/>
        </p:nvSpPr>
        <p:spPr>
          <a:xfrm>
            <a:off x="150843" y="847514"/>
            <a:ext cx="518315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Calibri"/>
                <a:ea typeface="Calibri"/>
                <a:cs typeface="Calibri"/>
                <a:sym typeface="Calibri"/>
              </a:rPr>
              <a:t>On considère l’ensemble de processus suivant :</a:t>
            </a:r>
            <a:endParaRPr sz="1400" b="0" i="0" u="none" strike="noStrike" cap="none">
              <a:solidFill>
                <a:srgbClr val="000000"/>
              </a:solidFill>
              <a:latin typeface="Arial"/>
              <a:ea typeface="Arial"/>
              <a:cs typeface="Arial"/>
              <a:sym typeface="Arial"/>
            </a:endParaRPr>
          </a:p>
        </p:txBody>
      </p:sp>
      <p:sp>
        <p:nvSpPr>
          <p:cNvPr id="1105" name="Google Shape;1105;p123"/>
          <p:cNvSpPr txBox="1"/>
          <p:nvPr/>
        </p:nvSpPr>
        <p:spPr>
          <a:xfrm>
            <a:off x="314510" y="3669268"/>
            <a:ext cx="646729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Le diagramme de Gantt pour l’ordonnancement FCFS est :</a:t>
            </a:r>
            <a:endParaRPr sz="1400" b="0" i="0" u="none" strike="noStrike" cap="none">
              <a:solidFill>
                <a:srgbClr val="000000"/>
              </a:solidFill>
              <a:latin typeface="Arial"/>
              <a:ea typeface="Arial"/>
              <a:cs typeface="Arial"/>
              <a:sym typeface="Arial"/>
            </a:endParaRPr>
          </a:p>
        </p:txBody>
      </p:sp>
      <p:sp>
        <p:nvSpPr>
          <p:cNvPr id="1106" name="Google Shape;1106;p12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40</a:t>
            </a:fld>
            <a:endParaRPr>
              <a:solidFill>
                <a:srgbClr val="88888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83"/>
                                        </p:tgtEl>
                                        <p:attrNameLst>
                                          <p:attrName>style.visibility</p:attrName>
                                        </p:attrNameLst>
                                      </p:cBhvr>
                                      <p:to>
                                        <p:strVal val="visible"/>
                                      </p:to>
                                    </p:set>
                                    <p:animEffect transition="in" filter="fade">
                                      <p:cBhvr>
                                        <p:cTn id="7" dur="1000"/>
                                        <p:tgtEl>
                                          <p:spTgt spid="108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84"/>
                                        </p:tgtEl>
                                        <p:attrNameLst>
                                          <p:attrName>style.visibility</p:attrName>
                                        </p:attrNameLst>
                                      </p:cBhvr>
                                      <p:to>
                                        <p:strVal val="visible"/>
                                      </p:to>
                                    </p:set>
                                    <p:animEffect transition="in" filter="fade">
                                      <p:cBhvr>
                                        <p:cTn id="12" dur="1000"/>
                                        <p:tgtEl>
                                          <p:spTgt spid="1084"/>
                                        </p:tgtEl>
                                      </p:cBhvr>
                                    </p:animEffect>
                                  </p:childTnLst>
                                </p:cTn>
                              </p:par>
                              <p:par>
                                <p:cTn id="13" presetID="10" presetClass="entr" presetSubtype="0" fill="hold" nodeType="withEffect">
                                  <p:stCondLst>
                                    <p:cond delay="0"/>
                                  </p:stCondLst>
                                  <p:childTnLst>
                                    <p:set>
                                      <p:cBhvr>
                                        <p:cTn id="14" dur="1" fill="hold">
                                          <p:stCondLst>
                                            <p:cond delay="0"/>
                                          </p:stCondLst>
                                        </p:cTn>
                                        <p:tgtEl>
                                          <p:spTgt spid="1085"/>
                                        </p:tgtEl>
                                        <p:attrNameLst>
                                          <p:attrName>style.visibility</p:attrName>
                                        </p:attrNameLst>
                                      </p:cBhvr>
                                      <p:to>
                                        <p:strVal val="visible"/>
                                      </p:to>
                                    </p:set>
                                    <p:animEffect transition="in" filter="fade">
                                      <p:cBhvr>
                                        <p:cTn id="15" dur="1000"/>
                                        <p:tgtEl>
                                          <p:spTgt spid="1085"/>
                                        </p:tgtEl>
                                      </p:cBhvr>
                                    </p:animEffect>
                                  </p:childTnLst>
                                </p:cTn>
                              </p:par>
                              <p:par>
                                <p:cTn id="16" presetID="10" presetClass="entr" presetSubtype="0" fill="hold" nodeType="withEffect">
                                  <p:stCondLst>
                                    <p:cond delay="0"/>
                                  </p:stCondLst>
                                  <p:childTnLst>
                                    <p:set>
                                      <p:cBhvr>
                                        <p:cTn id="17" dur="1" fill="hold">
                                          <p:stCondLst>
                                            <p:cond delay="0"/>
                                          </p:stCondLst>
                                        </p:cTn>
                                        <p:tgtEl>
                                          <p:spTgt spid="1086"/>
                                        </p:tgtEl>
                                        <p:attrNameLst>
                                          <p:attrName>style.visibility</p:attrName>
                                        </p:attrNameLst>
                                      </p:cBhvr>
                                      <p:to>
                                        <p:strVal val="visible"/>
                                      </p:to>
                                    </p:set>
                                    <p:animEffect transition="in" filter="fade">
                                      <p:cBhvr>
                                        <p:cTn id="18" dur="1000"/>
                                        <p:tgtEl>
                                          <p:spTgt spid="1086"/>
                                        </p:tgtEl>
                                      </p:cBhvr>
                                    </p:animEffect>
                                  </p:childTnLst>
                                </p:cTn>
                              </p:par>
                              <p:par>
                                <p:cTn id="19" presetID="10" presetClass="entr" presetSubtype="0" fill="hold" nodeType="withEffect">
                                  <p:stCondLst>
                                    <p:cond delay="0"/>
                                  </p:stCondLst>
                                  <p:childTnLst>
                                    <p:set>
                                      <p:cBhvr>
                                        <p:cTn id="20" dur="1" fill="hold">
                                          <p:stCondLst>
                                            <p:cond delay="0"/>
                                          </p:stCondLst>
                                        </p:cTn>
                                        <p:tgtEl>
                                          <p:spTgt spid="1087"/>
                                        </p:tgtEl>
                                        <p:attrNameLst>
                                          <p:attrName>style.visibility</p:attrName>
                                        </p:attrNameLst>
                                      </p:cBhvr>
                                      <p:to>
                                        <p:strVal val="visible"/>
                                      </p:to>
                                    </p:set>
                                    <p:animEffect transition="in" filter="fade">
                                      <p:cBhvr>
                                        <p:cTn id="21" dur="1000"/>
                                        <p:tgtEl>
                                          <p:spTgt spid="1087"/>
                                        </p:tgtEl>
                                      </p:cBhvr>
                                    </p:animEffect>
                                  </p:childTnLst>
                                </p:cTn>
                              </p:par>
                              <p:par>
                                <p:cTn id="22" presetID="10" presetClass="entr" presetSubtype="0" fill="hold" nodeType="withEffect">
                                  <p:stCondLst>
                                    <p:cond delay="0"/>
                                  </p:stCondLst>
                                  <p:childTnLst>
                                    <p:set>
                                      <p:cBhvr>
                                        <p:cTn id="23" dur="1" fill="hold">
                                          <p:stCondLst>
                                            <p:cond delay="0"/>
                                          </p:stCondLst>
                                        </p:cTn>
                                        <p:tgtEl>
                                          <p:spTgt spid="1088"/>
                                        </p:tgtEl>
                                        <p:attrNameLst>
                                          <p:attrName>style.visibility</p:attrName>
                                        </p:attrNameLst>
                                      </p:cBhvr>
                                      <p:to>
                                        <p:strVal val="visible"/>
                                      </p:to>
                                    </p:set>
                                    <p:animEffect transition="in" filter="fade">
                                      <p:cBhvr>
                                        <p:cTn id="24" dur="1000"/>
                                        <p:tgtEl>
                                          <p:spTgt spid="108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89"/>
                                        </p:tgtEl>
                                        <p:attrNameLst>
                                          <p:attrName>style.visibility</p:attrName>
                                        </p:attrNameLst>
                                      </p:cBhvr>
                                      <p:to>
                                        <p:strVal val="visible"/>
                                      </p:to>
                                    </p:set>
                                    <p:animEffect transition="in" filter="fade">
                                      <p:cBhvr>
                                        <p:cTn id="29" dur="1000"/>
                                        <p:tgtEl>
                                          <p:spTgt spid="108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097"/>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095"/>
                                        </p:tgtEl>
                                        <p:attrNameLst>
                                          <p:attrName>style.visibility</p:attrName>
                                        </p:attrNameLst>
                                      </p:cBhvr>
                                      <p:to>
                                        <p:strVal val="visible"/>
                                      </p:to>
                                    </p:set>
                                    <p:animEffect transition="in" filter="fade">
                                      <p:cBhvr>
                                        <p:cTn id="38" dur="1000"/>
                                        <p:tgtEl>
                                          <p:spTgt spid="1095"/>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9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096"/>
                                        </p:tgtEl>
                                        <p:attrNameLst>
                                          <p:attrName>style.visibility</p:attrName>
                                        </p:attrNameLst>
                                      </p:cBhvr>
                                      <p:to>
                                        <p:strVal val="visible"/>
                                      </p:to>
                                    </p:set>
                                    <p:animEffect transition="in" filter="fade">
                                      <p:cBhvr>
                                        <p:cTn id="47" dur="1000"/>
                                        <p:tgtEl>
                                          <p:spTgt spid="1096"/>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099"/>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101"/>
                                        </p:tgtEl>
                                        <p:attrNameLst>
                                          <p:attrName>style.visibility</p:attrName>
                                        </p:attrNameLst>
                                      </p:cBhvr>
                                      <p:to>
                                        <p:strVal val="visible"/>
                                      </p:to>
                                    </p:set>
                                    <p:animEffect transition="in" filter="fade">
                                      <p:cBhvr>
                                        <p:cTn id="56" dur="1000"/>
                                        <p:tgtEl>
                                          <p:spTgt spid="1101"/>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100"/>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102"/>
                                        </p:tgtEl>
                                        <p:attrNameLst>
                                          <p:attrName>style.visibility</p:attrName>
                                        </p:attrNameLst>
                                      </p:cBhvr>
                                      <p:to>
                                        <p:strVal val="visible"/>
                                      </p:to>
                                    </p:set>
                                    <p:animEffect transition="in" filter="fade">
                                      <p:cBhvr>
                                        <p:cTn id="65" dur="1000"/>
                                        <p:tgtEl>
                                          <p:spTgt spid="1102"/>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1090"/>
                                        </p:tgtEl>
                                        <p:attrNameLst>
                                          <p:attrName>style.visibility</p:attrName>
                                        </p:attrNameLst>
                                      </p:cBhvr>
                                      <p:to>
                                        <p:strVal val="visible"/>
                                      </p:to>
                                    </p:set>
                                    <p:animEffect transition="in" filter="fade">
                                      <p:cBhvr>
                                        <p:cTn id="70" dur="1000"/>
                                        <p:tgtEl>
                                          <p:spTgt spid="1090"/>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091"/>
                                        </p:tgtEl>
                                        <p:attrNameLst>
                                          <p:attrName>style.visibility</p:attrName>
                                        </p:attrNameLst>
                                      </p:cBhvr>
                                      <p:to>
                                        <p:strVal val="visible"/>
                                      </p:to>
                                    </p:set>
                                    <p:animEffect transition="in" filter="fade">
                                      <p:cBhvr>
                                        <p:cTn id="75" dur="1000"/>
                                        <p:tgtEl>
                                          <p:spTgt spid="1091"/>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nodeType="clickEffect">
                                  <p:stCondLst>
                                    <p:cond delay="0"/>
                                  </p:stCondLst>
                                  <p:childTnLst>
                                    <p:set>
                                      <p:cBhvr>
                                        <p:cTn id="79" dur="1" fill="hold">
                                          <p:stCondLst>
                                            <p:cond delay="0"/>
                                          </p:stCondLst>
                                        </p:cTn>
                                        <p:tgtEl>
                                          <p:spTgt spid="1092"/>
                                        </p:tgtEl>
                                        <p:attrNameLst>
                                          <p:attrName>style.visibility</p:attrName>
                                        </p:attrNameLst>
                                      </p:cBhvr>
                                      <p:to>
                                        <p:strVal val="visible"/>
                                      </p:to>
                                    </p:set>
                                    <p:animEffect transition="in" filter="fade">
                                      <p:cBhvr>
                                        <p:cTn id="80" dur="1000"/>
                                        <p:tgtEl>
                                          <p:spTgt spid="1092"/>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nodeType="clickEffect">
                                  <p:stCondLst>
                                    <p:cond delay="0"/>
                                  </p:stCondLst>
                                  <p:childTnLst>
                                    <p:set>
                                      <p:cBhvr>
                                        <p:cTn id="84" dur="1" fill="hold">
                                          <p:stCondLst>
                                            <p:cond delay="0"/>
                                          </p:stCondLst>
                                        </p:cTn>
                                        <p:tgtEl>
                                          <p:spTgt spid="1093"/>
                                        </p:tgtEl>
                                        <p:attrNameLst>
                                          <p:attrName>style.visibility</p:attrName>
                                        </p:attrNameLst>
                                      </p:cBhvr>
                                      <p:to>
                                        <p:strVal val="visible"/>
                                      </p:to>
                                    </p:set>
                                    <p:animEffect transition="in" filter="fade">
                                      <p:cBhvr>
                                        <p:cTn id="85" dur="1000"/>
                                        <p:tgtEl>
                                          <p:spTgt spid="1093"/>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nodeType="clickEffect">
                                  <p:stCondLst>
                                    <p:cond delay="0"/>
                                  </p:stCondLst>
                                  <p:childTnLst>
                                    <p:set>
                                      <p:cBhvr>
                                        <p:cTn id="89" dur="1" fill="hold">
                                          <p:stCondLst>
                                            <p:cond delay="0"/>
                                          </p:stCondLst>
                                        </p:cTn>
                                        <p:tgtEl>
                                          <p:spTgt spid="1094"/>
                                        </p:tgtEl>
                                        <p:attrNameLst>
                                          <p:attrName>style.visibility</p:attrName>
                                        </p:attrNameLst>
                                      </p:cBhvr>
                                      <p:to>
                                        <p:strVal val="visible"/>
                                      </p:to>
                                    </p:set>
                                    <p:animEffect transition="in" filter="fade">
                                      <p:cBhvr>
                                        <p:cTn id="90" dur="1000"/>
                                        <p:tgtEl>
                                          <p:spTgt spid="1094"/>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1103"/>
                                        </p:tgtEl>
                                        <p:attrNameLst>
                                          <p:attrName>style.visibility</p:attrName>
                                        </p:attrNameLst>
                                      </p:cBhvr>
                                      <p:to>
                                        <p:strVal val="visible"/>
                                      </p:to>
                                    </p:set>
                                    <p:animEffect transition="in" filter="fade">
                                      <p:cBhvr>
                                        <p:cTn id="95" dur="2000"/>
                                        <p:tgtEl>
                                          <p:spTgt spid="1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111"/>
        <p:cNvGrpSpPr/>
        <p:nvPr/>
      </p:nvGrpSpPr>
      <p:grpSpPr>
        <a:xfrm>
          <a:off x="0" y="0"/>
          <a:ext cx="0" cy="0"/>
          <a:chOff x="0" y="0"/>
          <a:chExt cx="0" cy="0"/>
        </a:xfrm>
      </p:grpSpPr>
      <p:sp>
        <p:nvSpPr>
          <p:cNvPr id="1112" name="Google Shape;1112;p124"/>
          <p:cNvSpPr/>
          <p:nvPr/>
        </p:nvSpPr>
        <p:spPr>
          <a:xfrm>
            <a:off x="673857" y="2600139"/>
            <a:ext cx="7748857" cy="1874114"/>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13" name="Google Shape;1113;p124"/>
          <p:cNvSpPr txBox="1">
            <a:spLocks noGrp="1"/>
          </p:cNvSpPr>
          <p:nvPr>
            <p:ph type="title"/>
          </p:nvPr>
        </p:nvSpPr>
        <p:spPr>
          <a:xfrm>
            <a:off x="381000" y="0"/>
            <a:ext cx="7919100" cy="998700"/>
          </a:xfrm>
          <a:prstGeom prst="rect">
            <a:avLst/>
          </a:prstGeom>
          <a:noFill/>
          <a:ln>
            <a:noFill/>
          </a:ln>
        </p:spPr>
        <p:txBody>
          <a:bodyPr spcFirstLastPara="1" wrap="square" lIns="0" tIns="13325" rIns="0" bIns="0" anchor="t" anchorCtr="0">
            <a:spAutoFit/>
          </a:bodyPr>
          <a:lstStyle/>
          <a:p>
            <a:pPr marL="0" marR="0" lvl="0" indent="0" algn="l" rtl="0">
              <a:lnSpc>
                <a:spcPct val="100000"/>
              </a:lnSpc>
              <a:spcBef>
                <a:spcPts val="0"/>
              </a:spcBef>
              <a:spcAft>
                <a:spcPts val="0"/>
              </a:spcAft>
              <a:buClr>
                <a:schemeClr val="dk1"/>
              </a:buClr>
              <a:buSzPts val="3200"/>
              <a:buFont typeface="Calibri"/>
              <a:buNone/>
            </a:pPr>
            <a:r>
              <a:rPr lang="fr-FR" sz="3200" b="0">
                <a:latin typeface="Calibri"/>
                <a:ea typeface="Calibri"/>
                <a:cs typeface="Calibri"/>
                <a:sym typeface="Calibri"/>
              </a:rPr>
              <a:t>   </a:t>
            </a:r>
            <a:r>
              <a:rPr lang="fr-FR" sz="3200" u="sng">
                <a:solidFill>
                  <a:srgbClr val="000000"/>
                </a:solidFill>
              </a:rPr>
              <a:t>3ème Cas : FCFS (</a:t>
            </a:r>
            <a:r>
              <a:rPr lang="fr-FR" sz="3200" u="sng">
                <a:solidFill>
                  <a:srgbClr val="000000"/>
                </a:solidFill>
                <a:latin typeface="Helvetica Neue"/>
                <a:ea typeface="Helvetica Neue"/>
                <a:cs typeface="Helvetica Neue"/>
                <a:sym typeface="Helvetica Neue"/>
              </a:rPr>
              <a:t>Premier arrivé, premier servi</a:t>
            </a:r>
            <a:r>
              <a:rPr lang="fr-FR" sz="3200" b="0" u="sng">
                <a:solidFill>
                  <a:srgbClr val="000000"/>
                </a:solidFill>
              </a:rPr>
              <a:t> </a:t>
            </a:r>
            <a:r>
              <a:rPr lang="fr-FR" sz="3200" u="sng">
                <a:solidFill>
                  <a:srgbClr val="000000"/>
                </a:solidFill>
              </a:rPr>
              <a:t>)</a:t>
            </a:r>
            <a:endParaRPr/>
          </a:p>
        </p:txBody>
      </p:sp>
      <p:graphicFrame>
        <p:nvGraphicFramePr>
          <p:cNvPr id="1114" name="Google Shape;1114;p124"/>
          <p:cNvGraphicFramePr/>
          <p:nvPr/>
        </p:nvGraphicFramePr>
        <p:xfrm>
          <a:off x="673857" y="1063766"/>
          <a:ext cx="7681600" cy="1594286"/>
        </p:xfrm>
        <a:graphic>
          <a:graphicData uri="http://schemas.openxmlformats.org/drawingml/2006/table">
            <a:tbl>
              <a:tblPr firstRow="1" bandRow="1">
                <a:noFill/>
              </a:tblPr>
              <a:tblGrid>
                <a:gridCol w="109727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097275">
                  <a:extLst>
                    <a:ext uri="{9D8B030D-6E8A-4147-A177-3AD203B41FA5}">
                      <a16:colId xmlns:a16="http://schemas.microsoft.com/office/drawing/2014/main" val="20002"/>
                    </a:ext>
                  </a:extLst>
                </a:gridCol>
                <a:gridCol w="1096000">
                  <a:extLst>
                    <a:ext uri="{9D8B030D-6E8A-4147-A177-3AD203B41FA5}">
                      <a16:colId xmlns:a16="http://schemas.microsoft.com/office/drawing/2014/main" val="20003"/>
                    </a:ext>
                  </a:extLst>
                </a:gridCol>
                <a:gridCol w="1097925">
                  <a:extLst>
                    <a:ext uri="{9D8B030D-6E8A-4147-A177-3AD203B41FA5}">
                      <a16:colId xmlns:a16="http://schemas.microsoft.com/office/drawing/2014/main" val="20004"/>
                    </a:ext>
                  </a:extLst>
                </a:gridCol>
                <a:gridCol w="1097925">
                  <a:extLst>
                    <a:ext uri="{9D8B030D-6E8A-4147-A177-3AD203B41FA5}">
                      <a16:colId xmlns:a16="http://schemas.microsoft.com/office/drawing/2014/main" val="20005"/>
                    </a:ext>
                  </a:extLst>
                </a:gridCol>
                <a:gridCol w="1097925">
                  <a:extLst>
                    <a:ext uri="{9D8B030D-6E8A-4147-A177-3AD203B41FA5}">
                      <a16:colId xmlns:a16="http://schemas.microsoft.com/office/drawing/2014/main" val="20006"/>
                    </a:ext>
                  </a:extLst>
                </a:gridCol>
              </a:tblGrid>
              <a:tr h="487675">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Process</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469265" lvl="0" indent="0" algn="l" rtl="0">
                        <a:lnSpc>
                          <a:spcPct val="1193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Arrival  time</a:t>
                      </a:r>
                      <a:endParaRPr sz="1600" u="none" strike="noStrike" cap="none">
                        <a:latin typeface="Arial"/>
                        <a:ea typeface="Arial"/>
                        <a:cs typeface="Arial"/>
                        <a:sym typeface="Arial"/>
                      </a:endParaRPr>
                    </a:p>
                  </a:txBody>
                  <a:tcPr marL="0" marR="0" marT="38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r>
                        <a:rPr lang="fr-FR" sz="1575" u="none" strike="noStrike" cap="none" baseline="30000">
                          <a:solidFill>
                            <a:srgbClr val="AA5816"/>
                          </a:solidFill>
                          <a:latin typeface="Arial"/>
                          <a:ea typeface="Arial"/>
                          <a:cs typeface="Arial"/>
                          <a:sym typeface="Arial"/>
                        </a:rPr>
                        <a:t>st </a:t>
                      </a:r>
                      <a:r>
                        <a:rPr lang="fr-FR" sz="1600" u="none" strike="noStrike" cap="none">
                          <a:solidFill>
                            <a:srgbClr val="AA5816"/>
                          </a:solidFill>
                          <a:latin typeface="Arial"/>
                          <a:ea typeface="Arial"/>
                          <a:cs typeface="Arial"/>
                          <a:sym typeface="Arial"/>
                        </a:rPr>
                        <a:t>exec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tc>
                  <a:txBody>
                    <a:bodyPr/>
                    <a:lstStyle/>
                    <a:p>
                      <a:pPr marL="0" marR="498475" lvl="0" indent="0" algn="r"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1</a:t>
                      </a:r>
                      <a:r>
                        <a:rPr lang="fr-FR" sz="1575" u="none" strike="noStrike" cap="none" baseline="30000">
                          <a:solidFill>
                            <a:srgbClr val="FFFFFF"/>
                          </a:solidFill>
                          <a:latin typeface="Arial"/>
                          <a:ea typeface="Arial"/>
                          <a:cs typeface="Arial"/>
                          <a:sym typeface="Arial"/>
                        </a:rPr>
                        <a:t>st </a:t>
                      </a:r>
                      <a:r>
                        <a:rPr lang="fr-FR" sz="1600" u="none" strike="noStrike" cap="none">
                          <a:solidFill>
                            <a:srgbClr val="FFFFFF"/>
                          </a:solidFill>
                          <a:latin typeface="Arial"/>
                          <a:ea typeface="Arial"/>
                          <a:cs typeface="Arial"/>
                          <a:sym typeface="Arial"/>
                        </a:rPr>
                        <a:t>I/O</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2</a:t>
                      </a:r>
                      <a:r>
                        <a:rPr lang="fr-FR" sz="1575" u="none" strike="noStrike" cap="none" baseline="30000">
                          <a:solidFill>
                            <a:srgbClr val="AA5816"/>
                          </a:solidFill>
                          <a:latin typeface="Arial"/>
                          <a:ea typeface="Arial"/>
                          <a:cs typeface="Arial"/>
                          <a:sym typeface="Arial"/>
                        </a:rPr>
                        <a:t>nd </a:t>
                      </a:r>
                      <a:r>
                        <a:rPr lang="fr-FR" sz="1600" u="none" strike="noStrike" cap="none">
                          <a:solidFill>
                            <a:srgbClr val="AA5816"/>
                          </a:solidFill>
                          <a:latin typeface="Arial"/>
                          <a:ea typeface="Arial"/>
                          <a:cs typeface="Arial"/>
                          <a:sym typeface="Arial"/>
                        </a:rPr>
                        <a:t>exec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tc>
                  <a:txBody>
                    <a:bodyPr/>
                    <a:lstStyle/>
                    <a:p>
                      <a:pPr marL="0" marR="457200" lvl="0" indent="0" algn="r"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2</a:t>
                      </a:r>
                      <a:r>
                        <a:rPr lang="fr-FR" sz="1575" u="none" strike="noStrike" cap="none" baseline="30000">
                          <a:solidFill>
                            <a:srgbClr val="FFFFFF"/>
                          </a:solidFill>
                          <a:latin typeface="Arial"/>
                          <a:ea typeface="Arial"/>
                          <a:cs typeface="Arial"/>
                          <a:sym typeface="Arial"/>
                        </a:rPr>
                        <a:t>nd </a:t>
                      </a:r>
                      <a:r>
                        <a:rPr lang="fr-FR" sz="1600" u="none" strike="noStrike" cap="none">
                          <a:solidFill>
                            <a:srgbClr val="FFFFFF"/>
                          </a:solidFill>
                          <a:latin typeface="Arial"/>
                          <a:ea typeface="Arial"/>
                          <a:cs typeface="Arial"/>
                          <a:sym typeface="Arial"/>
                        </a:rPr>
                        <a:t>I/O</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3815"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3</a:t>
                      </a:r>
                      <a:r>
                        <a:rPr lang="fr-FR" sz="1575" u="none" strike="noStrike" cap="none" baseline="30000">
                          <a:solidFill>
                            <a:srgbClr val="AA5816"/>
                          </a:solidFill>
                          <a:latin typeface="Arial"/>
                          <a:ea typeface="Arial"/>
                          <a:cs typeface="Arial"/>
                          <a:sym typeface="Arial"/>
                        </a:rPr>
                        <a:t>rd </a:t>
                      </a:r>
                      <a:r>
                        <a:rPr lang="fr-FR" sz="1600" u="none" strike="noStrike" cap="none">
                          <a:solidFill>
                            <a:srgbClr val="AA5816"/>
                          </a:solidFill>
                          <a:latin typeface="Arial"/>
                          <a:ea typeface="Arial"/>
                          <a:cs typeface="Arial"/>
                          <a:sym typeface="Arial"/>
                        </a:rPr>
                        <a:t>exec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extLst>
                  <a:ext uri="{0D108BD9-81ED-4DB2-BD59-A6C34878D82A}">
                    <a16:rowId xmlns:a16="http://schemas.microsoft.com/office/drawing/2014/main" val="10000"/>
                  </a:ext>
                </a:extLst>
              </a:tr>
              <a:tr h="242575">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0</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0504D"/>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0504D"/>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extLst>
                  <a:ext uri="{0D108BD9-81ED-4DB2-BD59-A6C34878D82A}">
                    <a16:rowId xmlns:a16="http://schemas.microsoft.com/office/drawing/2014/main" val="10001"/>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B</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8</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8</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506094"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extLst>
                  <a:ext uri="{0D108BD9-81ED-4DB2-BD59-A6C34878D82A}">
                    <a16:rowId xmlns:a16="http://schemas.microsoft.com/office/drawing/2014/main" val="10002"/>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C</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3</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506094"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extLst>
                  <a:ext uri="{0D108BD9-81ED-4DB2-BD59-A6C34878D82A}">
                    <a16:rowId xmlns:a16="http://schemas.microsoft.com/office/drawing/2014/main" val="10003"/>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D</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7</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extLst>
                  <a:ext uri="{0D108BD9-81ED-4DB2-BD59-A6C34878D82A}">
                    <a16:rowId xmlns:a16="http://schemas.microsoft.com/office/drawing/2014/main" val="10004"/>
                  </a:ext>
                </a:extLst>
              </a:tr>
            </a:tbl>
          </a:graphicData>
        </a:graphic>
      </p:graphicFrame>
      <p:sp>
        <p:nvSpPr>
          <p:cNvPr id="1115" name="Google Shape;1115;p124"/>
          <p:cNvSpPr/>
          <p:nvPr/>
        </p:nvSpPr>
        <p:spPr>
          <a:xfrm>
            <a:off x="781050" y="3194050"/>
            <a:ext cx="0" cy="604520"/>
          </a:xfrm>
          <a:custGeom>
            <a:avLst/>
            <a:gdLst/>
            <a:ahLst/>
            <a:cxnLst/>
            <a:rect l="l" t="t" r="r" b="b"/>
            <a:pathLst>
              <a:path w="120000" h="604520" extrusionOk="0">
                <a:moveTo>
                  <a:pt x="0" y="0"/>
                </a:moveTo>
                <a:lnTo>
                  <a:pt x="0" y="60452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16" name="Google Shape;1116;p124"/>
          <p:cNvSpPr/>
          <p:nvPr/>
        </p:nvSpPr>
        <p:spPr>
          <a:xfrm>
            <a:off x="774700" y="3200400"/>
            <a:ext cx="536575" cy="0"/>
          </a:xfrm>
          <a:custGeom>
            <a:avLst/>
            <a:gdLst/>
            <a:ahLst/>
            <a:cxnLst/>
            <a:rect l="l" t="t" r="r" b="b"/>
            <a:pathLst>
              <a:path w="536575" h="120000" extrusionOk="0">
                <a:moveTo>
                  <a:pt x="0" y="0"/>
                </a:moveTo>
                <a:lnTo>
                  <a:pt x="536575" y="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17" name="Google Shape;1117;p124"/>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41</a:t>
            </a:fld>
            <a:endParaRPr/>
          </a:p>
        </p:txBody>
      </p:sp>
      <p:graphicFrame>
        <p:nvGraphicFramePr>
          <p:cNvPr id="1118" name="Google Shape;1118;p124"/>
          <p:cNvGraphicFramePr/>
          <p:nvPr/>
        </p:nvGraphicFramePr>
        <p:xfrm>
          <a:off x="188555" y="4821368"/>
          <a:ext cx="8802750" cy="1737400"/>
        </p:xfrm>
        <a:graphic>
          <a:graphicData uri="http://schemas.openxmlformats.org/drawingml/2006/table">
            <a:tbl>
              <a:tblPr>
                <a:noFill/>
              </a:tblPr>
              <a:tblGrid>
                <a:gridCol w="586850">
                  <a:extLst>
                    <a:ext uri="{9D8B030D-6E8A-4147-A177-3AD203B41FA5}">
                      <a16:colId xmlns:a16="http://schemas.microsoft.com/office/drawing/2014/main" val="20000"/>
                    </a:ext>
                  </a:extLst>
                </a:gridCol>
                <a:gridCol w="586850">
                  <a:extLst>
                    <a:ext uri="{9D8B030D-6E8A-4147-A177-3AD203B41FA5}">
                      <a16:colId xmlns:a16="http://schemas.microsoft.com/office/drawing/2014/main" val="20001"/>
                    </a:ext>
                  </a:extLst>
                </a:gridCol>
                <a:gridCol w="586850">
                  <a:extLst>
                    <a:ext uri="{9D8B030D-6E8A-4147-A177-3AD203B41FA5}">
                      <a16:colId xmlns:a16="http://schemas.microsoft.com/office/drawing/2014/main" val="20002"/>
                    </a:ext>
                  </a:extLst>
                </a:gridCol>
                <a:gridCol w="586850">
                  <a:extLst>
                    <a:ext uri="{9D8B030D-6E8A-4147-A177-3AD203B41FA5}">
                      <a16:colId xmlns:a16="http://schemas.microsoft.com/office/drawing/2014/main" val="20003"/>
                    </a:ext>
                  </a:extLst>
                </a:gridCol>
                <a:gridCol w="586850">
                  <a:extLst>
                    <a:ext uri="{9D8B030D-6E8A-4147-A177-3AD203B41FA5}">
                      <a16:colId xmlns:a16="http://schemas.microsoft.com/office/drawing/2014/main" val="20004"/>
                    </a:ext>
                  </a:extLst>
                </a:gridCol>
                <a:gridCol w="586850">
                  <a:extLst>
                    <a:ext uri="{9D8B030D-6E8A-4147-A177-3AD203B41FA5}">
                      <a16:colId xmlns:a16="http://schemas.microsoft.com/office/drawing/2014/main" val="20005"/>
                    </a:ext>
                  </a:extLst>
                </a:gridCol>
                <a:gridCol w="672325">
                  <a:extLst>
                    <a:ext uri="{9D8B030D-6E8A-4147-A177-3AD203B41FA5}">
                      <a16:colId xmlns:a16="http://schemas.microsoft.com/office/drawing/2014/main" val="20006"/>
                    </a:ext>
                  </a:extLst>
                </a:gridCol>
                <a:gridCol w="623875">
                  <a:extLst>
                    <a:ext uri="{9D8B030D-6E8A-4147-A177-3AD203B41FA5}">
                      <a16:colId xmlns:a16="http://schemas.microsoft.com/office/drawing/2014/main" val="20007"/>
                    </a:ext>
                  </a:extLst>
                </a:gridCol>
                <a:gridCol w="464350">
                  <a:extLst>
                    <a:ext uri="{9D8B030D-6E8A-4147-A177-3AD203B41FA5}">
                      <a16:colId xmlns:a16="http://schemas.microsoft.com/office/drawing/2014/main" val="20008"/>
                    </a:ext>
                  </a:extLst>
                </a:gridCol>
                <a:gridCol w="586850">
                  <a:extLst>
                    <a:ext uri="{9D8B030D-6E8A-4147-A177-3AD203B41FA5}">
                      <a16:colId xmlns:a16="http://schemas.microsoft.com/office/drawing/2014/main" val="20009"/>
                    </a:ext>
                  </a:extLst>
                </a:gridCol>
                <a:gridCol w="586850">
                  <a:extLst>
                    <a:ext uri="{9D8B030D-6E8A-4147-A177-3AD203B41FA5}">
                      <a16:colId xmlns:a16="http://schemas.microsoft.com/office/drawing/2014/main" val="20010"/>
                    </a:ext>
                  </a:extLst>
                </a:gridCol>
                <a:gridCol w="586850">
                  <a:extLst>
                    <a:ext uri="{9D8B030D-6E8A-4147-A177-3AD203B41FA5}">
                      <a16:colId xmlns:a16="http://schemas.microsoft.com/office/drawing/2014/main" val="20011"/>
                    </a:ext>
                  </a:extLst>
                </a:gridCol>
                <a:gridCol w="586850">
                  <a:extLst>
                    <a:ext uri="{9D8B030D-6E8A-4147-A177-3AD203B41FA5}">
                      <a16:colId xmlns:a16="http://schemas.microsoft.com/office/drawing/2014/main" val="20012"/>
                    </a:ext>
                  </a:extLst>
                </a:gridCol>
                <a:gridCol w="586850">
                  <a:extLst>
                    <a:ext uri="{9D8B030D-6E8A-4147-A177-3AD203B41FA5}">
                      <a16:colId xmlns:a16="http://schemas.microsoft.com/office/drawing/2014/main" val="20013"/>
                    </a:ext>
                  </a:extLst>
                </a:gridCol>
                <a:gridCol w="586850">
                  <a:extLst>
                    <a:ext uri="{9D8B030D-6E8A-4147-A177-3AD203B41FA5}">
                      <a16:colId xmlns:a16="http://schemas.microsoft.com/office/drawing/2014/main" val="20014"/>
                    </a:ext>
                  </a:extLst>
                </a:gridCol>
              </a:tblGrid>
              <a:tr h="240025">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T=0</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T=4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T=12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T=13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T=14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T=15</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T=16</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T=19</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T=29</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T=30</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240025">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1"/>
                  </a:ext>
                </a:extLst>
              </a:tr>
              <a:tr h="2400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2"/>
                  </a:ext>
                </a:extLst>
              </a:tr>
              <a:tr h="2400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solidFill>
                          <a:srgbClr val="C00000"/>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solidFill>
                            <a:srgbClr val="C00000"/>
                          </a:solidFill>
                        </a:rPr>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p125"/>
          <p:cNvSpPr txBox="1">
            <a:spLocks noGrp="1"/>
          </p:cNvSpPr>
          <p:nvPr>
            <p:ph type="title"/>
          </p:nvPr>
        </p:nvSpPr>
        <p:spPr>
          <a:xfrm>
            <a:off x="691514" y="441451"/>
            <a:ext cx="8385000" cy="506100"/>
          </a:xfrm>
          <a:prstGeom prst="rect">
            <a:avLst/>
          </a:prstGeom>
          <a:noFill/>
          <a:ln>
            <a:noFill/>
          </a:ln>
        </p:spPr>
        <p:txBody>
          <a:bodyPr spcFirstLastPara="1" wrap="square" lIns="0" tIns="13325" rIns="0" bIns="0" anchor="t" anchorCtr="0">
            <a:spAutoFit/>
          </a:bodyPr>
          <a:lstStyle/>
          <a:p>
            <a:pPr marL="0" lvl="0" indent="0" algn="l" rtl="0">
              <a:lnSpc>
                <a:spcPct val="100000"/>
              </a:lnSpc>
              <a:spcBef>
                <a:spcPts val="0"/>
              </a:spcBef>
              <a:spcAft>
                <a:spcPts val="0"/>
              </a:spcAft>
              <a:buSzPts val="1400"/>
              <a:buNone/>
            </a:pPr>
            <a:r>
              <a:rPr lang="fr-FR" sz="3200" b="0"/>
              <a:t> </a:t>
            </a:r>
            <a:r>
              <a:rPr lang="fr-FR" sz="3200" u="sng">
                <a:solidFill>
                  <a:srgbClr val="000000"/>
                </a:solidFill>
              </a:rPr>
              <a:t>3ème Cas : FCFS (Premier arrivé, premier servi )</a:t>
            </a:r>
            <a:endParaRPr sz="3200" u="sng">
              <a:solidFill>
                <a:srgbClr val="000000"/>
              </a:solidFill>
            </a:endParaRPr>
          </a:p>
        </p:txBody>
      </p:sp>
      <p:sp>
        <p:nvSpPr>
          <p:cNvPr id="1124" name="Google Shape;1124;p125"/>
          <p:cNvSpPr txBox="1"/>
          <p:nvPr/>
        </p:nvSpPr>
        <p:spPr>
          <a:xfrm>
            <a:off x="653415" y="3663632"/>
            <a:ext cx="5061585" cy="2230098"/>
          </a:xfrm>
          <a:prstGeom prst="rect">
            <a:avLst/>
          </a:prstGeom>
          <a:noFill/>
          <a:ln>
            <a:noFill/>
          </a:ln>
        </p:spPr>
        <p:txBody>
          <a:bodyPr spcFirstLastPara="1" wrap="square" lIns="0" tIns="44450" rIns="0" bIns="0" anchor="t" anchorCtr="0">
            <a:spAutoFit/>
          </a:bodyPr>
          <a:lstStyle/>
          <a:p>
            <a:pPr marL="3930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Turn around time (temps de traitement):</a:t>
            </a:r>
            <a:endParaRPr sz="2000" b="0" i="0" u="none" strike="noStrike" cap="none">
              <a:solidFill>
                <a:srgbClr val="000000"/>
              </a:solidFill>
              <a:latin typeface="Calibri"/>
              <a:ea typeface="Calibri"/>
              <a:cs typeface="Calibri"/>
              <a:sym typeface="Calibri"/>
            </a:endParaRPr>
          </a:p>
          <a:p>
            <a:pPr marL="965200" marR="0" lvl="0" indent="0" algn="l" rtl="0">
              <a:lnSpc>
                <a:spcPct val="100000"/>
              </a:lnSpc>
              <a:spcBef>
                <a:spcPts val="225"/>
              </a:spcBef>
              <a:spcAft>
                <a:spcPts val="0"/>
              </a:spcAft>
              <a:buClr>
                <a:srgbClr val="000000"/>
              </a:buClr>
              <a:buSzPts val="1800"/>
              <a:buFont typeface="Arial"/>
              <a:buNone/>
            </a:pPr>
            <a:r>
              <a:rPr lang="fr-FR" sz="1800" b="0" i="0" u="none" strike="noStrike" cap="none">
                <a:solidFill>
                  <a:srgbClr val="FF6600"/>
                </a:solidFill>
                <a:latin typeface="Calibri"/>
                <a:ea typeface="Calibri"/>
                <a:cs typeface="Calibri"/>
                <a:sym typeface="Calibri"/>
              </a:rPr>
              <a:t>tat</a:t>
            </a:r>
            <a:r>
              <a:rPr lang="fr-FR" sz="1800" b="0" i="0" u="none" strike="noStrike" cap="none" baseline="-25000">
                <a:solidFill>
                  <a:srgbClr val="FF6600"/>
                </a:solidFill>
                <a:latin typeface="Calibri"/>
                <a:ea typeface="Calibri"/>
                <a:cs typeface="Calibri"/>
                <a:sym typeface="Calibri"/>
              </a:rPr>
              <a:t>A  </a:t>
            </a:r>
            <a:r>
              <a:rPr lang="fr-FR" sz="1800" b="0" i="0" u="none" strike="noStrike" cap="none">
                <a:solidFill>
                  <a:srgbClr val="FF6600"/>
                </a:solidFill>
                <a:latin typeface="Calibri"/>
                <a:ea typeface="Calibri"/>
                <a:cs typeface="Calibri"/>
                <a:sym typeface="Calibri"/>
              </a:rPr>
              <a:t>= 34 – 0 = 34</a:t>
            </a:r>
            <a:endParaRPr sz="1800" b="0" i="0" u="none" strike="noStrike" cap="none">
              <a:solidFill>
                <a:srgbClr val="000000"/>
              </a:solidFill>
              <a:latin typeface="Calibri"/>
              <a:ea typeface="Calibri"/>
              <a:cs typeface="Calibri"/>
              <a:sym typeface="Calibri"/>
            </a:endParaRPr>
          </a:p>
          <a:p>
            <a:pPr marL="964564"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tat</a:t>
            </a:r>
            <a:r>
              <a:rPr lang="fr-FR" sz="1800" b="0" i="0" u="none" strike="noStrike" cap="none" baseline="-25000">
                <a:solidFill>
                  <a:srgbClr val="000000"/>
                </a:solidFill>
                <a:latin typeface="Calibri"/>
                <a:ea typeface="Calibri"/>
                <a:cs typeface="Calibri"/>
                <a:sym typeface="Calibri"/>
              </a:rPr>
              <a:t>B  </a:t>
            </a:r>
            <a:r>
              <a:rPr lang="fr-FR" sz="1800" b="0" i="0" u="none" strike="noStrike" cap="none">
                <a:solidFill>
                  <a:srgbClr val="000000"/>
                </a:solidFill>
                <a:latin typeface="Calibri"/>
                <a:ea typeface="Calibri"/>
                <a:cs typeface="Calibri"/>
                <a:sym typeface="Calibri"/>
              </a:rPr>
              <a:t>= 27 – 2 = 25</a:t>
            </a:r>
            <a:endParaRPr sz="1400" b="0" i="0" u="none" strike="noStrike" cap="none">
              <a:solidFill>
                <a:srgbClr val="000000"/>
              </a:solidFill>
              <a:latin typeface="Arial"/>
              <a:ea typeface="Arial"/>
              <a:cs typeface="Arial"/>
              <a:sym typeface="Arial"/>
            </a:endParaRPr>
          </a:p>
          <a:p>
            <a:pPr marL="964564"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tat</a:t>
            </a:r>
            <a:r>
              <a:rPr lang="fr-FR" sz="1800" b="0" i="0" u="none" strike="noStrike" cap="none" baseline="-25000">
                <a:solidFill>
                  <a:srgbClr val="000000"/>
                </a:solidFill>
                <a:latin typeface="Calibri"/>
                <a:ea typeface="Calibri"/>
                <a:cs typeface="Calibri"/>
                <a:sym typeface="Calibri"/>
              </a:rPr>
              <a:t>C  </a:t>
            </a:r>
            <a:r>
              <a:rPr lang="fr-FR" sz="1800" b="0" i="0" u="none" strike="noStrike" cap="none">
                <a:solidFill>
                  <a:srgbClr val="000000"/>
                </a:solidFill>
                <a:latin typeface="Calibri"/>
                <a:ea typeface="Calibri"/>
                <a:cs typeface="Calibri"/>
                <a:sym typeface="Calibri"/>
              </a:rPr>
              <a:t>= 29 – 3 = 26</a:t>
            </a:r>
            <a:endParaRPr sz="1400" b="0" i="0" u="none" strike="noStrike" cap="none">
              <a:solidFill>
                <a:srgbClr val="000000"/>
              </a:solidFill>
              <a:latin typeface="Arial"/>
              <a:ea typeface="Arial"/>
              <a:cs typeface="Arial"/>
              <a:sym typeface="Arial"/>
            </a:endParaRPr>
          </a:p>
          <a:p>
            <a:pPr marL="965200" marR="0" lvl="0" indent="0" algn="l" rtl="0">
              <a:lnSpc>
                <a:spcPct val="100000"/>
              </a:lnSpc>
              <a:spcBef>
                <a:spcPts val="85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tat</a:t>
            </a:r>
            <a:r>
              <a:rPr lang="fr-FR" sz="1800" b="0" i="0" u="none" strike="noStrike" cap="none" baseline="-25000">
                <a:solidFill>
                  <a:srgbClr val="000000"/>
                </a:solidFill>
                <a:latin typeface="Calibri"/>
                <a:ea typeface="Calibri"/>
                <a:cs typeface="Calibri"/>
                <a:sym typeface="Calibri"/>
              </a:rPr>
              <a:t>D  </a:t>
            </a:r>
            <a:r>
              <a:rPr lang="fr-FR" sz="1800" b="0" i="0" u="none" strike="noStrike" cap="none">
                <a:solidFill>
                  <a:srgbClr val="000000"/>
                </a:solidFill>
                <a:latin typeface="Calibri"/>
                <a:ea typeface="Calibri"/>
                <a:cs typeface="Calibri"/>
                <a:sym typeface="Calibri"/>
              </a:rPr>
              <a:t>= 35 – 7 = 28</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5"/>
              </a:spcBef>
              <a:spcAft>
                <a:spcPts val="0"/>
              </a:spcAft>
              <a:buClr>
                <a:srgbClr val="000000"/>
              </a:buClr>
              <a:buSzPts val="2150"/>
              <a:buFont typeface="Arial"/>
              <a:buNone/>
            </a:pPr>
            <a:endParaRPr sz="2150" b="0" i="0" u="none" strike="noStrike" cap="none">
              <a:solidFill>
                <a:srgbClr val="000000"/>
              </a:solidFill>
              <a:latin typeface="Times New Roman"/>
              <a:ea typeface="Times New Roman"/>
              <a:cs typeface="Times New Roman"/>
              <a:sym typeface="Times New Roman"/>
            </a:endParaRPr>
          </a:p>
          <a:p>
            <a:pPr marL="96520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Calibri"/>
                <a:ea typeface="Calibri"/>
                <a:cs typeface="Calibri"/>
                <a:sym typeface="Calibri"/>
              </a:rPr>
              <a:t>tat</a:t>
            </a:r>
            <a:r>
              <a:rPr lang="fr-FR" sz="1575" b="0" i="0" u="none" strike="noStrike" cap="none" baseline="-25000">
                <a:solidFill>
                  <a:srgbClr val="000000"/>
                </a:solidFill>
                <a:latin typeface="Calibri"/>
                <a:ea typeface="Calibri"/>
                <a:cs typeface="Calibri"/>
                <a:sym typeface="Calibri"/>
              </a:rPr>
              <a:t>AVG </a:t>
            </a:r>
            <a:r>
              <a:rPr lang="fr-FR" sz="1600" b="0" i="0" u="none" strike="noStrike" cap="none">
                <a:solidFill>
                  <a:srgbClr val="000000"/>
                </a:solidFill>
                <a:latin typeface="Calibri"/>
                <a:ea typeface="Calibri"/>
                <a:cs typeface="Calibri"/>
                <a:sym typeface="Calibri"/>
              </a:rPr>
              <a:t>= (34 + 25 + 26 + 28) / 4 = 28.25</a:t>
            </a:r>
            <a:endParaRPr sz="1600" b="0" i="0" u="none" strike="noStrike" cap="none">
              <a:solidFill>
                <a:srgbClr val="000000"/>
              </a:solidFill>
              <a:latin typeface="Calibri"/>
              <a:ea typeface="Calibri"/>
              <a:cs typeface="Calibri"/>
              <a:sym typeface="Calibri"/>
            </a:endParaRPr>
          </a:p>
        </p:txBody>
      </p:sp>
      <p:sp>
        <p:nvSpPr>
          <p:cNvPr id="1125" name="Google Shape;1125;p125"/>
          <p:cNvSpPr/>
          <p:nvPr/>
        </p:nvSpPr>
        <p:spPr>
          <a:xfrm>
            <a:off x="781062" y="1600200"/>
            <a:ext cx="7467586" cy="201295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26" name="Google Shape;1126;p125"/>
          <p:cNvSpPr/>
          <p:nvPr/>
        </p:nvSpPr>
        <p:spPr>
          <a:xfrm>
            <a:off x="3528059" y="2491739"/>
            <a:ext cx="259079" cy="35966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27" name="Google Shape;1127;p125"/>
          <p:cNvSpPr/>
          <p:nvPr/>
        </p:nvSpPr>
        <p:spPr>
          <a:xfrm>
            <a:off x="3656013" y="2705100"/>
            <a:ext cx="1270" cy="114300"/>
          </a:xfrm>
          <a:custGeom>
            <a:avLst/>
            <a:gdLst/>
            <a:ahLst/>
            <a:cxnLst/>
            <a:rect l="l" t="t" r="r" b="b"/>
            <a:pathLst>
              <a:path w="1270" h="114300" extrusionOk="0">
                <a:moveTo>
                  <a:pt x="393" y="-6350"/>
                </a:moveTo>
                <a:lnTo>
                  <a:pt x="393" y="120650"/>
                </a:lnTo>
              </a:path>
            </a:pathLst>
          </a:custGeom>
          <a:noFill/>
          <a:ln w="134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28" name="Google Shape;1128;p125"/>
          <p:cNvSpPr/>
          <p:nvPr/>
        </p:nvSpPr>
        <p:spPr>
          <a:xfrm>
            <a:off x="3593214" y="2590797"/>
            <a:ext cx="127000" cy="127635"/>
          </a:xfrm>
          <a:custGeom>
            <a:avLst/>
            <a:gdLst/>
            <a:ahLst/>
            <a:cxnLst/>
            <a:rect l="l" t="t" r="r" b="b"/>
            <a:pathLst>
              <a:path w="127000" h="127635" extrusionOk="0">
                <a:moveTo>
                  <a:pt x="64389" y="0"/>
                </a:moveTo>
                <a:lnTo>
                  <a:pt x="0" y="126555"/>
                </a:lnTo>
                <a:lnTo>
                  <a:pt x="127000" y="127444"/>
                </a:lnTo>
                <a:lnTo>
                  <a:pt x="6438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29" name="Google Shape;1129;p125"/>
          <p:cNvSpPr/>
          <p:nvPr/>
        </p:nvSpPr>
        <p:spPr>
          <a:xfrm>
            <a:off x="970787" y="1609343"/>
            <a:ext cx="6973823" cy="34747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30" name="Google Shape;1130;p125"/>
          <p:cNvSpPr/>
          <p:nvPr/>
        </p:nvSpPr>
        <p:spPr>
          <a:xfrm>
            <a:off x="1219200" y="1752617"/>
            <a:ext cx="6477000" cy="1905"/>
          </a:xfrm>
          <a:custGeom>
            <a:avLst/>
            <a:gdLst/>
            <a:ahLst/>
            <a:cxnLst/>
            <a:rect l="l" t="t" r="r" b="b"/>
            <a:pathLst>
              <a:path w="6477000" h="1905" extrusionOk="0">
                <a:moveTo>
                  <a:pt x="0" y="0"/>
                </a:moveTo>
                <a:lnTo>
                  <a:pt x="6477000" y="1549"/>
                </a:lnTo>
              </a:path>
            </a:pathLst>
          </a:custGeom>
          <a:noFill/>
          <a:ln w="76200"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31" name="Google Shape;1131;p125"/>
          <p:cNvSpPr/>
          <p:nvPr/>
        </p:nvSpPr>
        <p:spPr>
          <a:xfrm>
            <a:off x="7619962" y="1639840"/>
            <a:ext cx="153035" cy="228600"/>
          </a:xfrm>
          <a:custGeom>
            <a:avLst/>
            <a:gdLst/>
            <a:ahLst/>
            <a:cxnLst/>
            <a:rect l="l" t="t" r="r" b="b"/>
            <a:pathLst>
              <a:path w="153034" h="228600" extrusionOk="0">
                <a:moveTo>
                  <a:pt x="76" y="0"/>
                </a:moveTo>
                <a:lnTo>
                  <a:pt x="76238" y="114325"/>
                </a:lnTo>
                <a:lnTo>
                  <a:pt x="0" y="228600"/>
                </a:lnTo>
                <a:lnTo>
                  <a:pt x="152438" y="114350"/>
                </a:lnTo>
                <a:lnTo>
                  <a:pt x="76"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32" name="Google Shape;1132;p125"/>
          <p:cNvSpPr/>
          <p:nvPr/>
        </p:nvSpPr>
        <p:spPr>
          <a:xfrm>
            <a:off x="1143000" y="1638327"/>
            <a:ext cx="153035" cy="228600"/>
          </a:xfrm>
          <a:custGeom>
            <a:avLst/>
            <a:gdLst/>
            <a:ahLst/>
            <a:cxnLst/>
            <a:rect l="l" t="t" r="r" b="b"/>
            <a:pathLst>
              <a:path w="153034" h="228600" extrusionOk="0">
                <a:moveTo>
                  <a:pt x="152425" y="0"/>
                </a:moveTo>
                <a:lnTo>
                  <a:pt x="0" y="114274"/>
                </a:lnTo>
                <a:lnTo>
                  <a:pt x="152374" y="228600"/>
                </a:lnTo>
                <a:lnTo>
                  <a:pt x="76200" y="114287"/>
                </a:lnTo>
                <a:lnTo>
                  <a:pt x="152425"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33" name="Google Shape;1133;p125"/>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42</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126"/>
          <p:cNvSpPr txBox="1">
            <a:spLocks noGrp="1"/>
          </p:cNvSpPr>
          <p:nvPr>
            <p:ph type="title"/>
          </p:nvPr>
        </p:nvSpPr>
        <p:spPr>
          <a:xfrm>
            <a:off x="304800" y="441451"/>
            <a:ext cx="8229600" cy="5061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3200" u="sng">
                <a:solidFill>
                  <a:srgbClr val="000000"/>
                </a:solidFill>
              </a:rPr>
              <a:t>3ème Cas : FCFS (Premier arrivé, premier servi )</a:t>
            </a:r>
            <a:endParaRPr sz="3200">
              <a:latin typeface="Calibri"/>
              <a:ea typeface="Calibri"/>
              <a:cs typeface="Calibri"/>
              <a:sym typeface="Calibri"/>
            </a:endParaRPr>
          </a:p>
        </p:txBody>
      </p:sp>
      <p:sp>
        <p:nvSpPr>
          <p:cNvPr id="1139" name="Google Shape;1139;p126"/>
          <p:cNvSpPr txBox="1"/>
          <p:nvPr/>
        </p:nvSpPr>
        <p:spPr>
          <a:xfrm>
            <a:off x="653415" y="3639187"/>
            <a:ext cx="4820920" cy="2369185"/>
          </a:xfrm>
          <a:prstGeom prst="rect">
            <a:avLst/>
          </a:prstGeom>
          <a:noFill/>
          <a:ln>
            <a:noFill/>
          </a:ln>
        </p:spPr>
        <p:txBody>
          <a:bodyPr spcFirstLastPara="1" wrap="square" lIns="0" tIns="74925" rIns="0" bIns="0" anchor="t" anchorCtr="0">
            <a:spAutoFit/>
          </a:bodyPr>
          <a:lstStyle/>
          <a:p>
            <a:pPr marL="3930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Waiting time  (temps d’attente):</a:t>
            </a:r>
            <a:endParaRPr sz="2000" b="0" i="0" u="none" strike="noStrike" cap="none">
              <a:solidFill>
                <a:srgbClr val="000000"/>
              </a:solidFill>
              <a:latin typeface="Calibri"/>
              <a:ea typeface="Calibri"/>
              <a:cs typeface="Calibri"/>
              <a:sym typeface="Calibri"/>
            </a:endParaRPr>
          </a:p>
          <a:p>
            <a:pPr marL="965200" marR="0" lvl="0" indent="0" algn="l" rtl="0">
              <a:lnSpc>
                <a:spcPct val="100000"/>
              </a:lnSpc>
              <a:spcBef>
                <a:spcPts val="440"/>
              </a:spcBef>
              <a:spcAft>
                <a:spcPts val="0"/>
              </a:spcAft>
              <a:buClr>
                <a:srgbClr val="000000"/>
              </a:buClr>
              <a:buSzPts val="1800"/>
              <a:buFont typeface="Arial"/>
              <a:buNone/>
            </a:pPr>
            <a:r>
              <a:rPr lang="fr-FR" sz="1800" b="0" i="0" u="none" strike="noStrike" cap="none">
                <a:solidFill>
                  <a:srgbClr val="FF6600"/>
                </a:solidFill>
                <a:latin typeface="Calibri"/>
                <a:ea typeface="Calibri"/>
                <a:cs typeface="Calibri"/>
                <a:sym typeface="Calibri"/>
              </a:rPr>
              <a:t>wt</a:t>
            </a:r>
            <a:r>
              <a:rPr lang="fr-FR" sz="1800" b="0" i="0" u="none" strike="noStrike" cap="none" baseline="-25000">
                <a:solidFill>
                  <a:srgbClr val="FF6600"/>
                </a:solidFill>
                <a:latin typeface="Calibri"/>
                <a:ea typeface="Calibri"/>
                <a:cs typeface="Calibri"/>
                <a:sym typeface="Calibri"/>
              </a:rPr>
              <a:t>A </a:t>
            </a:r>
            <a:r>
              <a:rPr lang="fr-FR" sz="1800" b="0" i="0" u="none" strike="noStrike" cap="none">
                <a:solidFill>
                  <a:srgbClr val="FF6600"/>
                </a:solidFill>
                <a:latin typeface="Calibri"/>
                <a:ea typeface="Calibri"/>
                <a:cs typeface="Calibri"/>
                <a:sym typeface="Calibri"/>
              </a:rPr>
              <a:t>= (0 – 0) + (15 – 8) + (30 – 23) = 14</a:t>
            </a:r>
            <a:endParaRPr sz="1800" b="0" i="0" u="none" strike="noStrike" cap="none">
              <a:solidFill>
                <a:srgbClr val="000000"/>
              </a:solidFill>
              <a:latin typeface="Calibri"/>
              <a:ea typeface="Calibri"/>
              <a:cs typeface="Calibri"/>
              <a:sym typeface="Calibri"/>
            </a:endParaRPr>
          </a:p>
          <a:p>
            <a:pPr marL="965200" marR="0" lvl="0" indent="0" algn="l" rtl="0">
              <a:lnSpc>
                <a:spcPct val="100000"/>
              </a:lnSpc>
              <a:spcBef>
                <a:spcPts val="434"/>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B </a:t>
            </a:r>
            <a:r>
              <a:rPr lang="fr-FR" sz="1800" b="0" i="0" u="none" strike="noStrike" cap="none">
                <a:solidFill>
                  <a:srgbClr val="000000"/>
                </a:solidFill>
                <a:latin typeface="Calibri"/>
                <a:ea typeface="Calibri"/>
                <a:cs typeface="Calibri"/>
                <a:sym typeface="Calibri"/>
              </a:rPr>
              <a:t>= (4 – 2) + (19 – 13) = 8</a:t>
            </a:r>
            <a:endParaRPr sz="1400" b="0" i="0" u="none" strike="noStrike" cap="none">
              <a:solidFill>
                <a:srgbClr val="000000"/>
              </a:solidFill>
              <a:latin typeface="Arial"/>
              <a:ea typeface="Arial"/>
              <a:cs typeface="Arial"/>
              <a:sym typeface="Arial"/>
            </a:endParaRPr>
          </a:p>
          <a:p>
            <a:pPr marL="965200" marR="0" lvl="0" indent="0" algn="l" rtl="0">
              <a:lnSpc>
                <a:spcPct val="100000"/>
              </a:lnSpc>
              <a:spcBef>
                <a:spcPts val="43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C </a:t>
            </a:r>
            <a:r>
              <a:rPr lang="fr-FR" sz="1800" b="0" i="0" u="none" strike="noStrike" cap="none">
                <a:solidFill>
                  <a:srgbClr val="000000"/>
                </a:solidFill>
                <a:latin typeface="Calibri"/>
                <a:ea typeface="Calibri"/>
                <a:cs typeface="Calibri"/>
                <a:sym typeface="Calibri"/>
              </a:rPr>
              <a:t>= (12 – 3) + (27 – 15) = 21</a:t>
            </a:r>
            <a:endParaRPr sz="1400" b="0" i="0" u="none" strike="noStrike" cap="none">
              <a:solidFill>
                <a:srgbClr val="000000"/>
              </a:solidFill>
              <a:latin typeface="Arial"/>
              <a:ea typeface="Arial"/>
              <a:cs typeface="Arial"/>
              <a:sym typeface="Arial"/>
            </a:endParaRPr>
          </a:p>
          <a:p>
            <a:pPr marL="965200" marR="0" lvl="0" indent="0" algn="l" rtl="0">
              <a:lnSpc>
                <a:spcPct val="100000"/>
              </a:lnSpc>
              <a:spcBef>
                <a:spcPts val="43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D </a:t>
            </a:r>
            <a:r>
              <a:rPr lang="fr-FR" sz="1800" b="0" i="0" u="none" strike="noStrike" cap="none">
                <a:solidFill>
                  <a:srgbClr val="000000"/>
                </a:solidFill>
                <a:latin typeface="Calibri"/>
                <a:ea typeface="Calibri"/>
                <a:cs typeface="Calibri"/>
                <a:sym typeface="Calibri"/>
              </a:rPr>
              <a:t>= (14 – 7) + (29 – 16) + (34 – 31) = 23</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2600"/>
              <a:buFont typeface="Arial"/>
              <a:buNone/>
            </a:pPr>
            <a:endParaRPr sz="2600" b="0" i="0" u="none" strike="noStrike" cap="none">
              <a:solidFill>
                <a:srgbClr val="000000"/>
              </a:solidFill>
              <a:latin typeface="Times New Roman"/>
              <a:ea typeface="Times New Roman"/>
              <a:cs typeface="Times New Roman"/>
              <a:sym typeface="Times New Roman"/>
            </a:endParaRPr>
          </a:p>
          <a:p>
            <a:pPr marL="9652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AVG </a:t>
            </a:r>
            <a:r>
              <a:rPr lang="fr-FR" sz="1800" b="0" i="0" u="none" strike="noStrike" cap="none">
                <a:solidFill>
                  <a:srgbClr val="000000"/>
                </a:solidFill>
                <a:latin typeface="Calibri"/>
                <a:ea typeface="Calibri"/>
                <a:cs typeface="Calibri"/>
                <a:sym typeface="Calibri"/>
              </a:rPr>
              <a:t>= (14 + 12 + 21 + 23) / 4 = 16.5</a:t>
            </a:r>
            <a:endParaRPr sz="1400" b="0" i="0" u="none" strike="noStrike" cap="none">
              <a:solidFill>
                <a:srgbClr val="000000"/>
              </a:solidFill>
              <a:latin typeface="Arial"/>
              <a:ea typeface="Arial"/>
              <a:cs typeface="Arial"/>
              <a:sym typeface="Arial"/>
            </a:endParaRPr>
          </a:p>
        </p:txBody>
      </p:sp>
      <p:sp>
        <p:nvSpPr>
          <p:cNvPr id="1140" name="Google Shape;1140;p126"/>
          <p:cNvSpPr/>
          <p:nvPr/>
        </p:nvSpPr>
        <p:spPr>
          <a:xfrm>
            <a:off x="781062" y="1568450"/>
            <a:ext cx="7467586" cy="201295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1" name="Google Shape;1141;p126"/>
          <p:cNvSpPr/>
          <p:nvPr/>
        </p:nvSpPr>
        <p:spPr>
          <a:xfrm>
            <a:off x="3528059" y="2415539"/>
            <a:ext cx="259079" cy="35966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2" name="Google Shape;1142;p126"/>
          <p:cNvSpPr/>
          <p:nvPr/>
        </p:nvSpPr>
        <p:spPr>
          <a:xfrm>
            <a:off x="3656013" y="2628900"/>
            <a:ext cx="1270" cy="114300"/>
          </a:xfrm>
          <a:custGeom>
            <a:avLst/>
            <a:gdLst/>
            <a:ahLst/>
            <a:cxnLst/>
            <a:rect l="l" t="t" r="r" b="b"/>
            <a:pathLst>
              <a:path w="1270" h="114300" extrusionOk="0">
                <a:moveTo>
                  <a:pt x="393" y="-6350"/>
                </a:moveTo>
                <a:lnTo>
                  <a:pt x="393" y="120650"/>
                </a:lnTo>
              </a:path>
            </a:pathLst>
          </a:custGeom>
          <a:noFill/>
          <a:ln w="134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3" name="Google Shape;1143;p126"/>
          <p:cNvSpPr/>
          <p:nvPr/>
        </p:nvSpPr>
        <p:spPr>
          <a:xfrm>
            <a:off x="3593214" y="2514597"/>
            <a:ext cx="127000" cy="127635"/>
          </a:xfrm>
          <a:custGeom>
            <a:avLst/>
            <a:gdLst/>
            <a:ahLst/>
            <a:cxnLst/>
            <a:rect l="l" t="t" r="r" b="b"/>
            <a:pathLst>
              <a:path w="127000" h="127635" extrusionOk="0">
                <a:moveTo>
                  <a:pt x="64389" y="0"/>
                </a:moveTo>
                <a:lnTo>
                  <a:pt x="0" y="126555"/>
                </a:lnTo>
                <a:lnTo>
                  <a:pt x="127000" y="127444"/>
                </a:lnTo>
                <a:lnTo>
                  <a:pt x="6438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4" name="Google Shape;1144;p126"/>
          <p:cNvSpPr/>
          <p:nvPr/>
        </p:nvSpPr>
        <p:spPr>
          <a:xfrm>
            <a:off x="2494788" y="1609343"/>
            <a:ext cx="1716023" cy="34747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5" name="Google Shape;1145;p126"/>
          <p:cNvSpPr/>
          <p:nvPr/>
        </p:nvSpPr>
        <p:spPr>
          <a:xfrm>
            <a:off x="2743200" y="1752688"/>
            <a:ext cx="1219200" cy="1905"/>
          </a:xfrm>
          <a:custGeom>
            <a:avLst/>
            <a:gdLst/>
            <a:ahLst/>
            <a:cxnLst/>
            <a:rect l="l" t="t" r="r" b="b"/>
            <a:pathLst>
              <a:path w="1219200" h="1905" extrusionOk="0">
                <a:moveTo>
                  <a:pt x="0" y="0"/>
                </a:moveTo>
                <a:lnTo>
                  <a:pt x="1219200" y="1409"/>
                </a:lnTo>
              </a:path>
            </a:pathLst>
          </a:custGeom>
          <a:noFill/>
          <a:ln w="76200"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6" name="Google Shape;1146;p126"/>
          <p:cNvSpPr/>
          <p:nvPr/>
        </p:nvSpPr>
        <p:spPr>
          <a:xfrm>
            <a:off x="3886060" y="1639707"/>
            <a:ext cx="153035" cy="228600"/>
          </a:xfrm>
          <a:custGeom>
            <a:avLst/>
            <a:gdLst/>
            <a:ahLst/>
            <a:cxnLst/>
            <a:rect l="l" t="t" r="r" b="b"/>
            <a:pathLst>
              <a:path w="153035" h="228600" extrusionOk="0">
                <a:moveTo>
                  <a:pt x="279" y="0"/>
                </a:moveTo>
                <a:lnTo>
                  <a:pt x="76339" y="114388"/>
                </a:lnTo>
                <a:lnTo>
                  <a:pt x="0" y="228600"/>
                </a:lnTo>
                <a:lnTo>
                  <a:pt x="152539" y="114477"/>
                </a:lnTo>
                <a:lnTo>
                  <a:pt x="279"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7" name="Google Shape;1147;p126"/>
          <p:cNvSpPr/>
          <p:nvPr/>
        </p:nvSpPr>
        <p:spPr>
          <a:xfrm>
            <a:off x="2667000" y="1638474"/>
            <a:ext cx="153035" cy="228600"/>
          </a:xfrm>
          <a:custGeom>
            <a:avLst/>
            <a:gdLst/>
            <a:ahLst/>
            <a:cxnLst/>
            <a:rect l="l" t="t" r="r" b="b"/>
            <a:pathLst>
              <a:path w="153035" h="228600" extrusionOk="0">
                <a:moveTo>
                  <a:pt x="152527" y="0"/>
                </a:moveTo>
                <a:lnTo>
                  <a:pt x="0" y="114122"/>
                </a:lnTo>
                <a:lnTo>
                  <a:pt x="152273" y="228599"/>
                </a:lnTo>
                <a:lnTo>
                  <a:pt x="76200" y="114211"/>
                </a:lnTo>
                <a:lnTo>
                  <a:pt x="152527"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8" name="Google Shape;1148;p126"/>
          <p:cNvSpPr/>
          <p:nvPr/>
        </p:nvSpPr>
        <p:spPr>
          <a:xfrm>
            <a:off x="5466588" y="1610868"/>
            <a:ext cx="1716023" cy="3474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49" name="Google Shape;1149;p126"/>
          <p:cNvSpPr/>
          <p:nvPr/>
        </p:nvSpPr>
        <p:spPr>
          <a:xfrm>
            <a:off x="5715000" y="1754276"/>
            <a:ext cx="1219200" cy="1905"/>
          </a:xfrm>
          <a:custGeom>
            <a:avLst/>
            <a:gdLst/>
            <a:ahLst/>
            <a:cxnLst/>
            <a:rect l="l" t="t" r="r" b="b"/>
            <a:pathLst>
              <a:path w="1219200" h="1905" extrusionOk="0">
                <a:moveTo>
                  <a:pt x="0" y="0"/>
                </a:moveTo>
                <a:lnTo>
                  <a:pt x="1219200" y="1409"/>
                </a:lnTo>
              </a:path>
            </a:pathLst>
          </a:custGeom>
          <a:noFill/>
          <a:ln w="76200"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0" name="Google Shape;1150;p126"/>
          <p:cNvSpPr/>
          <p:nvPr/>
        </p:nvSpPr>
        <p:spPr>
          <a:xfrm>
            <a:off x="6857860" y="1641294"/>
            <a:ext cx="153035" cy="228600"/>
          </a:xfrm>
          <a:custGeom>
            <a:avLst/>
            <a:gdLst/>
            <a:ahLst/>
            <a:cxnLst/>
            <a:rect l="l" t="t" r="r" b="b"/>
            <a:pathLst>
              <a:path w="153034" h="228600" extrusionOk="0">
                <a:moveTo>
                  <a:pt x="279" y="0"/>
                </a:moveTo>
                <a:lnTo>
                  <a:pt x="76339" y="114388"/>
                </a:lnTo>
                <a:lnTo>
                  <a:pt x="0" y="228600"/>
                </a:lnTo>
                <a:lnTo>
                  <a:pt x="152539" y="114477"/>
                </a:lnTo>
                <a:lnTo>
                  <a:pt x="279"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1" name="Google Shape;1151;p126"/>
          <p:cNvSpPr/>
          <p:nvPr/>
        </p:nvSpPr>
        <p:spPr>
          <a:xfrm>
            <a:off x="5638800" y="1640061"/>
            <a:ext cx="153035" cy="228600"/>
          </a:xfrm>
          <a:custGeom>
            <a:avLst/>
            <a:gdLst/>
            <a:ahLst/>
            <a:cxnLst/>
            <a:rect l="l" t="t" r="r" b="b"/>
            <a:pathLst>
              <a:path w="153035" h="228600" extrusionOk="0">
                <a:moveTo>
                  <a:pt x="152527" y="0"/>
                </a:moveTo>
                <a:lnTo>
                  <a:pt x="0" y="114122"/>
                </a:lnTo>
                <a:lnTo>
                  <a:pt x="152273" y="228599"/>
                </a:lnTo>
                <a:lnTo>
                  <a:pt x="76200" y="114211"/>
                </a:lnTo>
                <a:lnTo>
                  <a:pt x="152527"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2" name="Google Shape;1152;p126"/>
          <p:cNvSpPr/>
          <p:nvPr/>
        </p:nvSpPr>
        <p:spPr>
          <a:xfrm>
            <a:off x="943355" y="1609343"/>
            <a:ext cx="498347" cy="347472"/>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3" name="Google Shape;1153;p126"/>
          <p:cNvSpPr/>
          <p:nvPr/>
        </p:nvSpPr>
        <p:spPr>
          <a:xfrm>
            <a:off x="1116410" y="1638303"/>
            <a:ext cx="154767" cy="230174"/>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4" name="Google Shape;1154;p126"/>
          <p:cNvSpPr/>
          <p:nvPr/>
        </p:nvSpPr>
        <p:spPr>
          <a:xfrm>
            <a:off x="5611368" y="1783080"/>
            <a:ext cx="25907" cy="1298447"/>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5" name="Google Shape;1155;p126"/>
          <p:cNvSpPr/>
          <p:nvPr/>
        </p:nvSpPr>
        <p:spPr>
          <a:xfrm>
            <a:off x="5624513" y="1754187"/>
            <a:ext cx="3175" cy="1295400"/>
          </a:xfrm>
          <a:custGeom>
            <a:avLst/>
            <a:gdLst/>
            <a:ahLst/>
            <a:cxnLst/>
            <a:rect l="l" t="t" r="r" b="b"/>
            <a:pathLst>
              <a:path w="3175" h="1295400" extrusionOk="0">
                <a:moveTo>
                  <a:pt x="3175" y="0"/>
                </a:moveTo>
                <a:lnTo>
                  <a:pt x="0" y="129540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6" name="Google Shape;1156;p126"/>
          <p:cNvSpPr/>
          <p:nvPr/>
        </p:nvSpPr>
        <p:spPr>
          <a:xfrm>
            <a:off x="6998207" y="1780031"/>
            <a:ext cx="22860" cy="614172"/>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7" name="Google Shape;1157;p126"/>
          <p:cNvSpPr/>
          <p:nvPr/>
        </p:nvSpPr>
        <p:spPr>
          <a:xfrm>
            <a:off x="7008814" y="1752600"/>
            <a:ext cx="1905" cy="611505"/>
          </a:xfrm>
          <a:custGeom>
            <a:avLst/>
            <a:gdLst/>
            <a:ahLst/>
            <a:cxnLst/>
            <a:rect l="l" t="t" r="r" b="b"/>
            <a:pathLst>
              <a:path w="1904" h="611505" extrusionOk="0">
                <a:moveTo>
                  <a:pt x="1587" y="0"/>
                </a:moveTo>
                <a:lnTo>
                  <a:pt x="0" y="611187"/>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8" name="Google Shape;1158;p126"/>
          <p:cNvSpPr/>
          <p:nvPr/>
        </p:nvSpPr>
        <p:spPr>
          <a:xfrm>
            <a:off x="4027931" y="1780031"/>
            <a:ext cx="22860" cy="614172"/>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59" name="Google Shape;1159;p126"/>
          <p:cNvSpPr/>
          <p:nvPr/>
        </p:nvSpPr>
        <p:spPr>
          <a:xfrm>
            <a:off x="4038600" y="1752600"/>
            <a:ext cx="1905" cy="611505"/>
          </a:xfrm>
          <a:custGeom>
            <a:avLst/>
            <a:gdLst/>
            <a:ahLst/>
            <a:cxnLst/>
            <a:rect l="l" t="t" r="r" b="b"/>
            <a:pathLst>
              <a:path w="1904" h="611505" extrusionOk="0">
                <a:moveTo>
                  <a:pt x="1587" y="0"/>
                </a:moveTo>
                <a:lnTo>
                  <a:pt x="0" y="611187"/>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60" name="Google Shape;1160;p126"/>
          <p:cNvSpPr/>
          <p:nvPr/>
        </p:nvSpPr>
        <p:spPr>
          <a:xfrm>
            <a:off x="2657855" y="1783080"/>
            <a:ext cx="22860" cy="1298447"/>
          </a:xfrm>
          <a:prstGeom prst="rect">
            <a:avLst/>
          </a:prstGeom>
          <a:blipFill rotWithShape="1">
            <a:blip r:embed="rId1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61" name="Google Shape;1161;p126"/>
          <p:cNvSpPr/>
          <p:nvPr/>
        </p:nvSpPr>
        <p:spPr>
          <a:xfrm>
            <a:off x="2668587" y="1754187"/>
            <a:ext cx="1905" cy="1295400"/>
          </a:xfrm>
          <a:custGeom>
            <a:avLst/>
            <a:gdLst/>
            <a:ahLst/>
            <a:cxnLst/>
            <a:rect l="l" t="t" r="r" b="b"/>
            <a:pathLst>
              <a:path w="1905" h="1295400" extrusionOk="0">
                <a:moveTo>
                  <a:pt x="1587" y="0"/>
                </a:moveTo>
                <a:lnTo>
                  <a:pt x="0" y="129540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62" name="Google Shape;1162;p126"/>
          <p:cNvSpPr/>
          <p:nvPr/>
        </p:nvSpPr>
        <p:spPr>
          <a:xfrm>
            <a:off x="1181100" y="1780031"/>
            <a:ext cx="24383" cy="614172"/>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63" name="Google Shape;1163;p126"/>
          <p:cNvSpPr/>
          <p:nvPr/>
        </p:nvSpPr>
        <p:spPr>
          <a:xfrm>
            <a:off x="1192212" y="1752600"/>
            <a:ext cx="1905" cy="611505"/>
          </a:xfrm>
          <a:custGeom>
            <a:avLst/>
            <a:gdLst/>
            <a:ahLst/>
            <a:cxnLst/>
            <a:rect l="l" t="t" r="r" b="b"/>
            <a:pathLst>
              <a:path w="1905" h="611505" extrusionOk="0">
                <a:moveTo>
                  <a:pt x="1587" y="0"/>
                </a:moveTo>
                <a:lnTo>
                  <a:pt x="0" y="611187"/>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64" name="Google Shape;1164;p126"/>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43</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127"/>
          <p:cNvSpPr txBox="1">
            <a:spLocks noGrp="1"/>
          </p:cNvSpPr>
          <p:nvPr>
            <p:ph type="title"/>
          </p:nvPr>
        </p:nvSpPr>
        <p:spPr>
          <a:xfrm>
            <a:off x="457200" y="441451"/>
            <a:ext cx="7391400" cy="998700"/>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3200" b="0">
                <a:latin typeface="Calibri"/>
                <a:ea typeface="Calibri"/>
                <a:cs typeface="Calibri"/>
                <a:sym typeface="Calibri"/>
              </a:rPr>
              <a:t> </a:t>
            </a:r>
            <a:r>
              <a:rPr lang="fr-FR" sz="3200" u="sng">
                <a:solidFill>
                  <a:srgbClr val="000000"/>
                </a:solidFill>
              </a:rPr>
              <a:t>3ème Cas : FCFS (Premier arrivé, premier servi )</a:t>
            </a:r>
            <a:endParaRPr sz="3200">
              <a:latin typeface="Calibri"/>
              <a:ea typeface="Calibri"/>
              <a:cs typeface="Calibri"/>
              <a:sym typeface="Calibri"/>
            </a:endParaRPr>
          </a:p>
        </p:txBody>
      </p:sp>
      <p:sp>
        <p:nvSpPr>
          <p:cNvPr id="1170" name="Google Shape;1170;p127"/>
          <p:cNvSpPr txBox="1"/>
          <p:nvPr/>
        </p:nvSpPr>
        <p:spPr>
          <a:xfrm>
            <a:off x="653415" y="3639187"/>
            <a:ext cx="3731895" cy="2369185"/>
          </a:xfrm>
          <a:prstGeom prst="rect">
            <a:avLst/>
          </a:prstGeom>
          <a:noFill/>
          <a:ln>
            <a:noFill/>
          </a:ln>
        </p:spPr>
        <p:txBody>
          <a:bodyPr spcFirstLastPara="1" wrap="square" lIns="0" tIns="74925" rIns="0" bIns="0" anchor="t" anchorCtr="0">
            <a:spAutoFit/>
          </a:bodyPr>
          <a:lstStyle/>
          <a:p>
            <a:pPr marL="3930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Response time:</a:t>
            </a:r>
            <a:endParaRPr sz="2000" b="0" i="0" u="none" strike="noStrike" cap="none">
              <a:solidFill>
                <a:srgbClr val="000000"/>
              </a:solidFill>
              <a:latin typeface="Calibri"/>
              <a:ea typeface="Calibri"/>
              <a:cs typeface="Calibri"/>
              <a:sym typeface="Calibri"/>
            </a:endParaRPr>
          </a:p>
          <a:p>
            <a:pPr marL="965200" marR="0" lvl="0" indent="0" algn="l" rtl="0">
              <a:lnSpc>
                <a:spcPct val="100000"/>
              </a:lnSpc>
              <a:spcBef>
                <a:spcPts val="440"/>
              </a:spcBef>
              <a:spcAft>
                <a:spcPts val="0"/>
              </a:spcAft>
              <a:buClr>
                <a:srgbClr val="000000"/>
              </a:buClr>
              <a:buSzPts val="1800"/>
              <a:buFont typeface="Arial"/>
              <a:buNone/>
            </a:pPr>
            <a:r>
              <a:rPr lang="fr-FR" sz="1800" b="0" i="0" u="none" strike="noStrike" cap="none">
                <a:solidFill>
                  <a:srgbClr val="595958"/>
                </a:solidFill>
                <a:latin typeface="Calibri"/>
                <a:ea typeface="Calibri"/>
                <a:cs typeface="Calibri"/>
                <a:sym typeface="Calibri"/>
              </a:rPr>
              <a:t>rt</a:t>
            </a:r>
            <a:r>
              <a:rPr lang="fr-FR" sz="1800" b="0" i="0" u="none" strike="noStrike" cap="none" baseline="-25000">
                <a:solidFill>
                  <a:srgbClr val="595958"/>
                </a:solidFill>
                <a:latin typeface="Calibri"/>
                <a:ea typeface="Calibri"/>
                <a:cs typeface="Calibri"/>
                <a:sym typeface="Calibri"/>
              </a:rPr>
              <a:t>A  </a:t>
            </a:r>
            <a:r>
              <a:rPr lang="fr-FR" sz="1800" b="0" i="0" u="none" strike="noStrike" cap="none">
                <a:solidFill>
                  <a:srgbClr val="595958"/>
                </a:solidFill>
                <a:latin typeface="Calibri"/>
                <a:ea typeface="Calibri"/>
                <a:cs typeface="Calibri"/>
                <a:sym typeface="Calibri"/>
              </a:rPr>
              <a:t>= 0 – 0 = 0</a:t>
            </a:r>
            <a:endParaRPr sz="1800" b="0" i="0" u="none" strike="noStrike" cap="none">
              <a:solidFill>
                <a:srgbClr val="000000"/>
              </a:solidFill>
              <a:latin typeface="Calibri"/>
              <a:ea typeface="Calibri"/>
              <a:cs typeface="Calibri"/>
              <a:sym typeface="Calibri"/>
            </a:endParaRPr>
          </a:p>
          <a:p>
            <a:pPr marL="965200" marR="0" lvl="0" indent="0" algn="l" rtl="0">
              <a:lnSpc>
                <a:spcPct val="100000"/>
              </a:lnSpc>
              <a:spcBef>
                <a:spcPts val="434"/>
              </a:spcBef>
              <a:spcAft>
                <a:spcPts val="0"/>
              </a:spcAft>
              <a:buClr>
                <a:srgbClr val="000000"/>
              </a:buClr>
              <a:buSzPts val="1800"/>
              <a:buFont typeface="Arial"/>
              <a:buNone/>
            </a:pPr>
            <a:r>
              <a:rPr lang="fr-FR" sz="1800" b="0" i="0" u="none" strike="noStrike" cap="none">
                <a:solidFill>
                  <a:srgbClr val="FF6600"/>
                </a:solidFill>
                <a:latin typeface="Calibri"/>
                <a:ea typeface="Calibri"/>
                <a:cs typeface="Calibri"/>
                <a:sym typeface="Calibri"/>
              </a:rPr>
              <a:t>rt</a:t>
            </a:r>
            <a:r>
              <a:rPr lang="fr-FR" sz="1800" b="0" i="0" u="none" strike="noStrike" cap="none" baseline="-25000">
                <a:solidFill>
                  <a:srgbClr val="FF6600"/>
                </a:solidFill>
                <a:latin typeface="Calibri"/>
                <a:ea typeface="Calibri"/>
                <a:cs typeface="Calibri"/>
                <a:sym typeface="Calibri"/>
              </a:rPr>
              <a:t>B  </a:t>
            </a:r>
            <a:r>
              <a:rPr lang="fr-FR" sz="1800" b="0" i="0" u="none" strike="noStrike" cap="none">
                <a:solidFill>
                  <a:srgbClr val="FF6600"/>
                </a:solidFill>
                <a:latin typeface="Calibri"/>
                <a:ea typeface="Calibri"/>
                <a:cs typeface="Calibri"/>
                <a:sym typeface="Calibri"/>
              </a:rPr>
              <a:t>= 4 – 2 = 2</a:t>
            </a:r>
            <a:endParaRPr sz="1800" b="0" i="0" u="none" strike="noStrike" cap="none">
              <a:solidFill>
                <a:srgbClr val="000000"/>
              </a:solidFill>
              <a:latin typeface="Calibri"/>
              <a:ea typeface="Calibri"/>
              <a:cs typeface="Calibri"/>
              <a:sym typeface="Calibri"/>
            </a:endParaRPr>
          </a:p>
          <a:p>
            <a:pPr marL="964564" marR="0" lvl="0" indent="0" algn="l" rtl="0">
              <a:lnSpc>
                <a:spcPct val="100000"/>
              </a:lnSpc>
              <a:spcBef>
                <a:spcPts val="43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rt</a:t>
            </a:r>
            <a:r>
              <a:rPr lang="fr-FR" sz="1800" b="0" i="0" u="none" strike="noStrike" cap="none" baseline="-25000">
                <a:solidFill>
                  <a:srgbClr val="000000"/>
                </a:solidFill>
                <a:latin typeface="Calibri"/>
                <a:ea typeface="Calibri"/>
                <a:cs typeface="Calibri"/>
                <a:sym typeface="Calibri"/>
              </a:rPr>
              <a:t>C  </a:t>
            </a:r>
            <a:r>
              <a:rPr lang="fr-FR" sz="1800" b="0" i="0" u="none" strike="noStrike" cap="none">
                <a:solidFill>
                  <a:srgbClr val="000000"/>
                </a:solidFill>
                <a:latin typeface="Calibri"/>
                <a:ea typeface="Calibri"/>
                <a:cs typeface="Calibri"/>
                <a:sym typeface="Calibri"/>
              </a:rPr>
              <a:t>= 12 – 3 = 9</a:t>
            </a:r>
            <a:endParaRPr sz="1400" b="0" i="0" u="none" strike="noStrike" cap="none">
              <a:solidFill>
                <a:srgbClr val="000000"/>
              </a:solidFill>
              <a:latin typeface="Arial"/>
              <a:ea typeface="Arial"/>
              <a:cs typeface="Arial"/>
              <a:sym typeface="Arial"/>
            </a:endParaRPr>
          </a:p>
          <a:p>
            <a:pPr marL="964564" marR="0" lvl="0" indent="0" algn="l" rtl="0">
              <a:lnSpc>
                <a:spcPct val="100000"/>
              </a:lnSpc>
              <a:spcBef>
                <a:spcPts val="43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rt</a:t>
            </a:r>
            <a:r>
              <a:rPr lang="fr-FR" sz="1800" b="0" i="0" u="none" strike="noStrike" cap="none" baseline="-25000">
                <a:solidFill>
                  <a:srgbClr val="000000"/>
                </a:solidFill>
                <a:latin typeface="Calibri"/>
                <a:ea typeface="Calibri"/>
                <a:cs typeface="Calibri"/>
                <a:sym typeface="Calibri"/>
              </a:rPr>
              <a:t>D  </a:t>
            </a:r>
            <a:r>
              <a:rPr lang="fr-FR" sz="1800" b="0" i="0" u="none" strike="noStrike" cap="none">
                <a:solidFill>
                  <a:srgbClr val="000000"/>
                </a:solidFill>
                <a:latin typeface="Calibri"/>
                <a:ea typeface="Calibri"/>
                <a:cs typeface="Calibri"/>
                <a:sym typeface="Calibri"/>
              </a:rPr>
              <a:t>= 14 – 7 = 7</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35"/>
              </a:spcBef>
              <a:spcAft>
                <a:spcPts val="0"/>
              </a:spcAft>
              <a:buClr>
                <a:srgbClr val="000000"/>
              </a:buClr>
              <a:buSzPts val="2600"/>
              <a:buFont typeface="Arial"/>
              <a:buNone/>
            </a:pPr>
            <a:endParaRPr sz="2600" b="0" i="0" u="none" strike="noStrike" cap="none">
              <a:solidFill>
                <a:srgbClr val="000000"/>
              </a:solidFill>
              <a:latin typeface="Times New Roman"/>
              <a:ea typeface="Times New Roman"/>
              <a:cs typeface="Times New Roman"/>
              <a:sym typeface="Times New Roman"/>
            </a:endParaRPr>
          </a:p>
          <a:p>
            <a:pPr marL="9652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rt</a:t>
            </a:r>
            <a:r>
              <a:rPr lang="fr-FR" sz="1800" b="0" i="0" u="none" strike="noStrike" cap="none" baseline="-25000">
                <a:solidFill>
                  <a:srgbClr val="000000"/>
                </a:solidFill>
                <a:latin typeface="Calibri"/>
                <a:ea typeface="Calibri"/>
                <a:cs typeface="Calibri"/>
                <a:sym typeface="Calibri"/>
              </a:rPr>
              <a:t>AVG </a:t>
            </a:r>
            <a:r>
              <a:rPr lang="fr-FR" sz="1800" b="0" i="0" u="none" strike="noStrike" cap="none">
                <a:solidFill>
                  <a:srgbClr val="000000"/>
                </a:solidFill>
                <a:latin typeface="Calibri"/>
                <a:ea typeface="Calibri"/>
                <a:cs typeface="Calibri"/>
                <a:sym typeface="Calibri"/>
              </a:rPr>
              <a:t>= (0 + 2 + 9 + 7) / 4 = 4.5</a:t>
            </a:r>
            <a:endParaRPr sz="1400" b="0" i="0" u="none" strike="noStrike" cap="none">
              <a:solidFill>
                <a:srgbClr val="000000"/>
              </a:solidFill>
              <a:latin typeface="Arial"/>
              <a:ea typeface="Arial"/>
              <a:cs typeface="Arial"/>
              <a:sym typeface="Arial"/>
            </a:endParaRPr>
          </a:p>
        </p:txBody>
      </p:sp>
      <p:sp>
        <p:nvSpPr>
          <p:cNvPr id="1171" name="Google Shape;1171;p127"/>
          <p:cNvSpPr/>
          <p:nvPr/>
        </p:nvSpPr>
        <p:spPr>
          <a:xfrm>
            <a:off x="781062" y="1568450"/>
            <a:ext cx="7467586" cy="2012950"/>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2" name="Google Shape;1172;p127"/>
          <p:cNvSpPr/>
          <p:nvPr/>
        </p:nvSpPr>
        <p:spPr>
          <a:xfrm>
            <a:off x="3528059" y="2491739"/>
            <a:ext cx="259079" cy="35966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3" name="Google Shape;1173;p127"/>
          <p:cNvSpPr/>
          <p:nvPr/>
        </p:nvSpPr>
        <p:spPr>
          <a:xfrm>
            <a:off x="3656013" y="2705100"/>
            <a:ext cx="1270" cy="114300"/>
          </a:xfrm>
          <a:custGeom>
            <a:avLst/>
            <a:gdLst/>
            <a:ahLst/>
            <a:cxnLst/>
            <a:rect l="l" t="t" r="r" b="b"/>
            <a:pathLst>
              <a:path w="1270" h="114300" extrusionOk="0">
                <a:moveTo>
                  <a:pt x="393" y="-6350"/>
                </a:moveTo>
                <a:lnTo>
                  <a:pt x="393" y="120650"/>
                </a:lnTo>
              </a:path>
            </a:pathLst>
          </a:custGeom>
          <a:noFill/>
          <a:ln w="134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4" name="Google Shape;1174;p127"/>
          <p:cNvSpPr/>
          <p:nvPr/>
        </p:nvSpPr>
        <p:spPr>
          <a:xfrm>
            <a:off x="3593214" y="2590797"/>
            <a:ext cx="127000" cy="127635"/>
          </a:xfrm>
          <a:custGeom>
            <a:avLst/>
            <a:gdLst/>
            <a:ahLst/>
            <a:cxnLst/>
            <a:rect l="l" t="t" r="r" b="b"/>
            <a:pathLst>
              <a:path w="127000" h="127635" extrusionOk="0">
                <a:moveTo>
                  <a:pt x="64389" y="0"/>
                </a:moveTo>
                <a:lnTo>
                  <a:pt x="0" y="126555"/>
                </a:lnTo>
                <a:lnTo>
                  <a:pt x="127000" y="127444"/>
                </a:lnTo>
                <a:lnTo>
                  <a:pt x="64389"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5" name="Google Shape;1175;p127"/>
          <p:cNvSpPr/>
          <p:nvPr/>
        </p:nvSpPr>
        <p:spPr>
          <a:xfrm>
            <a:off x="1511807" y="1783080"/>
            <a:ext cx="24383" cy="45872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6" name="Google Shape;1176;p127"/>
          <p:cNvSpPr/>
          <p:nvPr/>
        </p:nvSpPr>
        <p:spPr>
          <a:xfrm>
            <a:off x="1522412" y="1755775"/>
            <a:ext cx="3175" cy="455930"/>
          </a:xfrm>
          <a:custGeom>
            <a:avLst/>
            <a:gdLst/>
            <a:ahLst/>
            <a:cxnLst/>
            <a:rect l="l" t="t" r="r" b="b"/>
            <a:pathLst>
              <a:path w="3175" h="455930" extrusionOk="0">
                <a:moveTo>
                  <a:pt x="3175" y="0"/>
                </a:moveTo>
                <a:lnTo>
                  <a:pt x="0" y="455612"/>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7" name="Google Shape;1177;p127"/>
          <p:cNvSpPr/>
          <p:nvPr/>
        </p:nvSpPr>
        <p:spPr>
          <a:xfrm>
            <a:off x="1347215" y="1609343"/>
            <a:ext cx="765047" cy="347472"/>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8" name="Google Shape;1178;p127"/>
          <p:cNvSpPr/>
          <p:nvPr/>
        </p:nvSpPr>
        <p:spPr>
          <a:xfrm>
            <a:off x="1598612" y="1752886"/>
            <a:ext cx="268605" cy="1270"/>
          </a:xfrm>
          <a:custGeom>
            <a:avLst/>
            <a:gdLst/>
            <a:ahLst/>
            <a:cxnLst/>
            <a:rect l="l" t="t" r="r" b="b"/>
            <a:pathLst>
              <a:path w="268605" h="1269" extrusionOk="0">
                <a:moveTo>
                  <a:pt x="-38100" y="507"/>
                </a:moveTo>
                <a:lnTo>
                  <a:pt x="306387" y="507"/>
                </a:lnTo>
              </a:path>
            </a:pathLst>
          </a:custGeom>
          <a:noFill/>
          <a:ln w="77200"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79" name="Google Shape;1179;p127"/>
          <p:cNvSpPr/>
          <p:nvPr/>
        </p:nvSpPr>
        <p:spPr>
          <a:xfrm>
            <a:off x="1790268" y="1639304"/>
            <a:ext cx="153035" cy="228600"/>
          </a:xfrm>
          <a:custGeom>
            <a:avLst/>
            <a:gdLst/>
            <a:ahLst/>
            <a:cxnLst/>
            <a:rect l="l" t="t" r="r" b="b"/>
            <a:pathLst>
              <a:path w="153035" h="228600" extrusionOk="0">
                <a:moveTo>
                  <a:pt x="863" y="0"/>
                </a:moveTo>
                <a:lnTo>
                  <a:pt x="76631" y="114592"/>
                </a:lnTo>
                <a:lnTo>
                  <a:pt x="0" y="228600"/>
                </a:lnTo>
                <a:lnTo>
                  <a:pt x="152831" y="114884"/>
                </a:lnTo>
                <a:lnTo>
                  <a:pt x="863"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80" name="Google Shape;1180;p127"/>
          <p:cNvSpPr/>
          <p:nvPr/>
        </p:nvSpPr>
        <p:spPr>
          <a:xfrm>
            <a:off x="1522412" y="1638863"/>
            <a:ext cx="153035" cy="228600"/>
          </a:xfrm>
          <a:custGeom>
            <a:avLst/>
            <a:gdLst/>
            <a:ahLst/>
            <a:cxnLst/>
            <a:rect l="l" t="t" r="r" b="b"/>
            <a:pathLst>
              <a:path w="153035" h="228600" extrusionOk="0">
                <a:moveTo>
                  <a:pt x="152831" y="0"/>
                </a:moveTo>
                <a:lnTo>
                  <a:pt x="0" y="113741"/>
                </a:lnTo>
                <a:lnTo>
                  <a:pt x="151968" y="228600"/>
                </a:lnTo>
                <a:lnTo>
                  <a:pt x="76200" y="114020"/>
                </a:lnTo>
                <a:lnTo>
                  <a:pt x="152831"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81" name="Google Shape;1181;p127"/>
          <p:cNvSpPr/>
          <p:nvPr/>
        </p:nvSpPr>
        <p:spPr>
          <a:xfrm>
            <a:off x="1930907" y="1780031"/>
            <a:ext cx="22860" cy="614172"/>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82" name="Google Shape;1182;p127"/>
          <p:cNvSpPr/>
          <p:nvPr/>
        </p:nvSpPr>
        <p:spPr>
          <a:xfrm>
            <a:off x="1941512" y="1752600"/>
            <a:ext cx="1905" cy="611505"/>
          </a:xfrm>
          <a:custGeom>
            <a:avLst/>
            <a:gdLst/>
            <a:ahLst/>
            <a:cxnLst/>
            <a:rect l="l" t="t" r="r" b="b"/>
            <a:pathLst>
              <a:path w="1905" h="611505" extrusionOk="0">
                <a:moveTo>
                  <a:pt x="1587" y="0"/>
                </a:moveTo>
                <a:lnTo>
                  <a:pt x="0" y="611187"/>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183" name="Google Shape;1183;p127"/>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44</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128"/>
          <p:cNvSpPr txBox="1">
            <a:spLocks noGrp="1"/>
          </p:cNvSpPr>
          <p:nvPr>
            <p:ph type="title"/>
          </p:nvPr>
        </p:nvSpPr>
        <p:spPr>
          <a:xfrm>
            <a:off x="64476" y="186919"/>
            <a:ext cx="5802923" cy="689932"/>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4400" u="sng">
                <a:latin typeface="Calibri"/>
                <a:ea typeface="Calibri"/>
                <a:cs typeface="Calibri"/>
                <a:sym typeface="Calibri"/>
              </a:rPr>
              <a:t>Inconvénients FIFO</a:t>
            </a:r>
            <a:endParaRPr sz="4400" u="sng">
              <a:latin typeface="Calibri"/>
              <a:ea typeface="Calibri"/>
              <a:cs typeface="Calibri"/>
              <a:sym typeface="Calibri"/>
            </a:endParaRPr>
          </a:p>
        </p:txBody>
      </p:sp>
      <p:sp>
        <p:nvSpPr>
          <p:cNvPr id="1189" name="Google Shape;1189;p128"/>
          <p:cNvSpPr txBox="1"/>
          <p:nvPr/>
        </p:nvSpPr>
        <p:spPr>
          <a:xfrm>
            <a:off x="78738" y="1805415"/>
            <a:ext cx="9065261" cy="3370153"/>
          </a:xfrm>
          <a:prstGeom prst="rect">
            <a:avLst/>
          </a:prstGeom>
          <a:noFill/>
          <a:ln>
            <a:noFill/>
          </a:ln>
        </p:spPr>
        <p:txBody>
          <a:bodyPr spcFirstLastPara="1" wrap="square" lIns="0" tIns="12700" rIns="0" bIns="0" anchor="t" anchorCtr="0">
            <a:spAutoFit/>
          </a:bodyPr>
          <a:lstStyle/>
          <a:p>
            <a:pPr marL="355600" marR="335915" lvl="0" indent="-342900" algn="l" rtl="0">
              <a:lnSpc>
                <a:spcPct val="100000"/>
              </a:lnSpc>
              <a:spcBef>
                <a:spcPts val="0"/>
              </a:spcBef>
              <a:spcAft>
                <a:spcPts val="0"/>
              </a:spcAft>
              <a:buClr>
                <a:srgbClr val="000000"/>
              </a:buClr>
              <a:buSzPts val="3600"/>
              <a:buFont typeface="Arial"/>
              <a:buChar char="•"/>
            </a:pPr>
            <a:r>
              <a:rPr lang="fr-FR" sz="3600" b="0" i="0" u="none" strike="noStrike" cap="none">
                <a:solidFill>
                  <a:srgbClr val="000000"/>
                </a:solidFill>
                <a:latin typeface="Calibri"/>
                <a:ea typeface="Calibri"/>
                <a:cs typeface="Calibri"/>
                <a:sym typeface="Calibri"/>
              </a:rPr>
              <a:t> </a:t>
            </a:r>
            <a:r>
              <a:rPr lang="fr-FR" sz="2800" b="0" i="0" u="none" strike="noStrike" cap="none">
                <a:solidFill>
                  <a:srgbClr val="000000"/>
                </a:solidFill>
                <a:latin typeface="Times New Roman"/>
                <a:ea typeface="Times New Roman"/>
                <a:cs typeface="Times New Roman"/>
                <a:sym typeface="Times New Roman"/>
              </a:rPr>
              <a:t>Dans cette politique, des processus de faible temps d'exécution peuvent être pénalisés parce qu'un processus de longue durée les précède dans la file .</a:t>
            </a:r>
            <a:endParaRPr sz="1400" b="0" i="0" u="none" strike="noStrike" cap="none">
              <a:solidFill>
                <a:srgbClr val="000000"/>
              </a:solidFill>
              <a:latin typeface="Arial"/>
              <a:ea typeface="Arial"/>
              <a:cs typeface="Arial"/>
              <a:sym typeface="Arial"/>
            </a:endParaRPr>
          </a:p>
          <a:p>
            <a:pPr marL="355600" marR="335915" lvl="0" indent="-342900" algn="l" rtl="0">
              <a:lnSpc>
                <a:spcPct val="100000"/>
              </a:lnSpc>
              <a:spcBef>
                <a:spcPts val="100"/>
              </a:spcBef>
              <a:spcAft>
                <a:spcPts val="0"/>
              </a:spcAft>
              <a:buClr>
                <a:srgbClr val="000000"/>
              </a:buClr>
              <a:buSzPts val="2800"/>
              <a:buFont typeface="Arial"/>
              <a:buChar char="•"/>
            </a:pPr>
            <a:r>
              <a:rPr lang="fr-FR" sz="2800" b="0" i="0" u="none" strike="noStrike" cap="none">
                <a:solidFill>
                  <a:srgbClr val="000000"/>
                </a:solidFill>
                <a:latin typeface="Times New Roman"/>
                <a:ea typeface="Times New Roman"/>
                <a:cs typeface="Times New Roman"/>
                <a:sym typeface="Times New Roman"/>
              </a:rPr>
              <a:t>Le temps d’attente n’est pas proportionnel au  temps d’utilisation</a:t>
            </a:r>
            <a:endParaRPr sz="2800" b="0" i="0" u="none" strike="noStrike" cap="none">
              <a:solidFill>
                <a:srgbClr val="000000"/>
              </a:solidFill>
              <a:latin typeface="Times New Roman"/>
              <a:ea typeface="Times New Roman"/>
              <a:cs typeface="Times New Roman"/>
              <a:sym typeface="Times New Roman"/>
            </a:endParaRPr>
          </a:p>
          <a:p>
            <a:pPr marL="469900" marR="0" lvl="0" indent="0" algn="l" rtl="0">
              <a:lnSpc>
                <a:spcPct val="100000"/>
              </a:lnSpc>
              <a:spcBef>
                <a:spcPts val="820"/>
              </a:spcBef>
              <a:spcAft>
                <a:spcPts val="0"/>
              </a:spcAft>
              <a:buClr>
                <a:srgbClr val="000000"/>
              </a:buClr>
              <a:buSzPts val="2800"/>
              <a:buFont typeface="Arial"/>
              <a:buNone/>
            </a:pPr>
            <a:r>
              <a:rPr lang="fr-FR" sz="2800" b="0" i="0" u="none" strike="noStrike" cap="none">
                <a:solidFill>
                  <a:srgbClr val="000000"/>
                </a:solidFill>
                <a:latin typeface="Times New Roman"/>
                <a:ea typeface="Times New Roman"/>
                <a:cs typeface="Times New Roman"/>
                <a:sym typeface="Times New Roman"/>
              </a:rPr>
              <a:t>⇒ pas équitable,</a:t>
            </a:r>
            <a:endParaRPr sz="2800" b="0" i="0" u="none" strike="noStrike" cap="none">
              <a:solidFill>
                <a:srgbClr val="000000"/>
              </a:solidFill>
              <a:latin typeface="Times New Roman"/>
              <a:ea typeface="Times New Roman"/>
              <a:cs typeface="Times New Roman"/>
              <a:sym typeface="Times New Roman"/>
            </a:endParaRPr>
          </a:p>
          <a:p>
            <a:pPr marL="469900" marR="0" lvl="0" indent="0" algn="l" rtl="0">
              <a:lnSpc>
                <a:spcPct val="100000"/>
              </a:lnSpc>
              <a:spcBef>
                <a:spcPts val="765"/>
              </a:spcBef>
              <a:spcAft>
                <a:spcPts val="0"/>
              </a:spcAft>
              <a:buClr>
                <a:srgbClr val="000000"/>
              </a:buClr>
              <a:buSzPts val="2800"/>
              <a:buFont typeface="Arial"/>
              <a:buNone/>
            </a:pPr>
            <a:r>
              <a:rPr lang="fr-FR" sz="2800" b="0" i="0" u="none" strike="noStrike" cap="none">
                <a:solidFill>
                  <a:srgbClr val="000000"/>
                </a:solidFill>
                <a:latin typeface="Times New Roman"/>
                <a:ea typeface="Times New Roman"/>
                <a:cs typeface="Times New Roman"/>
                <a:sym typeface="Times New Roman"/>
              </a:rPr>
              <a:t>⇒ temps moyen de traitement élevé</a:t>
            </a:r>
            <a:endParaRPr sz="2800" b="0" i="0" u="none" strike="noStrike" cap="none">
              <a:solidFill>
                <a:srgbClr val="000000"/>
              </a:solidFill>
              <a:latin typeface="Times New Roman"/>
              <a:ea typeface="Times New Roman"/>
              <a:cs typeface="Times New Roman"/>
              <a:sym typeface="Times New Roman"/>
            </a:endParaRPr>
          </a:p>
        </p:txBody>
      </p:sp>
      <p:sp>
        <p:nvSpPr>
          <p:cNvPr id="1190" name="Google Shape;1190;p128"/>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45</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195"/>
        <p:cNvGrpSpPr/>
        <p:nvPr/>
      </p:nvGrpSpPr>
      <p:grpSpPr>
        <a:xfrm>
          <a:off x="0" y="0"/>
          <a:ext cx="0" cy="0"/>
          <a:chOff x="0" y="0"/>
          <a:chExt cx="0" cy="0"/>
        </a:xfrm>
      </p:grpSpPr>
      <p:sp>
        <p:nvSpPr>
          <p:cNvPr id="1196" name="Google Shape;1196;p129"/>
          <p:cNvSpPr txBox="1"/>
          <p:nvPr/>
        </p:nvSpPr>
        <p:spPr>
          <a:xfrm>
            <a:off x="12700" y="51829"/>
            <a:ext cx="10502900" cy="14700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800"/>
              <a:buFont typeface="Calibri"/>
              <a:buNone/>
            </a:pPr>
            <a:r>
              <a:rPr lang="fr-FR" sz="2800" b="1" i="0" u="sng" strike="noStrike" cap="none">
                <a:solidFill>
                  <a:srgbClr val="000000"/>
                </a:solidFill>
                <a:latin typeface="Calibri"/>
                <a:ea typeface="Calibri"/>
                <a:cs typeface="Calibri"/>
                <a:sym typeface="Calibri"/>
              </a:rPr>
              <a:t>SJF (Travail le plus court d’abord ) </a:t>
            </a:r>
            <a:r>
              <a:rPr lang="fr-FR" sz="2800" b="1" i="0" u="sng" strike="noStrike" cap="none">
                <a:solidFill>
                  <a:srgbClr val="C0504D"/>
                </a:solidFill>
                <a:latin typeface="Calibri"/>
                <a:ea typeface="Calibri"/>
                <a:cs typeface="Calibri"/>
                <a:sym typeface="Calibri"/>
              </a:rPr>
              <a:t>non-Préemptif</a:t>
            </a:r>
            <a:endParaRPr sz="2800" b="1" i="0" u="sng" strike="noStrike" cap="none">
              <a:solidFill>
                <a:srgbClr val="C0504D"/>
              </a:solidFill>
              <a:latin typeface="Calibri"/>
              <a:ea typeface="Calibri"/>
              <a:cs typeface="Calibri"/>
              <a:sym typeface="Calibri"/>
            </a:endParaRPr>
          </a:p>
        </p:txBody>
      </p:sp>
      <p:graphicFrame>
        <p:nvGraphicFramePr>
          <p:cNvPr id="1197" name="Google Shape;1197;p129"/>
          <p:cNvGraphicFramePr/>
          <p:nvPr/>
        </p:nvGraphicFramePr>
        <p:xfrm>
          <a:off x="152400" y="1504890"/>
          <a:ext cx="4306950" cy="2494340"/>
        </p:xfrm>
        <a:graphic>
          <a:graphicData uri="http://schemas.openxmlformats.org/drawingml/2006/table">
            <a:tbl>
              <a:tblPr firstRow="1" bandRow="1">
                <a:noFill/>
              </a:tblPr>
              <a:tblGrid>
                <a:gridCol w="1435650">
                  <a:extLst>
                    <a:ext uri="{9D8B030D-6E8A-4147-A177-3AD203B41FA5}">
                      <a16:colId xmlns:a16="http://schemas.microsoft.com/office/drawing/2014/main" val="20000"/>
                    </a:ext>
                  </a:extLst>
                </a:gridCol>
                <a:gridCol w="1435650">
                  <a:extLst>
                    <a:ext uri="{9D8B030D-6E8A-4147-A177-3AD203B41FA5}">
                      <a16:colId xmlns:a16="http://schemas.microsoft.com/office/drawing/2014/main" val="20001"/>
                    </a:ext>
                  </a:extLst>
                </a:gridCol>
                <a:gridCol w="1435650">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Processus</a:t>
                      </a:r>
                      <a:endParaRPr sz="18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Temps d’éxécution</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Temps d’arrivée</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0</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8</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3</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10</a:t>
                      </a:r>
                      <a:endParaRPr sz="1400" u="none" strike="noStrike" cap="none"/>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P5</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6</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12</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198" name="Google Shape;1198;p129"/>
          <p:cNvSpPr/>
          <p:nvPr/>
        </p:nvSpPr>
        <p:spPr>
          <a:xfrm>
            <a:off x="12700" y="822494"/>
            <a:ext cx="9118600"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Helvetica Neue"/>
                <a:ea typeface="Helvetica Neue"/>
                <a:cs typeface="Helvetica Neue"/>
                <a:sym typeface="Helvetica Neue"/>
              </a:rPr>
              <a:t>Le plus court d’abord</a:t>
            </a:r>
            <a:r>
              <a:rPr lang="fr-FR" sz="1800" b="0" i="0" u="none" strike="noStrike" cap="none">
                <a:solidFill>
                  <a:srgbClr val="000000"/>
                </a:solidFill>
                <a:latin typeface="Calibri"/>
                <a:ea typeface="Calibri"/>
                <a:cs typeface="Calibri"/>
                <a:sym typeface="Calibri"/>
              </a:rPr>
              <a:t>: On exécute le processus le plus court d’abord.</a:t>
            </a:r>
            <a:endParaRPr sz="1400" b="0" i="0" u="none" strike="noStrike" cap="none">
              <a:solidFill>
                <a:srgbClr val="000000"/>
              </a:solidFill>
              <a:latin typeface="Arial"/>
              <a:ea typeface="Arial"/>
              <a:cs typeface="Arial"/>
              <a:sym typeface="Arial"/>
            </a:endParaRPr>
          </a:p>
        </p:txBody>
      </p:sp>
      <p:sp>
        <p:nvSpPr>
          <p:cNvPr id="1199" name="Google Shape;1199;p129"/>
          <p:cNvSpPr/>
          <p:nvPr/>
        </p:nvSpPr>
        <p:spPr>
          <a:xfrm>
            <a:off x="150842" y="4419600"/>
            <a:ext cx="8308950" cy="6096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200" name="Google Shape;1200;p129"/>
          <p:cNvCxnSpPr/>
          <p:nvPr/>
        </p:nvCxnSpPr>
        <p:spPr>
          <a:xfrm>
            <a:off x="157255" y="4429780"/>
            <a:ext cx="0" cy="762000"/>
          </a:xfrm>
          <a:prstGeom prst="straightConnector1">
            <a:avLst/>
          </a:prstGeom>
          <a:noFill/>
          <a:ln w="9525" cap="flat" cmpd="sng">
            <a:solidFill>
              <a:schemeClr val="dk1"/>
            </a:solidFill>
            <a:prstDash val="solid"/>
            <a:round/>
            <a:headEnd type="none" w="sm" len="sm"/>
            <a:tailEnd type="none" w="sm" len="sm"/>
          </a:ln>
        </p:spPr>
      </p:cxnSp>
      <p:cxnSp>
        <p:nvCxnSpPr>
          <p:cNvPr id="1201" name="Google Shape;1201;p129"/>
          <p:cNvCxnSpPr/>
          <p:nvPr/>
        </p:nvCxnSpPr>
        <p:spPr>
          <a:xfrm>
            <a:off x="2144378" y="4429780"/>
            <a:ext cx="0" cy="762000"/>
          </a:xfrm>
          <a:prstGeom prst="straightConnector1">
            <a:avLst/>
          </a:prstGeom>
          <a:noFill/>
          <a:ln w="9525" cap="flat" cmpd="sng">
            <a:solidFill>
              <a:schemeClr val="dk1"/>
            </a:solidFill>
            <a:prstDash val="solid"/>
            <a:round/>
            <a:headEnd type="none" w="sm" len="sm"/>
            <a:tailEnd type="none" w="sm" len="sm"/>
          </a:ln>
        </p:spPr>
      </p:cxnSp>
      <p:cxnSp>
        <p:nvCxnSpPr>
          <p:cNvPr id="1202" name="Google Shape;1202;p129"/>
          <p:cNvCxnSpPr/>
          <p:nvPr/>
        </p:nvCxnSpPr>
        <p:spPr>
          <a:xfrm>
            <a:off x="3338057" y="4429780"/>
            <a:ext cx="0" cy="762000"/>
          </a:xfrm>
          <a:prstGeom prst="straightConnector1">
            <a:avLst/>
          </a:prstGeom>
          <a:noFill/>
          <a:ln w="9525" cap="flat" cmpd="sng">
            <a:solidFill>
              <a:schemeClr val="dk1"/>
            </a:solidFill>
            <a:prstDash val="solid"/>
            <a:round/>
            <a:headEnd type="none" w="sm" len="sm"/>
            <a:tailEnd type="none" w="sm" len="sm"/>
          </a:ln>
        </p:spPr>
      </p:cxnSp>
      <p:cxnSp>
        <p:nvCxnSpPr>
          <p:cNvPr id="1203" name="Google Shape;1203;p129"/>
          <p:cNvCxnSpPr/>
          <p:nvPr/>
        </p:nvCxnSpPr>
        <p:spPr>
          <a:xfrm>
            <a:off x="4733109" y="4429780"/>
            <a:ext cx="0" cy="762000"/>
          </a:xfrm>
          <a:prstGeom prst="straightConnector1">
            <a:avLst/>
          </a:prstGeom>
          <a:noFill/>
          <a:ln w="9525" cap="flat" cmpd="sng">
            <a:solidFill>
              <a:schemeClr val="dk1"/>
            </a:solidFill>
            <a:prstDash val="solid"/>
            <a:round/>
            <a:headEnd type="none" w="sm" len="sm"/>
            <a:tailEnd type="none" w="sm" len="sm"/>
          </a:ln>
        </p:spPr>
      </p:cxnSp>
      <p:cxnSp>
        <p:nvCxnSpPr>
          <p:cNvPr id="1204" name="Google Shape;1204;p129"/>
          <p:cNvCxnSpPr/>
          <p:nvPr/>
        </p:nvCxnSpPr>
        <p:spPr>
          <a:xfrm>
            <a:off x="8464624" y="4419600"/>
            <a:ext cx="0" cy="762000"/>
          </a:xfrm>
          <a:prstGeom prst="straightConnector1">
            <a:avLst/>
          </a:prstGeom>
          <a:noFill/>
          <a:ln w="9525" cap="flat" cmpd="sng">
            <a:solidFill>
              <a:schemeClr val="dk1"/>
            </a:solidFill>
            <a:prstDash val="solid"/>
            <a:round/>
            <a:headEnd type="none" w="sm" len="sm"/>
            <a:tailEnd type="none" w="sm" len="sm"/>
          </a:ln>
        </p:spPr>
      </p:cxnSp>
      <p:sp>
        <p:nvSpPr>
          <p:cNvPr id="1205" name="Google Shape;1205;p129"/>
          <p:cNvSpPr txBox="1"/>
          <p:nvPr/>
        </p:nvSpPr>
        <p:spPr>
          <a:xfrm>
            <a:off x="0" y="50862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0</a:t>
            </a:r>
            <a:endParaRPr sz="1400" b="0" i="0" u="none" strike="noStrike" cap="none">
              <a:solidFill>
                <a:srgbClr val="000000"/>
              </a:solidFill>
              <a:latin typeface="Arial"/>
              <a:ea typeface="Arial"/>
              <a:cs typeface="Arial"/>
              <a:sym typeface="Arial"/>
            </a:endParaRPr>
          </a:p>
        </p:txBody>
      </p:sp>
      <p:sp>
        <p:nvSpPr>
          <p:cNvPr id="1206" name="Google Shape;1206;p129"/>
          <p:cNvSpPr/>
          <p:nvPr/>
        </p:nvSpPr>
        <p:spPr>
          <a:xfrm>
            <a:off x="4446111" y="1504890"/>
            <a:ext cx="4697889" cy="3385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rgbClr val="F79646"/>
                </a:solidFill>
                <a:latin typeface="Calibri"/>
                <a:ea typeface="Calibri"/>
                <a:cs typeface="Calibri"/>
                <a:sym typeface="Calibri"/>
              </a:rPr>
              <a:t>Temps d’attente : début d’exécution– temps d’arrivée</a:t>
            </a:r>
            <a:endParaRPr sz="1600" b="1" i="0" u="none" strike="noStrike" cap="none">
              <a:solidFill>
                <a:srgbClr val="F79646"/>
              </a:solidFill>
              <a:latin typeface="Calibri"/>
              <a:ea typeface="Calibri"/>
              <a:cs typeface="Calibri"/>
              <a:sym typeface="Calibri"/>
            </a:endParaRPr>
          </a:p>
        </p:txBody>
      </p:sp>
      <p:sp>
        <p:nvSpPr>
          <p:cNvPr id="1207" name="Google Shape;1207;p129"/>
          <p:cNvSpPr/>
          <p:nvPr/>
        </p:nvSpPr>
        <p:spPr>
          <a:xfrm>
            <a:off x="4572000" y="1866780"/>
            <a:ext cx="44196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P1 = 30 – 10 = 20</a:t>
            </a:r>
            <a:endParaRPr sz="1400" b="0" i="0" u="none" strike="noStrike" cap="none">
              <a:solidFill>
                <a:srgbClr val="000000"/>
              </a:solidFill>
              <a:latin typeface="Arial"/>
              <a:ea typeface="Arial"/>
              <a:cs typeface="Arial"/>
              <a:sym typeface="Arial"/>
            </a:endParaRPr>
          </a:p>
        </p:txBody>
      </p:sp>
      <p:sp>
        <p:nvSpPr>
          <p:cNvPr id="1208" name="Google Shape;1208;p129"/>
          <p:cNvSpPr/>
          <p:nvPr/>
        </p:nvSpPr>
        <p:spPr>
          <a:xfrm>
            <a:off x="4572000" y="2171580"/>
            <a:ext cx="34225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P2 = 0 – 0 = 0</a:t>
            </a:r>
            <a:endParaRPr sz="1400" b="0" i="0" u="none" strike="noStrike" cap="none">
              <a:solidFill>
                <a:srgbClr val="000000"/>
              </a:solidFill>
              <a:latin typeface="Arial"/>
              <a:ea typeface="Arial"/>
              <a:cs typeface="Arial"/>
              <a:sym typeface="Arial"/>
            </a:endParaRPr>
          </a:p>
        </p:txBody>
      </p:sp>
      <p:sp>
        <p:nvSpPr>
          <p:cNvPr id="1209" name="Google Shape;1209;p129"/>
          <p:cNvSpPr/>
          <p:nvPr/>
        </p:nvSpPr>
        <p:spPr>
          <a:xfrm>
            <a:off x="4566208" y="2476380"/>
            <a:ext cx="183095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P3 = 22 – 3 = 19</a:t>
            </a:r>
            <a:endParaRPr sz="1400" b="0" i="0" u="none" strike="noStrike" cap="none">
              <a:solidFill>
                <a:srgbClr val="000000"/>
              </a:solidFill>
              <a:latin typeface="Arial"/>
              <a:ea typeface="Arial"/>
              <a:cs typeface="Arial"/>
              <a:sym typeface="Arial"/>
            </a:endParaRPr>
          </a:p>
        </p:txBody>
      </p:sp>
      <p:sp>
        <p:nvSpPr>
          <p:cNvPr id="1210" name="Google Shape;1210;p129"/>
          <p:cNvSpPr/>
          <p:nvPr/>
        </p:nvSpPr>
        <p:spPr>
          <a:xfrm>
            <a:off x="4572000" y="2800290"/>
            <a:ext cx="1701107"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P4 = 12 – 5 = 7</a:t>
            </a:r>
            <a:endParaRPr sz="1400" b="0" i="0" u="none" strike="noStrike" cap="none">
              <a:solidFill>
                <a:srgbClr val="000000"/>
              </a:solidFill>
              <a:latin typeface="Arial"/>
              <a:ea typeface="Arial"/>
              <a:cs typeface="Arial"/>
              <a:sym typeface="Arial"/>
            </a:endParaRPr>
          </a:p>
        </p:txBody>
      </p:sp>
      <p:sp>
        <p:nvSpPr>
          <p:cNvPr id="1211" name="Google Shape;1211;p129"/>
          <p:cNvSpPr txBox="1"/>
          <p:nvPr/>
        </p:nvSpPr>
        <p:spPr>
          <a:xfrm>
            <a:off x="1917848"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12</a:t>
            </a:r>
            <a:endParaRPr sz="1400" b="0" i="0" u="none" strike="noStrike" cap="none">
              <a:solidFill>
                <a:srgbClr val="000000"/>
              </a:solidFill>
              <a:latin typeface="Arial"/>
              <a:ea typeface="Arial"/>
              <a:cs typeface="Arial"/>
              <a:sym typeface="Arial"/>
            </a:endParaRPr>
          </a:p>
        </p:txBody>
      </p:sp>
      <p:sp>
        <p:nvSpPr>
          <p:cNvPr id="1212" name="Google Shape;1212;p129"/>
          <p:cNvSpPr txBox="1"/>
          <p:nvPr/>
        </p:nvSpPr>
        <p:spPr>
          <a:xfrm>
            <a:off x="3124200"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16</a:t>
            </a:r>
            <a:endParaRPr sz="1400" b="0" i="0" u="none" strike="noStrike" cap="none">
              <a:solidFill>
                <a:srgbClr val="000000"/>
              </a:solidFill>
              <a:latin typeface="Arial"/>
              <a:ea typeface="Arial"/>
              <a:cs typeface="Arial"/>
              <a:sym typeface="Arial"/>
            </a:endParaRPr>
          </a:p>
        </p:txBody>
      </p:sp>
      <p:sp>
        <p:nvSpPr>
          <p:cNvPr id="1213" name="Google Shape;1213;p129"/>
          <p:cNvSpPr txBox="1"/>
          <p:nvPr/>
        </p:nvSpPr>
        <p:spPr>
          <a:xfrm>
            <a:off x="813434" y="440049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214" name="Google Shape;1214;p129"/>
          <p:cNvSpPr txBox="1"/>
          <p:nvPr/>
        </p:nvSpPr>
        <p:spPr>
          <a:xfrm>
            <a:off x="2438400" y="440049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sp>
        <p:nvSpPr>
          <p:cNvPr id="1215" name="Google Shape;1215;p129"/>
          <p:cNvSpPr txBox="1"/>
          <p:nvPr/>
        </p:nvSpPr>
        <p:spPr>
          <a:xfrm>
            <a:off x="3733800" y="440049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P5</a:t>
            </a:r>
            <a:endParaRPr sz="1400" b="0" i="0" u="none" strike="noStrike" cap="none">
              <a:solidFill>
                <a:srgbClr val="000000"/>
              </a:solidFill>
              <a:latin typeface="Arial"/>
              <a:ea typeface="Arial"/>
              <a:cs typeface="Arial"/>
              <a:sym typeface="Arial"/>
            </a:endParaRPr>
          </a:p>
        </p:txBody>
      </p:sp>
      <p:sp>
        <p:nvSpPr>
          <p:cNvPr id="1216" name="Google Shape;1216;p129"/>
          <p:cNvSpPr txBox="1"/>
          <p:nvPr/>
        </p:nvSpPr>
        <p:spPr>
          <a:xfrm>
            <a:off x="5181600" y="440049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217" name="Google Shape;1217;p129"/>
          <p:cNvSpPr txBox="1"/>
          <p:nvPr/>
        </p:nvSpPr>
        <p:spPr>
          <a:xfrm>
            <a:off x="4495800"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22</a:t>
            </a:r>
            <a:endParaRPr sz="1400" b="0" i="0" u="none" strike="noStrike" cap="none">
              <a:solidFill>
                <a:srgbClr val="000000"/>
              </a:solidFill>
              <a:latin typeface="Arial"/>
              <a:ea typeface="Arial"/>
              <a:cs typeface="Arial"/>
              <a:sym typeface="Arial"/>
            </a:endParaRPr>
          </a:p>
        </p:txBody>
      </p:sp>
      <p:sp>
        <p:nvSpPr>
          <p:cNvPr id="1218" name="Google Shape;1218;p129"/>
          <p:cNvSpPr txBox="1"/>
          <p:nvPr/>
        </p:nvSpPr>
        <p:spPr>
          <a:xfrm>
            <a:off x="8242448"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40</a:t>
            </a:r>
            <a:endParaRPr sz="1400" b="0" i="0" u="none" strike="noStrike" cap="none">
              <a:solidFill>
                <a:srgbClr val="000000"/>
              </a:solidFill>
              <a:latin typeface="Arial"/>
              <a:ea typeface="Arial"/>
              <a:cs typeface="Arial"/>
              <a:sym typeface="Arial"/>
            </a:endParaRPr>
          </a:p>
        </p:txBody>
      </p:sp>
      <p:sp>
        <p:nvSpPr>
          <p:cNvPr id="1219" name="Google Shape;1219;p129"/>
          <p:cNvSpPr/>
          <p:nvPr/>
        </p:nvSpPr>
        <p:spPr>
          <a:xfrm>
            <a:off x="157255" y="5710535"/>
            <a:ext cx="8302537"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70C0"/>
                </a:solidFill>
                <a:latin typeface="Calibri"/>
                <a:ea typeface="Calibri"/>
                <a:cs typeface="Calibri"/>
                <a:sym typeface="Calibri"/>
              </a:rPr>
              <a:t>Temps d’attente moyen = (20 + 0 + 19 + 7 + 4) / 5 = 50 / 5 = 10</a:t>
            </a:r>
            <a:endParaRPr sz="1400" b="0" i="0" u="none" strike="noStrike" cap="none">
              <a:solidFill>
                <a:srgbClr val="000000"/>
              </a:solidFill>
              <a:latin typeface="Arial"/>
              <a:ea typeface="Arial"/>
              <a:cs typeface="Arial"/>
              <a:sym typeface="Arial"/>
            </a:endParaRPr>
          </a:p>
        </p:txBody>
      </p:sp>
      <p:cxnSp>
        <p:nvCxnSpPr>
          <p:cNvPr id="1220" name="Google Shape;1220;p129"/>
          <p:cNvCxnSpPr/>
          <p:nvPr/>
        </p:nvCxnSpPr>
        <p:spPr>
          <a:xfrm>
            <a:off x="6394376" y="4400490"/>
            <a:ext cx="0" cy="762000"/>
          </a:xfrm>
          <a:prstGeom prst="straightConnector1">
            <a:avLst/>
          </a:prstGeom>
          <a:noFill/>
          <a:ln w="9525" cap="flat" cmpd="sng">
            <a:solidFill>
              <a:schemeClr val="dk1"/>
            </a:solidFill>
            <a:prstDash val="solid"/>
            <a:round/>
            <a:headEnd type="none" w="sm" len="sm"/>
            <a:tailEnd type="none" w="sm" len="sm"/>
          </a:ln>
        </p:spPr>
      </p:cxnSp>
      <p:sp>
        <p:nvSpPr>
          <p:cNvPr id="1221" name="Google Shape;1221;p129"/>
          <p:cNvSpPr txBox="1"/>
          <p:nvPr/>
        </p:nvSpPr>
        <p:spPr>
          <a:xfrm>
            <a:off x="7214234" y="44297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222" name="Google Shape;1222;p129"/>
          <p:cNvSpPr txBox="1"/>
          <p:nvPr/>
        </p:nvSpPr>
        <p:spPr>
          <a:xfrm>
            <a:off x="6172200"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30</a:t>
            </a:r>
            <a:endParaRPr sz="1400" b="0" i="0" u="none" strike="noStrike" cap="none">
              <a:solidFill>
                <a:srgbClr val="000000"/>
              </a:solidFill>
              <a:latin typeface="Arial"/>
              <a:ea typeface="Arial"/>
              <a:cs typeface="Arial"/>
              <a:sym typeface="Arial"/>
            </a:endParaRPr>
          </a:p>
        </p:txBody>
      </p:sp>
      <p:sp>
        <p:nvSpPr>
          <p:cNvPr id="1223" name="Google Shape;1223;p129"/>
          <p:cNvSpPr/>
          <p:nvPr/>
        </p:nvSpPr>
        <p:spPr>
          <a:xfrm>
            <a:off x="4572000" y="3105090"/>
            <a:ext cx="183095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P5 = 16 – 12 = 4</a:t>
            </a:r>
            <a:endParaRPr sz="1400" b="0" i="0" u="none" strike="noStrike" cap="none">
              <a:solidFill>
                <a:srgbClr val="000000"/>
              </a:solidFill>
              <a:latin typeface="Arial"/>
              <a:ea typeface="Arial"/>
              <a:cs typeface="Arial"/>
              <a:sym typeface="Arial"/>
            </a:endParaRPr>
          </a:p>
        </p:txBody>
      </p:sp>
      <p:sp>
        <p:nvSpPr>
          <p:cNvPr id="1224" name="Google Shape;1224;p129"/>
          <p:cNvSpPr txBox="1"/>
          <p:nvPr/>
        </p:nvSpPr>
        <p:spPr>
          <a:xfrm>
            <a:off x="12700" y="1191826"/>
            <a:ext cx="470527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Calibri"/>
                <a:ea typeface="Calibri"/>
                <a:cs typeface="Calibri"/>
                <a:sym typeface="Calibri"/>
              </a:rPr>
              <a:t>On considère l’ensemble de processus suivant :</a:t>
            </a:r>
            <a:endParaRPr sz="1400" b="0" i="0" u="none" strike="noStrike" cap="none">
              <a:solidFill>
                <a:srgbClr val="000000"/>
              </a:solidFill>
              <a:latin typeface="Arial"/>
              <a:ea typeface="Arial"/>
              <a:cs typeface="Arial"/>
              <a:sym typeface="Arial"/>
            </a:endParaRPr>
          </a:p>
        </p:txBody>
      </p:sp>
      <p:sp>
        <p:nvSpPr>
          <p:cNvPr id="1225" name="Google Shape;1225;p129"/>
          <p:cNvSpPr txBox="1"/>
          <p:nvPr/>
        </p:nvSpPr>
        <p:spPr>
          <a:xfrm>
            <a:off x="283938" y="3954958"/>
            <a:ext cx="542525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Le diagramme de Gantt avec SJF est :</a:t>
            </a:r>
            <a:endParaRPr sz="1400" b="0" i="0" u="none" strike="noStrike" cap="none">
              <a:solidFill>
                <a:srgbClr val="000000"/>
              </a:solidFill>
              <a:latin typeface="Arial"/>
              <a:ea typeface="Arial"/>
              <a:cs typeface="Arial"/>
              <a:sym typeface="Arial"/>
            </a:endParaRPr>
          </a:p>
        </p:txBody>
      </p:sp>
      <p:sp>
        <p:nvSpPr>
          <p:cNvPr id="1226" name="Google Shape;1226;p1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46</a:t>
            </a:fld>
            <a:endParaRPr>
              <a:solidFill>
                <a:srgbClr val="88888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199"/>
                                        </p:tgtEl>
                                        <p:attrNameLst>
                                          <p:attrName>style.visibility</p:attrName>
                                        </p:attrNameLst>
                                      </p:cBhvr>
                                      <p:to>
                                        <p:strVal val="visible"/>
                                      </p:to>
                                    </p:set>
                                    <p:animEffect transition="in" filter="fade">
                                      <p:cBhvr>
                                        <p:cTn id="7" dur="1000"/>
                                        <p:tgtEl>
                                          <p:spTgt spid="119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00"/>
                                        </p:tgtEl>
                                        <p:attrNameLst>
                                          <p:attrName>style.visibility</p:attrName>
                                        </p:attrNameLst>
                                      </p:cBhvr>
                                      <p:to>
                                        <p:strVal val="visible"/>
                                      </p:to>
                                    </p:set>
                                    <p:animEffect transition="in" filter="fade">
                                      <p:cBhvr>
                                        <p:cTn id="12" dur="1000"/>
                                        <p:tgtEl>
                                          <p:spTgt spid="1200"/>
                                        </p:tgtEl>
                                      </p:cBhvr>
                                    </p:animEffect>
                                  </p:childTnLst>
                                </p:cTn>
                              </p:par>
                              <p:par>
                                <p:cTn id="13" presetID="10" presetClass="entr" presetSubtype="0" fill="hold" nodeType="withEffect">
                                  <p:stCondLst>
                                    <p:cond delay="0"/>
                                  </p:stCondLst>
                                  <p:childTnLst>
                                    <p:set>
                                      <p:cBhvr>
                                        <p:cTn id="14" dur="1" fill="hold">
                                          <p:stCondLst>
                                            <p:cond delay="0"/>
                                          </p:stCondLst>
                                        </p:cTn>
                                        <p:tgtEl>
                                          <p:spTgt spid="1201"/>
                                        </p:tgtEl>
                                        <p:attrNameLst>
                                          <p:attrName>style.visibility</p:attrName>
                                        </p:attrNameLst>
                                      </p:cBhvr>
                                      <p:to>
                                        <p:strVal val="visible"/>
                                      </p:to>
                                    </p:set>
                                    <p:animEffect transition="in" filter="fade">
                                      <p:cBhvr>
                                        <p:cTn id="15" dur="1000"/>
                                        <p:tgtEl>
                                          <p:spTgt spid="1201"/>
                                        </p:tgtEl>
                                      </p:cBhvr>
                                    </p:animEffect>
                                  </p:childTnLst>
                                </p:cTn>
                              </p:par>
                              <p:par>
                                <p:cTn id="16" presetID="10" presetClass="entr" presetSubtype="0" fill="hold" nodeType="withEffect">
                                  <p:stCondLst>
                                    <p:cond delay="0"/>
                                  </p:stCondLst>
                                  <p:childTnLst>
                                    <p:set>
                                      <p:cBhvr>
                                        <p:cTn id="17" dur="1" fill="hold">
                                          <p:stCondLst>
                                            <p:cond delay="0"/>
                                          </p:stCondLst>
                                        </p:cTn>
                                        <p:tgtEl>
                                          <p:spTgt spid="1202"/>
                                        </p:tgtEl>
                                        <p:attrNameLst>
                                          <p:attrName>style.visibility</p:attrName>
                                        </p:attrNameLst>
                                      </p:cBhvr>
                                      <p:to>
                                        <p:strVal val="visible"/>
                                      </p:to>
                                    </p:set>
                                    <p:animEffect transition="in" filter="fade">
                                      <p:cBhvr>
                                        <p:cTn id="18" dur="1000"/>
                                        <p:tgtEl>
                                          <p:spTgt spid="1202"/>
                                        </p:tgtEl>
                                      </p:cBhvr>
                                    </p:animEffect>
                                  </p:childTnLst>
                                </p:cTn>
                              </p:par>
                              <p:par>
                                <p:cTn id="19" presetID="10" presetClass="entr" presetSubtype="0" fill="hold" nodeType="withEffect">
                                  <p:stCondLst>
                                    <p:cond delay="0"/>
                                  </p:stCondLst>
                                  <p:childTnLst>
                                    <p:set>
                                      <p:cBhvr>
                                        <p:cTn id="20" dur="1" fill="hold">
                                          <p:stCondLst>
                                            <p:cond delay="0"/>
                                          </p:stCondLst>
                                        </p:cTn>
                                        <p:tgtEl>
                                          <p:spTgt spid="1203"/>
                                        </p:tgtEl>
                                        <p:attrNameLst>
                                          <p:attrName>style.visibility</p:attrName>
                                        </p:attrNameLst>
                                      </p:cBhvr>
                                      <p:to>
                                        <p:strVal val="visible"/>
                                      </p:to>
                                    </p:set>
                                    <p:animEffect transition="in" filter="fade">
                                      <p:cBhvr>
                                        <p:cTn id="21" dur="1000"/>
                                        <p:tgtEl>
                                          <p:spTgt spid="1203"/>
                                        </p:tgtEl>
                                      </p:cBhvr>
                                    </p:animEffect>
                                  </p:childTnLst>
                                </p:cTn>
                              </p:par>
                              <p:par>
                                <p:cTn id="22" presetID="10" presetClass="entr" presetSubtype="0" fill="hold" nodeType="withEffect">
                                  <p:stCondLst>
                                    <p:cond delay="0"/>
                                  </p:stCondLst>
                                  <p:childTnLst>
                                    <p:set>
                                      <p:cBhvr>
                                        <p:cTn id="23" dur="1" fill="hold">
                                          <p:stCondLst>
                                            <p:cond delay="0"/>
                                          </p:stCondLst>
                                        </p:cTn>
                                        <p:tgtEl>
                                          <p:spTgt spid="1220"/>
                                        </p:tgtEl>
                                        <p:attrNameLst>
                                          <p:attrName>style.visibility</p:attrName>
                                        </p:attrNameLst>
                                      </p:cBhvr>
                                      <p:to>
                                        <p:strVal val="visible"/>
                                      </p:to>
                                    </p:set>
                                    <p:animEffect transition="in" filter="fade">
                                      <p:cBhvr>
                                        <p:cTn id="24" dur="1000"/>
                                        <p:tgtEl>
                                          <p:spTgt spid="1220"/>
                                        </p:tgtEl>
                                      </p:cBhvr>
                                    </p:animEffect>
                                  </p:childTnLst>
                                </p:cTn>
                              </p:par>
                              <p:par>
                                <p:cTn id="25" presetID="10" presetClass="entr" presetSubtype="0" fill="hold" nodeType="withEffect">
                                  <p:stCondLst>
                                    <p:cond delay="0"/>
                                  </p:stCondLst>
                                  <p:childTnLst>
                                    <p:set>
                                      <p:cBhvr>
                                        <p:cTn id="26" dur="1" fill="hold">
                                          <p:stCondLst>
                                            <p:cond delay="0"/>
                                          </p:stCondLst>
                                        </p:cTn>
                                        <p:tgtEl>
                                          <p:spTgt spid="1204"/>
                                        </p:tgtEl>
                                        <p:attrNameLst>
                                          <p:attrName>style.visibility</p:attrName>
                                        </p:attrNameLst>
                                      </p:cBhvr>
                                      <p:to>
                                        <p:strVal val="visible"/>
                                      </p:to>
                                    </p:set>
                                    <p:animEffect transition="in" filter="fade">
                                      <p:cBhvr>
                                        <p:cTn id="27" dur="1000"/>
                                        <p:tgtEl>
                                          <p:spTgt spid="120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205"/>
                                        </p:tgtEl>
                                        <p:attrNameLst>
                                          <p:attrName>style.visibility</p:attrName>
                                        </p:attrNameLst>
                                      </p:cBhvr>
                                      <p:to>
                                        <p:strVal val="visible"/>
                                      </p:to>
                                    </p:set>
                                    <p:animEffect transition="in" filter="fade">
                                      <p:cBhvr>
                                        <p:cTn id="32" dur="1000"/>
                                        <p:tgtEl>
                                          <p:spTgt spid="1205"/>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21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211"/>
                                        </p:tgtEl>
                                        <p:attrNameLst>
                                          <p:attrName>style.visibility</p:attrName>
                                        </p:attrNameLst>
                                      </p:cBhvr>
                                      <p:to>
                                        <p:strVal val="visible"/>
                                      </p:to>
                                    </p:set>
                                    <p:animEffect transition="in" filter="fade">
                                      <p:cBhvr>
                                        <p:cTn id="41" dur="1000"/>
                                        <p:tgtEl>
                                          <p:spTgt spid="1211"/>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121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212"/>
                                        </p:tgtEl>
                                        <p:attrNameLst>
                                          <p:attrName>style.visibility</p:attrName>
                                        </p:attrNameLst>
                                      </p:cBhvr>
                                      <p:to>
                                        <p:strVal val="visible"/>
                                      </p:to>
                                    </p:set>
                                    <p:animEffect transition="in" filter="fade">
                                      <p:cBhvr>
                                        <p:cTn id="50" dur="1000"/>
                                        <p:tgtEl>
                                          <p:spTgt spid="1212"/>
                                        </p:tgtEl>
                                      </p:cBhvr>
                                    </p:animEffec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21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1217"/>
                                        </p:tgtEl>
                                        <p:attrNameLst>
                                          <p:attrName>style.visibility</p:attrName>
                                        </p:attrNameLst>
                                      </p:cBhvr>
                                      <p:to>
                                        <p:strVal val="visible"/>
                                      </p:to>
                                    </p:set>
                                    <p:animEffect transition="in" filter="fade">
                                      <p:cBhvr>
                                        <p:cTn id="59" dur="1000"/>
                                        <p:tgtEl>
                                          <p:spTgt spid="1217"/>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216"/>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1222"/>
                                        </p:tgtEl>
                                        <p:attrNameLst>
                                          <p:attrName>style.visibility</p:attrName>
                                        </p:attrNameLst>
                                      </p:cBhvr>
                                      <p:to>
                                        <p:strVal val="visible"/>
                                      </p:to>
                                    </p:set>
                                    <p:animEffect transition="in" filter="fade">
                                      <p:cBhvr>
                                        <p:cTn id="68" dur="1000"/>
                                        <p:tgtEl>
                                          <p:spTgt spid="1222"/>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22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1218"/>
                                        </p:tgtEl>
                                        <p:attrNameLst>
                                          <p:attrName>style.visibility</p:attrName>
                                        </p:attrNameLst>
                                      </p:cBhvr>
                                      <p:to>
                                        <p:strVal val="visible"/>
                                      </p:to>
                                    </p:set>
                                    <p:animEffect transition="in" filter="fade">
                                      <p:cBhvr>
                                        <p:cTn id="77" dur="1000"/>
                                        <p:tgtEl>
                                          <p:spTgt spid="1218"/>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1206"/>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207"/>
                                        </p:tgtEl>
                                        <p:attrNameLst>
                                          <p:attrName>style.visibility</p:attrName>
                                        </p:attrNameLst>
                                      </p:cBhvr>
                                      <p:to>
                                        <p:strVal val="visible"/>
                                      </p:to>
                                    </p:set>
                                    <p:animEffect transition="in" filter="fade">
                                      <p:cBhvr>
                                        <p:cTn id="86" dur="1000"/>
                                        <p:tgtEl>
                                          <p:spTgt spid="1207"/>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208"/>
                                        </p:tgtEl>
                                        <p:attrNameLst>
                                          <p:attrName>style.visibility</p:attrName>
                                        </p:attrNameLst>
                                      </p:cBhvr>
                                      <p:to>
                                        <p:strVal val="visible"/>
                                      </p:to>
                                    </p:set>
                                    <p:animEffect transition="in" filter="fade">
                                      <p:cBhvr>
                                        <p:cTn id="91" dur="1000"/>
                                        <p:tgtEl>
                                          <p:spTgt spid="1208"/>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209"/>
                                        </p:tgtEl>
                                        <p:attrNameLst>
                                          <p:attrName>style.visibility</p:attrName>
                                        </p:attrNameLst>
                                      </p:cBhvr>
                                      <p:to>
                                        <p:strVal val="visible"/>
                                      </p:to>
                                    </p:set>
                                    <p:animEffect transition="in" filter="fade">
                                      <p:cBhvr>
                                        <p:cTn id="96" dur="1000"/>
                                        <p:tgtEl>
                                          <p:spTgt spid="1209"/>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1210"/>
                                        </p:tgtEl>
                                        <p:attrNameLst>
                                          <p:attrName>style.visibility</p:attrName>
                                        </p:attrNameLst>
                                      </p:cBhvr>
                                      <p:to>
                                        <p:strVal val="visible"/>
                                      </p:to>
                                    </p:set>
                                    <p:animEffect transition="in" filter="fade">
                                      <p:cBhvr>
                                        <p:cTn id="101" dur="1000"/>
                                        <p:tgtEl>
                                          <p:spTgt spid="1210"/>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1223"/>
                                        </p:tgtEl>
                                        <p:attrNameLst>
                                          <p:attrName>style.visibility</p:attrName>
                                        </p:attrNameLst>
                                      </p:cBhvr>
                                      <p:to>
                                        <p:strVal val="visible"/>
                                      </p:to>
                                    </p:set>
                                    <p:animEffect transition="in" filter="fade">
                                      <p:cBhvr>
                                        <p:cTn id="106" dur="1000"/>
                                        <p:tgtEl>
                                          <p:spTgt spid="122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219"/>
                                        </p:tgtEl>
                                        <p:attrNameLst>
                                          <p:attrName>style.visibility</p:attrName>
                                        </p:attrNameLst>
                                      </p:cBhvr>
                                      <p:to>
                                        <p:strVal val="visible"/>
                                      </p:to>
                                    </p:set>
                                    <p:animEffect transition="in" filter="fade">
                                      <p:cBhvr>
                                        <p:cTn id="111" dur="1822"/>
                                        <p:tgtEl>
                                          <p:spTgt spid="1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130"/>
          <p:cNvSpPr txBox="1"/>
          <p:nvPr/>
        </p:nvSpPr>
        <p:spPr>
          <a:xfrm>
            <a:off x="0" y="234920"/>
            <a:ext cx="10363200" cy="14700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800"/>
              <a:buFont typeface="Calibri"/>
              <a:buNone/>
            </a:pPr>
            <a:r>
              <a:rPr lang="fr-FR" sz="2800" b="1" i="0" u="sng" strike="noStrike" cap="none">
                <a:solidFill>
                  <a:srgbClr val="000000"/>
                </a:solidFill>
                <a:latin typeface="Calibri"/>
                <a:ea typeface="Calibri"/>
                <a:cs typeface="Calibri"/>
                <a:sym typeface="Calibri"/>
              </a:rPr>
              <a:t>SRTF (temps restant le plus court d'abord) </a:t>
            </a:r>
            <a:r>
              <a:rPr lang="fr-FR" sz="2800" b="1" i="0" u="sng" strike="noStrike" cap="none">
                <a:solidFill>
                  <a:srgbClr val="C0504D"/>
                </a:solidFill>
                <a:latin typeface="Calibri"/>
                <a:ea typeface="Calibri"/>
                <a:cs typeface="Calibri"/>
                <a:sym typeface="Calibri"/>
              </a:rPr>
              <a:t>préemptif</a:t>
            </a:r>
            <a:endParaRPr sz="2800" b="1" i="0" u="sng" strike="noStrike" cap="none">
              <a:solidFill>
                <a:srgbClr val="C0504D"/>
              </a:solidFill>
              <a:latin typeface="Calibri"/>
              <a:ea typeface="Calibri"/>
              <a:cs typeface="Calibri"/>
              <a:sym typeface="Calibri"/>
            </a:endParaRPr>
          </a:p>
        </p:txBody>
      </p:sp>
      <p:graphicFrame>
        <p:nvGraphicFramePr>
          <p:cNvPr id="1233" name="Google Shape;1233;p130"/>
          <p:cNvGraphicFramePr/>
          <p:nvPr/>
        </p:nvGraphicFramePr>
        <p:xfrm>
          <a:off x="152400" y="1504890"/>
          <a:ext cx="4306925" cy="2677220"/>
        </p:xfrm>
        <a:graphic>
          <a:graphicData uri="http://schemas.openxmlformats.org/drawingml/2006/table">
            <a:tbl>
              <a:tblPr firstRow="1" bandRow="1">
                <a:noFill/>
              </a:tblPr>
              <a:tblGrid>
                <a:gridCol w="13716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335125">
                  <a:extLst>
                    <a:ext uri="{9D8B030D-6E8A-4147-A177-3AD203B41FA5}">
                      <a16:colId xmlns:a16="http://schemas.microsoft.com/office/drawing/2014/main" val="20002"/>
                    </a:ext>
                  </a:extLst>
                </a:gridCol>
              </a:tblGrid>
              <a:tr h="370850">
                <a:tc>
                  <a:txBody>
                    <a:bodyPr/>
                    <a:lstStyle/>
                    <a:p>
                      <a:pPr marL="0" marR="0" lvl="0" indent="0" algn="ctr" rtl="0">
                        <a:lnSpc>
                          <a:spcPct val="100000"/>
                        </a:lnSpc>
                        <a:spcBef>
                          <a:spcPts val="0"/>
                        </a:spcBef>
                        <a:spcAft>
                          <a:spcPts val="0"/>
                        </a:spcAft>
                        <a:buClr>
                          <a:srgbClr val="000000"/>
                        </a:buClr>
                        <a:buSzPts val="2400"/>
                        <a:buFont typeface="Arial"/>
                        <a:buNone/>
                      </a:pPr>
                      <a:r>
                        <a:rPr lang="fr-FR" sz="2400" u="none" strike="noStrike" cap="none"/>
                        <a:t>Processus</a:t>
                      </a:r>
                      <a:endParaRPr sz="24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2400"/>
                        <a:buFont typeface="Arial"/>
                        <a:buNone/>
                      </a:pPr>
                      <a:r>
                        <a:rPr lang="fr-FR" sz="2400" u="none" strike="noStrike" cap="none"/>
                        <a:t>Temps </a:t>
                      </a:r>
                      <a:r>
                        <a:rPr lang="fr-FR" sz="1800" u="none" strike="noStrike" cap="none"/>
                        <a:t>d‘exécution</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fr-FR" sz="2400" u="none" strike="noStrike" cap="none"/>
                        <a:t>Temps d’arrivée</a:t>
                      </a:r>
                      <a:endParaRPr sz="2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0</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8</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3</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10</a:t>
                      </a:r>
                      <a:endParaRPr sz="1400" u="none" strike="noStrike" cap="none"/>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P5</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6</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12</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234" name="Google Shape;1234;p130"/>
          <p:cNvSpPr/>
          <p:nvPr/>
        </p:nvSpPr>
        <p:spPr>
          <a:xfrm>
            <a:off x="145829" y="4757060"/>
            <a:ext cx="8840758" cy="6096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235" name="Google Shape;1235;p130"/>
          <p:cNvCxnSpPr/>
          <p:nvPr/>
        </p:nvCxnSpPr>
        <p:spPr>
          <a:xfrm>
            <a:off x="145829" y="4724400"/>
            <a:ext cx="0" cy="762000"/>
          </a:xfrm>
          <a:prstGeom prst="straightConnector1">
            <a:avLst/>
          </a:prstGeom>
          <a:noFill/>
          <a:ln w="9525" cap="flat" cmpd="sng">
            <a:solidFill>
              <a:schemeClr val="dk1"/>
            </a:solidFill>
            <a:prstDash val="solid"/>
            <a:round/>
            <a:headEnd type="none" w="sm" len="sm"/>
            <a:tailEnd type="none" w="sm" len="sm"/>
          </a:ln>
        </p:spPr>
      </p:cxnSp>
      <p:cxnSp>
        <p:nvCxnSpPr>
          <p:cNvPr id="1236" name="Google Shape;1236;p130"/>
          <p:cNvCxnSpPr/>
          <p:nvPr/>
        </p:nvCxnSpPr>
        <p:spPr>
          <a:xfrm>
            <a:off x="1224076" y="4757060"/>
            <a:ext cx="0" cy="762000"/>
          </a:xfrm>
          <a:prstGeom prst="straightConnector1">
            <a:avLst/>
          </a:prstGeom>
          <a:noFill/>
          <a:ln w="9525" cap="flat" cmpd="sng">
            <a:solidFill>
              <a:schemeClr val="dk1"/>
            </a:solidFill>
            <a:prstDash val="solid"/>
            <a:round/>
            <a:headEnd type="none" w="sm" len="sm"/>
            <a:tailEnd type="none" w="sm" len="sm"/>
          </a:ln>
        </p:spPr>
      </p:cxnSp>
      <p:cxnSp>
        <p:nvCxnSpPr>
          <p:cNvPr id="1237" name="Google Shape;1237;p130"/>
          <p:cNvCxnSpPr/>
          <p:nvPr/>
        </p:nvCxnSpPr>
        <p:spPr>
          <a:xfrm>
            <a:off x="1981200" y="4744739"/>
            <a:ext cx="0" cy="762000"/>
          </a:xfrm>
          <a:prstGeom prst="straightConnector1">
            <a:avLst/>
          </a:prstGeom>
          <a:noFill/>
          <a:ln w="9525" cap="flat" cmpd="sng">
            <a:solidFill>
              <a:schemeClr val="dk1"/>
            </a:solidFill>
            <a:prstDash val="solid"/>
            <a:round/>
            <a:headEnd type="none" w="sm" len="sm"/>
            <a:tailEnd type="none" w="sm" len="sm"/>
          </a:ln>
        </p:spPr>
      </p:cxnSp>
      <p:cxnSp>
        <p:nvCxnSpPr>
          <p:cNvPr id="1238" name="Google Shape;1238;p130"/>
          <p:cNvCxnSpPr/>
          <p:nvPr/>
        </p:nvCxnSpPr>
        <p:spPr>
          <a:xfrm>
            <a:off x="3352800" y="4757060"/>
            <a:ext cx="0" cy="762000"/>
          </a:xfrm>
          <a:prstGeom prst="straightConnector1">
            <a:avLst/>
          </a:prstGeom>
          <a:noFill/>
          <a:ln w="9525" cap="flat" cmpd="sng">
            <a:solidFill>
              <a:schemeClr val="dk1"/>
            </a:solidFill>
            <a:prstDash val="solid"/>
            <a:round/>
            <a:headEnd type="none" w="sm" len="sm"/>
            <a:tailEnd type="none" w="sm" len="sm"/>
          </a:ln>
        </p:spPr>
      </p:cxnSp>
      <p:cxnSp>
        <p:nvCxnSpPr>
          <p:cNvPr id="1239" name="Google Shape;1239;p130"/>
          <p:cNvCxnSpPr/>
          <p:nvPr/>
        </p:nvCxnSpPr>
        <p:spPr>
          <a:xfrm>
            <a:off x="8986587" y="4772066"/>
            <a:ext cx="0" cy="762000"/>
          </a:xfrm>
          <a:prstGeom prst="straightConnector1">
            <a:avLst/>
          </a:prstGeom>
          <a:noFill/>
          <a:ln w="9525" cap="flat" cmpd="sng">
            <a:solidFill>
              <a:schemeClr val="dk1"/>
            </a:solidFill>
            <a:prstDash val="solid"/>
            <a:round/>
            <a:headEnd type="none" w="sm" len="sm"/>
            <a:tailEnd type="none" w="sm" len="sm"/>
          </a:ln>
        </p:spPr>
      </p:cxnSp>
      <p:sp>
        <p:nvSpPr>
          <p:cNvPr id="1240" name="Google Shape;1240;p130"/>
          <p:cNvSpPr txBox="1"/>
          <p:nvPr/>
        </p:nvSpPr>
        <p:spPr>
          <a:xfrm>
            <a:off x="-11426" y="5477813"/>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0</a:t>
            </a:r>
            <a:endParaRPr sz="1400" b="0" i="0" u="none" strike="noStrike" cap="none">
              <a:solidFill>
                <a:srgbClr val="000000"/>
              </a:solidFill>
              <a:latin typeface="Arial"/>
              <a:ea typeface="Arial"/>
              <a:cs typeface="Arial"/>
              <a:sym typeface="Arial"/>
            </a:endParaRPr>
          </a:p>
        </p:txBody>
      </p:sp>
      <p:sp>
        <p:nvSpPr>
          <p:cNvPr id="1241" name="Google Shape;1241;p130"/>
          <p:cNvSpPr/>
          <p:nvPr/>
        </p:nvSpPr>
        <p:spPr>
          <a:xfrm>
            <a:off x="4505472" y="1528226"/>
            <a:ext cx="4697889" cy="3385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rgbClr val="F79646"/>
                </a:solidFill>
                <a:latin typeface="Calibri"/>
                <a:ea typeface="Calibri"/>
                <a:cs typeface="Calibri"/>
                <a:sym typeface="Calibri"/>
              </a:rPr>
              <a:t>Temps d’attente : début d’exécution– temps d’arrivée</a:t>
            </a:r>
            <a:endParaRPr sz="1600" b="1" i="0" u="none" strike="noStrike" cap="none">
              <a:solidFill>
                <a:srgbClr val="F79646"/>
              </a:solidFill>
              <a:latin typeface="Calibri"/>
              <a:ea typeface="Calibri"/>
              <a:cs typeface="Calibri"/>
              <a:sym typeface="Calibri"/>
            </a:endParaRPr>
          </a:p>
        </p:txBody>
      </p:sp>
      <p:sp>
        <p:nvSpPr>
          <p:cNvPr id="1242" name="Google Shape;1242;p130"/>
          <p:cNvSpPr/>
          <p:nvPr/>
        </p:nvSpPr>
        <p:spPr>
          <a:xfrm>
            <a:off x="4572000" y="1866780"/>
            <a:ext cx="44196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P1 = 30 – 10 = 20</a:t>
            </a:r>
            <a:endParaRPr sz="1400" b="0" i="0" u="none" strike="noStrike" cap="none">
              <a:solidFill>
                <a:srgbClr val="000000"/>
              </a:solidFill>
              <a:latin typeface="Arial"/>
              <a:ea typeface="Arial"/>
              <a:cs typeface="Arial"/>
              <a:sym typeface="Arial"/>
            </a:endParaRPr>
          </a:p>
        </p:txBody>
      </p:sp>
      <p:sp>
        <p:nvSpPr>
          <p:cNvPr id="1243" name="Google Shape;1243;p130"/>
          <p:cNvSpPr/>
          <p:nvPr/>
        </p:nvSpPr>
        <p:spPr>
          <a:xfrm>
            <a:off x="4572000" y="2171580"/>
            <a:ext cx="34225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P2 = (0 – 0) + (21 - 3) = 18</a:t>
            </a:r>
            <a:endParaRPr sz="1400" b="0" i="0" u="none" strike="noStrike" cap="none">
              <a:solidFill>
                <a:srgbClr val="000000"/>
              </a:solidFill>
              <a:latin typeface="Arial"/>
              <a:ea typeface="Arial"/>
              <a:cs typeface="Arial"/>
              <a:sym typeface="Arial"/>
            </a:endParaRPr>
          </a:p>
        </p:txBody>
      </p:sp>
      <p:sp>
        <p:nvSpPr>
          <p:cNvPr id="1244" name="Google Shape;1244;p130"/>
          <p:cNvSpPr/>
          <p:nvPr/>
        </p:nvSpPr>
        <p:spPr>
          <a:xfrm>
            <a:off x="4566208" y="2476380"/>
            <a:ext cx="258917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P3 = (3 – 3) + (9 - 5) = 4</a:t>
            </a:r>
            <a:endParaRPr sz="1400" b="0" i="0" u="none" strike="noStrike" cap="none">
              <a:solidFill>
                <a:srgbClr val="000000"/>
              </a:solidFill>
              <a:latin typeface="Arial"/>
              <a:ea typeface="Arial"/>
              <a:cs typeface="Arial"/>
              <a:sym typeface="Arial"/>
            </a:endParaRPr>
          </a:p>
        </p:txBody>
      </p:sp>
      <p:sp>
        <p:nvSpPr>
          <p:cNvPr id="1245" name="Google Shape;1245;p130"/>
          <p:cNvSpPr/>
          <p:nvPr/>
        </p:nvSpPr>
        <p:spPr>
          <a:xfrm>
            <a:off x="4572000" y="2800290"/>
            <a:ext cx="1731564"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P4 = (5 – 5) = 0</a:t>
            </a:r>
            <a:endParaRPr sz="1400" b="0" i="0" u="none" strike="noStrike" cap="none">
              <a:solidFill>
                <a:srgbClr val="000000"/>
              </a:solidFill>
              <a:latin typeface="Arial"/>
              <a:ea typeface="Arial"/>
              <a:cs typeface="Arial"/>
              <a:sym typeface="Arial"/>
            </a:endParaRPr>
          </a:p>
        </p:txBody>
      </p:sp>
      <p:sp>
        <p:nvSpPr>
          <p:cNvPr id="1246" name="Google Shape;1246;p130"/>
          <p:cNvSpPr txBox="1"/>
          <p:nvPr/>
        </p:nvSpPr>
        <p:spPr>
          <a:xfrm>
            <a:off x="1071685" y="551906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247" name="Google Shape;1247;p130"/>
          <p:cNvSpPr txBox="1"/>
          <p:nvPr/>
        </p:nvSpPr>
        <p:spPr>
          <a:xfrm>
            <a:off x="1776909" y="5502126"/>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1248" name="Google Shape;1248;p130"/>
          <p:cNvSpPr txBox="1"/>
          <p:nvPr/>
        </p:nvSpPr>
        <p:spPr>
          <a:xfrm>
            <a:off x="327425" y="4807088"/>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249" name="Google Shape;1249;p130"/>
          <p:cNvSpPr txBox="1"/>
          <p:nvPr/>
        </p:nvSpPr>
        <p:spPr>
          <a:xfrm>
            <a:off x="3209319" y="5477813"/>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9</a:t>
            </a:r>
            <a:endParaRPr sz="1400" b="0" i="0" u="none" strike="noStrike" cap="none">
              <a:solidFill>
                <a:srgbClr val="000000"/>
              </a:solidFill>
              <a:latin typeface="Arial"/>
              <a:ea typeface="Arial"/>
              <a:cs typeface="Arial"/>
              <a:sym typeface="Arial"/>
            </a:endParaRPr>
          </a:p>
        </p:txBody>
      </p:sp>
      <p:sp>
        <p:nvSpPr>
          <p:cNvPr id="1250" name="Google Shape;1250;p130"/>
          <p:cNvSpPr txBox="1"/>
          <p:nvPr/>
        </p:nvSpPr>
        <p:spPr>
          <a:xfrm>
            <a:off x="6166404" y="5477813"/>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21</a:t>
            </a:r>
            <a:endParaRPr sz="1400" b="0" i="0" u="none" strike="noStrike" cap="none">
              <a:solidFill>
                <a:srgbClr val="000000"/>
              </a:solidFill>
              <a:latin typeface="Arial"/>
              <a:ea typeface="Arial"/>
              <a:cs typeface="Arial"/>
              <a:sym typeface="Arial"/>
            </a:endParaRPr>
          </a:p>
        </p:txBody>
      </p:sp>
      <p:sp>
        <p:nvSpPr>
          <p:cNvPr id="1251" name="Google Shape;1251;p130"/>
          <p:cNvSpPr/>
          <p:nvPr/>
        </p:nvSpPr>
        <p:spPr>
          <a:xfrm>
            <a:off x="98472" y="5941367"/>
            <a:ext cx="8302537"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70C0"/>
                </a:solidFill>
                <a:latin typeface="Calibri"/>
                <a:ea typeface="Calibri"/>
                <a:cs typeface="Calibri"/>
                <a:sym typeface="Calibri"/>
              </a:rPr>
              <a:t>Temps moyen d’attente = (20 + 18 + 4 + 0 + 3) / 5 = 45 / 5 = 9</a:t>
            </a:r>
            <a:endParaRPr sz="1400" b="0" i="0" u="none" strike="noStrike" cap="none">
              <a:solidFill>
                <a:srgbClr val="000000"/>
              </a:solidFill>
              <a:latin typeface="Arial"/>
              <a:ea typeface="Arial"/>
              <a:cs typeface="Arial"/>
              <a:sym typeface="Arial"/>
            </a:endParaRPr>
          </a:p>
        </p:txBody>
      </p:sp>
      <p:cxnSp>
        <p:nvCxnSpPr>
          <p:cNvPr id="1252" name="Google Shape;1252;p130"/>
          <p:cNvCxnSpPr/>
          <p:nvPr/>
        </p:nvCxnSpPr>
        <p:spPr>
          <a:xfrm>
            <a:off x="5257800" y="4772066"/>
            <a:ext cx="0" cy="762000"/>
          </a:xfrm>
          <a:prstGeom prst="straightConnector1">
            <a:avLst/>
          </a:prstGeom>
          <a:noFill/>
          <a:ln w="9525" cap="flat" cmpd="sng">
            <a:solidFill>
              <a:schemeClr val="dk1"/>
            </a:solidFill>
            <a:prstDash val="solid"/>
            <a:round/>
            <a:headEnd type="none" w="sm" len="sm"/>
            <a:tailEnd type="none" w="sm" len="sm"/>
          </a:ln>
        </p:spPr>
      </p:cxnSp>
      <p:sp>
        <p:nvSpPr>
          <p:cNvPr id="1253" name="Google Shape;1253;p130"/>
          <p:cNvSpPr txBox="1"/>
          <p:nvPr/>
        </p:nvSpPr>
        <p:spPr>
          <a:xfrm>
            <a:off x="5029200" y="5477813"/>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15</a:t>
            </a:r>
            <a:endParaRPr sz="1400" b="0" i="0" u="none" strike="noStrike" cap="none">
              <a:solidFill>
                <a:srgbClr val="000000"/>
              </a:solidFill>
              <a:latin typeface="Arial"/>
              <a:ea typeface="Arial"/>
              <a:cs typeface="Arial"/>
              <a:sym typeface="Arial"/>
            </a:endParaRPr>
          </a:p>
        </p:txBody>
      </p:sp>
      <p:sp>
        <p:nvSpPr>
          <p:cNvPr id="1254" name="Google Shape;1254;p130"/>
          <p:cNvSpPr/>
          <p:nvPr/>
        </p:nvSpPr>
        <p:spPr>
          <a:xfrm>
            <a:off x="4572000" y="3105090"/>
            <a:ext cx="183095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P5 = 15 – 12 = 3</a:t>
            </a:r>
            <a:endParaRPr sz="1400" b="0" i="0" u="none" strike="noStrike" cap="none">
              <a:solidFill>
                <a:srgbClr val="000000"/>
              </a:solidFill>
              <a:latin typeface="Arial"/>
              <a:ea typeface="Arial"/>
              <a:cs typeface="Arial"/>
              <a:sym typeface="Arial"/>
            </a:endParaRPr>
          </a:p>
        </p:txBody>
      </p:sp>
      <p:cxnSp>
        <p:nvCxnSpPr>
          <p:cNvPr id="1255" name="Google Shape;1255;p130"/>
          <p:cNvCxnSpPr/>
          <p:nvPr/>
        </p:nvCxnSpPr>
        <p:spPr>
          <a:xfrm>
            <a:off x="6394376" y="4772066"/>
            <a:ext cx="0" cy="762000"/>
          </a:xfrm>
          <a:prstGeom prst="straightConnector1">
            <a:avLst/>
          </a:prstGeom>
          <a:noFill/>
          <a:ln w="9525" cap="flat" cmpd="sng">
            <a:solidFill>
              <a:schemeClr val="dk1"/>
            </a:solidFill>
            <a:prstDash val="solid"/>
            <a:round/>
            <a:headEnd type="none" w="sm" len="sm"/>
            <a:tailEnd type="none" w="sm" len="sm"/>
          </a:ln>
        </p:spPr>
      </p:cxnSp>
      <p:cxnSp>
        <p:nvCxnSpPr>
          <p:cNvPr id="1256" name="Google Shape;1256;p130"/>
          <p:cNvCxnSpPr/>
          <p:nvPr/>
        </p:nvCxnSpPr>
        <p:spPr>
          <a:xfrm>
            <a:off x="7620000" y="4772066"/>
            <a:ext cx="0" cy="762000"/>
          </a:xfrm>
          <a:prstGeom prst="straightConnector1">
            <a:avLst/>
          </a:prstGeom>
          <a:noFill/>
          <a:ln w="9525" cap="flat" cmpd="sng">
            <a:solidFill>
              <a:schemeClr val="dk1"/>
            </a:solidFill>
            <a:prstDash val="solid"/>
            <a:round/>
            <a:headEnd type="none" w="sm" len="sm"/>
            <a:tailEnd type="none" w="sm" len="sm"/>
          </a:ln>
        </p:spPr>
      </p:cxnSp>
      <p:sp>
        <p:nvSpPr>
          <p:cNvPr id="1257" name="Google Shape;1257;p130"/>
          <p:cNvSpPr txBox="1"/>
          <p:nvPr/>
        </p:nvSpPr>
        <p:spPr>
          <a:xfrm>
            <a:off x="7404248" y="5477813"/>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30</a:t>
            </a:r>
            <a:endParaRPr sz="1400" b="0" i="0" u="none" strike="noStrike" cap="none">
              <a:solidFill>
                <a:srgbClr val="000000"/>
              </a:solidFill>
              <a:latin typeface="Arial"/>
              <a:ea typeface="Arial"/>
              <a:cs typeface="Arial"/>
              <a:sym typeface="Arial"/>
            </a:endParaRPr>
          </a:p>
        </p:txBody>
      </p:sp>
      <p:sp>
        <p:nvSpPr>
          <p:cNvPr id="1258" name="Google Shape;1258;p130"/>
          <p:cNvSpPr txBox="1"/>
          <p:nvPr/>
        </p:nvSpPr>
        <p:spPr>
          <a:xfrm>
            <a:off x="8759009" y="5477813"/>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40</a:t>
            </a:r>
            <a:endParaRPr sz="1400" b="0" i="0" u="none" strike="noStrike" cap="none">
              <a:solidFill>
                <a:srgbClr val="000000"/>
              </a:solidFill>
              <a:latin typeface="Arial"/>
              <a:ea typeface="Arial"/>
              <a:cs typeface="Arial"/>
              <a:sym typeface="Arial"/>
            </a:endParaRPr>
          </a:p>
        </p:txBody>
      </p:sp>
      <p:sp>
        <p:nvSpPr>
          <p:cNvPr id="1259" name="Google Shape;1259;p130"/>
          <p:cNvSpPr txBox="1"/>
          <p:nvPr/>
        </p:nvSpPr>
        <p:spPr>
          <a:xfrm>
            <a:off x="1291339" y="4791959"/>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260" name="Google Shape;1260;p130"/>
          <p:cNvSpPr txBox="1"/>
          <p:nvPr/>
        </p:nvSpPr>
        <p:spPr>
          <a:xfrm>
            <a:off x="2064983" y="4805859"/>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sp>
        <p:nvSpPr>
          <p:cNvPr id="1261" name="Google Shape;1261;p130"/>
          <p:cNvSpPr txBox="1"/>
          <p:nvPr/>
        </p:nvSpPr>
        <p:spPr>
          <a:xfrm>
            <a:off x="3725726" y="4819361"/>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262" name="Google Shape;1262;p130"/>
          <p:cNvSpPr txBox="1"/>
          <p:nvPr/>
        </p:nvSpPr>
        <p:spPr>
          <a:xfrm>
            <a:off x="5581710" y="484344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P5</a:t>
            </a:r>
            <a:endParaRPr sz="1400" b="0" i="0" u="none" strike="noStrike" cap="none">
              <a:solidFill>
                <a:srgbClr val="000000"/>
              </a:solidFill>
              <a:latin typeface="Arial"/>
              <a:ea typeface="Arial"/>
              <a:cs typeface="Arial"/>
              <a:sym typeface="Arial"/>
            </a:endParaRPr>
          </a:p>
        </p:txBody>
      </p:sp>
      <p:sp>
        <p:nvSpPr>
          <p:cNvPr id="1263" name="Google Shape;1263;p130"/>
          <p:cNvSpPr txBox="1"/>
          <p:nvPr/>
        </p:nvSpPr>
        <p:spPr>
          <a:xfrm>
            <a:off x="6765153" y="479916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264" name="Google Shape;1264;p130"/>
          <p:cNvSpPr txBox="1"/>
          <p:nvPr/>
        </p:nvSpPr>
        <p:spPr>
          <a:xfrm>
            <a:off x="8001000" y="479916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265" name="Google Shape;1265;p130"/>
          <p:cNvSpPr txBox="1"/>
          <p:nvPr/>
        </p:nvSpPr>
        <p:spPr>
          <a:xfrm>
            <a:off x="2504890" y="228600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504D"/>
                </a:solidFill>
                <a:latin typeface="Calibri"/>
                <a:ea typeface="Calibri"/>
                <a:cs typeface="Calibri"/>
                <a:sym typeface="Calibri"/>
              </a:rPr>
              <a:t>9</a:t>
            </a:r>
            <a:endParaRPr sz="1400" b="0" i="0" u="none" strike="noStrike" cap="none">
              <a:solidFill>
                <a:srgbClr val="000000"/>
              </a:solidFill>
              <a:latin typeface="Arial"/>
              <a:ea typeface="Arial"/>
              <a:cs typeface="Arial"/>
              <a:sym typeface="Arial"/>
            </a:endParaRPr>
          </a:p>
        </p:txBody>
      </p:sp>
      <p:sp>
        <p:nvSpPr>
          <p:cNvPr id="1266" name="Google Shape;1266;p130"/>
          <p:cNvSpPr txBox="1"/>
          <p:nvPr/>
        </p:nvSpPr>
        <p:spPr>
          <a:xfrm>
            <a:off x="2394875" y="2686538"/>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504D"/>
                </a:solidFill>
                <a:latin typeface="Calibri"/>
                <a:ea typeface="Calibri"/>
                <a:cs typeface="Calibri"/>
                <a:sym typeface="Calibri"/>
              </a:rPr>
              <a:t>6</a:t>
            </a:r>
            <a:endParaRPr sz="1400" b="0" i="0" u="none" strike="noStrike" cap="none">
              <a:solidFill>
                <a:srgbClr val="000000"/>
              </a:solidFill>
              <a:latin typeface="Arial"/>
              <a:ea typeface="Arial"/>
              <a:cs typeface="Arial"/>
              <a:sym typeface="Arial"/>
            </a:endParaRPr>
          </a:p>
        </p:txBody>
      </p:sp>
      <p:cxnSp>
        <p:nvCxnSpPr>
          <p:cNvPr id="1267" name="Google Shape;1267;p130"/>
          <p:cNvCxnSpPr/>
          <p:nvPr/>
        </p:nvCxnSpPr>
        <p:spPr>
          <a:xfrm>
            <a:off x="609600" y="3276600"/>
            <a:ext cx="3591110" cy="0"/>
          </a:xfrm>
          <a:prstGeom prst="straightConnector1">
            <a:avLst/>
          </a:prstGeom>
          <a:noFill/>
          <a:ln w="28575" cap="flat" cmpd="sng">
            <a:solidFill>
              <a:srgbClr val="BD4B48"/>
            </a:solidFill>
            <a:prstDash val="solid"/>
            <a:round/>
            <a:headEnd type="none" w="sm" len="sm"/>
            <a:tailEnd type="none" w="sm" len="sm"/>
          </a:ln>
        </p:spPr>
      </p:cxnSp>
      <p:cxnSp>
        <p:nvCxnSpPr>
          <p:cNvPr id="1268" name="Google Shape;1268;p130"/>
          <p:cNvCxnSpPr/>
          <p:nvPr/>
        </p:nvCxnSpPr>
        <p:spPr>
          <a:xfrm>
            <a:off x="609600" y="2895600"/>
            <a:ext cx="3591110" cy="0"/>
          </a:xfrm>
          <a:prstGeom prst="straightConnector1">
            <a:avLst/>
          </a:prstGeom>
          <a:noFill/>
          <a:ln w="28575" cap="flat" cmpd="sng">
            <a:solidFill>
              <a:srgbClr val="BD4B48"/>
            </a:solidFill>
            <a:prstDash val="solid"/>
            <a:round/>
            <a:headEnd type="none" w="sm" len="sm"/>
            <a:tailEnd type="none" w="sm" len="sm"/>
          </a:ln>
        </p:spPr>
      </p:cxnSp>
      <p:cxnSp>
        <p:nvCxnSpPr>
          <p:cNvPr id="1269" name="Google Shape;1269;p130"/>
          <p:cNvCxnSpPr/>
          <p:nvPr/>
        </p:nvCxnSpPr>
        <p:spPr>
          <a:xfrm>
            <a:off x="609600" y="4038600"/>
            <a:ext cx="3591110" cy="0"/>
          </a:xfrm>
          <a:prstGeom prst="straightConnector1">
            <a:avLst/>
          </a:prstGeom>
          <a:noFill/>
          <a:ln w="28575" cap="flat" cmpd="sng">
            <a:solidFill>
              <a:srgbClr val="BD4B48"/>
            </a:solidFill>
            <a:prstDash val="solid"/>
            <a:round/>
            <a:headEnd type="none" w="sm" len="sm"/>
            <a:tailEnd type="none" w="sm" len="sm"/>
          </a:ln>
        </p:spPr>
      </p:cxnSp>
      <p:cxnSp>
        <p:nvCxnSpPr>
          <p:cNvPr id="1270" name="Google Shape;1270;p130"/>
          <p:cNvCxnSpPr/>
          <p:nvPr/>
        </p:nvCxnSpPr>
        <p:spPr>
          <a:xfrm>
            <a:off x="609600" y="2514600"/>
            <a:ext cx="3591110" cy="0"/>
          </a:xfrm>
          <a:prstGeom prst="straightConnector1">
            <a:avLst/>
          </a:prstGeom>
          <a:noFill/>
          <a:ln w="28575" cap="flat" cmpd="sng">
            <a:solidFill>
              <a:srgbClr val="BD4B48"/>
            </a:solidFill>
            <a:prstDash val="solid"/>
            <a:round/>
            <a:headEnd type="none" w="sm" len="sm"/>
            <a:tailEnd type="none" w="sm" len="sm"/>
          </a:ln>
        </p:spPr>
      </p:cxnSp>
      <p:cxnSp>
        <p:nvCxnSpPr>
          <p:cNvPr id="1271" name="Google Shape;1271;p130"/>
          <p:cNvCxnSpPr/>
          <p:nvPr/>
        </p:nvCxnSpPr>
        <p:spPr>
          <a:xfrm>
            <a:off x="609600" y="3657600"/>
            <a:ext cx="3591110" cy="0"/>
          </a:xfrm>
          <a:prstGeom prst="straightConnector1">
            <a:avLst/>
          </a:prstGeom>
          <a:noFill/>
          <a:ln w="28575" cap="flat" cmpd="sng">
            <a:solidFill>
              <a:srgbClr val="BD4B48"/>
            </a:solidFill>
            <a:prstDash val="solid"/>
            <a:round/>
            <a:headEnd type="none" w="sm" len="sm"/>
            <a:tailEnd type="none" w="sm" len="sm"/>
          </a:ln>
        </p:spPr>
      </p:cxnSp>
      <p:sp>
        <p:nvSpPr>
          <p:cNvPr id="1272" name="Google Shape;1272;p130"/>
          <p:cNvSpPr txBox="1"/>
          <p:nvPr/>
        </p:nvSpPr>
        <p:spPr>
          <a:xfrm>
            <a:off x="98472" y="969932"/>
            <a:ext cx="4643345"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Calibri"/>
                <a:ea typeface="Calibri"/>
                <a:cs typeface="Calibri"/>
                <a:sym typeface="Calibri"/>
              </a:rPr>
              <a:t>On considère l’ensemble de processus suivant :</a:t>
            </a:r>
            <a:endParaRPr sz="1400" b="0" i="0" u="none" strike="noStrike" cap="none">
              <a:solidFill>
                <a:srgbClr val="000000"/>
              </a:solidFill>
              <a:latin typeface="Arial"/>
              <a:ea typeface="Arial"/>
              <a:cs typeface="Arial"/>
              <a:sym typeface="Arial"/>
            </a:endParaRPr>
          </a:p>
        </p:txBody>
      </p:sp>
      <p:sp>
        <p:nvSpPr>
          <p:cNvPr id="1273" name="Google Shape;1273;p130"/>
          <p:cNvSpPr txBox="1"/>
          <p:nvPr/>
        </p:nvSpPr>
        <p:spPr>
          <a:xfrm>
            <a:off x="303083" y="4348658"/>
            <a:ext cx="6307673"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Le diagramme de Gantt avec SJF préemptif est comme suit :</a:t>
            </a:r>
            <a:endParaRPr sz="1400" b="0" i="0" u="none" strike="noStrike" cap="none">
              <a:solidFill>
                <a:srgbClr val="000000"/>
              </a:solidFill>
              <a:latin typeface="Arial"/>
              <a:ea typeface="Arial"/>
              <a:cs typeface="Arial"/>
              <a:sym typeface="Arial"/>
            </a:endParaRPr>
          </a:p>
        </p:txBody>
      </p:sp>
      <p:sp>
        <p:nvSpPr>
          <p:cNvPr id="1274" name="Google Shape;1274;p130"/>
          <p:cNvSpPr txBox="1"/>
          <p:nvPr/>
        </p:nvSpPr>
        <p:spPr>
          <a:xfrm>
            <a:off x="2601823" y="2695227"/>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504D"/>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1275" name="Google Shape;1275;p1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47</a:t>
            </a:fld>
            <a:endParaRPr>
              <a:solidFill>
                <a:srgbClr val="88888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34"/>
                                        </p:tgtEl>
                                        <p:attrNameLst>
                                          <p:attrName>style.visibility</p:attrName>
                                        </p:attrNameLst>
                                      </p:cBhvr>
                                      <p:to>
                                        <p:strVal val="visible"/>
                                      </p:to>
                                    </p:set>
                                    <p:animEffect transition="in" filter="fade">
                                      <p:cBhvr>
                                        <p:cTn id="7" dur="1000"/>
                                        <p:tgtEl>
                                          <p:spTgt spid="123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35"/>
                                        </p:tgtEl>
                                        <p:attrNameLst>
                                          <p:attrName>style.visibility</p:attrName>
                                        </p:attrNameLst>
                                      </p:cBhvr>
                                      <p:to>
                                        <p:strVal val="visible"/>
                                      </p:to>
                                    </p:set>
                                    <p:animEffect transition="in" filter="fade">
                                      <p:cBhvr>
                                        <p:cTn id="12" dur="1000"/>
                                        <p:tgtEl>
                                          <p:spTgt spid="1235"/>
                                        </p:tgtEl>
                                      </p:cBhvr>
                                    </p:animEffect>
                                  </p:childTnLst>
                                </p:cTn>
                              </p:par>
                              <p:par>
                                <p:cTn id="13" presetID="10" presetClass="entr" presetSubtype="0" fill="hold" nodeType="withEffect">
                                  <p:stCondLst>
                                    <p:cond delay="0"/>
                                  </p:stCondLst>
                                  <p:childTnLst>
                                    <p:set>
                                      <p:cBhvr>
                                        <p:cTn id="14" dur="1" fill="hold">
                                          <p:stCondLst>
                                            <p:cond delay="0"/>
                                          </p:stCondLst>
                                        </p:cTn>
                                        <p:tgtEl>
                                          <p:spTgt spid="1236"/>
                                        </p:tgtEl>
                                        <p:attrNameLst>
                                          <p:attrName>style.visibility</p:attrName>
                                        </p:attrNameLst>
                                      </p:cBhvr>
                                      <p:to>
                                        <p:strVal val="visible"/>
                                      </p:to>
                                    </p:set>
                                    <p:animEffect transition="in" filter="fade">
                                      <p:cBhvr>
                                        <p:cTn id="15" dur="1000"/>
                                        <p:tgtEl>
                                          <p:spTgt spid="1236"/>
                                        </p:tgtEl>
                                      </p:cBhvr>
                                    </p:animEffect>
                                  </p:childTnLst>
                                </p:cTn>
                              </p:par>
                              <p:par>
                                <p:cTn id="16" presetID="10" presetClass="entr" presetSubtype="0" fill="hold" nodeType="withEffect">
                                  <p:stCondLst>
                                    <p:cond delay="0"/>
                                  </p:stCondLst>
                                  <p:childTnLst>
                                    <p:set>
                                      <p:cBhvr>
                                        <p:cTn id="17" dur="1" fill="hold">
                                          <p:stCondLst>
                                            <p:cond delay="0"/>
                                          </p:stCondLst>
                                        </p:cTn>
                                        <p:tgtEl>
                                          <p:spTgt spid="1237"/>
                                        </p:tgtEl>
                                        <p:attrNameLst>
                                          <p:attrName>style.visibility</p:attrName>
                                        </p:attrNameLst>
                                      </p:cBhvr>
                                      <p:to>
                                        <p:strVal val="visible"/>
                                      </p:to>
                                    </p:set>
                                    <p:animEffect transition="in" filter="fade">
                                      <p:cBhvr>
                                        <p:cTn id="18" dur="1000"/>
                                        <p:tgtEl>
                                          <p:spTgt spid="1237"/>
                                        </p:tgtEl>
                                      </p:cBhvr>
                                    </p:animEffect>
                                  </p:childTnLst>
                                </p:cTn>
                              </p:par>
                              <p:par>
                                <p:cTn id="19" presetID="10" presetClass="entr" presetSubtype="0" fill="hold" nodeType="withEffect">
                                  <p:stCondLst>
                                    <p:cond delay="0"/>
                                  </p:stCondLst>
                                  <p:childTnLst>
                                    <p:set>
                                      <p:cBhvr>
                                        <p:cTn id="20" dur="1" fill="hold">
                                          <p:stCondLst>
                                            <p:cond delay="0"/>
                                          </p:stCondLst>
                                        </p:cTn>
                                        <p:tgtEl>
                                          <p:spTgt spid="1238"/>
                                        </p:tgtEl>
                                        <p:attrNameLst>
                                          <p:attrName>style.visibility</p:attrName>
                                        </p:attrNameLst>
                                      </p:cBhvr>
                                      <p:to>
                                        <p:strVal val="visible"/>
                                      </p:to>
                                    </p:set>
                                    <p:animEffect transition="in" filter="fade">
                                      <p:cBhvr>
                                        <p:cTn id="21" dur="1000"/>
                                        <p:tgtEl>
                                          <p:spTgt spid="1238"/>
                                        </p:tgtEl>
                                      </p:cBhvr>
                                    </p:animEffect>
                                  </p:childTnLst>
                                </p:cTn>
                              </p:par>
                              <p:par>
                                <p:cTn id="22" presetID="10" presetClass="entr" presetSubtype="0" fill="hold" nodeType="withEffect">
                                  <p:stCondLst>
                                    <p:cond delay="0"/>
                                  </p:stCondLst>
                                  <p:childTnLst>
                                    <p:set>
                                      <p:cBhvr>
                                        <p:cTn id="23" dur="1" fill="hold">
                                          <p:stCondLst>
                                            <p:cond delay="0"/>
                                          </p:stCondLst>
                                        </p:cTn>
                                        <p:tgtEl>
                                          <p:spTgt spid="1252"/>
                                        </p:tgtEl>
                                        <p:attrNameLst>
                                          <p:attrName>style.visibility</p:attrName>
                                        </p:attrNameLst>
                                      </p:cBhvr>
                                      <p:to>
                                        <p:strVal val="visible"/>
                                      </p:to>
                                    </p:set>
                                    <p:animEffect transition="in" filter="fade">
                                      <p:cBhvr>
                                        <p:cTn id="24" dur="1000"/>
                                        <p:tgtEl>
                                          <p:spTgt spid="1252"/>
                                        </p:tgtEl>
                                      </p:cBhvr>
                                    </p:animEffect>
                                  </p:childTnLst>
                                </p:cTn>
                              </p:par>
                              <p:par>
                                <p:cTn id="25" presetID="10" presetClass="entr" presetSubtype="0" fill="hold" nodeType="withEffect">
                                  <p:stCondLst>
                                    <p:cond delay="0"/>
                                  </p:stCondLst>
                                  <p:childTnLst>
                                    <p:set>
                                      <p:cBhvr>
                                        <p:cTn id="26" dur="1" fill="hold">
                                          <p:stCondLst>
                                            <p:cond delay="0"/>
                                          </p:stCondLst>
                                        </p:cTn>
                                        <p:tgtEl>
                                          <p:spTgt spid="1255"/>
                                        </p:tgtEl>
                                        <p:attrNameLst>
                                          <p:attrName>style.visibility</p:attrName>
                                        </p:attrNameLst>
                                      </p:cBhvr>
                                      <p:to>
                                        <p:strVal val="visible"/>
                                      </p:to>
                                    </p:set>
                                    <p:animEffect transition="in" filter="fade">
                                      <p:cBhvr>
                                        <p:cTn id="27" dur="1000"/>
                                        <p:tgtEl>
                                          <p:spTgt spid="1255"/>
                                        </p:tgtEl>
                                      </p:cBhvr>
                                    </p:animEffect>
                                  </p:childTnLst>
                                </p:cTn>
                              </p:par>
                              <p:par>
                                <p:cTn id="28" presetID="10" presetClass="entr" presetSubtype="0" fill="hold" nodeType="withEffect">
                                  <p:stCondLst>
                                    <p:cond delay="0"/>
                                  </p:stCondLst>
                                  <p:childTnLst>
                                    <p:set>
                                      <p:cBhvr>
                                        <p:cTn id="29" dur="1" fill="hold">
                                          <p:stCondLst>
                                            <p:cond delay="0"/>
                                          </p:stCondLst>
                                        </p:cTn>
                                        <p:tgtEl>
                                          <p:spTgt spid="1256"/>
                                        </p:tgtEl>
                                        <p:attrNameLst>
                                          <p:attrName>style.visibility</p:attrName>
                                        </p:attrNameLst>
                                      </p:cBhvr>
                                      <p:to>
                                        <p:strVal val="visible"/>
                                      </p:to>
                                    </p:set>
                                    <p:animEffect transition="in" filter="fade">
                                      <p:cBhvr>
                                        <p:cTn id="30" dur="1000"/>
                                        <p:tgtEl>
                                          <p:spTgt spid="1256"/>
                                        </p:tgtEl>
                                      </p:cBhvr>
                                    </p:animEffect>
                                  </p:childTnLst>
                                </p:cTn>
                              </p:par>
                              <p:par>
                                <p:cTn id="31" presetID="10" presetClass="entr" presetSubtype="0" fill="hold" nodeType="withEffect">
                                  <p:stCondLst>
                                    <p:cond delay="0"/>
                                  </p:stCondLst>
                                  <p:childTnLst>
                                    <p:set>
                                      <p:cBhvr>
                                        <p:cTn id="32" dur="1" fill="hold">
                                          <p:stCondLst>
                                            <p:cond delay="0"/>
                                          </p:stCondLst>
                                        </p:cTn>
                                        <p:tgtEl>
                                          <p:spTgt spid="1239"/>
                                        </p:tgtEl>
                                        <p:attrNameLst>
                                          <p:attrName>style.visibility</p:attrName>
                                        </p:attrNameLst>
                                      </p:cBhvr>
                                      <p:to>
                                        <p:strVal val="visible"/>
                                      </p:to>
                                    </p:set>
                                    <p:animEffect transition="in" filter="fade">
                                      <p:cBhvr>
                                        <p:cTn id="33" dur="1000"/>
                                        <p:tgtEl>
                                          <p:spTgt spid="123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240"/>
                                        </p:tgtEl>
                                        <p:attrNameLst>
                                          <p:attrName>style.visibility</p:attrName>
                                        </p:attrNameLst>
                                      </p:cBhvr>
                                      <p:to>
                                        <p:strVal val="visible"/>
                                      </p:to>
                                    </p:set>
                                    <p:animEffect transition="in" filter="fade">
                                      <p:cBhvr>
                                        <p:cTn id="38" dur="1000"/>
                                        <p:tgtEl>
                                          <p:spTgt spid="1240"/>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2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246"/>
                                        </p:tgtEl>
                                        <p:attrNameLst>
                                          <p:attrName>style.visibility</p:attrName>
                                        </p:attrNameLst>
                                      </p:cBhvr>
                                      <p:to>
                                        <p:strVal val="visible"/>
                                      </p:to>
                                    </p:set>
                                    <p:animEffect transition="in" filter="fade">
                                      <p:cBhvr>
                                        <p:cTn id="47" dur="1000"/>
                                        <p:tgtEl>
                                          <p:spTgt spid="1246"/>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1265"/>
                                        </p:tgtEl>
                                        <p:attrNameLst>
                                          <p:attrName>style.visibility</p:attrName>
                                        </p:attrNameLst>
                                      </p:cBhvr>
                                      <p:to>
                                        <p:strVal val="visible"/>
                                      </p:to>
                                    </p:set>
                                    <p:anim calcmode="lin" valueType="num">
                                      <p:cBhvr additive="base">
                                        <p:cTn id="52" dur="500"/>
                                        <p:tgtEl>
                                          <p:spTgt spid="1265"/>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25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247"/>
                                        </p:tgtEl>
                                        <p:attrNameLst>
                                          <p:attrName>style.visibility</p:attrName>
                                        </p:attrNameLst>
                                      </p:cBhvr>
                                      <p:to>
                                        <p:strVal val="visible"/>
                                      </p:to>
                                    </p:set>
                                    <p:animEffect transition="in" filter="fade">
                                      <p:cBhvr>
                                        <p:cTn id="61" dur="1000"/>
                                        <p:tgtEl>
                                          <p:spTgt spid="1247"/>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266"/>
                                        </p:tgtEl>
                                        <p:attrNameLst>
                                          <p:attrName>style.visibility</p:attrName>
                                        </p:attrNameLst>
                                      </p:cBhvr>
                                      <p:to>
                                        <p:strVal val="visible"/>
                                      </p:to>
                                    </p:set>
                                    <p:anim calcmode="lin" valueType="num">
                                      <p:cBhvr additive="base">
                                        <p:cTn id="66" dur="500"/>
                                        <p:tgtEl>
                                          <p:spTgt spid="1266"/>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260"/>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249"/>
                                        </p:tgtEl>
                                        <p:attrNameLst>
                                          <p:attrName>style.visibility</p:attrName>
                                        </p:attrNameLst>
                                      </p:cBhvr>
                                      <p:to>
                                        <p:strVal val="visible"/>
                                      </p:to>
                                    </p:set>
                                    <p:animEffect transition="in" filter="fade">
                                      <p:cBhvr>
                                        <p:cTn id="75" dur="1000"/>
                                        <p:tgtEl>
                                          <p:spTgt spid="1249"/>
                                        </p:tgtEl>
                                      </p:cBhvr>
                                    </p:animEffect>
                                  </p:childTnLst>
                                </p:cTn>
                              </p:par>
                            </p:childTnLst>
                          </p:cTn>
                        </p:par>
                      </p:childTnLst>
                    </p:cTn>
                  </p:par>
                  <p:par>
                    <p:cTn id="76" fill="hold">
                      <p:stCondLst>
                        <p:cond delay="indefinite"/>
                      </p:stCondLst>
                      <p:childTnLst>
                        <p:par>
                          <p:cTn id="77" fill="hold">
                            <p:stCondLst>
                              <p:cond delay="0"/>
                            </p:stCondLst>
                            <p:childTnLst>
                              <p:par>
                                <p:cTn id="78" presetID="2" presetClass="entr" presetSubtype="4" fill="hold" nodeType="clickEffect">
                                  <p:stCondLst>
                                    <p:cond delay="0"/>
                                  </p:stCondLst>
                                  <p:childTnLst>
                                    <p:set>
                                      <p:cBhvr>
                                        <p:cTn id="79" dur="1" fill="hold">
                                          <p:stCondLst>
                                            <p:cond delay="0"/>
                                          </p:stCondLst>
                                        </p:cTn>
                                        <p:tgtEl>
                                          <p:spTgt spid="1267"/>
                                        </p:tgtEl>
                                        <p:attrNameLst>
                                          <p:attrName>style.visibility</p:attrName>
                                        </p:attrNameLst>
                                      </p:cBhvr>
                                      <p:to>
                                        <p:strVal val="visible"/>
                                      </p:to>
                                    </p:set>
                                    <p:anim calcmode="lin" valueType="num">
                                      <p:cBhvr additive="base">
                                        <p:cTn id="80" dur="500"/>
                                        <p:tgtEl>
                                          <p:spTgt spid="1267"/>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1261"/>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0" presetClass="entr" presetSubtype="0" fill="hold" nodeType="clickEffect">
                                  <p:stCondLst>
                                    <p:cond delay="0"/>
                                  </p:stCondLst>
                                  <p:childTnLst>
                                    <p:set>
                                      <p:cBhvr>
                                        <p:cTn id="88" dur="1" fill="hold">
                                          <p:stCondLst>
                                            <p:cond delay="0"/>
                                          </p:stCondLst>
                                        </p:cTn>
                                        <p:tgtEl>
                                          <p:spTgt spid="1253"/>
                                        </p:tgtEl>
                                        <p:attrNameLst>
                                          <p:attrName>style.visibility</p:attrName>
                                        </p:attrNameLst>
                                      </p:cBhvr>
                                      <p:to>
                                        <p:strVal val="visible"/>
                                      </p:to>
                                    </p:set>
                                    <p:animEffect transition="in" filter="fade">
                                      <p:cBhvr>
                                        <p:cTn id="89" dur="1000"/>
                                        <p:tgtEl>
                                          <p:spTgt spid="1253"/>
                                        </p:tgtEl>
                                      </p:cBhvr>
                                    </p:animEffect>
                                  </p:childTnLst>
                                </p:cTn>
                              </p:par>
                            </p:childTnLst>
                          </p:cTn>
                        </p:par>
                      </p:childTnLst>
                    </p:cTn>
                  </p:par>
                  <p:par>
                    <p:cTn id="90" fill="hold">
                      <p:stCondLst>
                        <p:cond delay="indefinite"/>
                      </p:stCondLst>
                      <p:childTnLst>
                        <p:par>
                          <p:cTn id="91" fill="hold">
                            <p:stCondLst>
                              <p:cond delay="0"/>
                            </p:stCondLst>
                            <p:childTnLst>
                              <p:par>
                                <p:cTn id="92" presetID="2" presetClass="entr" presetSubtype="4" fill="hold" nodeType="clickEffect">
                                  <p:stCondLst>
                                    <p:cond delay="0"/>
                                  </p:stCondLst>
                                  <p:childTnLst>
                                    <p:set>
                                      <p:cBhvr>
                                        <p:cTn id="93" dur="1" fill="hold">
                                          <p:stCondLst>
                                            <p:cond delay="0"/>
                                          </p:stCondLst>
                                        </p:cTn>
                                        <p:tgtEl>
                                          <p:spTgt spid="1268"/>
                                        </p:tgtEl>
                                        <p:attrNameLst>
                                          <p:attrName>style.visibility</p:attrName>
                                        </p:attrNameLst>
                                      </p:cBhvr>
                                      <p:to>
                                        <p:strVal val="visible"/>
                                      </p:to>
                                    </p:set>
                                    <p:anim calcmode="lin" valueType="num">
                                      <p:cBhvr additive="base">
                                        <p:cTn id="94" dur="500"/>
                                        <p:tgtEl>
                                          <p:spTgt spid="1268"/>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262"/>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0" presetClass="entr" presetSubtype="0" fill="hold" nodeType="clickEffect">
                                  <p:stCondLst>
                                    <p:cond delay="0"/>
                                  </p:stCondLst>
                                  <p:childTnLst>
                                    <p:set>
                                      <p:cBhvr>
                                        <p:cTn id="102" dur="1" fill="hold">
                                          <p:stCondLst>
                                            <p:cond delay="0"/>
                                          </p:stCondLst>
                                        </p:cTn>
                                        <p:tgtEl>
                                          <p:spTgt spid="1250"/>
                                        </p:tgtEl>
                                        <p:attrNameLst>
                                          <p:attrName>style.visibility</p:attrName>
                                        </p:attrNameLst>
                                      </p:cBhvr>
                                      <p:to>
                                        <p:strVal val="visible"/>
                                      </p:to>
                                    </p:set>
                                    <p:animEffect transition="in" filter="fade">
                                      <p:cBhvr>
                                        <p:cTn id="103" dur="1000"/>
                                        <p:tgtEl>
                                          <p:spTgt spid="1250"/>
                                        </p:tgtEl>
                                      </p:cBhvr>
                                    </p:animEffect>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nodeType="clickEffect">
                                  <p:stCondLst>
                                    <p:cond delay="0"/>
                                  </p:stCondLst>
                                  <p:childTnLst>
                                    <p:set>
                                      <p:cBhvr>
                                        <p:cTn id="107" dur="1" fill="hold">
                                          <p:stCondLst>
                                            <p:cond delay="0"/>
                                          </p:stCondLst>
                                        </p:cTn>
                                        <p:tgtEl>
                                          <p:spTgt spid="1269"/>
                                        </p:tgtEl>
                                        <p:attrNameLst>
                                          <p:attrName>style.visibility</p:attrName>
                                        </p:attrNameLst>
                                      </p:cBhvr>
                                      <p:to>
                                        <p:strVal val="visible"/>
                                      </p:to>
                                    </p:set>
                                    <p:anim calcmode="lin" valueType="num">
                                      <p:cBhvr additive="base">
                                        <p:cTn id="108" dur="500"/>
                                        <p:tgtEl>
                                          <p:spTgt spid="1269"/>
                                        </p:tgtEl>
                                        <p:attrNameLst>
                                          <p:attrName>ppt_y</p:attrName>
                                        </p:attrNameLst>
                                      </p:cBhvr>
                                      <p:tavLst>
                                        <p:tav tm="0">
                                          <p:val>
                                            <p:strVal val="#ppt_y+1"/>
                                          </p:val>
                                        </p:tav>
                                        <p:tav tm="100000">
                                          <p:val>
                                            <p:strVal val="#ppt_y"/>
                                          </p:val>
                                        </p:tav>
                                      </p:tavLst>
                                    </p:anim>
                                  </p:childTnLst>
                                </p:cTn>
                              </p:par>
                            </p:childTnLst>
                          </p:cTn>
                        </p:par>
                      </p:childTnLst>
                    </p:cTn>
                  </p:par>
                  <p:par>
                    <p:cTn id="109" fill="hold">
                      <p:stCondLst>
                        <p:cond delay="indefinite"/>
                      </p:stCondLst>
                      <p:childTnLst>
                        <p:par>
                          <p:cTn id="110" fill="hold">
                            <p:stCondLst>
                              <p:cond delay="0"/>
                            </p:stCondLst>
                            <p:childTnLst>
                              <p:par>
                                <p:cTn id="111" presetID="1" presetClass="entr" presetSubtype="0" fill="hold" nodeType="clickEffect">
                                  <p:stCondLst>
                                    <p:cond delay="0"/>
                                  </p:stCondLst>
                                  <p:childTnLst>
                                    <p:set>
                                      <p:cBhvr>
                                        <p:cTn id="112" dur="1" fill="hold">
                                          <p:stCondLst>
                                            <p:cond delay="0"/>
                                          </p:stCondLst>
                                        </p:cTn>
                                        <p:tgtEl>
                                          <p:spTgt spid="1263"/>
                                        </p:tgtEl>
                                        <p:attrNameLst>
                                          <p:attrName>style.visibility</p:attrName>
                                        </p:attrNameLst>
                                      </p:cBhvr>
                                      <p:to>
                                        <p:strVal val="visible"/>
                                      </p:to>
                                    </p:set>
                                  </p:childTnLst>
                                </p:cTn>
                              </p:par>
                            </p:childTnLst>
                          </p:cTn>
                        </p:par>
                      </p:childTnLst>
                    </p:cTn>
                  </p:par>
                  <p:par>
                    <p:cTn id="113" fill="hold">
                      <p:stCondLst>
                        <p:cond delay="indefinite"/>
                      </p:stCondLst>
                      <p:childTnLst>
                        <p:par>
                          <p:cTn id="114" fill="hold">
                            <p:stCondLst>
                              <p:cond delay="0"/>
                            </p:stCondLst>
                            <p:childTnLst>
                              <p:par>
                                <p:cTn id="115" presetID="10" presetClass="entr" presetSubtype="0" fill="hold" nodeType="clickEffect">
                                  <p:stCondLst>
                                    <p:cond delay="0"/>
                                  </p:stCondLst>
                                  <p:childTnLst>
                                    <p:set>
                                      <p:cBhvr>
                                        <p:cTn id="116" dur="1" fill="hold">
                                          <p:stCondLst>
                                            <p:cond delay="0"/>
                                          </p:stCondLst>
                                        </p:cTn>
                                        <p:tgtEl>
                                          <p:spTgt spid="1257"/>
                                        </p:tgtEl>
                                        <p:attrNameLst>
                                          <p:attrName>style.visibility</p:attrName>
                                        </p:attrNameLst>
                                      </p:cBhvr>
                                      <p:to>
                                        <p:strVal val="visible"/>
                                      </p:to>
                                    </p:set>
                                    <p:animEffect transition="in" filter="fade">
                                      <p:cBhvr>
                                        <p:cTn id="117" dur="1000"/>
                                        <p:tgtEl>
                                          <p:spTgt spid="1257"/>
                                        </p:tgtEl>
                                      </p:cBhvr>
                                    </p:animEffect>
                                  </p:childTnLst>
                                </p:cTn>
                              </p:par>
                            </p:childTnLst>
                          </p:cTn>
                        </p:par>
                      </p:childTnLst>
                    </p:cTn>
                  </p:par>
                  <p:par>
                    <p:cTn id="118" fill="hold">
                      <p:stCondLst>
                        <p:cond delay="indefinite"/>
                      </p:stCondLst>
                      <p:childTnLst>
                        <p:par>
                          <p:cTn id="119" fill="hold">
                            <p:stCondLst>
                              <p:cond delay="0"/>
                            </p:stCondLst>
                            <p:childTnLst>
                              <p:par>
                                <p:cTn id="120" presetID="2" presetClass="entr" presetSubtype="4" fill="hold" nodeType="clickEffect">
                                  <p:stCondLst>
                                    <p:cond delay="0"/>
                                  </p:stCondLst>
                                  <p:childTnLst>
                                    <p:set>
                                      <p:cBhvr>
                                        <p:cTn id="121" dur="1" fill="hold">
                                          <p:stCondLst>
                                            <p:cond delay="0"/>
                                          </p:stCondLst>
                                        </p:cTn>
                                        <p:tgtEl>
                                          <p:spTgt spid="1270"/>
                                        </p:tgtEl>
                                        <p:attrNameLst>
                                          <p:attrName>style.visibility</p:attrName>
                                        </p:attrNameLst>
                                      </p:cBhvr>
                                      <p:to>
                                        <p:strVal val="visible"/>
                                      </p:to>
                                    </p:set>
                                    <p:anim calcmode="lin" valueType="num">
                                      <p:cBhvr additive="base">
                                        <p:cTn id="122" dur="500"/>
                                        <p:tgtEl>
                                          <p:spTgt spid="1270"/>
                                        </p:tgtEl>
                                        <p:attrNameLst>
                                          <p:attrName>ppt_y</p:attrName>
                                        </p:attrNameLst>
                                      </p:cBhvr>
                                      <p:tavLst>
                                        <p:tav tm="0">
                                          <p:val>
                                            <p:strVal val="#ppt_y+1"/>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264"/>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1258"/>
                                        </p:tgtEl>
                                        <p:attrNameLst>
                                          <p:attrName>style.visibility</p:attrName>
                                        </p:attrNameLst>
                                      </p:cBhvr>
                                      <p:to>
                                        <p:strVal val="visible"/>
                                      </p:to>
                                    </p:set>
                                    <p:animEffect transition="in" filter="fade">
                                      <p:cBhvr>
                                        <p:cTn id="131" dur="1000"/>
                                        <p:tgtEl>
                                          <p:spTgt spid="1258"/>
                                        </p:tgtEl>
                                      </p:cBhvr>
                                    </p:animEffect>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nodeType="clickEffect">
                                  <p:stCondLst>
                                    <p:cond delay="0"/>
                                  </p:stCondLst>
                                  <p:childTnLst>
                                    <p:set>
                                      <p:cBhvr>
                                        <p:cTn id="135" dur="1" fill="hold">
                                          <p:stCondLst>
                                            <p:cond delay="0"/>
                                          </p:stCondLst>
                                        </p:cTn>
                                        <p:tgtEl>
                                          <p:spTgt spid="1271"/>
                                        </p:tgtEl>
                                        <p:attrNameLst>
                                          <p:attrName>style.visibility</p:attrName>
                                        </p:attrNameLst>
                                      </p:cBhvr>
                                      <p:to>
                                        <p:strVal val="visible"/>
                                      </p:to>
                                    </p:set>
                                    <p:anim calcmode="lin" valueType="num">
                                      <p:cBhvr additive="base">
                                        <p:cTn id="136" dur="500"/>
                                        <p:tgtEl>
                                          <p:spTgt spid="1271"/>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10" presetClass="entr" presetSubtype="0" fill="hold" nodeType="clickEffect">
                                  <p:stCondLst>
                                    <p:cond delay="0"/>
                                  </p:stCondLst>
                                  <p:childTnLst>
                                    <p:set>
                                      <p:cBhvr>
                                        <p:cTn id="140" dur="1" fill="hold">
                                          <p:stCondLst>
                                            <p:cond delay="0"/>
                                          </p:stCondLst>
                                        </p:cTn>
                                        <p:tgtEl>
                                          <p:spTgt spid="1241"/>
                                        </p:tgtEl>
                                        <p:attrNameLst>
                                          <p:attrName>style.visibility</p:attrName>
                                        </p:attrNameLst>
                                      </p:cBhvr>
                                      <p:to>
                                        <p:strVal val="visible"/>
                                      </p:to>
                                    </p:set>
                                    <p:animEffect transition="in" filter="fade">
                                      <p:cBhvr>
                                        <p:cTn id="141" dur="1000"/>
                                        <p:tgtEl>
                                          <p:spTgt spid="1241"/>
                                        </p:tgtEl>
                                      </p:cBhvr>
                                    </p:animEffect>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1242"/>
                                        </p:tgtEl>
                                        <p:attrNameLst>
                                          <p:attrName>style.visibility</p:attrName>
                                        </p:attrNameLst>
                                      </p:cBhvr>
                                      <p:to>
                                        <p:strVal val="visible"/>
                                      </p:to>
                                    </p:set>
                                    <p:animEffect transition="in" filter="fade">
                                      <p:cBhvr>
                                        <p:cTn id="146" dur="1000"/>
                                        <p:tgtEl>
                                          <p:spTgt spid="1242"/>
                                        </p:tgtEl>
                                      </p:cBhvr>
                                    </p:animEffect>
                                  </p:childTnLst>
                                </p:cTn>
                              </p:par>
                            </p:childTnLst>
                          </p:cTn>
                        </p:par>
                      </p:childTnLst>
                    </p:cTn>
                  </p:par>
                  <p:par>
                    <p:cTn id="147" fill="hold">
                      <p:stCondLst>
                        <p:cond delay="indefinite"/>
                      </p:stCondLst>
                      <p:childTnLst>
                        <p:par>
                          <p:cTn id="148" fill="hold">
                            <p:stCondLst>
                              <p:cond delay="0"/>
                            </p:stCondLst>
                            <p:childTnLst>
                              <p:par>
                                <p:cTn id="149" presetID="10" presetClass="entr" presetSubtype="0" fill="hold" nodeType="clickEffect">
                                  <p:stCondLst>
                                    <p:cond delay="0"/>
                                  </p:stCondLst>
                                  <p:childTnLst>
                                    <p:set>
                                      <p:cBhvr>
                                        <p:cTn id="150" dur="1" fill="hold">
                                          <p:stCondLst>
                                            <p:cond delay="0"/>
                                          </p:stCondLst>
                                        </p:cTn>
                                        <p:tgtEl>
                                          <p:spTgt spid="1243"/>
                                        </p:tgtEl>
                                        <p:attrNameLst>
                                          <p:attrName>style.visibility</p:attrName>
                                        </p:attrNameLst>
                                      </p:cBhvr>
                                      <p:to>
                                        <p:strVal val="visible"/>
                                      </p:to>
                                    </p:set>
                                    <p:animEffect transition="in" filter="fade">
                                      <p:cBhvr>
                                        <p:cTn id="151" dur="1000"/>
                                        <p:tgtEl>
                                          <p:spTgt spid="1243"/>
                                        </p:tgtEl>
                                      </p:cBhvr>
                                    </p:animEffect>
                                  </p:childTnLst>
                                </p:cTn>
                              </p:par>
                            </p:childTnLst>
                          </p:cTn>
                        </p:par>
                      </p:childTnLst>
                    </p:cTn>
                  </p:par>
                  <p:par>
                    <p:cTn id="152" fill="hold">
                      <p:stCondLst>
                        <p:cond delay="indefinite"/>
                      </p:stCondLst>
                      <p:childTnLst>
                        <p:par>
                          <p:cTn id="153" fill="hold">
                            <p:stCondLst>
                              <p:cond delay="0"/>
                            </p:stCondLst>
                            <p:childTnLst>
                              <p:par>
                                <p:cTn id="154" presetID="10" presetClass="entr" presetSubtype="0" fill="hold" nodeType="clickEffect">
                                  <p:stCondLst>
                                    <p:cond delay="0"/>
                                  </p:stCondLst>
                                  <p:childTnLst>
                                    <p:set>
                                      <p:cBhvr>
                                        <p:cTn id="155" dur="1" fill="hold">
                                          <p:stCondLst>
                                            <p:cond delay="0"/>
                                          </p:stCondLst>
                                        </p:cTn>
                                        <p:tgtEl>
                                          <p:spTgt spid="1244"/>
                                        </p:tgtEl>
                                        <p:attrNameLst>
                                          <p:attrName>style.visibility</p:attrName>
                                        </p:attrNameLst>
                                      </p:cBhvr>
                                      <p:to>
                                        <p:strVal val="visible"/>
                                      </p:to>
                                    </p:set>
                                    <p:animEffect transition="in" filter="fade">
                                      <p:cBhvr>
                                        <p:cTn id="156" dur="1000"/>
                                        <p:tgtEl>
                                          <p:spTgt spid="1244"/>
                                        </p:tgtEl>
                                      </p:cBhvr>
                                    </p:animEffect>
                                  </p:childTnLst>
                                </p:cTn>
                              </p:par>
                            </p:childTnLst>
                          </p:cTn>
                        </p:par>
                      </p:childTnLst>
                    </p:cTn>
                  </p:par>
                  <p:par>
                    <p:cTn id="157" fill="hold">
                      <p:stCondLst>
                        <p:cond delay="indefinite"/>
                      </p:stCondLst>
                      <p:childTnLst>
                        <p:par>
                          <p:cTn id="158" fill="hold">
                            <p:stCondLst>
                              <p:cond delay="0"/>
                            </p:stCondLst>
                            <p:childTnLst>
                              <p:par>
                                <p:cTn id="159" presetID="10" presetClass="entr" presetSubtype="0" fill="hold" nodeType="clickEffect">
                                  <p:stCondLst>
                                    <p:cond delay="0"/>
                                  </p:stCondLst>
                                  <p:childTnLst>
                                    <p:set>
                                      <p:cBhvr>
                                        <p:cTn id="160" dur="1" fill="hold">
                                          <p:stCondLst>
                                            <p:cond delay="0"/>
                                          </p:stCondLst>
                                        </p:cTn>
                                        <p:tgtEl>
                                          <p:spTgt spid="1245"/>
                                        </p:tgtEl>
                                        <p:attrNameLst>
                                          <p:attrName>style.visibility</p:attrName>
                                        </p:attrNameLst>
                                      </p:cBhvr>
                                      <p:to>
                                        <p:strVal val="visible"/>
                                      </p:to>
                                    </p:set>
                                    <p:animEffect transition="in" filter="fade">
                                      <p:cBhvr>
                                        <p:cTn id="161" dur="1000"/>
                                        <p:tgtEl>
                                          <p:spTgt spid="1245"/>
                                        </p:tgtEl>
                                      </p:cBhvr>
                                    </p:animEffect>
                                  </p:childTnLst>
                                </p:cTn>
                              </p:par>
                            </p:childTnLst>
                          </p:cTn>
                        </p:par>
                      </p:childTnLst>
                    </p:cTn>
                  </p:par>
                  <p:par>
                    <p:cTn id="162" fill="hold">
                      <p:stCondLst>
                        <p:cond delay="indefinite"/>
                      </p:stCondLst>
                      <p:childTnLst>
                        <p:par>
                          <p:cTn id="163" fill="hold">
                            <p:stCondLst>
                              <p:cond delay="0"/>
                            </p:stCondLst>
                            <p:childTnLst>
                              <p:par>
                                <p:cTn id="164" presetID="10" presetClass="entr" presetSubtype="0" fill="hold" nodeType="clickEffect">
                                  <p:stCondLst>
                                    <p:cond delay="0"/>
                                  </p:stCondLst>
                                  <p:childTnLst>
                                    <p:set>
                                      <p:cBhvr>
                                        <p:cTn id="165" dur="1" fill="hold">
                                          <p:stCondLst>
                                            <p:cond delay="0"/>
                                          </p:stCondLst>
                                        </p:cTn>
                                        <p:tgtEl>
                                          <p:spTgt spid="1254"/>
                                        </p:tgtEl>
                                        <p:attrNameLst>
                                          <p:attrName>style.visibility</p:attrName>
                                        </p:attrNameLst>
                                      </p:cBhvr>
                                      <p:to>
                                        <p:strVal val="visible"/>
                                      </p:to>
                                    </p:set>
                                    <p:animEffect transition="in" filter="fade">
                                      <p:cBhvr>
                                        <p:cTn id="166" dur="1000"/>
                                        <p:tgtEl>
                                          <p:spTgt spid="1254"/>
                                        </p:tgtEl>
                                      </p:cBhvr>
                                    </p:animEffect>
                                  </p:childTnLst>
                                </p:cTn>
                              </p:par>
                            </p:childTnLst>
                          </p:cTn>
                        </p:par>
                      </p:childTnLst>
                    </p:cTn>
                  </p:par>
                  <p:par>
                    <p:cTn id="167" fill="hold">
                      <p:stCondLst>
                        <p:cond delay="indefinite"/>
                      </p:stCondLst>
                      <p:childTnLst>
                        <p:par>
                          <p:cTn id="168" fill="hold">
                            <p:stCondLst>
                              <p:cond delay="0"/>
                            </p:stCondLst>
                            <p:childTnLst>
                              <p:par>
                                <p:cTn id="169" presetID="10" presetClass="entr" presetSubtype="0" fill="hold" nodeType="clickEffect">
                                  <p:stCondLst>
                                    <p:cond delay="0"/>
                                  </p:stCondLst>
                                  <p:childTnLst>
                                    <p:set>
                                      <p:cBhvr>
                                        <p:cTn id="170" dur="1" fill="hold">
                                          <p:stCondLst>
                                            <p:cond delay="0"/>
                                          </p:stCondLst>
                                        </p:cTn>
                                        <p:tgtEl>
                                          <p:spTgt spid="1251"/>
                                        </p:tgtEl>
                                        <p:attrNameLst>
                                          <p:attrName>style.visibility</p:attrName>
                                        </p:attrNameLst>
                                      </p:cBhvr>
                                      <p:to>
                                        <p:strVal val="visible"/>
                                      </p:to>
                                    </p:set>
                                    <p:animEffect transition="in" filter="fade">
                                      <p:cBhvr>
                                        <p:cTn id="171" dur="1822"/>
                                        <p:tgtEl>
                                          <p:spTgt spid="1251"/>
                                        </p:tgtEl>
                                      </p:cBhvr>
                                    </p:animEffect>
                                  </p:childTnLst>
                                </p:cTn>
                              </p:par>
                            </p:childTnLst>
                          </p:cTn>
                        </p:par>
                      </p:childTnLst>
                    </p:cTn>
                  </p:par>
                  <p:par>
                    <p:cTn id="172" fill="hold">
                      <p:stCondLst>
                        <p:cond delay="indefinite"/>
                      </p:stCondLst>
                      <p:childTnLst>
                        <p:par>
                          <p:cTn id="173" fill="hold">
                            <p:stCondLst>
                              <p:cond delay="0"/>
                            </p:stCondLst>
                            <p:childTnLst>
                              <p:par>
                                <p:cTn id="174" presetID="2" presetClass="entr" presetSubtype="4" fill="hold" nodeType="clickEffect">
                                  <p:stCondLst>
                                    <p:cond delay="0"/>
                                  </p:stCondLst>
                                  <p:childTnLst>
                                    <p:set>
                                      <p:cBhvr>
                                        <p:cTn id="175" dur="1" fill="hold">
                                          <p:stCondLst>
                                            <p:cond delay="0"/>
                                          </p:stCondLst>
                                        </p:cTn>
                                        <p:tgtEl>
                                          <p:spTgt spid="1274"/>
                                        </p:tgtEl>
                                        <p:attrNameLst>
                                          <p:attrName>style.visibility</p:attrName>
                                        </p:attrNameLst>
                                      </p:cBhvr>
                                      <p:to>
                                        <p:strVal val="visible"/>
                                      </p:to>
                                    </p:set>
                                    <p:anim calcmode="lin" valueType="num">
                                      <p:cBhvr additive="base">
                                        <p:cTn id="176" dur="500"/>
                                        <p:tgtEl>
                                          <p:spTgt spid="12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80"/>
        <p:cNvGrpSpPr/>
        <p:nvPr/>
      </p:nvGrpSpPr>
      <p:grpSpPr>
        <a:xfrm>
          <a:off x="0" y="0"/>
          <a:ext cx="0" cy="0"/>
          <a:chOff x="0" y="0"/>
          <a:chExt cx="0" cy="0"/>
        </a:xfrm>
      </p:grpSpPr>
      <p:sp>
        <p:nvSpPr>
          <p:cNvPr id="1281" name="Google Shape;1281;p131"/>
          <p:cNvSpPr/>
          <p:nvPr/>
        </p:nvSpPr>
        <p:spPr>
          <a:xfrm>
            <a:off x="506506" y="2348628"/>
            <a:ext cx="8132455" cy="1722038"/>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82" name="Google Shape;1282;p131"/>
          <p:cNvSpPr txBox="1">
            <a:spLocks noGrp="1"/>
          </p:cNvSpPr>
          <p:nvPr>
            <p:ph type="title"/>
          </p:nvPr>
        </p:nvSpPr>
        <p:spPr>
          <a:xfrm>
            <a:off x="533400" y="39557"/>
            <a:ext cx="7092315" cy="51371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3200" b="0"/>
              <a:t> </a:t>
            </a:r>
            <a:r>
              <a:rPr lang="fr-FR" sz="2800" u="sng">
                <a:solidFill>
                  <a:srgbClr val="000000"/>
                </a:solidFill>
              </a:rPr>
              <a:t>SRTF (temps restant le plus court d'abord)</a:t>
            </a:r>
            <a:endParaRPr sz="3200">
              <a:latin typeface="Calibri"/>
              <a:ea typeface="Calibri"/>
              <a:cs typeface="Calibri"/>
              <a:sym typeface="Calibri"/>
            </a:endParaRPr>
          </a:p>
        </p:txBody>
      </p:sp>
      <p:sp>
        <p:nvSpPr>
          <p:cNvPr id="1283" name="Google Shape;1283;p131"/>
          <p:cNvSpPr/>
          <p:nvPr/>
        </p:nvSpPr>
        <p:spPr>
          <a:xfrm>
            <a:off x="990600" y="3362325"/>
            <a:ext cx="0" cy="604520"/>
          </a:xfrm>
          <a:custGeom>
            <a:avLst/>
            <a:gdLst/>
            <a:ahLst/>
            <a:cxnLst/>
            <a:rect l="l" t="t" r="r" b="b"/>
            <a:pathLst>
              <a:path w="120000" h="604520" extrusionOk="0">
                <a:moveTo>
                  <a:pt x="0" y="0"/>
                </a:moveTo>
                <a:lnTo>
                  <a:pt x="0" y="60452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84" name="Google Shape;1284;p131"/>
          <p:cNvSpPr/>
          <p:nvPr/>
        </p:nvSpPr>
        <p:spPr>
          <a:xfrm>
            <a:off x="984250" y="3947795"/>
            <a:ext cx="546100" cy="0"/>
          </a:xfrm>
          <a:custGeom>
            <a:avLst/>
            <a:gdLst/>
            <a:ahLst/>
            <a:cxnLst/>
            <a:rect l="l" t="t" r="r" b="b"/>
            <a:pathLst>
              <a:path w="546100" h="120000" extrusionOk="0">
                <a:moveTo>
                  <a:pt x="0" y="0"/>
                </a:moveTo>
                <a:lnTo>
                  <a:pt x="546100" y="0"/>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85" name="Google Shape;1285;p131"/>
          <p:cNvSpPr/>
          <p:nvPr/>
        </p:nvSpPr>
        <p:spPr>
          <a:xfrm>
            <a:off x="778764" y="6359652"/>
            <a:ext cx="1066799" cy="441959"/>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86" name="Google Shape;1286;p131"/>
          <p:cNvSpPr/>
          <p:nvPr/>
        </p:nvSpPr>
        <p:spPr>
          <a:xfrm>
            <a:off x="150876" y="3396996"/>
            <a:ext cx="841247" cy="445007"/>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aphicFrame>
        <p:nvGraphicFramePr>
          <p:cNvPr id="1287" name="Google Shape;1287;p131"/>
          <p:cNvGraphicFramePr/>
          <p:nvPr/>
        </p:nvGraphicFramePr>
        <p:xfrm>
          <a:off x="533400" y="668370"/>
          <a:ext cx="7681600" cy="1588507"/>
        </p:xfrm>
        <a:graphic>
          <a:graphicData uri="http://schemas.openxmlformats.org/drawingml/2006/table">
            <a:tbl>
              <a:tblPr firstRow="1" bandRow="1">
                <a:noFill/>
              </a:tblPr>
              <a:tblGrid>
                <a:gridCol w="109727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097275">
                  <a:extLst>
                    <a:ext uri="{9D8B030D-6E8A-4147-A177-3AD203B41FA5}">
                      <a16:colId xmlns:a16="http://schemas.microsoft.com/office/drawing/2014/main" val="20002"/>
                    </a:ext>
                  </a:extLst>
                </a:gridCol>
                <a:gridCol w="1096000">
                  <a:extLst>
                    <a:ext uri="{9D8B030D-6E8A-4147-A177-3AD203B41FA5}">
                      <a16:colId xmlns:a16="http://schemas.microsoft.com/office/drawing/2014/main" val="20003"/>
                    </a:ext>
                  </a:extLst>
                </a:gridCol>
                <a:gridCol w="1097925">
                  <a:extLst>
                    <a:ext uri="{9D8B030D-6E8A-4147-A177-3AD203B41FA5}">
                      <a16:colId xmlns:a16="http://schemas.microsoft.com/office/drawing/2014/main" val="20004"/>
                    </a:ext>
                  </a:extLst>
                </a:gridCol>
                <a:gridCol w="1097925">
                  <a:extLst>
                    <a:ext uri="{9D8B030D-6E8A-4147-A177-3AD203B41FA5}">
                      <a16:colId xmlns:a16="http://schemas.microsoft.com/office/drawing/2014/main" val="20005"/>
                    </a:ext>
                  </a:extLst>
                </a:gridCol>
                <a:gridCol w="1097925">
                  <a:extLst>
                    <a:ext uri="{9D8B030D-6E8A-4147-A177-3AD203B41FA5}">
                      <a16:colId xmlns:a16="http://schemas.microsoft.com/office/drawing/2014/main" val="20006"/>
                    </a:ext>
                  </a:extLst>
                </a:gridCol>
              </a:tblGrid>
              <a:tr h="487675">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Process</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469265" lvl="0" indent="0" algn="l" rtl="0">
                        <a:lnSpc>
                          <a:spcPct val="1193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Arrival  time</a:t>
                      </a:r>
                      <a:endParaRPr sz="1600" u="none" strike="noStrike" cap="none">
                        <a:latin typeface="Arial"/>
                        <a:ea typeface="Arial"/>
                        <a:cs typeface="Arial"/>
                        <a:sym typeface="Arial"/>
                      </a:endParaRPr>
                    </a:p>
                  </a:txBody>
                  <a:tcPr marL="0" marR="0" marT="38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r>
                        <a:rPr lang="fr-FR" sz="1575" u="none" strike="noStrike" cap="none" baseline="30000">
                          <a:solidFill>
                            <a:srgbClr val="AA5816"/>
                          </a:solidFill>
                          <a:latin typeface="Arial"/>
                          <a:ea typeface="Arial"/>
                          <a:cs typeface="Arial"/>
                          <a:sym typeface="Arial"/>
                        </a:rPr>
                        <a:t>st </a:t>
                      </a:r>
                      <a:r>
                        <a:rPr lang="fr-FR" sz="1600" u="none" strike="noStrike" cap="none">
                          <a:solidFill>
                            <a:srgbClr val="AA5816"/>
                          </a:solidFill>
                          <a:latin typeface="Arial"/>
                          <a:ea typeface="Arial"/>
                          <a:cs typeface="Arial"/>
                          <a:sym typeface="Arial"/>
                        </a:rPr>
                        <a:t>exc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tc>
                  <a:txBody>
                    <a:bodyPr/>
                    <a:lstStyle/>
                    <a:p>
                      <a:pPr marL="0" marR="498475" lvl="0" indent="0" algn="r"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1</a:t>
                      </a:r>
                      <a:r>
                        <a:rPr lang="fr-FR" sz="1575" u="none" strike="noStrike" cap="none" baseline="30000">
                          <a:solidFill>
                            <a:srgbClr val="FFFFFF"/>
                          </a:solidFill>
                          <a:latin typeface="Arial"/>
                          <a:ea typeface="Arial"/>
                          <a:cs typeface="Arial"/>
                          <a:sym typeface="Arial"/>
                        </a:rPr>
                        <a:t>st </a:t>
                      </a:r>
                      <a:r>
                        <a:rPr lang="fr-FR" sz="1600" u="none" strike="noStrike" cap="none">
                          <a:solidFill>
                            <a:srgbClr val="FFFFFF"/>
                          </a:solidFill>
                          <a:latin typeface="Arial"/>
                          <a:ea typeface="Arial"/>
                          <a:cs typeface="Arial"/>
                          <a:sym typeface="Arial"/>
                        </a:rPr>
                        <a:t>I/O</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2</a:t>
                      </a:r>
                      <a:r>
                        <a:rPr lang="fr-FR" sz="1575" u="none" strike="noStrike" cap="none" baseline="30000">
                          <a:solidFill>
                            <a:srgbClr val="AA5816"/>
                          </a:solidFill>
                          <a:latin typeface="Arial"/>
                          <a:ea typeface="Arial"/>
                          <a:cs typeface="Arial"/>
                          <a:sym typeface="Arial"/>
                        </a:rPr>
                        <a:t>nd </a:t>
                      </a:r>
                      <a:r>
                        <a:rPr lang="fr-FR" sz="1600" u="none" strike="noStrike" cap="none">
                          <a:solidFill>
                            <a:srgbClr val="AA5816"/>
                          </a:solidFill>
                          <a:latin typeface="Arial"/>
                          <a:ea typeface="Arial"/>
                          <a:cs typeface="Arial"/>
                          <a:sym typeface="Arial"/>
                        </a:rPr>
                        <a:t>exc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tc>
                  <a:txBody>
                    <a:bodyPr/>
                    <a:lstStyle/>
                    <a:p>
                      <a:pPr marL="0" marR="457200" lvl="0" indent="0" algn="r"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2</a:t>
                      </a:r>
                      <a:r>
                        <a:rPr lang="fr-FR" sz="1575" u="none" strike="noStrike" cap="none" baseline="30000">
                          <a:solidFill>
                            <a:srgbClr val="FFFFFF"/>
                          </a:solidFill>
                          <a:latin typeface="Arial"/>
                          <a:ea typeface="Arial"/>
                          <a:cs typeface="Arial"/>
                          <a:sym typeface="Arial"/>
                        </a:rPr>
                        <a:t>nd </a:t>
                      </a:r>
                      <a:r>
                        <a:rPr lang="fr-FR" sz="1600" u="none" strike="noStrike" cap="none">
                          <a:solidFill>
                            <a:srgbClr val="FFFFFF"/>
                          </a:solidFill>
                          <a:latin typeface="Arial"/>
                          <a:ea typeface="Arial"/>
                          <a:cs typeface="Arial"/>
                          <a:sym typeface="Arial"/>
                        </a:rPr>
                        <a:t>I/O</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3815"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3</a:t>
                      </a:r>
                      <a:r>
                        <a:rPr lang="fr-FR" sz="1575" u="none" strike="noStrike" cap="none" baseline="30000">
                          <a:solidFill>
                            <a:srgbClr val="AA5816"/>
                          </a:solidFill>
                          <a:latin typeface="Arial"/>
                          <a:ea typeface="Arial"/>
                          <a:cs typeface="Arial"/>
                          <a:sym typeface="Arial"/>
                        </a:rPr>
                        <a:t>rd </a:t>
                      </a:r>
                      <a:r>
                        <a:rPr lang="fr-FR" sz="1600" u="none" strike="noStrike" cap="none">
                          <a:solidFill>
                            <a:srgbClr val="AA5816"/>
                          </a:solidFill>
                          <a:latin typeface="Arial"/>
                          <a:ea typeface="Arial"/>
                          <a:cs typeface="Arial"/>
                          <a:sym typeface="Arial"/>
                        </a:rPr>
                        <a:t>exc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extLst>
                  <a:ext uri="{0D108BD9-81ED-4DB2-BD59-A6C34878D82A}">
                    <a16:rowId xmlns:a16="http://schemas.microsoft.com/office/drawing/2014/main" val="10000"/>
                  </a:ext>
                </a:extLst>
              </a:tr>
              <a:tr h="242575">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0</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0504D"/>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0504D"/>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extLst>
                  <a:ext uri="{0D108BD9-81ED-4DB2-BD59-A6C34878D82A}">
                    <a16:rowId xmlns:a16="http://schemas.microsoft.com/office/drawing/2014/main" val="10001"/>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B</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8</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8</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506094"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extLst>
                  <a:ext uri="{0D108BD9-81ED-4DB2-BD59-A6C34878D82A}">
                    <a16:rowId xmlns:a16="http://schemas.microsoft.com/office/drawing/2014/main" val="10002"/>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3</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506094"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extLst>
                  <a:ext uri="{0D108BD9-81ED-4DB2-BD59-A6C34878D82A}">
                    <a16:rowId xmlns:a16="http://schemas.microsoft.com/office/drawing/2014/main" val="10003"/>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D</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7</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extLst>
                  <a:ext uri="{0D108BD9-81ED-4DB2-BD59-A6C34878D82A}">
                    <a16:rowId xmlns:a16="http://schemas.microsoft.com/office/drawing/2014/main" val="10004"/>
                  </a:ext>
                </a:extLst>
              </a:tr>
            </a:tbl>
          </a:graphicData>
        </a:graphic>
      </p:graphicFrame>
      <p:sp>
        <p:nvSpPr>
          <p:cNvPr id="1288" name="Google Shape;1288;p131"/>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48</a:t>
            </a:fld>
            <a:endParaRPr/>
          </a:p>
        </p:txBody>
      </p:sp>
      <p:graphicFrame>
        <p:nvGraphicFramePr>
          <p:cNvPr id="1289" name="Google Shape;1289;p131"/>
          <p:cNvGraphicFramePr/>
          <p:nvPr/>
        </p:nvGraphicFramePr>
        <p:xfrm>
          <a:off x="71562" y="4173409"/>
          <a:ext cx="9013050" cy="2554380"/>
        </p:xfrm>
        <a:graphic>
          <a:graphicData uri="http://schemas.openxmlformats.org/drawingml/2006/table">
            <a:tbl>
              <a:tblPr>
                <a:noFill/>
              </a:tblPr>
              <a:tblGrid>
                <a:gridCol w="551850">
                  <a:extLst>
                    <a:ext uri="{9D8B030D-6E8A-4147-A177-3AD203B41FA5}">
                      <a16:colId xmlns:a16="http://schemas.microsoft.com/office/drawing/2014/main" val="20000"/>
                    </a:ext>
                  </a:extLst>
                </a:gridCol>
                <a:gridCol w="562675">
                  <a:extLst>
                    <a:ext uri="{9D8B030D-6E8A-4147-A177-3AD203B41FA5}">
                      <a16:colId xmlns:a16="http://schemas.microsoft.com/office/drawing/2014/main" val="20001"/>
                    </a:ext>
                  </a:extLst>
                </a:gridCol>
                <a:gridCol w="513475">
                  <a:extLst>
                    <a:ext uri="{9D8B030D-6E8A-4147-A177-3AD203B41FA5}">
                      <a16:colId xmlns:a16="http://schemas.microsoft.com/office/drawing/2014/main" val="20002"/>
                    </a:ext>
                  </a:extLst>
                </a:gridCol>
                <a:gridCol w="513475">
                  <a:extLst>
                    <a:ext uri="{9D8B030D-6E8A-4147-A177-3AD203B41FA5}">
                      <a16:colId xmlns:a16="http://schemas.microsoft.com/office/drawing/2014/main" val="20003"/>
                    </a:ext>
                  </a:extLst>
                </a:gridCol>
                <a:gridCol w="513475">
                  <a:extLst>
                    <a:ext uri="{9D8B030D-6E8A-4147-A177-3AD203B41FA5}">
                      <a16:colId xmlns:a16="http://schemas.microsoft.com/office/drawing/2014/main" val="20004"/>
                    </a:ext>
                  </a:extLst>
                </a:gridCol>
                <a:gridCol w="513475">
                  <a:extLst>
                    <a:ext uri="{9D8B030D-6E8A-4147-A177-3AD203B41FA5}">
                      <a16:colId xmlns:a16="http://schemas.microsoft.com/office/drawing/2014/main" val="20005"/>
                    </a:ext>
                  </a:extLst>
                </a:gridCol>
                <a:gridCol w="513475">
                  <a:extLst>
                    <a:ext uri="{9D8B030D-6E8A-4147-A177-3AD203B41FA5}">
                      <a16:colId xmlns:a16="http://schemas.microsoft.com/office/drawing/2014/main" val="20006"/>
                    </a:ext>
                  </a:extLst>
                </a:gridCol>
                <a:gridCol w="513475">
                  <a:extLst>
                    <a:ext uri="{9D8B030D-6E8A-4147-A177-3AD203B41FA5}">
                      <a16:colId xmlns:a16="http://schemas.microsoft.com/office/drawing/2014/main" val="20007"/>
                    </a:ext>
                  </a:extLst>
                </a:gridCol>
                <a:gridCol w="513475">
                  <a:extLst>
                    <a:ext uri="{9D8B030D-6E8A-4147-A177-3AD203B41FA5}">
                      <a16:colId xmlns:a16="http://schemas.microsoft.com/office/drawing/2014/main" val="20008"/>
                    </a:ext>
                  </a:extLst>
                </a:gridCol>
                <a:gridCol w="513475">
                  <a:extLst>
                    <a:ext uri="{9D8B030D-6E8A-4147-A177-3AD203B41FA5}">
                      <a16:colId xmlns:a16="http://schemas.microsoft.com/office/drawing/2014/main" val="20009"/>
                    </a:ext>
                  </a:extLst>
                </a:gridCol>
                <a:gridCol w="513475">
                  <a:extLst>
                    <a:ext uri="{9D8B030D-6E8A-4147-A177-3AD203B41FA5}">
                      <a16:colId xmlns:a16="http://schemas.microsoft.com/office/drawing/2014/main" val="20010"/>
                    </a:ext>
                  </a:extLst>
                </a:gridCol>
                <a:gridCol w="513475">
                  <a:extLst>
                    <a:ext uri="{9D8B030D-6E8A-4147-A177-3AD203B41FA5}">
                      <a16:colId xmlns:a16="http://schemas.microsoft.com/office/drawing/2014/main" val="20011"/>
                    </a:ext>
                  </a:extLst>
                </a:gridCol>
                <a:gridCol w="513475">
                  <a:extLst>
                    <a:ext uri="{9D8B030D-6E8A-4147-A177-3AD203B41FA5}">
                      <a16:colId xmlns:a16="http://schemas.microsoft.com/office/drawing/2014/main" val="20012"/>
                    </a:ext>
                  </a:extLst>
                </a:gridCol>
                <a:gridCol w="513475">
                  <a:extLst>
                    <a:ext uri="{9D8B030D-6E8A-4147-A177-3AD203B41FA5}">
                      <a16:colId xmlns:a16="http://schemas.microsoft.com/office/drawing/2014/main" val="20013"/>
                    </a:ext>
                  </a:extLst>
                </a:gridCol>
                <a:gridCol w="513475">
                  <a:extLst>
                    <a:ext uri="{9D8B030D-6E8A-4147-A177-3AD203B41FA5}">
                      <a16:colId xmlns:a16="http://schemas.microsoft.com/office/drawing/2014/main" val="20014"/>
                    </a:ext>
                  </a:extLst>
                </a:gridCol>
                <a:gridCol w="498950">
                  <a:extLst>
                    <a:ext uri="{9D8B030D-6E8A-4147-A177-3AD203B41FA5}">
                      <a16:colId xmlns:a16="http://schemas.microsoft.com/office/drawing/2014/main" val="20015"/>
                    </a:ext>
                  </a:extLst>
                </a:gridCol>
                <a:gridCol w="724400">
                  <a:extLst>
                    <a:ext uri="{9D8B030D-6E8A-4147-A177-3AD203B41FA5}">
                      <a16:colId xmlns:a16="http://schemas.microsoft.com/office/drawing/2014/main" val="20016"/>
                    </a:ext>
                  </a:extLst>
                </a:gridCol>
              </a:tblGrid>
              <a:tr h="818775">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T=0</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T=6</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T=9</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 11</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fr-FR" sz="1600" u="none" strike="noStrike" cap="none"/>
                        <a:t>12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fr-FR" sz="1600" u="none" strike="noStrike" cap="none"/>
                        <a:t>13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fr-FR" sz="1600" u="none" strike="noStrike" cap="none"/>
                        <a:t>14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fr-FR" sz="1600" u="none" strike="noStrike" cap="none"/>
                        <a:t>16</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fr-FR" sz="1600" u="none" strike="noStrike" cap="none"/>
                        <a:t>20</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T=</a:t>
                      </a:r>
                      <a:endParaRPr sz="1400" u="none" strike="noStrike" cap="none"/>
                    </a:p>
                    <a:p>
                      <a:pPr marL="0" marR="0" lvl="0" indent="0" algn="l" rtl="0">
                        <a:lnSpc>
                          <a:spcPct val="100000"/>
                        </a:lnSpc>
                        <a:spcBef>
                          <a:spcPts val="0"/>
                        </a:spcBef>
                        <a:spcAft>
                          <a:spcPts val="0"/>
                        </a:spcAft>
                        <a:buClr>
                          <a:srgbClr val="000000"/>
                        </a:buClr>
                        <a:buSzPts val="1600"/>
                        <a:buFont typeface="Arial"/>
                        <a:buNone/>
                      </a:pPr>
                      <a:r>
                        <a:rPr lang="fr-FR" sz="1600" u="none" strike="noStrike" cap="none"/>
                        <a:t>23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Arial"/>
                          <a:ea typeface="Arial"/>
                          <a:cs typeface="Arial"/>
                          <a:sym typeface="Arial"/>
                        </a:rPr>
                        <a:t>T=</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Arial"/>
                          <a:ea typeface="Arial"/>
                          <a:cs typeface="Arial"/>
                          <a:sym typeface="Arial"/>
                        </a:rPr>
                        <a:t>24</a:t>
                      </a:r>
                      <a:endParaRPr sz="16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Arial"/>
                          <a:ea typeface="Arial"/>
                          <a:cs typeface="Arial"/>
                          <a:sym typeface="Arial"/>
                        </a:rPr>
                        <a:t>T=27</a:t>
                      </a:r>
                      <a:endParaRPr sz="1600" b="0" i="0" u="none" strike="noStrike" cap="none">
                        <a:solidFill>
                          <a:srgbClr val="000000"/>
                        </a:solidFill>
                        <a:latin typeface="Arial"/>
                        <a:ea typeface="Arial"/>
                        <a:cs typeface="Arial"/>
                        <a:sym typeface="Aria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573150">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endParaRPr sz="1400" u="none" strike="noStrike" cap="none">
                        <a:solidFill>
                          <a:srgbClr val="00B050"/>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r>
                        <a:rPr lang="fr-FR" sz="1600" u="none" strike="noStrike" cap="none">
                          <a:solidFill>
                            <a:srgbClr val="C00000"/>
                          </a:solidFill>
                        </a:rPr>
                        <a: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r>
                        <a:rPr lang="fr-FR" sz="1600" u="none" strike="noStrike" cap="none"/>
                        <a:t> </a:t>
                      </a:r>
                      <a:r>
                        <a:rPr lang="fr-FR" sz="1600" u="none" strike="noStrike" cap="none">
                          <a:solidFill>
                            <a:srgbClr val="C00000"/>
                          </a:solidFill>
                        </a:rPr>
                        <a:t>1</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B</a:t>
                      </a:r>
                      <a:r>
                        <a:rPr lang="fr-FR" sz="1600" u="none" strike="noStrike" cap="none"/>
                        <a:t> </a:t>
                      </a:r>
                      <a:r>
                        <a:rPr lang="fr-FR" sz="1600" u="none" strike="noStrike" cap="none">
                          <a:solidFill>
                            <a:srgbClr val="C00000"/>
                          </a:solidFill>
                        </a:rPr>
                        <a: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a:t>
                      </a:r>
                      <a:r>
                        <a:rPr lang="fr-FR" sz="1600" u="none" strike="noStrike" cap="none">
                          <a:solidFill>
                            <a:srgbClr val="C00000"/>
                          </a:solidFill>
                        </a:rPr>
                        <a:t> 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B</a:t>
                      </a:r>
                      <a:r>
                        <a:rPr lang="fr-FR" sz="1600" u="none" strike="noStrike" cap="none"/>
                        <a:t> </a:t>
                      </a:r>
                      <a:r>
                        <a:rPr lang="fr-FR" sz="1600" u="none" strike="noStrike" cap="none">
                          <a:solidFill>
                            <a:srgbClr val="C00000"/>
                          </a:solidFill>
                        </a:rPr>
                        <a:t>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r>
                        <a:rPr lang="fr-FR" sz="1600" u="none" strike="noStrike" cap="none">
                          <a:solidFill>
                            <a:srgbClr val="C00000"/>
                          </a:solidFill>
                        </a:rPr>
                        <a:t> 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r>
                        <a:rPr lang="fr-FR" sz="1600" u="none" strike="noStrike" cap="none">
                          <a:solidFill>
                            <a:srgbClr val="C00000"/>
                          </a:solidFill>
                        </a:rPr>
                        <a:t> 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B²</a:t>
                      </a:r>
                      <a:r>
                        <a:rPr lang="fr-FR" sz="1600" u="none" strike="noStrike" cap="none">
                          <a:solidFill>
                            <a:srgbClr val="C00000"/>
                          </a:solidFill>
                        </a:rPr>
                        <a:t> 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1"/>
                  </a:ext>
                </a:extLst>
              </a:tr>
              <a:tr h="573150">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C</a:t>
                      </a:r>
                      <a:r>
                        <a:rPr lang="fr-FR" sz="1600" u="none" strike="noStrike" cap="none"/>
                        <a:t> </a:t>
                      </a:r>
                      <a:r>
                        <a:rPr lang="fr-FR" sz="1600" u="none" strike="noStrike" cap="none">
                          <a:solidFill>
                            <a:srgbClr val="C00000"/>
                          </a:solidFill>
                        </a:rPr>
                        <a: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C</a:t>
                      </a:r>
                      <a:r>
                        <a:rPr lang="fr-FR" sz="1600" u="none" strike="noStrike" cap="none"/>
                        <a:t> </a:t>
                      </a:r>
                      <a:r>
                        <a:rPr lang="fr-FR" sz="1600" u="none" strike="noStrike" cap="none">
                          <a:solidFill>
                            <a:srgbClr val="C00000"/>
                          </a:solidFill>
                        </a:rPr>
                        <a:t>0</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D </a:t>
                      </a:r>
                      <a:r>
                        <a:rPr lang="fr-FR" sz="1600" u="none" strike="noStrike" cap="none">
                          <a:solidFill>
                            <a:srgbClr val="C00000"/>
                          </a:solidFill>
                        </a:rPr>
                        <a:t>1</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A </a:t>
                      </a:r>
                      <a:r>
                        <a:rPr lang="fr-FR" sz="1600" u="none" strike="noStrike" cap="none">
                          <a:solidFill>
                            <a:srgbClr val="C00000"/>
                          </a:solidFill>
                        </a:rPr>
                        <a:t>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r>
                        <a:rPr lang="fr-FR" sz="1600" u="none" strike="noStrike" cap="none"/>
                        <a:t> </a:t>
                      </a:r>
                      <a:r>
                        <a:rPr lang="fr-FR" sz="1600" u="none" strike="noStrike" cap="none">
                          <a:solidFill>
                            <a:srgbClr val="C00000"/>
                          </a:solidFill>
                        </a:rPr>
                        <a:t>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Arial"/>
                          <a:ea typeface="Arial"/>
                          <a:cs typeface="Arial"/>
                          <a:sym typeface="Arial"/>
                        </a:rPr>
                        <a:t>A </a:t>
                      </a:r>
                      <a:r>
                        <a:rPr lang="fr-FR" sz="1600" u="none" strike="noStrike" cap="none">
                          <a:solidFill>
                            <a:srgbClr val="C00000"/>
                          </a:solidFill>
                        </a:rPr>
                        <a:t>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b="0" i="0" u="none" strike="noStrike" cap="none">
                          <a:solidFill>
                            <a:srgbClr val="000000"/>
                          </a:solidFill>
                          <a:latin typeface="Arial"/>
                          <a:ea typeface="Arial"/>
                          <a:cs typeface="Arial"/>
                          <a:sym typeface="Arial"/>
                        </a:rPr>
                        <a:t>A</a:t>
                      </a:r>
                      <a:r>
                        <a:rPr lang="fr-FR" sz="1600" u="none" strike="noStrike" cap="none"/>
                        <a:t> </a:t>
                      </a:r>
                      <a:r>
                        <a:rPr lang="fr-FR" sz="1600" u="none" strike="noStrike" cap="none">
                          <a:solidFill>
                            <a:srgbClr val="C00000"/>
                          </a:solidFill>
                        </a:rPr>
                        <a:t>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r>
                        <a:rPr lang="fr-FR" sz="1600" u="none" strike="noStrike" cap="none"/>
                        <a:t> </a:t>
                      </a:r>
                      <a:r>
                        <a:rPr lang="fr-FR" sz="1600" u="none" strike="noStrike" cap="none">
                          <a:solidFill>
                            <a:srgbClr val="C00000"/>
                          </a:solidFill>
                        </a:rPr>
                        <a: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A </a:t>
                      </a:r>
                      <a:r>
                        <a:rPr lang="fr-FR" sz="1600" u="none" strike="noStrike" cap="none">
                          <a:solidFill>
                            <a:srgbClr val="C00000"/>
                          </a:solidFill>
                        </a:rPr>
                        <a: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A</a:t>
                      </a:r>
                      <a:r>
                        <a:rPr lang="fr-FR" sz="1600" u="none" strike="noStrike" cap="none"/>
                        <a:t> </a:t>
                      </a:r>
                      <a:r>
                        <a:rPr lang="fr-FR" sz="1600" u="none" strike="noStrike" cap="none">
                          <a:solidFill>
                            <a:srgbClr val="C00000"/>
                          </a:solidFill>
                        </a:rPr>
                        <a:t>0</a:t>
                      </a:r>
                      <a:endParaRPr sz="1400" u="none" strike="noStrike" cap="none"/>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A </a:t>
                      </a:r>
                      <a:r>
                        <a:rPr lang="fr-FR" sz="1600" u="none" strike="noStrike" cap="none">
                          <a:solidFill>
                            <a:srgbClr val="C00000"/>
                          </a:solidFill>
                        </a:rPr>
                        <a:t>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B </a:t>
                      </a:r>
                      <a:r>
                        <a:rPr lang="fr-FR" sz="1600" u="none" strike="noStrike" cap="none">
                          <a:solidFill>
                            <a:srgbClr val="C00000"/>
                          </a:solidFill>
                        </a:rPr>
                        <a: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2"/>
                  </a:ext>
                </a:extLst>
              </a:tr>
              <a:tr h="476075">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C </a:t>
                      </a:r>
                      <a:r>
                        <a:rPr lang="fr-FR" sz="1600" u="none" strike="noStrike" cap="none">
                          <a:solidFill>
                            <a:srgbClr val="C00000"/>
                          </a:solidFill>
                        </a:rPr>
                        <a: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D</a:t>
                      </a:r>
                      <a:r>
                        <a:rPr lang="fr-FR" sz="1600" u="none" strike="noStrike" cap="none">
                          <a:solidFill>
                            <a:srgbClr val="92D050"/>
                          </a:solidFill>
                        </a:rPr>
                        <a:t> </a:t>
                      </a:r>
                      <a:r>
                        <a:rPr lang="fr-FR" sz="1600" u="none" strike="noStrike" cap="none">
                          <a:solidFill>
                            <a:srgbClr val="FF0000"/>
                          </a:solidFill>
                        </a:rPr>
                        <a:t>0</a:t>
                      </a:r>
                      <a:endParaRPr sz="1600" u="none" strike="noStrike" cap="none">
                        <a:solidFill>
                          <a:srgbClr val="FF0000"/>
                        </a:solidFill>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C </a:t>
                      </a:r>
                      <a:r>
                        <a:rPr lang="fr-FR" sz="1600" u="none" strike="noStrike" cap="none">
                          <a:solidFill>
                            <a:srgbClr val="C00000"/>
                          </a:solidFill>
                        </a:rPr>
                        <a: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D</a:t>
                      </a:r>
                      <a:r>
                        <a:rPr lang="fr-FR" sz="1600" u="none" strike="noStrike" cap="none"/>
                        <a:t> </a:t>
                      </a:r>
                      <a:r>
                        <a:rPr lang="fr-FR" sz="1600" u="none" strike="noStrike" cap="none">
                          <a:solidFill>
                            <a:srgbClr val="C00000"/>
                          </a:solidFill>
                        </a:rPr>
                        <a:t>1</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t>D</a:t>
                      </a:r>
                      <a:r>
                        <a:rPr lang="fr-FR" sz="1600" u="none" strike="noStrike" cap="none">
                          <a:solidFill>
                            <a:srgbClr val="C00000"/>
                          </a:solidFill>
                        </a:rPr>
                        <a:t>1</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r>
                        <a:rPr lang="fr-FR" sz="1600" u="none" strike="noStrike" cap="none">
                          <a:solidFill>
                            <a:srgbClr val="00B050"/>
                          </a:solidFill>
                        </a:rPr>
                        <a:t>D</a:t>
                      </a:r>
                      <a:r>
                        <a:rPr lang="fr-FR" sz="1600" u="none" strike="noStrike" cap="none">
                          <a:solidFill>
                            <a:srgbClr val="92D050"/>
                          </a:solidFill>
                        </a:rPr>
                        <a:t> </a:t>
                      </a:r>
                      <a:r>
                        <a:rPr lang="fr-FR" sz="1600" u="none" strike="noStrike" cap="none">
                          <a:solidFill>
                            <a:srgbClr val="FF0000"/>
                          </a:solidFill>
                        </a:rPr>
                        <a:t>0</a:t>
                      </a:r>
                      <a:endParaRPr/>
                    </a:p>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93"/>
        <p:cNvGrpSpPr/>
        <p:nvPr/>
      </p:nvGrpSpPr>
      <p:grpSpPr>
        <a:xfrm>
          <a:off x="0" y="0"/>
          <a:ext cx="0" cy="0"/>
          <a:chOff x="0" y="0"/>
          <a:chExt cx="0" cy="0"/>
        </a:xfrm>
      </p:grpSpPr>
      <p:sp>
        <p:nvSpPr>
          <p:cNvPr id="1294" name="Google Shape;1294;p132"/>
          <p:cNvSpPr txBox="1">
            <a:spLocks noGrp="1"/>
          </p:cNvSpPr>
          <p:nvPr>
            <p:ph type="title"/>
          </p:nvPr>
        </p:nvSpPr>
        <p:spPr>
          <a:xfrm>
            <a:off x="758951" y="469925"/>
            <a:ext cx="7092315" cy="51371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3200" b="0">
                <a:latin typeface="Calibri"/>
                <a:ea typeface="Calibri"/>
                <a:cs typeface="Calibri"/>
                <a:sym typeface="Calibri"/>
              </a:rPr>
              <a:t> </a:t>
            </a:r>
            <a:r>
              <a:rPr lang="fr-FR" sz="2800" u="sng">
                <a:solidFill>
                  <a:srgbClr val="000000"/>
                </a:solidFill>
              </a:rPr>
              <a:t>SRTF (temps restant le plus court d'abord)</a:t>
            </a:r>
            <a:endParaRPr sz="3200">
              <a:latin typeface="Calibri"/>
              <a:ea typeface="Calibri"/>
              <a:cs typeface="Calibri"/>
              <a:sym typeface="Calibri"/>
            </a:endParaRPr>
          </a:p>
        </p:txBody>
      </p:sp>
      <p:sp>
        <p:nvSpPr>
          <p:cNvPr id="1295" name="Google Shape;1295;p132"/>
          <p:cNvSpPr txBox="1"/>
          <p:nvPr/>
        </p:nvSpPr>
        <p:spPr>
          <a:xfrm>
            <a:off x="647065" y="3961009"/>
            <a:ext cx="5069840" cy="1061188"/>
          </a:xfrm>
          <a:prstGeom prst="rect">
            <a:avLst/>
          </a:prstGeom>
          <a:noFill/>
          <a:ln>
            <a:noFill/>
          </a:ln>
        </p:spPr>
        <p:txBody>
          <a:bodyPr spcFirstLastPara="1" wrap="square" lIns="0" tIns="73025" rIns="0" bIns="0" anchor="t" anchorCtr="0">
            <a:spAutoFit/>
          </a:bodyPr>
          <a:lstStyle/>
          <a:p>
            <a:pPr marL="3549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Processor utilization(occupation de processus) = (35 / 35) * 100 = 100 %</a:t>
            </a:r>
            <a:endParaRPr sz="1400" b="0" i="0" u="none" strike="noStrike" cap="none">
              <a:solidFill>
                <a:srgbClr val="000000"/>
              </a:solidFill>
              <a:latin typeface="Arial"/>
              <a:ea typeface="Arial"/>
              <a:cs typeface="Arial"/>
              <a:sym typeface="Arial"/>
            </a:endParaRPr>
          </a:p>
          <a:p>
            <a:pPr marL="355600" marR="0" lvl="0" indent="-342900" algn="l" rtl="0">
              <a:lnSpc>
                <a:spcPct val="100000"/>
              </a:lnSpc>
              <a:spcBef>
                <a:spcPts val="48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Throughput(débit) = 4 / 35 = 0.11</a:t>
            </a:r>
            <a:endParaRPr sz="1400" b="0" i="0" u="none" strike="noStrike" cap="none">
              <a:solidFill>
                <a:srgbClr val="000000"/>
              </a:solidFill>
              <a:latin typeface="Arial"/>
              <a:ea typeface="Arial"/>
              <a:cs typeface="Arial"/>
              <a:sym typeface="Arial"/>
            </a:endParaRPr>
          </a:p>
        </p:txBody>
      </p:sp>
      <p:sp>
        <p:nvSpPr>
          <p:cNvPr id="1296" name="Google Shape;1296;p132"/>
          <p:cNvSpPr/>
          <p:nvPr/>
        </p:nvSpPr>
        <p:spPr>
          <a:xfrm>
            <a:off x="549275" y="1871738"/>
            <a:ext cx="8061185" cy="186206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97" name="Google Shape;1297;p132"/>
          <p:cNvSpPr/>
          <p:nvPr/>
        </p:nvSpPr>
        <p:spPr>
          <a:xfrm>
            <a:off x="2429255" y="2014727"/>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98" name="Google Shape;1298;p132"/>
          <p:cNvSpPr/>
          <p:nvPr/>
        </p:nvSpPr>
        <p:spPr>
          <a:xfrm>
            <a:off x="2438400"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299" name="Google Shape;1299;p132"/>
          <p:cNvSpPr/>
          <p:nvPr/>
        </p:nvSpPr>
        <p:spPr>
          <a:xfrm>
            <a:off x="2496328"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0" name="Google Shape;1300;p132"/>
          <p:cNvSpPr/>
          <p:nvPr/>
        </p:nvSpPr>
        <p:spPr>
          <a:xfrm>
            <a:off x="2825495" y="2014727"/>
            <a:ext cx="252983" cy="33680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1" name="Google Shape;1301;p132"/>
          <p:cNvSpPr/>
          <p:nvPr/>
        </p:nvSpPr>
        <p:spPr>
          <a:xfrm>
            <a:off x="2835275"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2" name="Google Shape;1302;p132"/>
          <p:cNvSpPr/>
          <p:nvPr/>
        </p:nvSpPr>
        <p:spPr>
          <a:xfrm>
            <a:off x="2893203"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3" name="Google Shape;1303;p132"/>
          <p:cNvSpPr txBox="1"/>
          <p:nvPr/>
        </p:nvSpPr>
        <p:spPr>
          <a:xfrm>
            <a:off x="2517139" y="1724343"/>
            <a:ext cx="5429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304" name="Google Shape;1304;p132"/>
          <p:cNvSpPr/>
          <p:nvPr/>
        </p:nvSpPr>
        <p:spPr>
          <a:xfrm>
            <a:off x="3657599" y="2014727"/>
            <a:ext cx="181355" cy="33070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5" name="Google Shape;1305;p132"/>
          <p:cNvSpPr/>
          <p:nvPr/>
        </p:nvSpPr>
        <p:spPr>
          <a:xfrm>
            <a:off x="3749675" y="2139951"/>
            <a:ext cx="0" cy="176530"/>
          </a:xfrm>
          <a:custGeom>
            <a:avLst/>
            <a:gdLst/>
            <a:ahLst/>
            <a:cxnLst/>
            <a:rect l="l" t="t" r="r" b="b"/>
            <a:pathLst>
              <a:path w="120000" h="176530" extrusionOk="0">
                <a:moveTo>
                  <a:pt x="0" y="176212"/>
                </a:moveTo>
                <a:lnTo>
                  <a:pt x="0"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6" name="Google Shape;1306;p132"/>
          <p:cNvSpPr/>
          <p:nvPr/>
        </p:nvSpPr>
        <p:spPr>
          <a:xfrm>
            <a:off x="3686181" y="2076456"/>
            <a:ext cx="127000" cy="76200"/>
          </a:xfrm>
          <a:custGeom>
            <a:avLst/>
            <a:gdLst/>
            <a:ahLst/>
            <a:cxnLst/>
            <a:rect l="l" t="t" r="r" b="b"/>
            <a:pathLst>
              <a:path w="127000" h="76200" extrusionOk="0">
                <a:moveTo>
                  <a:pt x="63487" y="0"/>
                </a:moveTo>
                <a:lnTo>
                  <a:pt x="0" y="76200"/>
                </a:lnTo>
                <a:lnTo>
                  <a:pt x="127000" y="76187"/>
                </a:lnTo>
                <a:lnTo>
                  <a:pt x="6348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7" name="Google Shape;1307;p132"/>
          <p:cNvSpPr txBox="1"/>
          <p:nvPr/>
        </p:nvSpPr>
        <p:spPr>
          <a:xfrm>
            <a:off x="3660140" y="1724342"/>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308" name="Google Shape;1308;p132"/>
          <p:cNvSpPr/>
          <p:nvPr/>
        </p:nvSpPr>
        <p:spPr>
          <a:xfrm>
            <a:off x="758951" y="1504188"/>
            <a:ext cx="7854695" cy="460247"/>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09" name="Google Shape;1309;p132"/>
          <p:cNvSpPr/>
          <p:nvPr/>
        </p:nvSpPr>
        <p:spPr>
          <a:xfrm>
            <a:off x="1181100" y="1706563"/>
            <a:ext cx="7010400" cy="0"/>
          </a:xfrm>
          <a:custGeom>
            <a:avLst/>
            <a:gdLst/>
            <a:ahLst/>
            <a:cxnLst/>
            <a:rect l="l" t="t" r="r" b="b"/>
            <a:pathLst>
              <a:path w="7010400" h="120000" extrusionOk="0">
                <a:moveTo>
                  <a:pt x="0" y="0"/>
                </a:moveTo>
                <a:lnTo>
                  <a:pt x="7010400" y="0"/>
                </a:lnTo>
              </a:path>
            </a:pathLst>
          </a:custGeom>
          <a:noFill/>
          <a:ln w="76200"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10" name="Google Shape;1310;p132"/>
          <p:cNvSpPr/>
          <p:nvPr/>
        </p:nvSpPr>
        <p:spPr>
          <a:xfrm>
            <a:off x="8153392" y="1592252"/>
            <a:ext cx="229235" cy="228600"/>
          </a:xfrm>
          <a:custGeom>
            <a:avLst/>
            <a:gdLst/>
            <a:ahLst/>
            <a:cxnLst/>
            <a:rect l="l" t="t" r="r" b="b"/>
            <a:pathLst>
              <a:path w="229234" h="228600" extrusionOk="0">
                <a:moveTo>
                  <a:pt x="12" y="0"/>
                </a:moveTo>
                <a:lnTo>
                  <a:pt x="0" y="228600"/>
                </a:lnTo>
                <a:lnTo>
                  <a:pt x="228612" y="114312"/>
                </a:lnTo>
                <a:lnTo>
                  <a:pt x="12"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11" name="Google Shape;1311;p132"/>
          <p:cNvSpPr/>
          <p:nvPr/>
        </p:nvSpPr>
        <p:spPr>
          <a:xfrm>
            <a:off x="990605" y="1592252"/>
            <a:ext cx="228600" cy="228600"/>
          </a:xfrm>
          <a:custGeom>
            <a:avLst/>
            <a:gdLst/>
            <a:ahLst/>
            <a:cxnLst/>
            <a:rect l="l" t="t" r="r" b="b"/>
            <a:pathLst>
              <a:path w="228600" h="228600" extrusionOk="0">
                <a:moveTo>
                  <a:pt x="228587" y="0"/>
                </a:moveTo>
                <a:lnTo>
                  <a:pt x="0" y="114312"/>
                </a:lnTo>
                <a:lnTo>
                  <a:pt x="228600" y="228600"/>
                </a:lnTo>
                <a:lnTo>
                  <a:pt x="228587"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12" name="Google Shape;1312;p132"/>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49</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316"/>
        <p:cNvGrpSpPr/>
        <p:nvPr/>
      </p:nvGrpSpPr>
      <p:grpSpPr>
        <a:xfrm>
          <a:off x="0" y="0"/>
          <a:ext cx="0" cy="0"/>
          <a:chOff x="0" y="0"/>
          <a:chExt cx="0" cy="0"/>
        </a:xfrm>
      </p:grpSpPr>
      <p:sp>
        <p:nvSpPr>
          <p:cNvPr id="1317" name="Google Shape;1317;p133"/>
          <p:cNvSpPr txBox="1">
            <a:spLocks noGrp="1"/>
          </p:cNvSpPr>
          <p:nvPr>
            <p:ph type="title"/>
          </p:nvPr>
        </p:nvSpPr>
        <p:spPr>
          <a:xfrm>
            <a:off x="691515" y="441451"/>
            <a:ext cx="7004685" cy="505908"/>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3200" b="0">
                <a:latin typeface="Calibri"/>
                <a:ea typeface="Calibri"/>
                <a:cs typeface="Calibri"/>
                <a:sym typeface="Calibri"/>
              </a:rPr>
              <a:t> </a:t>
            </a:r>
            <a:r>
              <a:rPr lang="fr-FR" sz="2800" u="sng">
                <a:solidFill>
                  <a:srgbClr val="000000"/>
                </a:solidFill>
              </a:rPr>
              <a:t>SRTF (temps restant le plus court d'abord)</a:t>
            </a:r>
            <a:endParaRPr sz="3200">
              <a:latin typeface="Calibri"/>
              <a:ea typeface="Calibri"/>
              <a:cs typeface="Calibri"/>
              <a:sym typeface="Calibri"/>
            </a:endParaRPr>
          </a:p>
        </p:txBody>
      </p:sp>
      <p:sp>
        <p:nvSpPr>
          <p:cNvPr id="1318" name="Google Shape;1318;p133"/>
          <p:cNvSpPr txBox="1"/>
          <p:nvPr/>
        </p:nvSpPr>
        <p:spPr>
          <a:xfrm>
            <a:off x="602615" y="3760723"/>
            <a:ext cx="2495550" cy="1351915"/>
          </a:xfrm>
          <a:prstGeom prst="rect">
            <a:avLst/>
          </a:prstGeom>
          <a:noFill/>
          <a:ln>
            <a:noFill/>
          </a:ln>
        </p:spPr>
        <p:txBody>
          <a:bodyPr spcFirstLastPara="1" wrap="square" lIns="0" tIns="12050" rIns="0" bIns="0" anchor="t" anchorCtr="0">
            <a:spAutoFit/>
          </a:bodyPr>
          <a:lstStyle/>
          <a:p>
            <a:pPr marL="380365" marR="0" lvl="0" indent="-342900" algn="l" rtl="0">
              <a:lnSpc>
                <a:spcPct val="100000"/>
              </a:lnSpc>
              <a:spcBef>
                <a:spcPts val="0"/>
              </a:spcBef>
              <a:spcAft>
                <a:spcPts val="0"/>
              </a:spcAft>
              <a:buClr>
                <a:srgbClr val="000000"/>
              </a:buClr>
              <a:buSzPts val="1900"/>
              <a:buFont typeface="Arial"/>
              <a:buChar char="•"/>
            </a:pPr>
            <a:r>
              <a:rPr lang="fr-FR" sz="1900" b="0" i="0" u="none" strike="noStrike" cap="none">
                <a:solidFill>
                  <a:srgbClr val="000000"/>
                </a:solidFill>
                <a:latin typeface="Calibri"/>
                <a:ea typeface="Calibri"/>
                <a:cs typeface="Calibri"/>
                <a:sym typeface="Calibri"/>
              </a:rPr>
              <a:t>Turn around time:</a:t>
            </a:r>
            <a:endParaRPr sz="1900" b="0" i="0" u="none" strike="noStrike" cap="none">
              <a:solidFill>
                <a:srgbClr val="000000"/>
              </a:solidFill>
              <a:latin typeface="Calibri"/>
              <a:ea typeface="Calibri"/>
              <a:cs typeface="Calibri"/>
              <a:sym typeface="Calibri"/>
            </a:endParaRPr>
          </a:p>
          <a:p>
            <a:pPr marL="952500" marR="0" lvl="0" indent="0" algn="l" rtl="0">
              <a:lnSpc>
                <a:spcPct val="100000"/>
              </a:lnSpc>
              <a:spcBef>
                <a:spcPts val="1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tat</a:t>
            </a:r>
            <a:r>
              <a:rPr lang="fr-FR" sz="1650" b="0" i="0" u="none" strike="noStrike" cap="none" baseline="-25000">
                <a:solidFill>
                  <a:srgbClr val="808080"/>
                </a:solidFill>
                <a:latin typeface="Calibri"/>
                <a:ea typeface="Calibri"/>
                <a:cs typeface="Calibri"/>
                <a:sym typeface="Calibri"/>
              </a:rPr>
              <a:t>A  </a:t>
            </a:r>
            <a:r>
              <a:rPr lang="fr-FR" sz="1700" b="0" i="0" u="none" strike="noStrike" cap="none">
                <a:solidFill>
                  <a:srgbClr val="808080"/>
                </a:solidFill>
                <a:latin typeface="Calibri"/>
                <a:ea typeface="Calibri"/>
                <a:cs typeface="Calibri"/>
                <a:sym typeface="Calibri"/>
              </a:rPr>
              <a:t>= 27 – 0 = 27</a:t>
            </a:r>
            <a:endParaRPr sz="1700" b="0" i="0" u="none" strike="noStrike" cap="none">
              <a:solidFill>
                <a:srgbClr val="000000"/>
              </a:solidFill>
              <a:latin typeface="Calibri"/>
              <a:ea typeface="Calibri"/>
              <a:cs typeface="Calibri"/>
              <a:sym typeface="Calibri"/>
            </a:endParaRPr>
          </a:p>
          <a:p>
            <a:pPr marL="951864"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tat</a:t>
            </a:r>
            <a:r>
              <a:rPr lang="fr-FR" sz="1650" b="0" i="0" u="none" strike="noStrike" cap="none" baseline="-25000">
                <a:solidFill>
                  <a:srgbClr val="808080"/>
                </a:solidFill>
                <a:latin typeface="Calibri"/>
                <a:ea typeface="Calibri"/>
                <a:cs typeface="Calibri"/>
                <a:sym typeface="Calibri"/>
              </a:rPr>
              <a:t>B  </a:t>
            </a:r>
            <a:r>
              <a:rPr lang="fr-FR" sz="1700" b="0" i="0" u="none" strike="noStrike" cap="none">
                <a:solidFill>
                  <a:srgbClr val="808080"/>
                </a:solidFill>
                <a:latin typeface="Calibri"/>
                <a:ea typeface="Calibri"/>
                <a:cs typeface="Calibri"/>
                <a:sym typeface="Calibri"/>
              </a:rPr>
              <a:t>= 35 – 2 = 33</a:t>
            </a:r>
            <a:endParaRPr sz="1700" b="0" i="0" u="none" strike="noStrike" cap="none">
              <a:solidFill>
                <a:srgbClr val="000000"/>
              </a:solidFill>
              <a:latin typeface="Calibri"/>
              <a:ea typeface="Calibri"/>
              <a:cs typeface="Calibri"/>
              <a:sym typeface="Calibri"/>
            </a:endParaRPr>
          </a:p>
          <a:p>
            <a:pPr marL="952500"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tat</a:t>
            </a:r>
            <a:r>
              <a:rPr lang="fr-FR" sz="1650" b="0" i="0" u="none" strike="noStrike" cap="none" baseline="-25000">
                <a:solidFill>
                  <a:srgbClr val="808080"/>
                </a:solidFill>
                <a:latin typeface="Calibri"/>
                <a:ea typeface="Calibri"/>
                <a:cs typeface="Calibri"/>
                <a:sym typeface="Calibri"/>
              </a:rPr>
              <a:t>C  </a:t>
            </a:r>
            <a:r>
              <a:rPr lang="fr-FR" sz="1700" b="0" i="0" u="none" strike="noStrike" cap="none">
                <a:solidFill>
                  <a:srgbClr val="808080"/>
                </a:solidFill>
                <a:latin typeface="Calibri"/>
                <a:ea typeface="Calibri"/>
                <a:cs typeface="Calibri"/>
                <a:sym typeface="Calibri"/>
              </a:rPr>
              <a:t>= 11 – 3 = 8</a:t>
            </a:r>
            <a:endParaRPr sz="1700" b="0" i="0" u="none" strike="noStrike" cap="none">
              <a:solidFill>
                <a:srgbClr val="000000"/>
              </a:solidFill>
              <a:latin typeface="Calibri"/>
              <a:ea typeface="Calibri"/>
              <a:cs typeface="Calibri"/>
              <a:sym typeface="Calibri"/>
            </a:endParaRPr>
          </a:p>
          <a:p>
            <a:pPr marL="952500"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tat</a:t>
            </a:r>
            <a:r>
              <a:rPr lang="fr-FR" sz="1650" b="0" i="0" u="none" strike="noStrike" cap="none" baseline="-25000">
                <a:solidFill>
                  <a:srgbClr val="808080"/>
                </a:solidFill>
                <a:latin typeface="Calibri"/>
                <a:ea typeface="Calibri"/>
                <a:cs typeface="Calibri"/>
                <a:sym typeface="Calibri"/>
              </a:rPr>
              <a:t>D  </a:t>
            </a:r>
            <a:r>
              <a:rPr lang="fr-FR" sz="1700" b="0" i="0" u="none" strike="noStrike" cap="none">
                <a:solidFill>
                  <a:srgbClr val="808080"/>
                </a:solidFill>
                <a:latin typeface="Calibri"/>
                <a:ea typeface="Calibri"/>
                <a:cs typeface="Calibri"/>
                <a:sym typeface="Calibri"/>
              </a:rPr>
              <a:t>= 14 – 7 = 7</a:t>
            </a:r>
            <a:endParaRPr sz="1700" b="0" i="0" u="none" strike="noStrike" cap="none">
              <a:solidFill>
                <a:srgbClr val="000000"/>
              </a:solidFill>
              <a:latin typeface="Calibri"/>
              <a:ea typeface="Calibri"/>
              <a:cs typeface="Calibri"/>
              <a:sym typeface="Calibri"/>
            </a:endParaRPr>
          </a:p>
        </p:txBody>
      </p:sp>
      <p:sp>
        <p:nvSpPr>
          <p:cNvPr id="1319" name="Google Shape;1319;p133"/>
          <p:cNvSpPr/>
          <p:nvPr/>
        </p:nvSpPr>
        <p:spPr>
          <a:xfrm>
            <a:off x="549275" y="1871738"/>
            <a:ext cx="8061185" cy="186206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0" name="Google Shape;1320;p133"/>
          <p:cNvSpPr/>
          <p:nvPr/>
        </p:nvSpPr>
        <p:spPr>
          <a:xfrm>
            <a:off x="2429255" y="2014727"/>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1" name="Google Shape;1321;p133"/>
          <p:cNvSpPr/>
          <p:nvPr/>
        </p:nvSpPr>
        <p:spPr>
          <a:xfrm>
            <a:off x="2438400"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2" name="Google Shape;1322;p133"/>
          <p:cNvSpPr/>
          <p:nvPr/>
        </p:nvSpPr>
        <p:spPr>
          <a:xfrm>
            <a:off x="2496328"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3" name="Google Shape;1323;p133"/>
          <p:cNvSpPr/>
          <p:nvPr/>
        </p:nvSpPr>
        <p:spPr>
          <a:xfrm>
            <a:off x="2825495" y="2014727"/>
            <a:ext cx="252983" cy="33680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4" name="Google Shape;1324;p133"/>
          <p:cNvSpPr/>
          <p:nvPr/>
        </p:nvSpPr>
        <p:spPr>
          <a:xfrm>
            <a:off x="2835275"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5" name="Google Shape;1325;p133"/>
          <p:cNvSpPr/>
          <p:nvPr/>
        </p:nvSpPr>
        <p:spPr>
          <a:xfrm>
            <a:off x="2893203"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6" name="Google Shape;1326;p133"/>
          <p:cNvSpPr txBox="1"/>
          <p:nvPr/>
        </p:nvSpPr>
        <p:spPr>
          <a:xfrm>
            <a:off x="2517139" y="1724343"/>
            <a:ext cx="5429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327" name="Google Shape;1327;p133"/>
          <p:cNvSpPr/>
          <p:nvPr/>
        </p:nvSpPr>
        <p:spPr>
          <a:xfrm>
            <a:off x="3657599" y="2014727"/>
            <a:ext cx="181355" cy="33070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8" name="Google Shape;1328;p133"/>
          <p:cNvSpPr/>
          <p:nvPr/>
        </p:nvSpPr>
        <p:spPr>
          <a:xfrm>
            <a:off x="3749675" y="2139951"/>
            <a:ext cx="0" cy="176530"/>
          </a:xfrm>
          <a:custGeom>
            <a:avLst/>
            <a:gdLst/>
            <a:ahLst/>
            <a:cxnLst/>
            <a:rect l="l" t="t" r="r" b="b"/>
            <a:pathLst>
              <a:path w="120000" h="176530" extrusionOk="0">
                <a:moveTo>
                  <a:pt x="0" y="176212"/>
                </a:moveTo>
                <a:lnTo>
                  <a:pt x="0"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29" name="Google Shape;1329;p133"/>
          <p:cNvSpPr/>
          <p:nvPr/>
        </p:nvSpPr>
        <p:spPr>
          <a:xfrm>
            <a:off x="3686181" y="2076456"/>
            <a:ext cx="127000" cy="76200"/>
          </a:xfrm>
          <a:custGeom>
            <a:avLst/>
            <a:gdLst/>
            <a:ahLst/>
            <a:cxnLst/>
            <a:rect l="l" t="t" r="r" b="b"/>
            <a:pathLst>
              <a:path w="127000" h="76200" extrusionOk="0">
                <a:moveTo>
                  <a:pt x="63487" y="0"/>
                </a:moveTo>
                <a:lnTo>
                  <a:pt x="0" y="76200"/>
                </a:lnTo>
                <a:lnTo>
                  <a:pt x="127000" y="76187"/>
                </a:lnTo>
                <a:lnTo>
                  <a:pt x="6348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30" name="Google Shape;1330;p133"/>
          <p:cNvSpPr txBox="1"/>
          <p:nvPr/>
        </p:nvSpPr>
        <p:spPr>
          <a:xfrm>
            <a:off x="3660140" y="1724342"/>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331" name="Google Shape;1331;p133"/>
          <p:cNvSpPr txBox="1"/>
          <p:nvPr/>
        </p:nvSpPr>
        <p:spPr>
          <a:xfrm>
            <a:off x="1542414" y="5399785"/>
            <a:ext cx="3118485" cy="275590"/>
          </a:xfrm>
          <a:prstGeom prst="rect">
            <a:avLst/>
          </a:prstGeom>
          <a:noFill/>
          <a:ln>
            <a:noFill/>
          </a:ln>
        </p:spPr>
        <p:txBody>
          <a:bodyPr spcFirstLastPara="1" wrap="square" lIns="0" tIns="0" rIns="0" bIns="0" anchor="t" anchorCtr="0">
            <a:spAutoFit/>
          </a:bodyPr>
          <a:lstStyle/>
          <a:p>
            <a:pPr marL="12700" marR="0" lvl="0" indent="0" algn="l" rtl="0">
              <a:lnSpc>
                <a:spcPct val="101176"/>
              </a:lnSpc>
              <a:spcBef>
                <a:spcPts val="0"/>
              </a:spcBef>
              <a:spcAft>
                <a:spcPts val="0"/>
              </a:spcAft>
              <a:buClr>
                <a:srgbClr val="000000"/>
              </a:buClr>
              <a:buSzPts val="1700"/>
              <a:buFont typeface="Arial"/>
              <a:buNone/>
            </a:pPr>
            <a:r>
              <a:rPr lang="fr-FR" sz="1700" b="0" i="0" u="none" strike="noStrike" cap="none">
                <a:solidFill>
                  <a:srgbClr val="000000"/>
                </a:solidFill>
                <a:latin typeface="Calibri"/>
                <a:ea typeface="Calibri"/>
                <a:cs typeface="Calibri"/>
                <a:sym typeface="Calibri"/>
              </a:rPr>
              <a:t>tat</a:t>
            </a:r>
            <a:r>
              <a:rPr lang="fr-FR" sz="1650" b="0" i="0" u="none" strike="noStrike" cap="none" baseline="-25000">
                <a:solidFill>
                  <a:srgbClr val="000000"/>
                </a:solidFill>
                <a:latin typeface="Calibri"/>
                <a:ea typeface="Calibri"/>
                <a:cs typeface="Calibri"/>
                <a:sym typeface="Calibri"/>
              </a:rPr>
              <a:t>AVG </a:t>
            </a:r>
            <a:r>
              <a:rPr lang="fr-FR" sz="1700" b="0" i="0" u="none" strike="noStrike" cap="none">
                <a:solidFill>
                  <a:srgbClr val="000000"/>
                </a:solidFill>
                <a:latin typeface="Calibri"/>
                <a:ea typeface="Calibri"/>
                <a:cs typeface="Calibri"/>
                <a:sym typeface="Calibri"/>
              </a:rPr>
              <a:t>= (27 + 33 + 8 + 7) / 4 = 18.75</a:t>
            </a:r>
            <a:endParaRPr sz="1700" b="0" i="0" u="none" strike="noStrike" cap="none">
              <a:solidFill>
                <a:srgbClr val="000000"/>
              </a:solidFill>
              <a:latin typeface="Calibri"/>
              <a:ea typeface="Calibri"/>
              <a:cs typeface="Calibri"/>
              <a:sym typeface="Calibri"/>
            </a:endParaRPr>
          </a:p>
        </p:txBody>
      </p:sp>
      <p:sp>
        <p:nvSpPr>
          <p:cNvPr id="1332" name="Google Shape;1332;p133"/>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134"/>
          <p:cNvSpPr txBox="1">
            <a:spLocks noGrp="1"/>
          </p:cNvSpPr>
          <p:nvPr>
            <p:ph type="title"/>
          </p:nvPr>
        </p:nvSpPr>
        <p:spPr>
          <a:xfrm>
            <a:off x="691515" y="441451"/>
            <a:ext cx="7092315" cy="51371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3200" b="0">
                <a:latin typeface="Calibri"/>
                <a:ea typeface="Calibri"/>
                <a:cs typeface="Calibri"/>
                <a:sym typeface="Calibri"/>
              </a:rPr>
              <a:t> </a:t>
            </a:r>
            <a:r>
              <a:rPr lang="fr-FR" sz="2800" u="sng">
                <a:solidFill>
                  <a:srgbClr val="000000"/>
                </a:solidFill>
              </a:rPr>
              <a:t>SRTF (temps restant le plus court d'abord)</a:t>
            </a:r>
            <a:endParaRPr sz="3200">
              <a:latin typeface="Calibri"/>
              <a:ea typeface="Calibri"/>
              <a:cs typeface="Calibri"/>
              <a:sym typeface="Calibri"/>
            </a:endParaRPr>
          </a:p>
        </p:txBody>
      </p:sp>
      <p:sp>
        <p:nvSpPr>
          <p:cNvPr id="1338" name="Google Shape;1338;p134"/>
          <p:cNvSpPr txBox="1"/>
          <p:nvPr/>
        </p:nvSpPr>
        <p:spPr>
          <a:xfrm>
            <a:off x="602615" y="3760723"/>
            <a:ext cx="5902960" cy="1351915"/>
          </a:xfrm>
          <a:prstGeom prst="rect">
            <a:avLst/>
          </a:prstGeom>
          <a:noFill/>
          <a:ln>
            <a:noFill/>
          </a:ln>
        </p:spPr>
        <p:txBody>
          <a:bodyPr spcFirstLastPara="1" wrap="square" lIns="0" tIns="12050" rIns="0" bIns="0" anchor="t" anchorCtr="0">
            <a:spAutoFit/>
          </a:bodyPr>
          <a:lstStyle/>
          <a:p>
            <a:pPr marL="380365" marR="0" lvl="0" indent="-342900" algn="l" rtl="0">
              <a:lnSpc>
                <a:spcPct val="100000"/>
              </a:lnSpc>
              <a:spcBef>
                <a:spcPts val="0"/>
              </a:spcBef>
              <a:spcAft>
                <a:spcPts val="0"/>
              </a:spcAft>
              <a:buClr>
                <a:srgbClr val="000000"/>
              </a:buClr>
              <a:buSzPts val="1900"/>
              <a:buFont typeface="Arial"/>
              <a:buChar char="•"/>
            </a:pPr>
            <a:r>
              <a:rPr lang="fr-FR" sz="1900" b="0" i="0" u="none" strike="noStrike" cap="none">
                <a:solidFill>
                  <a:srgbClr val="000000"/>
                </a:solidFill>
                <a:latin typeface="Calibri"/>
                <a:ea typeface="Calibri"/>
                <a:cs typeface="Calibri"/>
                <a:sym typeface="Calibri"/>
              </a:rPr>
              <a:t>Waiting time:</a:t>
            </a:r>
            <a:endParaRPr sz="1900" b="0" i="0" u="none" strike="noStrike" cap="none">
              <a:solidFill>
                <a:srgbClr val="000000"/>
              </a:solidFill>
              <a:latin typeface="Calibri"/>
              <a:ea typeface="Calibri"/>
              <a:cs typeface="Calibri"/>
              <a:sym typeface="Calibri"/>
            </a:endParaRPr>
          </a:p>
          <a:p>
            <a:pPr marL="952500" marR="0" lvl="0" indent="0" algn="l" rtl="0">
              <a:lnSpc>
                <a:spcPct val="100000"/>
              </a:lnSpc>
              <a:spcBef>
                <a:spcPts val="1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wt</a:t>
            </a:r>
            <a:r>
              <a:rPr lang="fr-FR" sz="1650" b="0" i="0" u="none" strike="noStrike" cap="none" baseline="-25000">
                <a:solidFill>
                  <a:srgbClr val="808080"/>
                </a:solidFill>
                <a:latin typeface="Calibri"/>
                <a:ea typeface="Calibri"/>
                <a:cs typeface="Calibri"/>
                <a:sym typeface="Calibri"/>
              </a:rPr>
              <a:t>A </a:t>
            </a:r>
            <a:r>
              <a:rPr lang="fr-FR" sz="1700" b="0" i="0" u="none" strike="noStrike" cap="none">
                <a:solidFill>
                  <a:srgbClr val="808080"/>
                </a:solidFill>
                <a:latin typeface="Calibri"/>
                <a:ea typeface="Calibri"/>
                <a:cs typeface="Calibri"/>
                <a:sym typeface="Calibri"/>
              </a:rPr>
              <a:t>= (0 – 0) + (8 – 8) + (12 - 9) + (14 – 13) + (23 - 20) = 7</a:t>
            </a:r>
            <a:endParaRPr sz="1700" b="0" i="0" u="none" strike="noStrike" cap="none">
              <a:solidFill>
                <a:srgbClr val="000000"/>
              </a:solidFill>
              <a:latin typeface="Calibri"/>
              <a:ea typeface="Calibri"/>
              <a:cs typeface="Calibri"/>
              <a:sym typeface="Calibri"/>
            </a:endParaRPr>
          </a:p>
          <a:p>
            <a:pPr marL="951864"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wt</a:t>
            </a:r>
            <a:r>
              <a:rPr lang="fr-FR" sz="1650" b="0" i="0" u="none" strike="noStrike" cap="none" baseline="-25000">
                <a:solidFill>
                  <a:srgbClr val="808080"/>
                </a:solidFill>
                <a:latin typeface="Calibri"/>
                <a:ea typeface="Calibri"/>
                <a:cs typeface="Calibri"/>
                <a:sym typeface="Calibri"/>
              </a:rPr>
              <a:t>B </a:t>
            </a:r>
            <a:r>
              <a:rPr lang="fr-FR" sz="1700" b="0" i="0" u="none" strike="noStrike" cap="none">
                <a:solidFill>
                  <a:srgbClr val="808080"/>
                </a:solidFill>
                <a:latin typeface="Calibri"/>
                <a:ea typeface="Calibri"/>
                <a:cs typeface="Calibri"/>
                <a:sym typeface="Calibri"/>
              </a:rPr>
              <a:t>= (6 – 2) + (16 – 7) + (27-24) = 16</a:t>
            </a:r>
            <a:endParaRPr sz="1700" b="0" i="0" u="none" strike="noStrike" cap="none">
              <a:solidFill>
                <a:srgbClr val="000000"/>
              </a:solidFill>
              <a:latin typeface="Calibri"/>
              <a:ea typeface="Calibri"/>
              <a:cs typeface="Calibri"/>
              <a:sym typeface="Calibri"/>
            </a:endParaRPr>
          </a:p>
          <a:p>
            <a:pPr marL="951864"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wt</a:t>
            </a:r>
            <a:r>
              <a:rPr lang="fr-FR" sz="1650" b="0" i="0" u="none" strike="noStrike" cap="none" baseline="-25000">
                <a:solidFill>
                  <a:srgbClr val="808080"/>
                </a:solidFill>
                <a:latin typeface="Calibri"/>
                <a:ea typeface="Calibri"/>
                <a:cs typeface="Calibri"/>
                <a:sym typeface="Calibri"/>
              </a:rPr>
              <a:t>C </a:t>
            </a:r>
            <a:r>
              <a:rPr lang="fr-FR" sz="1700" b="0" i="0" u="none" strike="noStrike" cap="none">
                <a:solidFill>
                  <a:srgbClr val="808080"/>
                </a:solidFill>
                <a:latin typeface="Calibri"/>
                <a:ea typeface="Calibri"/>
                <a:cs typeface="Calibri"/>
                <a:sym typeface="Calibri"/>
              </a:rPr>
              <a:t>= (4 – 3) + (9 – 9) = 1</a:t>
            </a:r>
            <a:endParaRPr sz="1700" b="0" i="0" u="none" strike="noStrike" cap="none">
              <a:solidFill>
                <a:srgbClr val="000000"/>
              </a:solidFill>
              <a:latin typeface="Calibri"/>
              <a:ea typeface="Calibri"/>
              <a:cs typeface="Calibri"/>
              <a:sym typeface="Calibri"/>
            </a:endParaRPr>
          </a:p>
          <a:p>
            <a:pPr marL="951864"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808080"/>
                </a:solidFill>
                <a:latin typeface="Calibri"/>
                <a:ea typeface="Calibri"/>
                <a:cs typeface="Calibri"/>
                <a:sym typeface="Calibri"/>
              </a:rPr>
              <a:t>wt</a:t>
            </a:r>
            <a:r>
              <a:rPr lang="fr-FR" sz="1650" b="0" i="0" u="none" strike="noStrike" cap="none" baseline="-25000">
                <a:solidFill>
                  <a:srgbClr val="808080"/>
                </a:solidFill>
                <a:latin typeface="Calibri"/>
                <a:ea typeface="Calibri"/>
                <a:cs typeface="Calibri"/>
                <a:sym typeface="Calibri"/>
              </a:rPr>
              <a:t>D </a:t>
            </a:r>
            <a:r>
              <a:rPr lang="fr-FR" sz="1700" b="0" i="0" u="none" strike="noStrike" cap="none">
                <a:solidFill>
                  <a:srgbClr val="808080"/>
                </a:solidFill>
                <a:latin typeface="Calibri"/>
                <a:ea typeface="Calibri"/>
                <a:cs typeface="Calibri"/>
                <a:sym typeface="Calibri"/>
              </a:rPr>
              <a:t>= (7 – 7) + (11 – 10) + (13 – 13) = 1</a:t>
            </a:r>
            <a:endParaRPr sz="1700" b="0" i="0" u="none" strike="noStrike" cap="none">
              <a:solidFill>
                <a:srgbClr val="000000"/>
              </a:solidFill>
              <a:latin typeface="Calibri"/>
              <a:ea typeface="Calibri"/>
              <a:cs typeface="Calibri"/>
              <a:sym typeface="Calibri"/>
            </a:endParaRPr>
          </a:p>
        </p:txBody>
      </p:sp>
      <p:sp>
        <p:nvSpPr>
          <p:cNvPr id="1339" name="Google Shape;1339;p134"/>
          <p:cNvSpPr/>
          <p:nvPr/>
        </p:nvSpPr>
        <p:spPr>
          <a:xfrm>
            <a:off x="549275" y="1871738"/>
            <a:ext cx="8061185" cy="186206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0" name="Google Shape;1340;p134"/>
          <p:cNvSpPr/>
          <p:nvPr/>
        </p:nvSpPr>
        <p:spPr>
          <a:xfrm>
            <a:off x="2429255" y="2014727"/>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1" name="Google Shape;1341;p134"/>
          <p:cNvSpPr/>
          <p:nvPr/>
        </p:nvSpPr>
        <p:spPr>
          <a:xfrm>
            <a:off x="2438400"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2" name="Google Shape;1342;p134"/>
          <p:cNvSpPr/>
          <p:nvPr/>
        </p:nvSpPr>
        <p:spPr>
          <a:xfrm>
            <a:off x="2496328"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3" name="Google Shape;1343;p134"/>
          <p:cNvSpPr/>
          <p:nvPr/>
        </p:nvSpPr>
        <p:spPr>
          <a:xfrm>
            <a:off x="2825495" y="2014727"/>
            <a:ext cx="252983" cy="33680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4" name="Google Shape;1344;p134"/>
          <p:cNvSpPr/>
          <p:nvPr/>
        </p:nvSpPr>
        <p:spPr>
          <a:xfrm>
            <a:off x="2835275"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5" name="Google Shape;1345;p134"/>
          <p:cNvSpPr/>
          <p:nvPr/>
        </p:nvSpPr>
        <p:spPr>
          <a:xfrm>
            <a:off x="2893203"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6" name="Google Shape;1346;p134"/>
          <p:cNvSpPr txBox="1"/>
          <p:nvPr/>
        </p:nvSpPr>
        <p:spPr>
          <a:xfrm>
            <a:off x="2517139" y="1724343"/>
            <a:ext cx="5429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347" name="Google Shape;1347;p134"/>
          <p:cNvSpPr/>
          <p:nvPr/>
        </p:nvSpPr>
        <p:spPr>
          <a:xfrm>
            <a:off x="3657599" y="2014727"/>
            <a:ext cx="181355" cy="33070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8" name="Google Shape;1348;p134"/>
          <p:cNvSpPr/>
          <p:nvPr/>
        </p:nvSpPr>
        <p:spPr>
          <a:xfrm>
            <a:off x="3749675" y="2139951"/>
            <a:ext cx="0" cy="176530"/>
          </a:xfrm>
          <a:custGeom>
            <a:avLst/>
            <a:gdLst/>
            <a:ahLst/>
            <a:cxnLst/>
            <a:rect l="l" t="t" r="r" b="b"/>
            <a:pathLst>
              <a:path w="120000" h="176530" extrusionOk="0">
                <a:moveTo>
                  <a:pt x="0" y="176212"/>
                </a:moveTo>
                <a:lnTo>
                  <a:pt x="0"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49" name="Google Shape;1349;p134"/>
          <p:cNvSpPr/>
          <p:nvPr/>
        </p:nvSpPr>
        <p:spPr>
          <a:xfrm>
            <a:off x="3686181" y="2076456"/>
            <a:ext cx="127000" cy="76200"/>
          </a:xfrm>
          <a:custGeom>
            <a:avLst/>
            <a:gdLst/>
            <a:ahLst/>
            <a:cxnLst/>
            <a:rect l="l" t="t" r="r" b="b"/>
            <a:pathLst>
              <a:path w="127000" h="76200" extrusionOk="0">
                <a:moveTo>
                  <a:pt x="63487" y="0"/>
                </a:moveTo>
                <a:lnTo>
                  <a:pt x="0" y="76200"/>
                </a:lnTo>
                <a:lnTo>
                  <a:pt x="127000" y="76187"/>
                </a:lnTo>
                <a:lnTo>
                  <a:pt x="6348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50" name="Google Shape;1350;p134"/>
          <p:cNvSpPr txBox="1"/>
          <p:nvPr/>
        </p:nvSpPr>
        <p:spPr>
          <a:xfrm>
            <a:off x="3660140" y="1724342"/>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351" name="Google Shape;1351;p134"/>
          <p:cNvSpPr txBox="1"/>
          <p:nvPr/>
        </p:nvSpPr>
        <p:spPr>
          <a:xfrm>
            <a:off x="1542414" y="5399785"/>
            <a:ext cx="2882900" cy="275590"/>
          </a:xfrm>
          <a:prstGeom prst="rect">
            <a:avLst/>
          </a:prstGeom>
          <a:noFill/>
          <a:ln>
            <a:noFill/>
          </a:ln>
        </p:spPr>
        <p:txBody>
          <a:bodyPr spcFirstLastPara="1" wrap="square" lIns="0" tIns="0" rIns="0" bIns="0" anchor="t" anchorCtr="0">
            <a:spAutoFit/>
          </a:bodyPr>
          <a:lstStyle/>
          <a:p>
            <a:pPr marL="12700" marR="0" lvl="0" indent="0" algn="l" rtl="0">
              <a:lnSpc>
                <a:spcPct val="101176"/>
              </a:lnSpc>
              <a:spcBef>
                <a:spcPts val="0"/>
              </a:spcBef>
              <a:spcAft>
                <a:spcPts val="0"/>
              </a:spcAft>
              <a:buClr>
                <a:srgbClr val="000000"/>
              </a:buClr>
              <a:buSzPts val="1700"/>
              <a:buFont typeface="Arial"/>
              <a:buNone/>
            </a:pPr>
            <a:r>
              <a:rPr lang="fr-FR" sz="1700" b="0" i="0" u="none" strike="noStrike" cap="none">
                <a:solidFill>
                  <a:srgbClr val="000000"/>
                </a:solidFill>
                <a:latin typeface="Calibri"/>
                <a:ea typeface="Calibri"/>
                <a:cs typeface="Calibri"/>
                <a:sym typeface="Calibri"/>
              </a:rPr>
              <a:t>wt</a:t>
            </a:r>
            <a:r>
              <a:rPr lang="fr-FR" sz="1650" b="0" i="0" u="none" strike="noStrike" cap="none" baseline="-25000">
                <a:solidFill>
                  <a:srgbClr val="000000"/>
                </a:solidFill>
                <a:latin typeface="Calibri"/>
                <a:ea typeface="Calibri"/>
                <a:cs typeface="Calibri"/>
                <a:sym typeface="Calibri"/>
              </a:rPr>
              <a:t>AVG </a:t>
            </a:r>
            <a:r>
              <a:rPr lang="fr-FR" sz="1700" b="0" i="0" u="none" strike="noStrike" cap="none">
                <a:solidFill>
                  <a:srgbClr val="000000"/>
                </a:solidFill>
                <a:latin typeface="Calibri"/>
                <a:ea typeface="Calibri"/>
                <a:cs typeface="Calibri"/>
                <a:sym typeface="Calibri"/>
              </a:rPr>
              <a:t>= (7 + 16 + 1 + 1) / 4 = 6.25</a:t>
            </a:r>
            <a:endParaRPr sz="1700" b="0" i="0" u="none" strike="noStrike" cap="none">
              <a:solidFill>
                <a:srgbClr val="000000"/>
              </a:solidFill>
              <a:latin typeface="Calibri"/>
              <a:ea typeface="Calibri"/>
              <a:cs typeface="Calibri"/>
              <a:sym typeface="Calibri"/>
            </a:endParaRPr>
          </a:p>
        </p:txBody>
      </p:sp>
      <p:sp>
        <p:nvSpPr>
          <p:cNvPr id="1352" name="Google Shape;1352;p134"/>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51</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356"/>
        <p:cNvGrpSpPr/>
        <p:nvPr/>
      </p:nvGrpSpPr>
      <p:grpSpPr>
        <a:xfrm>
          <a:off x="0" y="0"/>
          <a:ext cx="0" cy="0"/>
          <a:chOff x="0" y="0"/>
          <a:chExt cx="0" cy="0"/>
        </a:xfrm>
      </p:grpSpPr>
      <p:sp>
        <p:nvSpPr>
          <p:cNvPr id="1357" name="Google Shape;1357;p135"/>
          <p:cNvSpPr txBox="1">
            <a:spLocks noGrp="1"/>
          </p:cNvSpPr>
          <p:nvPr>
            <p:ph type="title"/>
          </p:nvPr>
        </p:nvSpPr>
        <p:spPr>
          <a:xfrm>
            <a:off x="691515" y="441451"/>
            <a:ext cx="7092315" cy="513715"/>
          </a:xfrm>
          <a:prstGeom prst="rect">
            <a:avLst/>
          </a:prstGeom>
          <a:noFill/>
          <a:ln>
            <a:noFill/>
          </a:ln>
        </p:spPr>
        <p:txBody>
          <a:bodyPr spcFirstLastPara="1" wrap="square" lIns="0" tIns="13325" rIns="0" bIns="0" anchor="t" anchorCtr="0">
            <a:spAutoFit/>
          </a:bodyPr>
          <a:lstStyle/>
          <a:p>
            <a:pPr marL="12700" lvl="0" indent="0" algn="l" rtl="0">
              <a:lnSpc>
                <a:spcPct val="100000"/>
              </a:lnSpc>
              <a:spcBef>
                <a:spcPts val="0"/>
              </a:spcBef>
              <a:spcAft>
                <a:spcPts val="0"/>
              </a:spcAft>
              <a:buSzPts val="1400"/>
              <a:buNone/>
            </a:pPr>
            <a:r>
              <a:rPr lang="fr-FR" sz="3200" b="0">
                <a:latin typeface="Calibri"/>
                <a:ea typeface="Calibri"/>
                <a:cs typeface="Calibri"/>
                <a:sym typeface="Calibri"/>
              </a:rPr>
              <a:t> </a:t>
            </a:r>
            <a:r>
              <a:rPr lang="fr-FR" sz="2800" u="sng">
                <a:solidFill>
                  <a:srgbClr val="000000"/>
                </a:solidFill>
              </a:rPr>
              <a:t>SRTF (temps restant le plus court d'abord)</a:t>
            </a:r>
            <a:endParaRPr sz="3200">
              <a:latin typeface="Calibri"/>
              <a:ea typeface="Calibri"/>
              <a:cs typeface="Calibri"/>
              <a:sym typeface="Calibri"/>
            </a:endParaRPr>
          </a:p>
        </p:txBody>
      </p:sp>
      <p:sp>
        <p:nvSpPr>
          <p:cNvPr id="1358" name="Google Shape;1358;p135"/>
          <p:cNvSpPr txBox="1"/>
          <p:nvPr/>
        </p:nvSpPr>
        <p:spPr>
          <a:xfrm>
            <a:off x="602615" y="3760723"/>
            <a:ext cx="2186305" cy="1351915"/>
          </a:xfrm>
          <a:prstGeom prst="rect">
            <a:avLst/>
          </a:prstGeom>
          <a:noFill/>
          <a:ln>
            <a:noFill/>
          </a:ln>
        </p:spPr>
        <p:txBody>
          <a:bodyPr spcFirstLastPara="1" wrap="square" lIns="0" tIns="12050" rIns="0" bIns="0" anchor="t" anchorCtr="0">
            <a:spAutoFit/>
          </a:bodyPr>
          <a:lstStyle/>
          <a:p>
            <a:pPr marL="380365" marR="0" lvl="0" indent="-342900" algn="l" rtl="0">
              <a:lnSpc>
                <a:spcPct val="100000"/>
              </a:lnSpc>
              <a:spcBef>
                <a:spcPts val="0"/>
              </a:spcBef>
              <a:spcAft>
                <a:spcPts val="0"/>
              </a:spcAft>
              <a:buClr>
                <a:srgbClr val="000000"/>
              </a:buClr>
              <a:buSzPts val="1900"/>
              <a:buFont typeface="Arial"/>
              <a:buChar char="•"/>
            </a:pPr>
            <a:r>
              <a:rPr lang="fr-FR" sz="1900" b="0" i="0" u="none" strike="noStrike" cap="none">
                <a:solidFill>
                  <a:srgbClr val="000000"/>
                </a:solidFill>
                <a:latin typeface="Calibri"/>
                <a:ea typeface="Calibri"/>
                <a:cs typeface="Calibri"/>
                <a:sym typeface="Calibri"/>
              </a:rPr>
              <a:t>Response time:</a:t>
            </a:r>
            <a:endParaRPr sz="1900" b="0" i="0" u="none" strike="noStrike" cap="none">
              <a:solidFill>
                <a:srgbClr val="000000"/>
              </a:solidFill>
              <a:latin typeface="Calibri"/>
              <a:ea typeface="Calibri"/>
              <a:cs typeface="Calibri"/>
              <a:sym typeface="Calibri"/>
            </a:endParaRPr>
          </a:p>
          <a:p>
            <a:pPr marL="952500" marR="0" lvl="0" indent="0" algn="l" rtl="0">
              <a:lnSpc>
                <a:spcPct val="100000"/>
              </a:lnSpc>
              <a:spcBef>
                <a:spcPts val="10"/>
              </a:spcBef>
              <a:spcAft>
                <a:spcPts val="0"/>
              </a:spcAft>
              <a:buClr>
                <a:srgbClr val="000000"/>
              </a:buClr>
              <a:buSzPts val="1700"/>
              <a:buFont typeface="Arial"/>
              <a:buNone/>
            </a:pPr>
            <a:r>
              <a:rPr lang="fr-FR" sz="1700" b="0" i="0" u="none" strike="noStrike" cap="none">
                <a:solidFill>
                  <a:srgbClr val="000000"/>
                </a:solidFill>
                <a:latin typeface="Calibri"/>
                <a:ea typeface="Calibri"/>
                <a:cs typeface="Calibri"/>
                <a:sym typeface="Calibri"/>
              </a:rPr>
              <a:t>rt</a:t>
            </a:r>
            <a:r>
              <a:rPr lang="fr-FR" sz="1650" b="0" i="0" u="none" strike="noStrike" cap="none" baseline="-25000">
                <a:solidFill>
                  <a:srgbClr val="000000"/>
                </a:solidFill>
                <a:latin typeface="Calibri"/>
                <a:ea typeface="Calibri"/>
                <a:cs typeface="Calibri"/>
                <a:sym typeface="Calibri"/>
              </a:rPr>
              <a:t>A  </a:t>
            </a:r>
            <a:r>
              <a:rPr lang="fr-FR" sz="1700" b="0" i="0" u="none" strike="noStrike" cap="none">
                <a:solidFill>
                  <a:srgbClr val="000000"/>
                </a:solidFill>
                <a:latin typeface="Calibri"/>
                <a:ea typeface="Calibri"/>
                <a:cs typeface="Calibri"/>
                <a:sym typeface="Calibri"/>
              </a:rPr>
              <a:t>= 0 – 0 = 0</a:t>
            </a:r>
            <a:endParaRPr sz="1700" b="0" i="0" u="none" strike="noStrike" cap="none">
              <a:solidFill>
                <a:srgbClr val="000000"/>
              </a:solidFill>
              <a:latin typeface="Calibri"/>
              <a:ea typeface="Calibri"/>
              <a:cs typeface="Calibri"/>
              <a:sym typeface="Calibri"/>
            </a:endParaRPr>
          </a:p>
          <a:p>
            <a:pPr marL="951864"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000000"/>
                </a:solidFill>
                <a:latin typeface="Calibri"/>
                <a:ea typeface="Calibri"/>
                <a:cs typeface="Calibri"/>
                <a:sym typeface="Calibri"/>
              </a:rPr>
              <a:t>rt</a:t>
            </a:r>
            <a:r>
              <a:rPr lang="fr-FR" sz="1650" b="0" i="0" u="none" strike="noStrike" cap="none" baseline="-25000">
                <a:solidFill>
                  <a:srgbClr val="000000"/>
                </a:solidFill>
                <a:latin typeface="Calibri"/>
                <a:ea typeface="Calibri"/>
                <a:cs typeface="Calibri"/>
                <a:sym typeface="Calibri"/>
              </a:rPr>
              <a:t>B  </a:t>
            </a:r>
            <a:r>
              <a:rPr lang="fr-FR" sz="1700" b="0" i="0" u="none" strike="noStrike" cap="none">
                <a:solidFill>
                  <a:srgbClr val="000000"/>
                </a:solidFill>
                <a:latin typeface="Calibri"/>
                <a:ea typeface="Calibri"/>
                <a:cs typeface="Calibri"/>
                <a:sym typeface="Calibri"/>
              </a:rPr>
              <a:t>= 6 – 2 = 4</a:t>
            </a:r>
            <a:endParaRPr sz="1700" b="0" i="0" u="none" strike="noStrike" cap="none">
              <a:solidFill>
                <a:srgbClr val="000000"/>
              </a:solidFill>
              <a:latin typeface="Calibri"/>
              <a:ea typeface="Calibri"/>
              <a:cs typeface="Calibri"/>
              <a:sym typeface="Calibri"/>
            </a:endParaRPr>
          </a:p>
          <a:p>
            <a:pPr marL="951864"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000000"/>
                </a:solidFill>
                <a:latin typeface="Calibri"/>
                <a:ea typeface="Calibri"/>
                <a:cs typeface="Calibri"/>
                <a:sym typeface="Calibri"/>
              </a:rPr>
              <a:t>rt</a:t>
            </a:r>
            <a:r>
              <a:rPr lang="fr-FR" sz="1650" b="0" i="0" u="none" strike="noStrike" cap="none" baseline="-25000">
                <a:solidFill>
                  <a:srgbClr val="000000"/>
                </a:solidFill>
                <a:latin typeface="Calibri"/>
                <a:ea typeface="Calibri"/>
                <a:cs typeface="Calibri"/>
                <a:sym typeface="Calibri"/>
              </a:rPr>
              <a:t>C  </a:t>
            </a:r>
            <a:r>
              <a:rPr lang="fr-FR" sz="1700" b="0" i="0" u="none" strike="noStrike" cap="none">
                <a:solidFill>
                  <a:srgbClr val="000000"/>
                </a:solidFill>
                <a:latin typeface="Calibri"/>
                <a:ea typeface="Calibri"/>
                <a:cs typeface="Calibri"/>
                <a:sym typeface="Calibri"/>
              </a:rPr>
              <a:t>= 4 – 3 = 1</a:t>
            </a:r>
            <a:endParaRPr sz="1700" b="0" i="0" u="none" strike="noStrike" cap="none">
              <a:solidFill>
                <a:srgbClr val="000000"/>
              </a:solidFill>
              <a:latin typeface="Calibri"/>
              <a:ea typeface="Calibri"/>
              <a:cs typeface="Calibri"/>
              <a:sym typeface="Calibri"/>
            </a:endParaRPr>
          </a:p>
          <a:p>
            <a:pPr marL="951864" marR="0" lvl="0" indent="0" algn="l" rtl="0">
              <a:lnSpc>
                <a:spcPct val="100000"/>
              </a:lnSpc>
              <a:spcBef>
                <a:spcPts val="0"/>
              </a:spcBef>
              <a:spcAft>
                <a:spcPts val="0"/>
              </a:spcAft>
              <a:buClr>
                <a:srgbClr val="000000"/>
              </a:buClr>
              <a:buSzPts val="1700"/>
              <a:buFont typeface="Arial"/>
              <a:buNone/>
            </a:pPr>
            <a:r>
              <a:rPr lang="fr-FR" sz="1700" b="0" i="0" u="none" strike="noStrike" cap="none">
                <a:solidFill>
                  <a:srgbClr val="000000"/>
                </a:solidFill>
                <a:latin typeface="Calibri"/>
                <a:ea typeface="Calibri"/>
                <a:cs typeface="Calibri"/>
                <a:sym typeface="Calibri"/>
              </a:rPr>
              <a:t>rt</a:t>
            </a:r>
            <a:r>
              <a:rPr lang="fr-FR" sz="1650" b="0" i="0" u="none" strike="noStrike" cap="none" baseline="-25000">
                <a:solidFill>
                  <a:srgbClr val="000000"/>
                </a:solidFill>
                <a:latin typeface="Calibri"/>
                <a:ea typeface="Calibri"/>
                <a:cs typeface="Calibri"/>
                <a:sym typeface="Calibri"/>
              </a:rPr>
              <a:t>D  </a:t>
            </a:r>
            <a:r>
              <a:rPr lang="fr-FR" sz="1700" b="0" i="0" u="none" strike="noStrike" cap="none">
                <a:solidFill>
                  <a:srgbClr val="000000"/>
                </a:solidFill>
                <a:latin typeface="Calibri"/>
                <a:ea typeface="Calibri"/>
                <a:cs typeface="Calibri"/>
                <a:sym typeface="Calibri"/>
              </a:rPr>
              <a:t>= 7 – 7 = 0</a:t>
            </a:r>
            <a:endParaRPr sz="1700" b="0" i="0" u="none" strike="noStrike" cap="none">
              <a:solidFill>
                <a:srgbClr val="000000"/>
              </a:solidFill>
              <a:latin typeface="Calibri"/>
              <a:ea typeface="Calibri"/>
              <a:cs typeface="Calibri"/>
              <a:sym typeface="Calibri"/>
            </a:endParaRPr>
          </a:p>
        </p:txBody>
      </p:sp>
      <p:sp>
        <p:nvSpPr>
          <p:cNvPr id="1359" name="Google Shape;1359;p135"/>
          <p:cNvSpPr/>
          <p:nvPr/>
        </p:nvSpPr>
        <p:spPr>
          <a:xfrm>
            <a:off x="549275" y="1871738"/>
            <a:ext cx="8061185" cy="1862062"/>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0" name="Google Shape;1360;p135"/>
          <p:cNvSpPr/>
          <p:nvPr/>
        </p:nvSpPr>
        <p:spPr>
          <a:xfrm>
            <a:off x="2429255" y="2014727"/>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1" name="Google Shape;1361;p135"/>
          <p:cNvSpPr/>
          <p:nvPr/>
        </p:nvSpPr>
        <p:spPr>
          <a:xfrm>
            <a:off x="2438400"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2" name="Google Shape;1362;p135"/>
          <p:cNvSpPr/>
          <p:nvPr/>
        </p:nvSpPr>
        <p:spPr>
          <a:xfrm>
            <a:off x="2496328"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3" name="Google Shape;1363;p135"/>
          <p:cNvSpPr/>
          <p:nvPr/>
        </p:nvSpPr>
        <p:spPr>
          <a:xfrm>
            <a:off x="2825495" y="2014727"/>
            <a:ext cx="252983" cy="336803"/>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4" name="Google Shape;1364;p135"/>
          <p:cNvSpPr/>
          <p:nvPr/>
        </p:nvSpPr>
        <p:spPr>
          <a:xfrm>
            <a:off x="2835275" y="2130032"/>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5" name="Google Shape;1365;p135"/>
          <p:cNvSpPr/>
          <p:nvPr/>
        </p:nvSpPr>
        <p:spPr>
          <a:xfrm>
            <a:off x="2893203" y="2076456"/>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6" name="Google Shape;1366;p135"/>
          <p:cNvSpPr txBox="1"/>
          <p:nvPr/>
        </p:nvSpPr>
        <p:spPr>
          <a:xfrm>
            <a:off x="2517139" y="1724343"/>
            <a:ext cx="5429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367" name="Google Shape;1367;p135"/>
          <p:cNvSpPr/>
          <p:nvPr/>
        </p:nvSpPr>
        <p:spPr>
          <a:xfrm>
            <a:off x="3657599" y="2014727"/>
            <a:ext cx="181355" cy="330707"/>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8" name="Google Shape;1368;p135"/>
          <p:cNvSpPr/>
          <p:nvPr/>
        </p:nvSpPr>
        <p:spPr>
          <a:xfrm>
            <a:off x="3749675" y="2139951"/>
            <a:ext cx="0" cy="176530"/>
          </a:xfrm>
          <a:custGeom>
            <a:avLst/>
            <a:gdLst/>
            <a:ahLst/>
            <a:cxnLst/>
            <a:rect l="l" t="t" r="r" b="b"/>
            <a:pathLst>
              <a:path w="120000" h="176530" extrusionOk="0">
                <a:moveTo>
                  <a:pt x="0" y="176212"/>
                </a:moveTo>
                <a:lnTo>
                  <a:pt x="0"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69" name="Google Shape;1369;p135"/>
          <p:cNvSpPr/>
          <p:nvPr/>
        </p:nvSpPr>
        <p:spPr>
          <a:xfrm>
            <a:off x="3686181" y="2076456"/>
            <a:ext cx="127000" cy="76200"/>
          </a:xfrm>
          <a:custGeom>
            <a:avLst/>
            <a:gdLst/>
            <a:ahLst/>
            <a:cxnLst/>
            <a:rect l="l" t="t" r="r" b="b"/>
            <a:pathLst>
              <a:path w="127000" h="76200" extrusionOk="0">
                <a:moveTo>
                  <a:pt x="63487" y="0"/>
                </a:moveTo>
                <a:lnTo>
                  <a:pt x="0" y="76200"/>
                </a:lnTo>
                <a:lnTo>
                  <a:pt x="127000" y="76187"/>
                </a:lnTo>
                <a:lnTo>
                  <a:pt x="63487"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370" name="Google Shape;1370;p135"/>
          <p:cNvSpPr txBox="1"/>
          <p:nvPr/>
        </p:nvSpPr>
        <p:spPr>
          <a:xfrm>
            <a:off x="3660140" y="1724342"/>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371" name="Google Shape;1371;p135"/>
          <p:cNvSpPr txBox="1"/>
          <p:nvPr/>
        </p:nvSpPr>
        <p:spPr>
          <a:xfrm>
            <a:off x="1542414" y="5399785"/>
            <a:ext cx="2693670" cy="275590"/>
          </a:xfrm>
          <a:prstGeom prst="rect">
            <a:avLst/>
          </a:prstGeom>
          <a:noFill/>
          <a:ln>
            <a:noFill/>
          </a:ln>
        </p:spPr>
        <p:txBody>
          <a:bodyPr spcFirstLastPara="1" wrap="square" lIns="0" tIns="0" rIns="0" bIns="0" anchor="t" anchorCtr="0">
            <a:spAutoFit/>
          </a:bodyPr>
          <a:lstStyle/>
          <a:p>
            <a:pPr marL="12700" marR="0" lvl="0" indent="0" algn="l" rtl="0">
              <a:lnSpc>
                <a:spcPct val="101176"/>
              </a:lnSpc>
              <a:spcBef>
                <a:spcPts val="0"/>
              </a:spcBef>
              <a:spcAft>
                <a:spcPts val="0"/>
              </a:spcAft>
              <a:buClr>
                <a:srgbClr val="000000"/>
              </a:buClr>
              <a:buSzPts val="1700"/>
              <a:buFont typeface="Arial"/>
              <a:buNone/>
            </a:pPr>
            <a:r>
              <a:rPr lang="fr-FR" sz="1700" b="0" i="0" u="none" strike="noStrike" cap="none">
                <a:solidFill>
                  <a:srgbClr val="000000"/>
                </a:solidFill>
                <a:latin typeface="Calibri"/>
                <a:ea typeface="Calibri"/>
                <a:cs typeface="Calibri"/>
                <a:sym typeface="Calibri"/>
              </a:rPr>
              <a:t>rt</a:t>
            </a:r>
            <a:r>
              <a:rPr lang="fr-FR" sz="1650" b="0" i="0" u="none" strike="noStrike" cap="none" baseline="-25000">
                <a:solidFill>
                  <a:srgbClr val="000000"/>
                </a:solidFill>
                <a:latin typeface="Calibri"/>
                <a:ea typeface="Calibri"/>
                <a:cs typeface="Calibri"/>
                <a:sym typeface="Calibri"/>
              </a:rPr>
              <a:t>AVG </a:t>
            </a:r>
            <a:r>
              <a:rPr lang="fr-FR" sz="1700" b="0" i="0" u="none" strike="noStrike" cap="none">
                <a:solidFill>
                  <a:srgbClr val="000000"/>
                </a:solidFill>
                <a:latin typeface="Calibri"/>
                <a:ea typeface="Calibri"/>
                <a:cs typeface="Calibri"/>
                <a:sym typeface="Calibri"/>
              </a:rPr>
              <a:t>= (0 + 4 + 1 + 0) / 4 = 1.25</a:t>
            </a:r>
            <a:endParaRPr sz="1700" b="0" i="0" u="none" strike="noStrike" cap="none">
              <a:solidFill>
                <a:srgbClr val="000000"/>
              </a:solidFill>
              <a:latin typeface="Calibri"/>
              <a:ea typeface="Calibri"/>
              <a:cs typeface="Calibri"/>
              <a:sym typeface="Calibri"/>
            </a:endParaRPr>
          </a:p>
        </p:txBody>
      </p:sp>
      <p:sp>
        <p:nvSpPr>
          <p:cNvPr id="1372" name="Google Shape;1372;p135"/>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52</a:t>
            </a:fld>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377"/>
        <p:cNvGrpSpPr/>
        <p:nvPr/>
      </p:nvGrpSpPr>
      <p:grpSpPr>
        <a:xfrm>
          <a:off x="0" y="0"/>
          <a:ext cx="0" cy="0"/>
          <a:chOff x="0" y="0"/>
          <a:chExt cx="0" cy="0"/>
        </a:xfrm>
      </p:grpSpPr>
      <p:sp>
        <p:nvSpPr>
          <p:cNvPr id="1378" name="Google Shape;1378;p136"/>
          <p:cNvSpPr txBox="1">
            <a:spLocks noGrp="1"/>
          </p:cNvSpPr>
          <p:nvPr>
            <p:ph type="title"/>
          </p:nvPr>
        </p:nvSpPr>
        <p:spPr>
          <a:xfrm>
            <a:off x="64477" y="221972"/>
            <a:ext cx="8385809" cy="627736"/>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SzPts val="1400"/>
              <a:buNone/>
            </a:pPr>
            <a:r>
              <a:rPr lang="fr-FR" sz="3200" u="sng">
                <a:latin typeface="Times New Roman"/>
                <a:ea typeface="Times New Roman"/>
                <a:cs typeface="Times New Roman"/>
                <a:sym typeface="Times New Roman"/>
              </a:rPr>
              <a:t>Algorithme du Tourniquet (Round Robin</a:t>
            </a:r>
            <a:r>
              <a:rPr lang="fr-FR" b="0">
                <a:latin typeface="Calibri"/>
                <a:ea typeface="Calibri"/>
                <a:cs typeface="Calibri"/>
                <a:sym typeface="Calibri"/>
              </a:rPr>
              <a:t>)</a:t>
            </a:r>
            <a:endParaRPr/>
          </a:p>
        </p:txBody>
      </p:sp>
      <p:sp>
        <p:nvSpPr>
          <p:cNvPr id="1379" name="Google Shape;1379;p136"/>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53</a:t>
            </a:fld>
            <a:endParaRPr/>
          </a:p>
        </p:txBody>
      </p:sp>
      <p:sp>
        <p:nvSpPr>
          <p:cNvPr id="1380" name="Google Shape;1380;p136"/>
          <p:cNvSpPr txBox="1"/>
          <p:nvPr/>
        </p:nvSpPr>
        <p:spPr>
          <a:xfrm>
            <a:off x="78739" y="1101327"/>
            <a:ext cx="8529320" cy="4756785"/>
          </a:xfrm>
          <a:prstGeom prst="rect">
            <a:avLst/>
          </a:prstGeom>
          <a:noFill/>
          <a:ln>
            <a:noFill/>
          </a:ln>
        </p:spPr>
        <p:txBody>
          <a:bodyPr spcFirstLastPara="1" wrap="square" lIns="0" tIns="67925" rIns="0" bIns="0" anchor="t" anchorCtr="0">
            <a:spAutoFit/>
          </a:bodyPr>
          <a:lstStyle/>
          <a:p>
            <a:pPr marL="355600" marR="572135" lvl="0" indent="-343535" algn="l" rtl="0">
              <a:lnSpc>
                <a:spcPct val="108124"/>
              </a:lnSpc>
              <a:spcBef>
                <a:spcPts val="0"/>
              </a:spcBef>
              <a:spcAft>
                <a:spcPts val="0"/>
              </a:spcAft>
              <a:buClr>
                <a:srgbClr val="000000"/>
              </a:buClr>
              <a:buSzPts val="3200"/>
              <a:buFont typeface="Arial"/>
              <a:buChar char="•"/>
            </a:pPr>
            <a:r>
              <a:rPr lang="fr-FR" sz="3200" b="0" i="0" u="none" strike="noStrike" cap="none">
                <a:solidFill>
                  <a:srgbClr val="000000"/>
                </a:solidFill>
                <a:latin typeface="Calibri"/>
                <a:ea typeface="Calibri"/>
                <a:cs typeface="Calibri"/>
                <a:sym typeface="Calibri"/>
              </a:rPr>
              <a:t>Algorithme conçu spécialement pour le temps  partagé</a:t>
            </a:r>
            <a:endParaRPr sz="3200" b="0" i="0" u="none" strike="noStrike" cap="none">
              <a:solidFill>
                <a:srgbClr val="000000"/>
              </a:solidFill>
              <a:latin typeface="Calibri"/>
              <a:ea typeface="Calibri"/>
              <a:cs typeface="Calibri"/>
              <a:sym typeface="Calibri"/>
            </a:endParaRPr>
          </a:p>
          <a:p>
            <a:pPr marL="355600" marR="296545" lvl="0" indent="-343535" algn="l" rtl="0">
              <a:lnSpc>
                <a:spcPct val="108124"/>
              </a:lnSpc>
              <a:spcBef>
                <a:spcPts val="760"/>
              </a:spcBef>
              <a:spcAft>
                <a:spcPts val="0"/>
              </a:spcAft>
              <a:buClr>
                <a:srgbClr val="000000"/>
              </a:buClr>
              <a:buSzPts val="3200"/>
              <a:buFont typeface="Arial"/>
              <a:buChar char="•"/>
            </a:pPr>
            <a:r>
              <a:rPr lang="fr-FR" sz="3200" b="0" i="0" u="none" strike="noStrike" cap="none">
                <a:solidFill>
                  <a:srgbClr val="000000"/>
                </a:solidFill>
                <a:latin typeface="Calibri"/>
                <a:ea typeface="Calibri"/>
                <a:cs typeface="Calibri"/>
                <a:sym typeface="Calibri"/>
              </a:rPr>
              <a:t>Les processus accèdent au processeur, chacun à  leur tour, pour un temps maximal déterminé à  l’avance (le quantum noté q= en général 10-100  millisecondes),</a:t>
            </a:r>
            <a:endParaRPr sz="3200" b="0" i="0" u="none" strike="noStrike" cap="none">
              <a:solidFill>
                <a:srgbClr val="000000"/>
              </a:solidFill>
              <a:latin typeface="Calibri"/>
              <a:ea typeface="Calibri"/>
              <a:cs typeface="Calibri"/>
              <a:sym typeface="Calibri"/>
            </a:endParaRPr>
          </a:p>
          <a:p>
            <a:pPr marL="355600" marR="5080" lvl="0" indent="-343535" algn="l" rtl="0">
              <a:lnSpc>
                <a:spcPct val="108124"/>
              </a:lnSpc>
              <a:spcBef>
                <a:spcPts val="755"/>
              </a:spcBef>
              <a:spcAft>
                <a:spcPts val="0"/>
              </a:spcAft>
              <a:buClr>
                <a:srgbClr val="000000"/>
              </a:buClr>
              <a:buSzPts val="3200"/>
              <a:buFont typeface="Arial"/>
              <a:buChar char="•"/>
            </a:pPr>
            <a:r>
              <a:rPr lang="fr-FR" sz="3200" b="0" i="0" u="none" strike="noStrike" cap="none">
                <a:solidFill>
                  <a:srgbClr val="000000"/>
                </a:solidFill>
                <a:latin typeface="Calibri"/>
                <a:ea typeface="Calibri"/>
                <a:cs typeface="Calibri"/>
                <a:sym typeface="Calibri"/>
              </a:rPr>
              <a:t>Lorsqu’il a épuisé ce temps, ou qu’il se bloque : le  processus suivant est élu et le remplace.</a:t>
            </a:r>
            <a:endParaRPr sz="3200" b="0" i="0" u="none" strike="noStrike" cap="none">
              <a:solidFill>
                <a:srgbClr val="000000"/>
              </a:solidFill>
              <a:latin typeface="Calibri"/>
              <a:ea typeface="Calibri"/>
              <a:cs typeface="Calibri"/>
              <a:sym typeface="Calibri"/>
            </a:endParaRPr>
          </a:p>
          <a:p>
            <a:pPr marL="355600" marR="978535" lvl="0" indent="-342900" algn="l" rtl="0">
              <a:lnSpc>
                <a:spcPct val="107812"/>
              </a:lnSpc>
              <a:spcBef>
                <a:spcPts val="765"/>
              </a:spcBef>
              <a:spcAft>
                <a:spcPts val="0"/>
              </a:spcAft>
              <a:buClr>
                <a:srgbClr val="000000"/>
              </a:buClr>
              <a:buSzPts val="3200"/>
              <a:buFont typeface="Arial"/>
              <a:buChar char="•"/>
            </a:pPr>
            <a:r>
              <a:rPr lang="fr-FR" sz="3200" b="0" i="0" u="none" strike="noStrike" cap="none">
                <a:solidFill>
                  <a:srgbClr val="000000"/>
                </a:solidFill>
                <a:latin typeface="Calibri"/>
                <a:ea typeface="Calibri"/>
                <a:cs typeface="Calibri"/>
                <a:sym typeface="Calibri"/>
              </a:rPr>
              <a:t>Le processus suspendu est mis en queue du  tourniquet (file FIFO circulaire).</a:t>
            </a:r>
            <a:endParaRPr sz="3200" b="0" i="0" u="none" strike="noStrike" cap="none">
              <a:solidFill>
                <a:srgbClr val="000000"/>
              </a:solidFill>
              <a:latin typeface="Calibri"/>
              <a:ea typeface="Calibri"/>
              <a:cs typeface="Calibri"/>
              <a:sym typeface="Calibri"/>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384"/>
        <p:cNvGrpSpPr/>
        <p:nvPr/>
      </p:nvGrpSpPr>
      <p:grpSpPr>
        <a:xfrm>
          <a:off x="0" y="0"/>
          <a:ext cx="0" cy="0"/>
          <a:chOff x="0" y="0"/>
          <a:chExt cx="0" cy="0"/>
        </a:xfrm>
      </p:grpSpPr>
      <p:sp>
        <p:nvSpPr>
          <p:cNvPr id="1385" name="Google Shape;1385;p137"/>
          <p:cNvSpPr txBox="1">
            <a:spLocks noGrp="1"/>
          </p:cNvSpPr>
          <p:nvPr>
            <p:ph type="title"/>
          </p:nvPr>
        </p:nvSpPr>
        <p:spPr>
          <a:xfrm>
            <a:off x="64477" y="186919"/>
            <a:ext cx="4427220" cy="69659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4400" b="0">
                <a:latin typeface="Calibri"/>
                <a:ea typeface="Calibri"/>
                <a:cs typeface="Calibri"/>
                <a:sym typeface="Calibri"/>
              </a:rPr>
              <a:t> </a:t>
            </a:r>
            <a:endParaRPr sz="4400">
              <a:latin typeface="Calibri"/>
              <a:ea typeface="Calibri"/>
              <a:cs typeface="Calibri"/>
              <a:sym typeface="Calibri"/>
            </a:endParaRPr>
          </a:p>
        </p:txBody>
      </p:sp>
      <p:sp>
        <p:nvSpPr>
          <p:cNvPr id="1386" name="Google Shape;1386;p137"/>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54</a:t>
            </a:fld>
            <a:endParaRPr/>
          </a:p>
        </p:txBody>
      </p:sp>
      <p:sp>
        <p:nvSpPr>
          <p:cNvPr id="1387" name="Google Shape;1387;p137"/>
          <p:cNvSpPr/>
          <p:nvPr/>
        </p:nvSpPr>
        <p:spPr>
          <a:xfrm>
            <a:off x="349488" y="198504"/>
            <a:ext cx="8520699" cy="7078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Arial"/>
              <a:buNone/>
            </a:pPr>
            <a:r>
              <a:rPr lang="fr-FR" sz="3200" b="1" i="0" u="sng" strike="noStrike" cap="none">
                <a:solidFill>
                  <a:srgbClr val="000000"/>
                </a:solidFill>
                <a:latin typeface="Times New Roman"/>
                <a:ea typeface="Times New Roman"/>
                <a:cs typeface="Times New Roman"/>
                <a:sym typeface="Times New Roman"/>
              </a:rPr>
              <a:t>Algorithme du Tourniquet (Round Robin</a:t>
            </a:r>
            <a:r>
              <a:rPr lang="fr-FR" sz="4000" b="0" i="0" u="none" strike="noStrike" cap="none">
                <a:solidFill>
                  <a:srgbClr val="000000"/>
                </a:solidFill>
                <a:latin typeface="Calibri"/>
                <a:ea typeface="Calibri"/>
                <a:cs typeface="Calibri"/>
                <a:sym typeface="Calibri"/>
              </a:rPr>
              <a:t>)</a:t>
            </a:r>
            <a:endParaRPr sz="1800" b="0" i="0" u="none" strike="noStrike" cap="none">
              <a:solidFill>
                <a:schemeClr val="dk1"/>
              </a:solidFill>
              <a:latin typeface="Calibri"/>
              <a:ea typeface="Calibri"/>
              <a:cs typeface="Calibri"/>
              <a:sym typeface="Calibri"/>
            </a:endParaRPr>
          </a:p>
        </p:txBody>
      </p:sp>
      <p:sp>
        <p:nvSpPr>
          <p:cNvPr id="1388" name="Google Shape;1388;p137"/>
          <p:cNvSpPr txBox="1"/>
          <p:nvPr/>
        </p:nvSpPr>
        <p:spPr>
          <a:xfrm>
            <a:off x="78739" y="1595104"/>
            <a:ext cx="8592185" cy="2767104"/>
          </a:xfrm>
          <a:prstGeom prst="rect">
            <a:avLst/>
          </a:prstGeom>
          <a:noFill/>
          <a:ln>
            <a:noFill/>
          </a:ln>
        </p:spPr>
        <p:txBody>
          <a:bodyPr spcFirstLastPara="1" wrap="square" lIns="0" tIns="12700" rIns="0" bIns="0" anchor="t" anchorCtr="0">
            <a:spAutoFit/>
          </a:bodyPr>
          <a:lstStyle/>
          <a:p>
            <a:pPr marL="355600" marR="227965" lvl="0" indent="-342900" algn="l" rtl="0">
              <a:lnSpc>
                <a:spcPct val="100000"/>
              </a:lnSpc>
              <a:spcBef>
                <a:spcPts val="0"/>
              </a:spcBef>
              <a:spcAft>
                <a:spcPts val="0"/>
              </a:spcAft>
              <a:buClr>
                <a:srgbClr val="BFD3E4"/>
              </a:buClr>
              <a:buSzPts val="2400"/>
              <a:buFont typeface="Noto Sans Symbols"/>
              <a:buChar char="⚫"/>
            </a:pPr>
            <a:r>
              <a:rPr lang="fr-FR" sz="2400" b="0" i="0" u="none" strike="noStrike" cap="none">
                <a:solidFill>
                  <a:srgbClr val="000000"/>
                </a:solidFill>
                <a:latin typeface="Calibri"/>
                <a:ea typeface="Calibri"/>
                <a:cs typeface="Calibri"/>
                <a:sym typeface="Calibri"/>
              </a:rPr>
              <a:t>Si plus d’un processus essayent d’entrer en même temps à la file  d’attente des processus prêts, la priorité est donnée comme suit:</a:t>
            </a:r>
            <a:endParaRPr sz="2400" b="0" i="0" u="none" strike="noStrike" cap="none">
              <a:solidFill>
                <a:srgbClr val="000000"/>
              </a:solidFill>
              <a:latin typeface="Calibri"/>
              <a:ea typeface="Calibri"/>
              <a:cs typeface="Calibri"/>
              <a:sym typeface="Calibri"/>
            </a:endParaRPr>
          </a:p>
          <a:p>
            <a:pPr marL="355600" marR="0" lvl="0" indent="-342900" algn="l" rtl="0">
              <a:lnSpc>
                <a:spcPct val="100000"/>
              </a:lnSpc>
              <a:spcBef>
                <a:spcPts val="575"/>
              </a:spcBef>
              <a:spcAft>
                <a:spcPts val="0"/>
              </a:spcAft>
              <a:buClr>
                <a:srgbClr val="BFD3E4"/>
              </a:buClr>
              <a:buSzPts val="2400"/>
              <a:buFont typeface="Noto Sans Symbols"/>
              <a:buChar char="⚫"/>
            </a:pPr>
            <a:r>
              <a:rPr lang="fr-FR" sz="2400" b="0" i="0" u="none" strike="noStrike" cap="none">
                <a:solidFill>
                  <a:srgbClr val="000000"/>
                </a:solidFill>
                <a:latin typeface="Calibri"/>
                <a:ea typeface="Calibri"/>
                <a:cs typeface="Calibri"/>
                <a:sym typeface="Calibri"/>
              </a:rPr>
              <a:t>1: processus qui viennent d’être soumis</a:t>
            </a:r>
            <a:endParaRPr sz="2400" b="0" i="0" u="none" strike="noStrike" cap="none">
              <a:solidFill>
                <a:srgbClr val="000000"/>
              </a:solidFill>
              <a:latin typeface="Calibri"/>
              <a:ea typeface="Calibri"/>
              <a:cs typeface="Calibri"/>
              <a:sym typeface="Calibri"/>
            </a:endParaRPr>
          </a:p>
          <a:p>
            <a:pPr marL="355600" marR="0" lvl="0" indent="-342900" algn="l" rtl="0">
              <a:lnSpc>
                <a:spcPct val="100000"/>
              </a:lnSpc>
              <a:spcBef>
                <a:spcPts val="575"/>
              </a:spcBef>
              <a:spcAft>
                <a:spcPts val="0"/>
              </a:spcAft>
              <a:buClr>
                <a:srgbClr val="BFD3E4"/>
              </a:buClr>
              <a:buSzPts val="2400"/>
              <a:buFont typeface="Noto Sans Symbols"/>
              <a:buChar char="⚫"/>
            </a:pPr>
            <a:r>
              <a:rPr lang="fr-FR" sz="2400" b="0" i="0" u="none" strike="noStrike" cap="none">
                <a:solidFill>
                  <a:srgbClr val="000000"/>
                </a:solidFill>
                <a:latin typeface="Calibri"/>
                <a:ea typeface="Calibri"/>
                <a:cs typeface="Calibri"/>
                <a:sym typeface="Calibri"/>
              </a:rPr>
              <a:t>2: processus qui ont fini une opération d’E/s</a:t>
            </a:r>
            <a:endParaRPr sz="2400" b="0" i="0" u="none" strike="noStrike" cap="none">
              <a:solidFill>
                <a:srgbClr val="000000"/>
              </a:solidFill>
              <a:latin typeface="Calibri"/>
              <a:ea typeface="Calibri"/>
              <a:cs typeface="Calibri"/>
              <a:sym typeface="Calibri"/>
            </a:endParaRPr>
          </a:p>
          <a:p>
            <a:pPr marL="355600" marR="0" lvl="0" indent="-342900" algn="l" rtl="0">
              <a:lnSpc>
                <a:spcPct val="100000"/>
              </a:lnSpc>
              <a:spcBef>
                <a:spcPts val="575"/>
              </a:spcBef>
              <a:spcAft>
                <a:spcPts val="0"/>
              </a:spcAft>
              <a:buClr>
                <a:srgbClr val="BFD3E4"/>
              </a:buClr>
              <a:buSzPts val="2400"/>
              <a:buFont typeface="Noto Sans Symbols"/>
              <a:buChar char="⚫"/>
            </a:pPr>
            <a:r>
              <a:rPr lang="fr-FR" sz="2400" b="0" i="0" u="none" strike="noStrike" cap="none">
                <a:solidFill>
                  <a:srgbClr val="000000"/>
                </a:solidFill>
                <a:latin typeface="Calibri"/>
                <a:ea typeface="Calibri"/>
                <a:cs typeface="Calibri"/>
                <a:sym typeface="Calibri"/>
              </a:rPr>
              <a:t>3: Les processus qui ont été préemptés par le CPU</a:t>
            </a:r>
            <a:endParaRPr sz="2400" b="0" i="0" u="none" strike="noStrike" cap="none">
              <a:solidFill>
                <a:srgbClr val="000000"/>
              </a:solidFill>
              <a:latin typeface="Calibri"/>
              <a:ea typeface="Calibri"/>
              <a:cs typeface="Calibri"/>
              <a:sym typeface="Calibri"/>
            </a:endParaRPr>
          </a:p>
          <a:p>
            <a:pPr marL="588645" marR="0" lvl="0" indent="0" algn="ctr" rtl="0">
              <a:lnSpc>
                <a:spcPct val="110500"/>
              </a:lnSpc>
              <a:spcBef>
                <a:spcPts val="0"/>
              </a:spcBef>
              <a:spcAft>
                <a:spcPts val="0"/>
              </a:spcAft>
              <a:buClr>
                <a:srgbClr val="000000"/>
              </a:buClr>
              <a:buSzPts val="1800"/>
              <a:buFont typeface="Arial"/>
              <a:buNone/>
            </a:pP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393"/>
        <p:cNvGrpSpPr/>
        <p:nvPr/>
      </p:nvGrpSpPr>
      <p:grpSpPr>
        <a:xfrm>
          <a:off x="0" y="0"/>
          <a:ext cx="0" cy="0"/>
          <a:chOff x="0" y="0"/>
          <a:chExt cx="0" cy="0"/>
        </a:xfrm>
      </p:grpSpPr>
      <p:sp>
        <p:nvSpPr>
          <p:cNvPr id="1394" name="Google Shape;1394;p138"/>
          <p:cNvSpPr txBox="1"/>
          <p:nvPr/>
        </p:nvSpPr>
        <p:spPr>
          <a:xfrm>
            <a:off x="0" y="160201"/>
            <a:ext cx="10287000" cy="1470025"/>
          </a:xfrm>
          <a:prstGeom prst="rect">
            <a:avLst/>
          </a:prstGeom>
          <a:noFill/>
          <a:ln>
            <a:noFill/>
          </a:ln>
        </p:spPr>
        <p:txBody>
          <a:bodyPr spcFirstLastPara="1" wrap="square" lIns="91425" tIns="45700" rIns="91425" bIns="45700" anchor="t" anchorCtr="0">
            <a:normAutofit/>
          </a:bodyPr>
          <a:lstStyle/>
          <a:p>
            <a:pPr marL="12700" marR="0" lvl="0" indent="0" algn="l" rtl="0">
              <a:lnSpc>
                <a:spcPct val="100000"/>
              </a:lnSpc>
              <a:spcBef>
                <a:spcPts val="0"/>
              </a:spcBef>
              <a:spcAft>
                <a:spcPts val="0"/>
              </a:spcAft>
              <a:buClr>
                <a:schemeClr val="dk1"/>
              </a:buClr>
              <a:buSzPts val="3200"/>
              <a:buFont typeface="Times New Roman"/>
              <a:buNone/>
            </a:pPr>
            <a:r>
              <a:rPr lang="fr-FR" sz="3200" b="1" i="0" u="sng" strike="noStrike" cap="none">
                <a:solidFill>
                  <a:schemeClr val="dk1"/>
                </a:solidFill>
                <a:latin typeface="Times New Roman"/>
                <a:ea typeface="Times New Roman"/>
                <a:cs typeface="Times New Roman"/>
                <a:sym typeface="Times New Roman"/>
              </a:rPr>
              <a:t> </a:t>
            </a:r>
            <a:endParaRPr sz="1400" b="0" i="0" u="none" strike="noStrike" cap="none">
              <a:solidFill>
                <a:srgbClr val="000000"/>
              </a:solidFill>
              <a:latin typeface="Arial"/>
              <a:ea typeface="Arial"/>
              <a:cs typeface="Arial"/>
              <a:sym typeface="Arial"/>
            </a:endParaRPr>
          </a:p>
        </p:txBody>
      </p:sp>
      <p:graphicFrame>
        <p:nvGraphicFramePr>
          <p:cNvPr id="1395" name="Google Shape;1395;p138"/>
          <p:cNvGraphicFramePr/>
          <p:nvPr/>
        </p:nvGraphicFramePr>
        <p:xfrm>
          <a:off x="177800" y="1282700"/>
          <a:ext cx="4064000" cy="2677220"/>
        </p:xfrm>
        <a:graphic>
          <a:graphicData uri="http://schemas.openxmlformats.org/drawingml/2006/table">
            <a:tbl>
              <a:tblPr firstRow="1" bandRow="1">
                <a:noFil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370850">
                <a:tc>
                  <a:txBody>
                    <a:bodyPr/>
                    <a:lstStyle/>
                    <a:p>
                      <a:pPr marL="0" marR="0" lvl="0" indent="0" algn="ctr" rtl="0">
                        <a:lnSpc>
                          <a:spcPct val="100000"/>
                        </a:lnSpc>
                        <a:spcBef>
                          <a:spcPts val="0"/>
                        </a:spcBef>
                        <a:spcAft>
                          <a:spcPts val="0"/>
                        </a:spcAft>
                        <a:buClr>
                          <a:srgbClr val="000000"/>
                        </a:buClr>
                        <a:buSzPts val="2400"/>
                        <a:buFont typeface="Arial"/>
                        <a:buNone/>
                      </a:pPr>
                      <a:r>
                        <a:rPr lang="fr-FR" sz="2400" u="none" strike="noStrike" cap="none"/>
                        <a:t>Processus</a:t>
                      </a:r>
                      <a:endParaRPr sz="2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2400"/>
                        <a:buFont typeface="Arial"/>
                        <a:buNone/>
                      </a:pPr>
                      <a:r>
                        <a:rPr lang="fr-FR" sz="2400" u="none" strike="noStrike" cap="none"/>
                        <a:t>Temps d‘exécution</a:t>
                      </a:r>
                      <a:endParaRPr sz="24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12</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8</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4</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10</a:t>
                      </a:r>
                      <a:endParaRPr sz="1400" u="none" strike="noStrike" cap="none"/>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P5</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396" name="Google Shape;1396;p138"/>
          <p:cNvSpPr/>
          <p:nvPr/>
        </p:nvSpPr>
        <p:spPr>
          <a:xfrm>
            <a:off x="0" y="693573"/>
            <a:ext cx="9118600" cy="61555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600"/>
              <a:buFont typeface="Arial"/>
              <a:buNone/>
            </a:pPr>
            <a:r>
              <a:rPr lang="fr-FR" sz="1600" b="1" i="0" u="none" strike="noStrike" cap="none">
                <a:solidFill>
                  <a:schemeClr val="dk1"/>
                </a:solidFill>
                <a:latin typeface="Helvetica Neue"/>
                <a:ea typeface="Helvetica Neue"/>
                <a:cs typeface="Helvetica Neue"/>
                <a:sym typeface="Helvetica Neue"/>
              </a:rPr>
              <a:t>Le tourniquet (round-robin)</a:t>
            </a:r>
            <a:r>
              <a:rPr lang="fr-FR" sz="1600" b="0" i="0" u="none" strike="noStrike" cap="none">
                <a:solidFill>
                  <a:schemeClr val="dk1"/>
                </a:solidFill>
                <a:latin typeface="Calibri"/>
                <a:ea typeface="Calibri"/>
                <a:cs typeface="Calibri"/>
                <a:sym typeface="Calibri"/>
              </a:rPr>
              <a:t>: On exécute les processus à tour de rôle.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C00000"/>
              </a:solidFill>
              <a:latin typeface="Calibri"/>
              <a:ea typeface="Calibri"/>
              <a:cs typeface="Calibri"/>
              <a:sym typeface="Calibri"/>
            </a:endParaRPr>
          </a:p>
        </p:txBody>
      </p:sp>
      <p:sp>
        <p:nvSpPr>
          <p:cNvPr id="1397" name="Google Shape;1397;p138"/>
          <p:cNvSpPr/>
          <p:nvPr/>
        </p:nvSpPr>
        <p:spPr>
          <a:xfrm>
            <a:off x="291952" y="4957560"/>
            <a:ext cx="7620000" cy="6096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cxnSp>
        <p:nvCxnSpPr>
          <p:cNvPr id="1398" name="Google Shape;1398;p138"/>
          <p:cNvCxnSpPr/>
          <p:nvPr/>
        </p:nvCxnSpPr>
        <p:spPr>
          <a:xfrm>
            <a:off x="283243" y="4981621"/>
            <a:ext cx="0" cy="762000"/>
          </a:xfrm>
          <a:prstGeom prst="straightConnector1">
            <a:avLst/>
          </a:prstGeom>
          <a:noFill/>
          <a:ln w="9525" cap="flat" cmpd="sng">
            <a:solidFill>
              <a:schemeClr val="dk1"/>
            </a:solidFill>
            <a:prstDash val="solid"/>
            <a:round/>
            <a:headEnd type="none" w="sm" len="sm"/>
            <a:tailEnd type="none" w="sm" len="sm"/>
          </a:ln>
        </p:spPr>
      </p:cxnSp>
      <p:cxnSp>
        <p:nvCxnSpPr>
          <p:cNvPr id="1399" name="Google Shape;1399;p138"/>
          <p:cNvCxnSpPr/>
          <p:nvPr/>
        </p:nvCxnSpPr>
        <p:spPr>
          <a:xfrm>
            <a:off x="1224055" y="4957560"/>
            <a:ext cx="0" cy="762000"/>
          </a:xfrm>
          <a:prstGeom prst="straightConnector1">
            <a:avLst/>
          </a:prstGeom>
          <a:noFill/>
          <a:ln w="9525" cap="flat" cmpd="sng">
            <a:solidFill>
              <a:schemeClr val="dk1"/>
            </a:solidFill>
            <a:prstDash val="solid"/>
            <a:round/>
            <a:headEnd type="none" w="sm" len="sm"/>
            <a:tailEnd type="none" w="sm" len="sm"/>
          </a:ln>
        </p:spPr>
      </p:cxnSp>
      <p:cxnSp>
        <p:nvCxnSpPr>
          <p:cNvPr id="1400" name="Google Shape;1400;p138"/>
          <p:cNvCxnSpPr/>
          <p:nvPr/>
        </p:nvCxnSpPr>
        <p:spPr>
          <a:xfrm>
            <a:off x="2209800" y="4957560"/>
            <a:ext cx="0" cy="762000"/>
          </a:xfrm>
          <a:prstGeom prst="straightConnector1">
            <a:avLst/>
          </a:prstGeom>
          <a:noFill/>
          <a:ln w="9525" cap="flat" cmpd="sng">
            <a:solidFill>
              <a:schemeClr val="dk1"/>
            </a:solidFill>
            <a:prstDash val="solid"/>
            <a:round/>
            <a:headEnd type="none" w="sm" len="sm"/>
            <a:tailEnd type="none" w="sm" len="sm"/>
          </a:ln>
        </p:spPr>
      </p:cxnSp>
      <p:cxnSp>
        <p:nvCxnSpPr>
          <p:cNvPr id="1401" name="Google Shape;1401;p138"/>
          <p:cNvCxnSpPr/>
          <p:nvPr/>
        </p:nvCxnSpPr>
        <p:spPr>
          <a:xfrm>
            <a:off x="3071841" y="4957560"/>
            <a:ext cx="0" cy="762000"/>
          </a:xfrm>
          <a:prstGeom prst="straightConnector1">
            <a:avLst/>
          </a:prstGeom>
          <a:noFill/>
          <a:ln w="9525" cap="flat" cmpd="sng">
            <a:solidFill>
              <a:schemeClr val="dk1"/>
            </a:solidFill>
            <a:prstDash val="solid"/>
            <a:round/>
            <a:headEnd type="none" w="sm" len="sm"/>
            <a:tailEnd type="none" w="sm" len="sm"/>
          </a:ln>
        </p:spPr>
      </p:cxnSp>
      <p:cxnSp>
        <p:nvCxnSpPr>
          <p:cNvPr id="1402" name="Google Shape;1402;p138"/>
          <p:cNvCxnSpPr/>
          <p:nvPr/>
        </p:nvCxnSpPr>
        <p:spPr>
          <a:xfrm>
            <a:off x="7911952" y="4968444"/>
            <a:ext cx="0" cy="762000"/>
          </a:xfrm>
          <a:prstGeom prst="straightConnector1">
            <a:avLst/>
          </a:prstGeom>
          <a:noFill/>
          <a:ln w="9525" cap="flat" cmpd="sng">
            <a:solidFill>
              <a:schemeClr val="dk1"/>
            </a:solidFill>
            <a:prstDash val="solid"/>
            <a:round/>
            <a:headEnd type="none" w="sm" len="sm"/>
            <a:tailEnd type="none" w="sm" len="sm"/>
          </a:ln>
        </p:spPr>
      </p:cxnSp>
      <p:sp>
        <p:nvSpPr>
          <p:cNvPr id="1403" name="Google Shape;1403;p138"/>
          <p:cNvSpPr txBox="1"/>
          <p:nvPr/>
        </p:nvSpPr>
        <p:spPr>
          <a:xfrm>
            <a:off x="563136" y="5031527"/>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404" name="Google Shape;1404;p138"/>
          <p:cNvSpPr txBox="1"/>
          <p:nvPr/>
        </p:nvSpPr>
        <p:spPr>
          <a:xfrm>
            <a:off x="1524000" y="5046767"/>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405" name="Google Shape;1405;p138"/>
          <p:cNvSpPr txBox="1"/>
          <p:nvPr/>
        </p:nvSpPr>
        <p:spPr>
          <a:xfrm>
            <a:off x="4068336" y="5079424"/>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P5</a:t>
            </a:r>
            <a:endParaRPr sz="1400" b="0" i="0" u="none" strike="noStrike" cap="none">
              <a:solidFill>
                <a:srgbClr val="000000"/>
              </a:solidFill>
              <a:latin typeface="Arial"/>
              <a:ea typeface="Arial"/>
              <a:cs typeface="Arial"/>
              <a:sym typeface="Arial"/>
            </a:endParaRPr>
          </a:p>
        </p:txBody>
      </p:sp>
      <p:sp>
        <p:nvSpPr>
          <p:cNvPr id="1406" name="Google Shape;1406;p138"/>
          <p:cNvSpPr txBox="1"/>
          <p:nvPr/>
        </p:nvSpPr>
        <p:spPr>
          <a:xfrm>
            <a:off x="6553200" y="5062006"/>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sp>
        <p:nvSpPr>
          <p:cNvPr id="1407" name="Google Shape;1407;p138"/>
          <p:cNvSpPr txBox="1"/>
          <p:nvPr/>
        </p:nvSpPr>
        <p:spPr>
          <a:xfrm>
            <a:off x="183926" y="5706945"/>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0</a:t>
            </a:r>
            <a:endParaRPr sz="1400" b="0" i="0" u="none" strike="noStrike" cap="none">
              <a:solidFill>
                <a:srgbClr val="000000"/>
              </a:solidFill>
              <a:latin typeface="Arial"/>
              <a:ea typeface="Arial"/>
              <a:cs typeface="Arial"/>
              <a:sym typeface="Arial"/>
            </a:endParaRPr>
          </a:p>
        </p:txBody>
      </p:sp>
      <p:sp>
        <p:nvSpPr>
          <p:cNvPr id="1408" name="Google Shape;1408;p138"/>
          <p:cNvSpPr txBox="1"/>
          <p:nvPr/>
        </p:nvSpPr>
        <p:spPr>
          <a:xfrm>
            <a:off x="1066800" y="5691257"/>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sp>
        <p:nvSpPr>
          <p:cNvPr id="1409" name="Google Shape;1409;p138"/>
          <p:cNvSpPr/>
          <p:nvPr/>
        </p:nvSpPr>
        <p:spPr>
          <a:xfrm>
            <a:off x="2027664" y="5691257"/>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10</a:t>
            </a:r>
            <a:endParaRPr sz="1400" b="0" i="0" u="none" strike="noStrike" cap="none">
              <a:solidFill>
                <a:srgbClr val="000000"/>
              </a:solidFill>
              <a:latin typeface="Arial"/>
              <a:ea typeface="Arial"/>
              <a:cs typeface="Arial"/>
              <a:sym typeface="Arial"/>
            </a:endParaRPr>
          </a:p>
        </p:txBody>
      </p:sp>
      <p:sp>
        <p:nvSpPr>
          <p:cNvPr id="1410" name="Google Shape;1410;p138"/>
          <p:cNvSpPr/>
          <p:nvPr/>
        </p:nvSpPr>
        <p:spPr>
          <a:xfrm>
            <a:off x="2876221" y="5721850"/>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14</a:t>
            </a:r>
            <a:endParaRPr sz="1400" b="0" i="0" u="none" strike="noStrike" cap="none">
              <a:solidFill>
                <a:srgbClr val="000000"/>
              </a:solidFill>
              <a:latin typeface="Arial"/>
              <a:ea typeface="Arial"/>
              <a:cs typeface="Arial"/>
              <a:sym typeface="Arial"/>
            </a:endParaRPr>
          </a:p>
        </p:txBody>
      </p:sp>
      <p:sp>
        <p:nvSpPr>
          <p:cNvPr id="1411" name="Google Shape;1411;p138"/>
          <p:cNvSpPr/>
          <p:nvPr/>
        </p:nvSpPr>
        <p:spPr>
          <a:xfrm>
            <a:off x="3682509" y="5743621"/>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19</a:t>
            </a:r>
            <a:endParaRPr sz="1400" b="0" i="0" u="none" strike="noStrike" cap="none">
              <a:solidFill>
                <a:srgbClr val="000000"/>
              </a:solidFill>
              <a:latin typeface="Arial"/>
              <a:ea typeface="Arial"/>
              <a:cs typeface="Arial"/>
              <a:sym typeface="Arial"/>
            </a:endParaRPr>
          </a:p>
        </p:txBody>
      </p:sp>
      <p:sp>
        <p:nvSpPr>
          <p:cNvPr id="1412" name="Google Shape;1412;p138"/>
          <p:cNvSpPr/>
          <p:nvPr/>
        </p:nvSpPr>
        <p:spPr>
          <a:xfrm>
            <a:off x="4572000" y="1593334"/>
            <a:ext cx="2014911"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6"/>
                </a:solidFill>
                <a:latin typeface="Calibri"/>
                <a:ea typeface="Calibri"/>
                <a:cs typeface="Calibri"/>
                <a:sym typeface="Calibri"/>
              </a:rPr>
              <a:t>Temps d’attente :</a:t>
            </a:r>
            <a:endParaRPr sz="1400" b="0" i="0" u="none" strike="noStrike" cap="none">
              <a:solidFill>
                <a:srgbClr val="000000"/>
              </a:solidFill>
              <a:latin typeface="Arial"/>
              <a:ea typeface="Arial"/>
              <a:cs typeface="Arial"/>
              <a:sym typeface="Arial"/>
            </a:endParaRPr>
          </a:p>
        </p:txBody>
      </p:sp>
      <p:sp>
        <p:nvSpPr>
          <p:cNvPr id="1413" name="Google Shape;1413;p138"/>
          <p:cNvSpPr/>
          <p:nvPr/>
        </p:nvSpPr>
        <p:spPr>
          <a:xfrm>
            <a:off x="4572000" y="2038290"/>
            <a:ext cx="44196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6"/>
                </a:solidFill>
                <a:latin typeface="Calibri"/>
                <a:ea typeface="Calibri"/>
                <a:cs typeface="Calibri"/>
                <a:sym typeface="Calibri"/>
              </a:rPr>
              <a:t>P1 = 0 + (24 - 5) + (37 - 29) = 27</a:t>
            </a:r>
            <a:endParaRPr sz="1400" b="0" i="0" u="none" strike="noStrike" cap="none">
              <a:solidFill>
                <a:srgbClr val="000000"/>
              </a:solidFill>
              <a:latin typeface="Arial"/>
              <a:ea typeface="Arial"/>
              <a:cs typeface="Arial"/>
              <a:sym typeface="Arial"/>
            </a:endParaRPr>
          </a:p>
        </p:txBody>
      </p:sp>
      <p:sp>
        <p:nvSpPr>
          <p:cNvPr id="1414" name="Google Shape;1414;p138"/>
          <p:cNvSpPr/>
          <p:nvPr/>
        </p:nvSpPr>
        <p:spPr>
          <a:xfrm>
            <a:off x="4572000" y="2323980"/>
            <a:ext cx="34225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6"/>
                </a:solidFill>
                <a:latin typeface="Calibri"/>
                <a:ea typeface="Calibri"/>
                <a:cs typeface="Calibri"/>
                <a:sym typeface="Calibri"/>
              </a:rPr>
              <a:t>P2 = 5 + (29 - 10) = 24 </a:t>
            </a:r>
            <a:endParaRPr sz="1400" b="0" i="0" u="none" strike="noStrike" cap="none">
              <a:solidFill>
                <a:srgbClr val="000000"/>
              </a:solidFill>
              <a:latin typeface="Arial"/>
              <a:ea typeface="Arial"/>
              <a:cs typeface="Arial"/>
              <a:sym typeface="Arial"/>
            </a:endParaRPr>
          </a:p>
        </p:txBody>
      </p:sp>
      <p:sp>
        <p:nvSpPr>
          <p:cNvPr id="1415" name="Google Shape;1415;p138"/>
          <p:cNvSpPr/>
          <p:nvPr/>
        </p:nvSpPr>
        <p:spPr>
          <a:xfrm>
            <a:off x="4566208" y="2647890"/>
            <a:ext cx="338399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6"/>
                </a:solidFill>
                <a:latin typeface="Calibri"/>
                <a:ea typeface="Calibri"/>
                <a:cs typeface="Calibri"/>
                <a:sym typeface="Calibri"/>
              </a:rPr>
              <a:t>P3 = 10</a:t>
            </a:r>
            <a:endParaRPr sz="1400" b="0" i="0" u="none" strike="noStrike" cap="none">
              <a:solidFill>
                <a:srgbClr val="000000"/>
              </a:solidFill>
              <a:latin typeface="Arial"/>
              <a:ea typeface="Arial"/>
              <a:cs typeface="Arial"/>
              <a:sym typeface="Arial"/>
            </a:endParaRPr>
          </a:p>
        </p:txBody>
      </p:sp>
      <p:sp>
        <p:nvSpPr>
          <p:cNvPr id="1416" name="Google Shape;1416;p138"/>
          <p:cNvSpPr/>
          <p:nvPr/>
        </p:nvSpPr>
        <p:spPr>
          <a:xfrm>
            <a:off x="4572000" y="2952690"/>
            <a:ext cx="27432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6"/>
                </a:solidFill>
                <a:latin typeface="Calibri"/>
                <a:ea typeface="Calibri"/>
                <a:cs typeface="Calibri"/>
                <a:sym typeface="Calibri"/>
              </a:rPr>
              <a:t>P4 = 14 + (32 - 19) = 27</a:t>
            </a:r>
            <a:endParaRPr sz="1400" b="0" i="0" u="none" strike="noStrike" cap="none">
              <a:solidFill>
                <a:srgbClr val="000000"/>
              </a:solidFill>
              <a:latin typeface="Arial"/>
              <a:ea typeface="Arial"/>
              <a:cs typeface="Arial"/>
              <a:sym typeface="Arial"/>
            </a:endParaRPr>
          </a:p>
        </p:txBody>
      </p:sp>
      <p:sp>
        <p:nvSpPr>
          <p:cNvPr id="1417" name="Google Shape;1417;p138"/>
          <p:cNvSpPr/>
          <p:nvPr/>
        </p:nvSpPr>
        <p:spPr>
          <a:xfrm>
            <a:off x="12700" y="6096000"/>
            <a:ext cx="9372600"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70C0"/>
                </a:solidFill>
                <a:latin typeface="Calibri"/>
                <a:ea typeface="Calibri"/>
                <a:cs typeface="Calibri"/>
                <a:sym typeface="Calibri"/>
              </a:rPr>
              <a:t>Temps d’attente moyen = (27 + 24 + 10 + 27 + 19) / 5 = 107 / 5 = 21.4</a:t>
            </a:r>
            <a:endParaRPr sz="1400" b="0" i="0" u="none" strike="noStrike" cap="none">
              <a:solidFill>
                <a:srgbClr val="000000"/>
              </a:solidFill>
              <a:latin typeface="Arial"/>
              <a:ea typeface="Arial"/>
              <a:cs typeface="Arial"/>
              <a:sym typeface="Arial"/>
            </a:endParaRPr>
          </a:p>
        </p:txBody>
      </p:sp>
      <p:cxnSp>
        <p:nvCxnSpPr>
          <p:cNvPr id="1418" name="Google Shape;1418;p138"/>
          <p:cNvCxnSpPr/>
          <p:nvPr/>
        </p:nvCxnSpPr>
        <p:spPr>
          <a:xfrm>
            <a:off x="3879776" y="4957560"/>
            <a:ext cx="0" cy="762000"/>
          </a:xfrm>
          <a:prstGeom prst="straightConnector1">
            <a:avLst/>
          </a:prstGeom>
          <a:noFill/>
          <a:ln w="9525" cap="flat" cmpd="sng">
            <a:solidFill>
              <a:schemeClr val="dk1"/>
            </a:solidFill>
            <a:prstDash val="solid"/>
            <a:round/>
            <a:headEnd type="none" w="sm" len="sm"/>
            <a:tailEnd type="none" w="sm" len="sm"/>
          </a:ln>
        </p:spPr>
      </p:cxnSp>
      <p:cxnSp>
        <p:nvCxnSpPr>
          <p:cNvPr id="1419" name="Google Shape;1419;p138"/>
          <p:cNvCxnSpPr/>
          <p:nvPr/>
        </p:nvCxnSpPr>
        <p:spPr>
          <a:xfrm>
            <a:off x="4730824" y="4979779"/>
            <a:ext cx="0" cy="762000"/>
          </a:xfrm>
          <a:prstGeom prst="straightConnector1">
            <a:avLst/>
          </a:prstGeom>
          <a:noFill/>
          <a:ln w="9525" cap="flat" cmpd="sng">
            <a:solidFill>
              <a:schemeClr val="dk1"/>
            </a:solidFill>
            <a:prstDash val="solid"/>
            <a:round/>
            <a:headEnd type="none" w="sm" len="sm"/>
            <a:tailEnd type="none" w="sm" len="sm"/>
          </a:ln>
        </p:spPr>
      </p:cxnSp>
      <p:cxnSp>
        <p:nvCxnSpPr>
          <p:cNvPr id="1420" name="Google Shape;1420;p138"/>
          <p:cNvCxnSpPr/>
          <p:nvPr/>
        </p:nvCxnSpPr>
        <p:spPr>
          <a:xfrm>
            <a:off x="5638800" y="4957560"/>
            <a:ext cx="0" cy="762000"/>
          </a:xfrm>
          <a:prstGeom prst="straightConnector1">
            <a:avLst/>
          </a:prstGeom>
          <a:noFill/>
          <a:ln w="9525" cap="flat" cmpd="sng">
            <a:solidFill>
              <a:schemeClr val="dk1"/>
            </a:solidFill>
            <a:prstDash val="solid"/>
            <a:round/>
            <a:headEnd type="none" w="sm" len="sm"/>
            <a:tailEnd type="none" w="sm" len="sm"/>
          </a:ln>
        </p:spPr>
      </p:cxnSp>
      <p:cxnSp>
        <p:nvCxnSpPr>
          <p:cNvPr id="1421" name="Google Shape;1421;p138"/>
          <p:cNvCxnSpPr/>
          <p:nvPr/>
        </p:nvCxnSpPr>
        <p:spPr>
          <a:xfrm>
            <a:off x="6433350" y="4968444"/>
            <a:ext cx="0" cy="762000"/>
          </a:xfrm>
          <a:prstGeom prst="straightConnector1">
            <a:avLst/>
          </a:prstGeom>
          <a:noFill/>
          <a:ln w="9525" cap="flat" cmpd="sng">
            <a:solidFill>
              <a:schemeClr val="dk1"/>
            </a:solidFill>
            <a:prstDash val="solid"/>
            <a:round/>
            <a:headEnd type="none" w="sm" len="sm"/>
            <a:tailEnd type="none" w="sm" len="sm"/>
          </a:ln>
        </p:spPr>
      </p:cxnSp>
      <p:cxnSp>
        <p:nvCxnSpPr>
          <p:cNvPr id="1422" name="Google Shape;1422;p138"/>
          <p:cNvCxnSpPr/>
          <p:nvPr/>
        </p:nvCxnSpPr>
        <p:spPr>
          <a:xfrm>
            <a:off x="7133064" y="4979779"/>
            <a:ext cx="0" cy="762000"/>
          </a:xfrm>
          <a:prstGeom prst="straightConnector1">
            <a:avLst/>
          </a:prstGeom>
          <a:noFill/>
          <a:ln w="9525" cap="flat" cmpd="sng">
            <a:solidFill>
              <a:schemeClr val="dk1"/>
            </a:solidFill>
            <a:prstDash val="solid"/>
            <a:round/>
            <a:headEnd type="none" w="sm" len="sm"/>
            <a:tailEnd type="none" w="sm" len="sm"/>
          </a:ln>
        </p:spPr>
      </p:cxnSp>
      <p:sp>
        <p:nvSpPr>
          <p:cNvPr id="1423" name="Google Shape;1423;p138"/>
          <p:cNvSpPr txBox="1"/>
          <p:nvPr/>
        </p:nvSpPr>
        <p:spPr>
          <a:xfrm>
            <a:off x="2372557" y="5046767"/>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424" name="Google Shape;1424;p138"/>
          <p:cNvSpPr txBox="1"/>
          <p:nvPr/>
        </p:nvSpPr>
        <p:spPr>
          <a:xfrm>
            <a:off x="3209109" y="5046766"/>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sp>
        <p:nvSpPr>
          <p:cNvPr id="1425" name="Google Shape;1425;p138"/>
          <p:cNvSpPr txBox="1"/>
          <p:nvPr/>
        </p:nvSpPr>
        <p:spPr>
          <a:xfrm>
            <a:off x="4953000" y="5031526"/>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426" name="Google Shape;1426;p138"/>
          <p:cNvSpPr txBox="1"/>
          <p:nvPr/>
        </p:nvSpPr>
        <p:spPr>
          <a:xfrm>
            <a:off x="5805750" y="5068538"/>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427" name="Google Shape;1427;p138"/>
          <p:cNvSpPr txBox="1"/>
          <p:nvPr/>
        </p:nvSpPr>
        <p:spPr>
          <a:xfrm>
            <a:off x="7298213" y="5079424"/>
            <a:ext cx="503664"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chemeClr val="accent2"/>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428" name="Google Shape;1428;p138"/>
          <p:cNvSpPr/>
          <p:nvPr/>
        </p:nvSpPr>
        <p:spPr>
          <a:xfrm>
            <a:off x="4557271" y="5737425"/>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24</a:t>
            </a:r>
            <a:endParaRPr sz="1400" b="0" i="0" u="none" strike="noStrike" cap="none">
              <a:solidFill>
                <a:srgbClr val="000000"/>
              </a:solidFill>
              <a:latin typeface="Arial"/>
              <a:ea typeface="Arial"/>
              <a:cs typeface="Arial"/>
              <a:sym typeface="Arial"/>
            </a:endParaRPr>
          </a:p>
        </p:txBody>
      </p:sp>
      <p:sp>
        <p:nvSpPr>
          <p:cNvPr id="1429" name="Google Shape;1429;p138"/>
          <p:cNvSpPr/>
          <p:nvPr/>
        </p:nvSpPr>
        <p:spPr>
          <a:xfrm>
            <a:off x="5416624" y="5691257"/>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29</a:t>
            </a:r>
            <a:endParaRPr sz="1400" b="0" i="0" u="none" strike="noStrike" cap="none">
              <a:solidFill>
                <a:srgbClr val="000000"/>
              </a:solidFill>
              <a:latin typeface="Arial"/>
              <a:ea typeface="Arial"/>
              <a:cs typeface="Arial"/>
              <a:sym typeface="Arial"/>
            </a:endParaRPr>
          </a:p>
        </p:txBody>
      </p:sp>
      <p:sp>
        <p:nvSpPr>
          <p:cNvPr id="1430" name="Google Shape;1430;p138"/>
          <p:cNvSpPr/>
          <p:nvPr/>
        </p:nvSpPr>
        <p:spPr>
          <a:xfrm>
            <a:off x="6211174" y="5702591"/>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32</a:t>
            </a:r>
            <a:endParaRPr sz="1400" b="0" i="0" u="none" strike="noStrike" cap="none">
              <a:solidFill>
                <a:srgbClr val="000000"/>
              </a:solidFill>
              <a:latin typeface="Arial"/>
              <a:ea typeface="Arial"/>
              <a:cs typeface="Arial"/>
              <a:sym typeface="Arial"/>
            </a:endParaRPr>
          </a:p>
        </p:txBody>
      </p:sp>
      <p:sp>
        <p:nvSpPr>
          <p:cNvPr id="1431" name="Google Shape;1431;p138"/>
          <p:cNvSpPr/>
          <p:nvPr/>
        </p:nvSpPr>
        <p:spPr>
          <a:xfrm>
            <a:off x="6934200" y="5691257"/>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37</a:t>
            </a:r>
            <a:endParaRPr sz="1400" b="0" i="0" u="none" strike="noStrike" cap="none">
              <a:solidFill>
                <a:srgbClr val="000000"/>
              </a:solidFill>
              <a:latin typeface="Arial"/>
              <a:ea typeface="Arial"/>
              <a:cs typeface="Arial"/>
              <a:sym typeface="Arial"/>
            </a:endParaRPr>
          </a:p>
        </p:txBody>
      </p:sp>
      <p:sp>
        <p:nvSpPr>
          <p:cNvPr id="1432" name="Google Shape;1432;p138"/>
          <p:cNvSpPr/>
          <p:nvPr/>
        </p:nvSpPr>
        <p:spPr>
          <a:xfrm>
            <a:off x="7709881" y="5691257"/>
            <a:ext cx="444352"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dk1"/>
                </a:solidFill>
                <a:latin typeface="Calibri"/>
                <a:ea typeface="Calibri"/>
                <a:cs typeface="Calibri"/>
                <a:sym typeface="Calibri"/>
              </a:rPr>
              <a:t>39</a:t>
            </a:r>
            <a:endParaRPr sz="1400" b="0" i="0" u="none" strike="noStrike" cap="none">
              <a:solidFill>
                <a:srgbClr val="000000"/>
              </a:solidFill>
              <a:latin typeface="Arial"/>
              <a:ea typeface="Arial"/>
              <a:cs typeface="Arial"/>
              <a:sym typeface="Arial"/>
            </a:endParaRPr>
          </a:p>
        </p:txBody>
      </p:sp>
      <p:sp>
        <p:nvSpPr>
          <p:cNvPr id="1433" name="Google Shape;1433;p138"/>
          <p:cNvSpPr txBox="1"/>
          <p:nvPr/>
        </p:nvSpPr>
        <p:spPr>
          <a:xfrm>
            <a:off x="3419290" y="20382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2"/>
                </a:solidFill>
                <a:latin typeface="Calibri"/>
                <a:ea typeface="Calibri"/>
                <a:cs typeface="Calibri"/>
                <a:sym typeface="Calibri"/>
              </a:rPr>
              <a:t>7</a:t>
            </a:r>
            <a:endParaRPr sz="1400" b="0" i="0" u="none" strike="noStrike" cap="none">
              <a:solidFill>
                <a:srgbClr val="000000"/>
              </a:solidFill>
              <a:latin typeface="Arial"/>
              <a:ea typeface="Arial"/>
              <a:cs typeface="Arial"/>
              <a:sym typeface="Arial"/>
            </a:endParaRPr>
          </a:p>
        </p:txBody>
      </p:sp>
      <p:sp>
        <p:nvSpPr>
          <p:cNvPr id="1434" name="Google Shape;1434;p138"/>
          <p:cNvSpPr txBox="1"/>
          <p:nvPr/>
        </p:nvSpPr>
        <p:spPr>
          <a:xfrm>
            <a:off x="3800290" y="20382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2"/>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1435" name="Google Shape;1435;p138"/>
          <p:cNvSpPr txBox="1"/>
          <p:nvPr/>
        </p:nvSpPr>
        <p:spPr>
          <a:xfrm>
            <a:off x="3419290" y="24192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2"/>
                </a:solidFill>
                <a:latin typeface="Calibri"/>
                <a:ea typeface="Calibri"/>
                <a:cs typeface="Calibri"/>
                <a:sym typeface="Calibri"/>
              </a:rPr>
              <a:t>3</a:t>
            </a:r>
            <a:endParaRPr sz="1400" b="0" i="0" u="none" strike="noStrike" cap="none">
              <a:solidFill>
                <a:srgbClr val="000000"/>
              </a:solidFill>
              <a:latin typeface="Arial"/>
              <a:ea typeface="Arial"/>
              <a:cs typeface="Arial"/>
              <a:sym typeface="Arial"/>
            </a:endParaRPr>
          </a:p>
        </p:txBody>
      </p:sp>
      <p:sp>
        <p:nvSpPr>
          <p:cNvPr id="1436" name="Google Shape;1436;p138"/>
          <p:cNvSpPr txBox="1"/>
          <p:nvPr/>
        </p:nvSpPr>
        <p:spPr>
          <a:xfrm>
            <a:off x="3429000" y="312420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2"/>
                </a:solidFill>
                <a:latin typeface="Calibri"/>
                <a:ea typeface="Calibri"/>
                <a:cs typeface="Calibri"/>
                <a:sym typeface="Calibri"/>
              </a:rPr>
              <a:t>5</a:t>
            </a:r>
            <a:endParaRPr sz="1400" b="0" i="0" u="none" strike="noStrike" cap="none">
              <a:solidFill>
                <a:srgbClr val="000000"/>
              </a:solidFill>
              <a:latin typeface="Arial"/>
              <a:ea typeface="Arial"/>
              <a:cs typeface="Arial"/>
              <a:sym typeface="Arial"/>
            </a:endParaRPr>
          </a:p>
        </p:txBody>
      </p:sp>
      <p:cxnSp>
        <p:nvCxnSpPr>
          <p:cNvPr id="1437" name="Google Shape;1437;p138"/>
          <p:cNvCxnSpPr/>
          <p:nvPr/>
        </p:nvCxnSpPr>
        <p:spPr>
          <a:xfrm>
            <a:off x="308062" y="2209800"/>
            <a:ext cx="3720828" cy="0"/>
          </a:xfrm>
          <a:prstGeom prst="straightConnector1">
            <a:avLst/>
          </a:prstGeom>
          <a:noFill/>
          <a:ln w="19050" cap="flat" cmpd="sng">
            <a:solidFill>
              <a:srgbClr val="45A9C4"/>
            </a:solidFill>
            <a:prstDash val="solid"/>
            <a:round/>
            <a:headEnd type="none" w="sm" len="sm"/>
            <a:tailEnd type="none" w="sm" len="sm"/>
          </a:ln>
        </p:spPr>
      </p:cxnSp>
      <p:cxnSp>
        <p:nvCxnSpPr>
          <p:cNvPr id="1438" name="Google Shape;1438;p138"/>
          <p:cNvCxnSpPr/>
          <p:nvPr/>
        </p:nvCxnSpPr>
        <p:spPr>
          <a:xfrm>
            <a:off x="304800" y="2590800"/>
            <a:ext cx="3720828" cy="0"/>
          </a:xfrm>
          <a:prstGeom prst="straightConnector1">
            <a:avLst/>
          </a:prstGeom>
          <a:noFill/>
          <a:ln w="19050" cap="flat" cmpd="sng">
            <a:solidFill>
              <a:srgbClr val="45A9C4"/>
            </a:solidFill>
            <a:prstDash val="solid"/>
            <a:round/>
            <a:headEnd type="none" w="sm" len="sm"/>
            <a:tailEnd type="none" w="sm" len="sm"/>
          </a:ln>
        </p:spPr>
      </p:cxnSp>
      <p:cxnSp>
        <p:nvCxnSpPr>
          <p:cNvPr id="1439" name="Google Shape;1439;p138"/>
          <p:cNvCxnSpPr/>
          <p:nvPr/>
        </p:nvCxnSpPr>
        <p:spPr>
          <a:xfrm>
            <a:off x="304800" y="3352800"/>
            <a:ext cx="3720828" cy="0"/>
          </a:xfrm>
          <a:prstGeom prst="straightConnector1">
            <a:avLst/>
          </a:prstGeom>
          <a:noFill/>
          <a:ln w="19050" cap="flat" cmpd="sng">
            <a:solidFill>
              <a:srgbClr val="45A9C4"/>
            </a:solidFill>
            <a:prstDash val="solid"/>
            <a:round/>
            <a:headEnd type="none" w="sm" len="sm"/>
            <a:tailEnd type="none" w="sm" len="sm"/>
          </a:ln>
        </p:spPr>
      </p:cxnSp>
      <p:cxnSp>
        <p:nvCxnSpPr>
          <p:cNvPr id="1440" name="Google Shape;1440;p138"/>
          <p:cNvCxnSpPr/>
          <p:nvPr/>
        </p:nvCxnSpPr>
        <p:spPr>
          <a:xfrm>
            <a:off x="304800" y="2971800"/>
            <a:ext cx="3720828" cy="0"/>
          </a:xfrm>
          <a:prstGeom prst="straightConnector1">
            <a:avLst/>
          </a:prstGeom>
          <a:noFill/>
          <a:ln w="19050" cap="flat" cmpd="sng">
            <a:solidFill>
              <a:srgbClr val="45A9C4"/>
            </a:solidFill>
            <a:prstDash val="solid"/>
            <a:round/>
            <a:headEnd type="none" w="sm" len="sm"/>
            <a:tailEnd type="none" w="sm" len="sm"/>
          </a:ln>
        </p:spPr>
      </p:cxnSp>
      <p:cxnSp>
        <p:nvCxnSpPr>
          <p:cNvPr id="1441" name="Google Shape;1441;p138"/>
          <p:cNvCxnSpPr/>
          <p:nvPr/>
        </p:nvCxnSpPr>
        <p:spPr>
          <a:xfrm>
            <a:off x="304800" y="3733800"/>
            <a:ext cx="3720828" cy="0"/>
          </a:xfrm>
          <a:prstGeom prst="straightConnector1">
            <a:avLst/>
          </a:prstGeom>
          <a:noFill/>
          <a:ln w="19050" cap="flat" cmpd="sng">
            <a:solidFill>
              <a:srgbClr val="45A9C4"/>
            </a:solidFill>
            <a:prstDash val="solid"/>
            <a:round/>
            <a:headEnd type="none" w="sm" len="sm"/>
            <a:tailEnd type="none" w="sm" len="sm"/>
          </a:ln>
        </p:spPr>
      </p:cxnSp>
      <p:sp>
        <p:nvSpPr>
          <p:cNvPr id="1442" name="Google Shape;1442;p138"/>
          <p:cNvSpPr/>
          <p:nvPr/>
        </p:nvSpPr>
        <p:spPr>
          <a:xfrm>
            <a:off x="5204832" y="908755"/>
            <a:ext cx="9118600"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C00000"/>
                </a:solidFill>
                <a:latin typeface="Calibri"/>
                <a:ea typeface="Calibri"/>
                <a:cs typeface="Calibri"/>
                <a:sym typeface="Calibri"/>
              </a:rPr>
              <a:t>Quantum de temps = 5 UT</a:t>
            </a:r>
            <a:endParaRPr sz="2400" b="0" i="0" u="none" strike="noStrike" cap="none">
              <a:solidFill>
                <a:srgbClr val="C00000"/>
              </a:solidFill>
              <a:latin typeface="Calibri"/>
              <a:ea typeface="Calibri"/>
              <a:cs typeface="Calibri"/>
              <a:sym typeface="Calibri"/>
            </a:endParaRPr>
          </a:p>
        </p:txBody>
      </p:sp>
      <p:sp>
        <p:nvSpPr>
          <p:cNvPr id="1443" name="Google Shape;1443;p138"/>
          <p:cNvSpPr/>
          <p:nvPr/>
        </p:nvSpPr>
        <p:spPr>
          <a:xfrm>
            <a:off x="4572000" y="3257490"/>
            <a:ext cx="25843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chemeClr val="accent6"/>
                </a:solidFill>
                <a:latin typeface="Calibri"/>
                <a:ea typeface="Calibri"/>
                <a:cs typeface="Calibri"/>
                <a:sym typeface="Calibri"/>
              </a:rPr>
              <a:t>P5 = 19</a:t>
            </a:r>
            <a:endParaRPr sz="1400" b="0" i="0" u="none" strike="noStrike" cap="none">
              <a:solidFill>
                <a:srgbClr val="000000"/>
              </a:solidFill>
              <a:latin typeface="Arial"/>
              <a:ea typeface="Arial"/>
              <a:cs typeface="Arial"/>
              <a:sym typeface="Arial"/>
            </a:endParaRPr>
          </a:p>
        </p:txBody>
      </p:sp>
      <p:sp>
        <p:nvSpPr>
          <p:cNvPr id="1444" name="Google Shape;1444;p138"/>
          <p:cNvSpPr txBox="1"/>
          <p:nvPr/>
        </p:nvSpPr>
        <p:spPr>
          <a:xfrm>
            <a:off x="308062" y="4419600"/>
            <a:ext cx="7846171"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Le diagramme de Gantt pour l’ordonnancement  RR avec q = 5 est comme suit :</a:t>
            </a:r>
            <a:endParaRPr sz="1400" b="0" i="0" u="none" strike="noStrike" cap="none">
              <a:solidFill>
                <a:srgbClr val="000000"/>
              </a:solidFill>
              <a:latin typeface="Arial"/>
              <a:ea typeface="Arial"/>
              <a:cs typeface="Arial"/>
              <a:sym typeface="Arial"/>
            </a:endParaRPr>
          </a:p>
        </p:txBody>
      </p:sp>
      <p:sp>
        <p:nvSpPr>
          <p:cNvPr id="1445" name="Google Shape;1445;p138"/>
          <p:cNvSpPr txBox="1"/>
          <p:nvPr/>
        </p:nvSpPr>
        <p:spPr>
          <a:xfrm>
            <a:off x="18777" y="954922"/>
            <a:ext cx="7114287"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0" i="0" u="none" strike="noStrike" cap="none">
                <a:solidFill>
                  <a:schemeClr val="dk1"/>
                </a:solidFill>
                <a:latin typeface="Calibri"/>
                <a:ea typeface="Calibri"/>
                <a:cs typeface="Calibri"/>
                <a:sym typeface="Calibri"/>
              </a:rPr>
              <a:t>On considère l’ensemble des processus suivant avec un </a:t>
            </a:r>
            <a:endParaRPr sz="1400" b="0" i="0" u="none" strike="noStrike" cap="none">
              <a:solidFill>
                <a:srgbClr val="000000"/>
              </a:solidFill>
              <a:latin typeface="Arial"/>
              <a:ea typeface="Arial"/>
              <a:cs typeface="Arial"/>
              <a:sym typeface="Arial"/>
            </a:endParaRPr>
          </a:p>
        </p:txBody>
      </p:sp>
      <p:sp>
        <p:nvSpPr>
          <p:cNvPr id="1446" name="Google Shape;1446;p138"/>
          <p:cNvSpPr/>
          <p:nvPr/>
        </p:nvSpPr>
        <p:spPr>
          <a:xfrm>
            <a:off x="-9388" y="609"/>
            <a:ext cx="8848588" cy="7078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3200"/>
              <a:buFont typeface="Times New Roman"/>
              <a:buNone/>
            </a:pPr>
            <a:r>
              <a:rPr lang="fr-FR" sz="3200" b="1" i="0" u="sng" strike="noStrike" cap="none">
                <a:solidFill>
                  <a:srgbClr val="000000"/>
                </a:solidFill>
                <a:latin typeface="Times New Roman"/>
                <a:ea typeface="Times New Roman"/>
                <a:cs typeface="Times New Roman"/>
                <a:sym typeface="Times New Roman"/>
              </a:rPr>
              <a:t>Algorithme du Tourniquet (Round Robin</a:t>
            </a:r>
            <a:r>
              <a:rPr lang="fr-FR" sz="4000" b="0" i="0" u="none" strike="noStrike" cap="none">
                <a:solidFill>
                  <a:srgbClr val="000000"/>
                </a:solidFill>
                <a:latin typeface="Calibri"/>
                <a:ea typeface="Calibri"/>
                <a:cs typeface="Calibri"/>
                <a:sym typeface="Calibri"/>
              </a:rPr>
              <a:t>)</a:t>
            </a:r>
            <a:endParaRPr sz="1800" b="0" i="0" u="none" strike="noStrike" cap="none">
              <a:solidFill>
                <a:srgbClr val="000000"/>
              </a:solidFill>
              <a:latin typeface="Calibri"/>
              <a:ea typeface="Calibri"/>
              <a:cs typeface="Calibri"/>
              <a:sym typeface="Calibri"/>
            </a:endParaRPr>
          </a:p>
        </p:txBody>
      </p:sp>
      <p:sp>
        <p:nvSpPr>
          <p:cNvPr id="1447" name="Google Shape;1447;p1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55</a:t>
            </a:fld>
            <a:endParaRPr>
              <a:solidFill>
                <a:srgbClr val="88888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97"/>
                                        </p:tgtEl>
                                        <p:attrNameLst>
                                          <p:attrName>style.visibility</p:attrName>
                                        </p:attrNameLst>
                                      </p:cBhvr>
                                      <p:to>
                                        <p:strVal val="visible"/>
                                      </p:to>
                                    </p:set>
                                    <p:animEffect transition="in" filter="fade">
                                      <p:cBhvr>
                                        <p:cTn id="7" dur="500"/>
                                        <p:tgtEl>
                                          <p:spTgt spid="139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398"/>
                                        </p:tgtEl>
                                        <p:attrNameLst>
                                          <p:attrName>style.visibility</p:attrName>
                                        </p:attrNameLst>
                                      </p:cBhvr>
                                      <p:to>
                                        <p:strVal val="visible"/>
                                      </p:to>
                                    </p:set>
                                    <p:animEffect transition="in" filter="fade">
                                      <p:cBhvr>
                                        <p:cTn id="12" dur="1000"/>
                                        <p:tgtEl>
                                          <p:spTgt spid="1398"/>
                                        </p:tgtEl>
                                      </p:cBhvr>
                                    </p:animEffect>
                                  </p:childTnLst>
                                </p:cTn>
                              </p:par>
                              <p:par>
                                <p:cTn id="13" presetID="10" presetClass="entr" presetSubtype="0" fill="hold" nodeType="withEffect">
                                  <p:stCondLst>
                                    <p:cond delay="0"/>
                                  </p:stCondLst>
                                  <p:childTnLst>
                                    <p:set>
                                      <p:cBhvr>
                                        <p:cTn id="14" dur="1" fill="hold">
                                          <p:stCondLst>
                                            <p:cond delay="0"/>
                                          </p:stCondLst>
                                        </p:cTn>
                                        <p:tgtEl>
                                          <p:spTgt spid="1407"/>
                                        </p:tgtEl>
                                        <p:attrNameLst>
                                          <p:attrName>style.visibility</p:attrName>
                                        </p:attrNameLst>
                                      </p:cBhvr>
                                      <p:to>
                                        <p:strVal val="visible"/>
                                      </p:to>
                                    </p:set>
                                    <p:animEffect transition="in" filter="fade">
                                      <p:cBhvr>
                                        <p:cTn id="15" dur="1000"/>
                                        <p:tgtEl>
                                          <p:spTgt spid="1407"/>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40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1399"/>
                                        </p:tgtEl>
                                        <p:attrNameLst>
                                          <p:attrName>style.visibility</p:attrName>
                                        </p:attrNameLst>
                                      </p:cBhvr>
                                      <p:to>
                                        <p:strVal val="visible"/>
                                      </p:to>
                                    </p:set>
                                    <p:animEffect transition="in" filter="fade">
                                      <p:cBhvr>
                                        <p:cTn id="24" dur="1000"/>
                                        <p:tgtEl>
                                          <p:spTgt spid="1399"/>
                                        </p:tgtEl>
                                      </p:cBhvr>
                                    </p:animEffect>
                                  </p:childTnLst>
                                </p:cTn>
                              </p:par>
                              <p:par>
                                <p:cTn id="25" presetID="10" presetClass="entr" presetSubtype="0" fill="hold" nodeType="withEffect">
                                  <p:stCondLst>
                                    <p:cond delay="0"/>
                                  </p:stCondLst>
                                  <p:childTnLst>
                                    <p:set>
                                      <p:cBhvr>
                                        <p:cTn id="26" dur="1" fill="hold">
                                          <p:stCondLst>
                                            <p:cond delay="0"/>
                                          </p:stCondLst>
                                        </p:cTn>
                                        <p:tgtEl>
                                          <p:spTgt spid="1408"/>
                                        </p:tgtEl>
                                        <p:attrNameLst>
                                          <p:attrName>style.visibility</p:attrName>
                                        </p:attrNameLst>
                                      </p:cBhvr>
                                      <p:to>
                                        <p:strVal val="visible"/>
                                      </p:to>
                                    </p:set>
                                    <p:animEffect transition="in" filter="fade">
                                      <p:cBhvr>
                                        <p:cTn id="27" dur="1000"/>
                                        <p:tgtEl>
                                          <p:spTgt spid="1408"/>
                                        </p:tgtEl>
                                      </p:cBhvr>
                                    </p:animEffec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433"/>
                                        </p:tgtEl>
                                        <p:attrNameLst>
                                          <p:attrName>style.visibility</p:attrName>
                                        </p:attrNameLst>
                                      </p:cBhvr>
                                      <p:to>
                                        <p:strVal val="visible"/>
                                      </p:to>
                                    </p:set>
                                    <p:anim calcmode="lin" valueType="num">
                                      <p:cBhvr additive="base">
                                        <p:cTn id="32" dur="500"/>
                                        <p:tgtEl>
                                          <p:spTgt spid="143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0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409"/>
                                        </p:tgtEl>
                                        <p:attrNameLst>
                                          <p:attrName>style.visibility</p:attrName>
                                        </p:attrNameLst>
                                      </p:cBhvr>
                                      <p:to>
                                        <p:strVal val="visible"/>
                                      </p:to>
                                    </p:set>
                                    <p:animEffect transition="in" filter="fade">
                                      <p:cBhvr>
                                        <p:cTn id="41" dur="1000"/>
                                        <p:tgtEl>
                                          <p:spTgt spid="1409"/>
                                        </p:tgtEl>
                                      </p:cBhvr>
                                    </p:animEffect>
                                  </p:childTnLst>
                                </p:cTn>
                              </p:par>
                              <p:par>
                                <p:cTn id="42" presetID="10" presetClass="entr" presetSubtype="0" fill="hold" nodeType="withEffect">
                                  <p:stCondLst>
                                    <p:cond delay="0"/>
                                  </p:stCondLst>
                                  <p:childTnLst>
                                    <p:set>
                                      <p:cBhvr>
                                        <p:cTn id="43" dur="1" fill="hold">
                                          <p:stCondLst>
                                            <p:cond delay="0"/>
                                          </p:stCondLst>
                                        </p:cTn>
                                        <p:tgtEl>
                                          <p:spTgt spid="1400"/>
                                        </p:tgtEl>
                                        <p:attrNameLst>
                                          <p:attrName>style.visibility</p:attrName>
                                        </p:attrNameLst>
                                      </p:cBhvr>
                                      <p:to>
                                        <p:strVal val="visible"/>
                                      </p:to>
                                    </p:set>
                                    <p:animEffect transition="in" filter="fade">
                                      <p:cBhvr>
                                        <p:cTn id="44" dur="1000"/>
                                        <p:tgtEl>
                                          <p:spTgt spid="1400"/>
                                        </p:tgtEl>
                                      </p:cBhvr>
                                    </p:animEffect>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435"/>
                                        </p:tgtEl>
                                        <p:attrNameLst>
                                          <p:attrName>style.visibility</p:attrName>
                                        </p:attrNameLst>
                                      </p:cBhvr>
                                      <p:to>
                                        <p:strVal val="visible"/>
                                      </p:to>
                                    </p:set>
                                    <p:anim calcmode="lin" valueType="num">
                                      <p:cBhvr additive="base">
                                        <p:cTn id="49" dur="500"/>
                                        <p:tgtEl>
                                          <p:spTgt spid="1435"/>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1423"/>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nodeType="clickEffect">
                                  <p:stCondLst>
                                    <p:cond delay="0"/>
                                  </p:stCondLst>
                                  <p:childTnLst>
                                    <p:set>
                                      <p:cBhvr>
                                        <p:cTn id="57" dur="1" fill="hold">
                                          <p:stCondLst>
                                            <p:cond delay="0"/>
                                          </p:stCondLst>
                                        </p:cTn>
                                        <p:tgtEl>
                                          <p:spTgt spid="1401"/>
                                        </p:tgtEl>
                                        <p:attrNameLst>
                                          <p:attrName>style.visibility</p:attrName>
                                        </p:attrNameLst>
                                      </p:cBhvr>
                                      <p:to>
                                        <p:strVal val="visible"/>
                                      </p:to>
                                    </p:set>
                                    <p:animEffect transition="in" filter="fade">
                                      <p:cBhvr>
                                        <p:cTn id="58" dur="1000"/>
                                        <p:tgtEl>
                                          <p:spTgt spid="1401"/>
                                        </p:tgtEl>
                                      </p:cBhvr>
                                    </p:animEffect>
                                  </p:childTnLst>
                                </p:cTn>
                              </p:par>
                              <p:par>
                                <p:cTn id="59" presetID="10" presetClass="entr" presetSubtype="0" fill="hold" nodeType="withEffect">
                                  <p:stCondLst>
                                    <p:cond delay="0"/>
                                  </p:stCondLst>
                                  <p:childTnLst>
                                    <p:set>
                                      <p:cBhvr>
                                        <p:cTn id="60" dur="1" fill="hold">
                                          <p:stCondLst>
                                            <p:cond delay="0"/>
                                          </p:stCondLst>
                                        </p:cTn>
                                        <p:tgtEl>
                                          <p:spTgt spid="1410"/>
                                        </p:tgtEl>
                                        <p:attrNameLst>
                                          <p:attrName>style.visibility</p:attrName>
                                        </p:attrNameLst>
                                      </p:cBhvr>
                                      <p:to>
                                        <p:strVal val="visible"/>
                                      </p:to>
                                    </p:set>
                                    <p:animEffect transition="in" filter="fade">
                                      <p:cBhvr>
                                        <p:cTn id="61" dur="1000"/>
                                        <p:tgtEl>
                                          <p:spTgt spid="1410"/>
                                        </p:tgtEl>
                                      </p:cBhvr>
                                    </p:animEffect>
                                  </p:childTnLst>
                                </p:cTn>
                              </p:par>
                            </p:childTnLst>
                          </p:cTn>
                        </p:par>
                      </p:childTnLst>
                    </p:cTn>
                  </p:par>
                  <p:par>
                    <p:cTn id="62" fill="hold">
                      <p:stCondLst>
                        <p:cond delay="indefinite"/>
                      </p:stCondLst>
                      <p:childTnLst>
                        <p:par>
                          <p:cTn id="63" fill="hold">
                            <p:stCondLst>
                              <p:cond delay="0"/>
                            </p:stCondLst>
                            <p:childTnLst>
                              <p:par>
                                <p:cTn id="64" presetID="2" presetClass="entr" presetSubtype="4" fill="hold" nodeType="clickEffect">
                                  <p:stCondLst>
                                    <p:cond delay="0"/>
                                  </p:stCondLst>
                                  <p:childTnLst>
                                    <p:set>
                                      <p:cBhvr>
                                        <p:cTn id="65" dur="1" fill="hold">
                                          <p:stCondLst>
                                            <p:cond delay="0"/>
                                          </p:stCondLst>
                                        </p:cTn>
                                        <p:tgtEl>
                                          <p:spTgt spid="1440"/>
                                        </p:tgtEl>
                                        <p:attrNameLst>
                                          <p:attrName>style.visibility</p:attrName>
                                        </p:attrNameLst>
                                      </p:cBhvr>
                                      <p:to>
                                        <p:strVal val="visible"/>
                                      </p:to>
                                    </p:set>
                                    <p:anim calcmode="lin" valueType="num">
                                      <p:cBhvr additive="base">
                                        <p:cTn id="66" dur="500"/>
                                        <p:tgtEl>
                                          <p:spTgt spid="1440"/>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42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1418"/>
                                        </p:tgtEl>
                                        <p:attrNameLst>
                                          <p:attrName>style.visibility</p:attrName>
                                        </p:attrNameLst>
                                      </p:cBhvr>
                                      <p:to>
                                        <p:strVal val="visible"/>
                                      </p:to>
                                    </p:set>
                                    <p:animEffect transition="in" filter="fade">
                                      <p:cBhvr>
                                        <p:cTn id="75" dur="1000"/>
                                        <p:tgtEl>
                                          <p:spTgt spid="1418"/>
                                        </p:tgtEl>
                                      </p:cBhvr>
                                    </p:animEffect>
                                  </p:childTnLst>
                                </p:cTn>
                              </p:par>
                              <p:par>
                                <p:cTn id="76" presetID="10" presetClass="entr" presetSubtype="0" fill="hold" nodeType="withEffect">
                                  <p:stCondLst>
                                    <p:cond delay="0"/>
                                  </p:stCondLst>
                                  <p:childTnLst>
                                    <p:set>
                                      <p:cBhvr>
                                        <p:cTn id="77" dur="1" fill="hold">
                                          <p:stCondLst>
                                            <p:cond delay="0"/>
                                          </p:stCondLst>
                                        </p:cTn>
                                        <p:tgtEl>
                                          <p:spTgt spid="1411"/>
                                        </p:tgtEl>
                                        <p:attrNameLst>
                                          <p:attrName>style.visibility</p:attrName>
                                        </p:attrNameLst>
                                      </p:cBhvr>
                                      <p:to>
                                        <p:strVal val="visible"/>
                                      </p:to>
                                    </p:set>
                                    <p:animEffect transition="in" filter="fade">
                                      <p:cBhvr>
                                        <p:cTn id="78" dur="1000"/>
                                        <p:tgtEl>
                                          <p:spTgt spid="1411"/>
                                        </p:tgtEl>
                                      </p:cBhvr>
                                    </p:animEffect>
                                  </p:childTnLst>
                                </p:cTn>
                              </p:par>
                            </p:childTnLst>
                          </p:cTn>
                        </p:par>
                      </p:childTnLst>
                    </p:cTn>
                  </p:par>
                  <p:par>
                    <p:cTn id="79" fill="hold">
                      <p:stCondLst>
                        <p:cond delay="indefinite"/>
                      </p:stCondLst>
                      <p:childTnLst>
                        <p:par>
                          <p:cTn id="80" fill="hold">
                            <p:stCondLst>
                              <p:cond delay="0"/>
                            </p:stCondLst>
                            <p:childTnLst>
                              <p:par>
                                <p:cTn id="81" presetID="2" presetClass="entr" presetSubtype="4" fill="hold" nodeType="clickEffect">
                                  <p:stCondLst>
                                    <p:cond delay="0"/>
                                  </p:stCondLst>
                                  <p:childTnLst>
                                    <p:set>
                                      <p:cBhvr>
                                        <p:cTn id="82" dur="1" fill="hold">
                                          <p:stCondLst>
                                            <p:cond delay="0"/>
                                          </p:stCondLst>
                                        </p:cTn>
                                        <p:tgtEl>
                                          <p:spTgt spid="1436"/>
                                        </p:tgtEl>
                                        <p:attrNameLst>
                                          <p:attrName>style.visibility</p:attrName>
                                        </p:attrNameLst>
                                      </p:cBhvr>
                                      <p:to>
                                        <p:strVal val="visible"/>
                                      </p:to>
                                    </p:set>
                                    <p:anim calcmode="lin" valueType="num">
                                      <p:cBhvr additive="base">
                                        <p:cTn id="83" dur="500"/>
                                        <p:tgtEl>
                                          <p:spTgt spid="1436"/>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1" presetClass="entr" presetSubtype="0" fill="hold" nodeType="clickEffect">
                                  <p:stCondLst>
                                    <p:cond delay="0"/>
                                  </p:stCondLst>
                                  <p:childTnLst>
                                    <p:set>
                                      <p:cBhvr>
                                        <p:cTn id="87" dur="1" fill="hold">
                                          <p:stCondLst>
                                            <p:cond delay="0"/>
                                          </p:stCondLst>
                                        </p:cTn>
                                        <p:tgtEl>
                                          <p:spTgt spid="1405"/>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nodeType="clickEffect">
                                  <p:stCondLst>
                                    <p:cond delay="0"/>
                                  </p:stCondLst>
                                  <p:childTnLst>
                                    <p:set>
                                      <p:cBhvr>
                                        <p:cTn id="91" dur="1" fill="hold">
                                          <p:stCondLst>
                                            <p:cond delay="0"/>
                                          </p:stCondLst>
                                        </p:cTn>
                                        <p:tgtEl>
                                          <p:spTgt spid="1419"/>
                                        </p:tgtEl>
                                        <p:attrNameLst>
                                          <p:attrName>style.visibility</p:attrName>
                                        </p:attrNameLst>
                                      </p:cBhvr>
                                      <p:to>
                                        <p:strVal val="visible"/>
                                      </p:to>
                                    </p:set>
                                    <p:animEffect transition="in" filter="fade">
                                      <p:cBhvr>
                                        <p:cTn id="92" dur="1000"/>
                                        <p:tgtEl>
                                          <p:spTgt spid="1419"/>
                                        </p:tgtEl>
                                      </p:cBhvr>
                                    </p:animEffect>
                                  </p:childTnLst>
                                </p:cTn>
                              </p:par>
                              <p:par>
                                <p:cTn id="93" presetID="10" presetClass="entr" presetSubtype="0" fill="hold" nodeType="withEffect">
                                  <p:stCondLst>
                                    <p:cond delay="0"/>
                                  </p:stCondLst>
                                  <p:childTnLst>
                                    <p:set>
                                      <p:cBhvr>
                                        <p:cTn id="94" dur="1" fill="hold">
                                          <p:stCondLst>
                                            <p:cond delay="0"/>
                                          </p:stCondLst>
                                        </p:cTn>
                                        <p:tgtEl>
                                          <p:spTgt spid="1428"/>
                                        </p:tgtEl>
                                        <p:attrNameLst>
                                          <p:attrName>style.visibility</p:attrName>
                                        </p:attrNameLst>
                                      </p:cBhvr>
                                      <p:to>
                                        <p:strVal val="visible"/>
                                      </p:to>
                                    </p:set>
                                    <p:animEffect transition="in" filter="fade">
                                      <p:cBhvr>
                                        <p:cTn id="95" dur="1000"/>
                                        <p:tgtEl>
                                          <p:spTgt spid="1428"/>
                                        </p:tgtEl>
                                      </p:cBhvr>
                                    </p:animEffect>
                                  </p:childTnLst>
                                </p:cTn>
                              </p:par>
                            </p:childTnLst>
                          </p:cTn>
                        </p:par>
                      </p:childTnLst>
                    </p:cTn>
                  </p:par>
                  <p:par>
                    <p:cTn id="96" fill="hold">
                      <p:stCondLst>
                        <p:cond delay="indefinite"/>
                      </p:stCondLst>
                      <p:childTnLst>
                        <p:par>
                          <p:cTn id="97" fill="hold">
                            <p:stCondLst>
                              <p:cond delay="0"/>
                            </p:stCondLst>
                            <p:childTnLst>
                              <p:par>
                                <p:cTn id="98" presetID="2" presetClass="entr" presetSubtype="4" fill="hold" nodeType="clickEffect">
                                  <p:stCondLst>
                                    <p:cond delay="0"/>
                                  </p:stCondLst>
                                  <p:childTnLst>
                                    <p:set>
                                      <p:cBhvr>
                                        <p:cTn id="99" dur="1" fill="hold">
                                          <p:stCondLst>
                                            <p:cond delay="0"/>
                                          </p:stCondLst>
                                        </p:cTn>
                                        <p:tgtEl>
                                          <p:spTgt spid="1441"/>
                                        </p:tgtEl>
                                        <p:attrNameLst>
                                          <p:attrName>style.visibility</p:attrName>
                                        </p:attrNameLst>
                                      </p:cBhvr>
                                      <p:to>
                                        <p:strVal val="visible"/>
                                      </p:to>
                                    </p:set>
                                    <p:anim calcmode="lin" valueType="num">
                                      <p:cBhvr additive="base">
                                        <p:cTn id="100" dur="500"/>
                                        <p:tgtEl>
                                          <p:spTgt spid="1441"/>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1425"/>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0" presetClass="entr" presetSubtype="0" fill="hold" nodeType="clickEffect">
                                  <p:stCondLst>
                                    <p:cond delay="0"/>
                                  </p:stCondLst>
                                  <p:childTnLst>
                                    <p:set>
                                      <p:cBhvr>
                                        <p:cTn id="108" dur="1" fill="hold">
                                          <p:stCondLst>
                                            <p:cond delay="0"/>
                                          </p:stCondLst>
                                        </p:cTn>
                                        <p:tgtEl>
                                          <p:spTgt spid="1420"/>
                                        </p:tgtEl>
                                        <p:attrNameLst>
                                          <p:attrName>style.visibility</p:attrName>
                                        </p:attrNameLst>
                                      </p:cBhvr>
                                      <p:to>
                                        <p:strVal val="visible"/>
                                      </p:to>
                                    </p:set>
                                    <p:animEffect transition="in" filter="fade">
                                      <p:cBhvr>
                                        <p:cTn id="109" dur="1000"/>
                                        <p:tgtEl>
                                          <p:spTgt spid="1420"/>
                                        </p:tgtEl>
                                      </p:cBhvr>
                                    </p:animEffect>
                                  </p:childTnLst>
                                </p:cTn>
                              </p:par>
                              <p:par>
                                <p:cTn id="110" presetID="10" presetClass="entr" presetSubtype="0" fill="hold" nodeType="withEffect">
                                  <p:stCondLst>
                                    <p:cond delay="0"/>
                                  </p:stCondLst>
                                  <p:childTnLst>
                                    <p:set>
                                      <p:cBhvr>
                                        <p:cTn id="111" dur="1" fill="hold">
                                          <p:stCondLst>
                                            <p:cond delay="0"/>
                                          </p:stCondLst>
                                        </p:cTn>
                                        <p:tgtEl>
                                          <p:spTgt spid="1429"/>
                                        </p:tgtEl>
                                        <p:attrNameLst>
                                          <p:attrName>style.visibility</p:attrName>
                                        </p:attrNameLst>
                                      </p:cBhvr>
                                      <p:to>
                                        <p:strVal val="visible"/>
                                      </p:to>
                                    </p:set>
                                    <p:animEffect transition="in" filter="fade">
                                      <p:cBhvr>
                                        <p:cTn id="112" dur="1000"/>
                                        <p:tgtEl>
                                          <p:spTgt spid="1429"/>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nodeType="clickEffect">
                                  <p:stCondLst>
                                    <p:cond delay="0"/>
                                  </p:stCondLst>
                                  <p:childTnLst>
                                    <p:set>
                                      <p:cBhvr>
                                        <p:cTn id="116" dur="1" fill="hold">
                                          <p:stCondLst>
                                            <p:cond delay="0"/>
                                          </p:stCondLst>
                                        </p:cTn>
                                        <p:tgtEl>
                                          <p:spTgt spid="1434"/>
                                        </p:tgtEl>
                                        <p:attrNameLst>
                                          <p:attrName>style.visibility</p:attrName>
                                        </p:attrNameLst>
                                      </p:cBhvr>
                                      <p:to>
                                        <p:strVal val="visible"/>
                                      </p:to>
                                    </p:set>
                                    <p:anim calcmode="lin" valueType="num">
                                      <p:cBhvr additive="base">
                                        <p:cTn id="117" dur="500"/>
                                        <p:tgtEl>
                                          <p:spTgt spid="1434"/>
                                        </p:tgtEl>
                                        <p:attrNameLst>
                                          <p:attrName>ppt_y</p:attrName>
                                        </p:attrNameLst>
                                      </p:cBhvr>
                                      <p:tavLst>
                                        <p:tav tm="0">
                                          <p:val>
                                            <p:strVal val="#ppt_y+1"/>
                                          </p:val>
                                        </p:tav>
                                        <p:tav tm="100000">
                                          <p:val>
                                            <p:strVal val="#ppt_y"/>
                                          </p:val>
                                        </p:tav>
                                      </p:tavLst>
                                    </p:anim>
                                  </p:childTnLst>
                                </p:cTn>
                              </p:par>
                            </p:childTnLst>
                          </p:cTn>
                        </p:par>
                      </p:childTnLst>
                    </p:cTn>
                  </p:par>
                  <p:par>
                    <p:cTn id="118" fill="hold">
                      <p:stCondLst>
                        <p:cond delay="indefinite"/>
                      </p:stCondLst>
                      <p:childTnLst>
                        <p:par>
                          <p:cTn id="119" fill="hold">
                            <p:stCondLst>
                              <p:cond delay="0"/>
                            </p:stCondLst>
                            <p:childTnLst>
                              <p:par>
                                <p:cTn id="120" presetID="1" presetClass="entr" presetSubtype="0" fill="hold" nodeType="clickEffect">
                                  <p:stCondLst>
                                    <p:cond delay="0"/>
                                  </p:stCondLst>
                                  <p:childTnLst>
                                    <p:set>
                                      <p:cBhvr>
                                        <p:cTn id="121" dur="1" fill="hold">
                                          <p:stCondLst>
                                            <p:cond delay="0"/>
                                          </p:stCondLst>
                                        </p:cTn>
                                        <p:tgtEl>
                                          <p:spTgt spid="1426"/>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0" presetClass="entr" presetSubtype="0" fill="hold" nodeType="clickEffect">
                                  <p:stCondLst>
                                    <p:cond delay="0"/>
                                  </p:stCondLst>
                                  <p:childTnLst>
                                    <p:set>
                                      <p:cBhvr>
                                        <p:cTn id="125" dur="1" fill="hold">
                                          <p:stCondLst>
                                            <p:cond delay="0"/>
                                          </p:stCondLst>
                                        </p:cTn>
                                        <p:tgtEl>
                                          <p:spTgt spid="1421"/>
                                        </p:tgtEl>
                                        <p:attrNameLst>
                                          <p:attrName>style.visibility</p:attrName>
                                        </p:attrNameLst>
                                      </p:cBhvr>
                                      <p:to>
                                        <p:strVal val="visible"/>
                                      </p:to>
                                    </p:set>
                                    <p:animEffect transition="in" filter="fade">
                                      <p:cBhvr>
                                        <p:cTn id="126" dur="1000"/>
                                        <p:tgtEl>
                                          <p:spTgt spid="1421"/>
                                        </p:tgtEl>
                                      </p:cBhvr>
                                    </p:animEffect>
                                  </p:childTnLst>
                                </p:cTn>
                              </p:par>
                              <p:par>
                                <p:cTn id="127" presetID="10" presetClass="entr" presetSubtype="0" fill="hold" nodeType="withEffect">
                                  <p:stCondLst>
                                    <p:cond delay="0"/>
                                  </p:stCondLst>
                                  <p:childTnLst>
                                    <p:set>
                                      <p:cBhvr>
                                        <p:cTn id="128" dur="1" fill="hold">
                                          <p:stCondLst>
                                            <p:cond delay="0"/>
                                          </p:stCondLst>
                                        </p:cTn>
                                        <p:tgtEl>
                                          <p:spTgt spid="1430"/>
                                        </p:tgtEl>
                                        <p:attrNameLst>
                                          <p:attrName>style.visibility</p:attrName>
                                        </p:attrNameLst>
                                      </p:cBhvr>
                                      <p:to>
                                        <p:strVal val="visible"/>
                                      </p:to>
                                    </p:set>
                                    <p:animEffect transition="in" filter="fade">
                                      <p:cBhvr>
                                        <p:cTn id="129" dur="1000"/>
                                        <p:tgtEl>
                                          <p:spTgt spid="1430"/>
                                        </p:tgtEl>
                                      </p:cBhvr>
                                    </p:animEffect>
                                  </p:childTnLst>
                                </p:cTn>
                              </p:par>
                            </p:childTnLst>
                          </p:cTn>
                        </p:par>
                      </p:childTnLst>
                    </p:cTn>
                  </p:par>
                  <p:par>
                    <p:cTn id="130" fill="hold">
                      <p:stCondLst>
                        <p:cond delay="indefinite"/>
                      </p:stCondLst>
                      <p:childTnLst>
                        <p:par>
                          <p:cTn id="131" fill="hold">
                            <p:stCondLst>
                              <p:cond delay="0"/>
                            </p:stCondLst>
                            <p:childTnLst>
                              <p:par>
                                <p:cTn id="132" presetID="2" presetClass="entr" presetSubtype="4" fill="hold" nodeType="clickEffect">
                                  <p:stCondLst>
                                    <p:cond delay="0"/>
                                  </p:stCondLst>
                                  <p:childTnLst>
                                    <p:set>
                                      <p:cBhvr>
                                        <p:cTn id="133" dur="1" fill="hold">
                                          <p:stCondLst>
                                            <p:cond delay="0"/>
                                          </p:stCondLst>
                                        </p:cTn>
                                        <p:tgtEl>
                                          <p:spTgt spid="1438"/>
                                        </p:tgtEl>
                                        <p:attrNameLst>
                                          <p:attrName>style.visibility</p:attrName>
                                        </p:attrNameLst>
                                      </p:cBhvr>
                                      <p:to>
                                        <p:strVal val="visible"/>
                                      </p:to>
                                    </p:set>
                                    <p:anim calcmode="lin" valueType="num">
                                      <p:cBhvr additive="base">
                                        <p:cTn id="134" dur="500"/>
                                        <p:tgtEl>
                                          <p:spTgt spid="1438"/>
                                        </p:tgtEl>
                                        <p:attrNameLst>
                                          <p:attrName>ppt_y</p:attrName>
                                        </p:attrNameLst>
                                      </p:cBhvr>
                                      <p:tavLst>
                                        <p:tav tm="0">
                                          <p:val>
                                            <p:strVal val="#ppt_y+1"/>
                                          </p:val>
                                        </p:tav>
                                        <p:tav tm="100000">
                                          <p:val>
                                            <p:strVal val="#ppt_y"/>
                                          </p:val>
                                        </p:tav>
                                      </p:tavLst>
                                    </p:anim>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nodeType="clickEffect">
                                  <p:stCondLst>
                                    <p:cond delay="0"/>
                                  </p:stCondLst>
                                  <p:childTnLst>
                                    <p:set>
                                      <p:cBhvr>
                                        <p:cTn id="138" dur="1" fill="hold">
                                          <p:stCondLst>
                                            <p:cond delay="0"/>
                                          </p:stCondLst>
                                        </p:cTn>
                                        <p:tgtEl>
                                          <p:spTgt spid="1406"/>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nodeType="clickEffect">
                                  <p:stCondLst>
                                    <p:cond delay="0"/>
                                  </p:stCondLst>
                                  <p:childTnLst>
                                    <p:set>
                                      <p:cBhvr>
                                        <p:cTn id="142" dur="1" fill="hold">
                                          <p:stCondLst>
                                            <p:cond delay="0"/>
                                          </p:stCondLst>
                                        </p:cTn>
                                        <p:tgtEl>
                                          <p:spTgt spid="1422"/>
                                        </p:tgtEl>
                                        <p:attrNameLst>
                                          <p:attrName>style.visibility</p:attrName>
                                        </p:attrNameLst>
                                      </p:cBhvr>
                                      <p:to>
                                        <p:strVal val="visible"/>
                                      </p:to>
                                    </p:set>
                                    <p:animEffect transition="in" filter="fade">
                                      <p:cBhvr>
                                        <p:cTn id="143" dur="1000"/>
                                        <p:tgtEl>
                                          <p:spTgt spid="1422"/>
                                        </p:tgtEl>
                                      </p:cBhvr>
                                    </p:animEffect>
                                  </p:childTnLst>
                                </p:cTn>
                              </p:par>
                              <p:par>
                                <p:cTn id="144" presetID="10" presetClass="entr" presetSubtype="0" fill="hold" nodeType="withEffect">
                                  <p:stCondLst>
                                    <p:cond delay="0"/>
                                  </p:stCondLst>
                                  <p:childTnLst>
                                    <p:set>
                                      <p:cBhvr>
                                        <p:cTn id="145" dur="1" fill="hold">
                                          <p:stCondLst>
                                            <p:cond delay="0"/>
                                          </p:stCondLst>
                                        </p:cTn>
                                        <p:tgtEl>
                                          <p:spTgt spid="1431"/>
                                        </p:tgtEl>
                                        <p:attrNameLst>
                                          <p:attrName>style.visibility</p:attrName>
                                        </p:attrNameLst>
                                      </p:cBhvr>
                                      <p:to>
                                        <p:strVal val="visible"/>
                                      </p:to>
                                    </p:set>
                                    <p:animEffect transition="in" filter="fade">
                                      <p:cBhvr>
                                        <p:cTn id="146" dur="1000"/>
                                        <p:tgtEl>
                                          <p:spTgt spid="1431"/>
                                        </p:tgtEl>
                                      </p:cBhvr>
                                    </p:animEffect>
                                  </p:childTnLst>
                                </p:cTn>
                              </p:par>
                            </p:childTnLst>
                          </p:cTn>
                        </p:par>
                      </p:childTnLst>
                    </p:cTn>
                  </p:par>
                  <p:par>
                    <p:cTn id="147" fill="hold">
                      <p:stCondLst>
                        <p:cond delay="indefinite"/>
                      </p:stCondLst>
                      <p:childTnLst>
                        <p:par>
                          <p:cTn id="148" fill="hold">
                            <p:stCondLst>
                              <p:cond delay="0"/>
                            </p:stCondLst>
                            <p:childTnLst>
                              <p:par>
                                <p:cTn id="149" presetID="2" presetClass="entr" presetSubtype="4" fill="hold" nodeType="clickEffect">
                                  <p:stCondLst>
                                    <p:cond delay="0"/>
                                  </p:stCondLst>
                                  <p:childTnLst>
                                    <p:set>
                                      <p:cBhvr>
                                        <p:cTn id="150" dur="1" fill="hold">
                                          <p:stCondLst>
                                            <p:cond delay="0"/>
                                          </p:stCondLst>
                                        </p:cTn>
                                        <p:tgtEl>
                                          <p:spTgt spid="1439"/>
                                        </p:tgtEl>
                                        <p:attrNameLst>
                                          <p:attrName>style.visibility</p:attrName>
                                        </p:attrNameLst>
                                      </p:cBhvr>
                                      <p:to>
                                        <p:strVal val="visible"/>
                                      </p:to>
                                    </p:set>
                                    <p:anim calcmode="lin" valueType="num">
                                      <p:cBhvr additive="base">
                                        <p:cTn id="151" dur="500"/>
                                        <p:tgtEl>
                                          <p:spTgt spid="1439"/>
                                        </p:tgtEl>
                                        <p:attrNameLst>
                                          <p:attrName>ppt_y</p:attrName>
                                        </p:attrNameLst>
                                      </p:cBhvr>
                                      <p:tavLst>
                                        <p:tav tm="0">
                                          <p:val>
                                            <p:strVal val="#ppt_y+1"/>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1" presetClass="entr" presetSubtype="0" fill="hold" nodeType="clickEffect">
                                  <p:stCondLst>
                                    <p:cond delay="0"/>
                                  </p:stCondLst>
                                  <p:childTnLst>
                                    <p:set>
                                      <p:cBhvr>
                                        <p:cTn id="155" dur="1" fill="hold">
                                          <p:stCondLst>
                                            <p:cond delay="0"/>
                                          </p:stCondLst>
                                        </p:cTn>
                                        <p:tgtEl>
                                          <p:spTgt spid="1427"/>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0" presetClass="entr" presetSubtype="0" fill="hold" nodeType="clickEffect">
                                  <p:stCondLst>
                                    <p:cond delay="0"/>
                                  </p:stCondLst>
                                  <p:childTnLst>
                                    <p:set>
                                      <p:cBhvr>
                                        <p:cTn id="159" dur="1" fill="hold">
                                          <p:stCondLst>
                                            <p:cond delay="0"/>
                                          </p:stCondLst>
                                        </p:cTn>
                                        <p:tgtEl>
                                          <p:spTgt spid="1432"/>
                                        </p:tgtEl>
                                        <p:attrNameLst>
                                          <p:attrName>style.visibility</p:attrName>
                                        </p:attrNameLst>
                                      </p:cBhvr>
                                      <p:to>
                                        <p:strVal val="visible"/>
                                      </p:to>
                                    </p:set>
                                    <p:animEffect transition="in" filter="fade">
                                      <p:cBhvr>
                                        <p:cTn id="160" dur="1000"/>
                                        <p:tgtEl>
                                          <p:spTgt spid="1432"/>
                                        </p:tgtEl>
                                      </p:cBhvr>
                                    </p:animEffect>
                                  </p:childTnLst>
                                </p:cTn>
                              </p:par>
                              <p:par>
                                <p:cTn id="161" presetID="10" presetClass="entr" presetSubtype="0" fill="hold" nodeType="withEffect">
                                  <p:stCondLst>
                                    <p:cond delay="0"/>
                                  </p:stCondLst>
                                  <p:childTnLst>
                                    <p:set>
                                      <p:cBhvr>
                                        <p:cTn id="162" dur="1" fill="hold">
                                          <p:stCondLst>
                                            <p:cond delay="0"/>
                                          </p:stCondLst>
                                        </p:cTn>
                                        <p:tgtEl>
                                          <p:spTgt spid="1402"/>
                                        </p:tgtEl>
                                        <p:attrNameLst>
                                          <p:attrName>style.visibility</p:attrName>
                                        </p:attrNameLst>
                                      </p:cBhvr>
                                      <p:to>
                                        <p:strVal val="visible"/>
                                      </p:to>
                                    </p:set>
                                    <p:animEffect transition="in" filter="fade">
                                      <p:cBhvr>
                                        <p:cTn id="163" dur="1000"/>
                                        <p:tgtEl>
                                          <p:spTgt spid="1402"/>
                                        </p:tgtEl>
                                      </p:cBhvr>
                                    </p:animEffect>
                                  </p:childTnLst>
                                </p:cTn>
                              </p:par>
                            </p:childTnLst>
                          </p:cTn>
                        </p:par>
                      </p:childTnLst>
                    </p:cTn>
                  </p:par>
                  <p:par>
                    <p:cTn id="164" fill="hold">
                      <p:stCondLst>
                        <p:cond delay="indefinite"/>
                      </p:stCondLst>
                      <p:childTnLst>
                        <p:par>
                          <p:cTn id="165" fill="hold">
                            <p:stCondLst>
                              <p:cond delay="0"/>
                            </p:stCondLst>
                            <p:childTnLst>
                              <p:par>
                                <p:cTn id="166" presetID="2" presetClass="entr" presetSubtype="4" fill="hold" nodeType="clickEffect">
                                  <p:stCondLst>
                                    <p:cond delay="0"/>
                                  </p:stCondLst>
                                  <p:childTnLst>
                                    <p:set>
                                      <p:cBhvr>
                                        <p:cTn id="167" dur="1" fill="hold">
                                          <p:stCondLst>
                                            <p:cond delay="0"/>
                                          </p:stCondLst>
                                        </p:cTn>
                                        <p:tgtEl>
                                          <p:spTgt spid="1437"/>
                                        </p:tgtEl>
                                        <p:attrNameLst>
                                          <p:attrName>style.visibility</p:attrName>
                                        </p:attrNameLst>
                                      </p:cBhvr>
                                      <p:to>
                                        <p:strVal val="visible"/>
                                      </p:to>
                                    </p:set>
                                    <p:anim calcmode="lin" valueType="num">
                                      <p:cBhvr additive="base">
                                        <p:cTn id="168" dur="500"/>
                                        <p:tgtEl>
                                          <p:spTgt spid="1437"/>
                                        </p:tgtEl>
                                        <p:attrNameLst>
                                          <p:attrName>ppt_y</p:attrName>
                                        </p:attrNameLst>
                                      </p:cBhvr>
                                      <p:tavLst>
                                        <p:tav tm="0">
                                          <p:val>
                                            <p:strVal val="#ppt_y+1"/>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412"/>
                                        </p:tgtEl>
                                        <p:attrNameLst>
                                          <p:attrName>style.visibility</p:attrName>
                                        </p:attrNameLst>
                                      </p:cBhvr>
                                      <p:to>
                                        <p:strVal val="visible"/>
                                      </p:to>
                                    </p:set>
                                  </p:childTnLst>
                                </p:cTn>
                              </p:par>
                            </p:childTnLst>
                          </p:cTn>
                        </p:par>
                      </p:childTnLst>
                    </p:cTn>
                  </p:par>
                  <p:par>
                    <p:cTn id="173" fill="hold">
                      <p:stCondLst>
                        <p:cond delay="indefinite"/>
                      </p:stCondLst>
                      <p:childTnLst>
                        <p:par>
                          <p:cTn id="174" fill="hold">
                            <p:stCondLst>
                              <p:cond delay="0"/>
                            </p:stCondLst>
                            <p:childTnLst>
                              <p:par>
                                <p:cTn id="175" presetID="2" presetClass="entr" presetSubtype="4" fill="hold" nodeType="clickEffect">
                                  <p:stCondLst>
                                    <p:cond delay="0"/>
                                  </p:stCondLst>
                                  <p:childTnLst>
                                    <p:set>
                                      <p:cBhvr>
                                        <p:cTn id="176" dur="1" fill="hold">
                                          <p:stCondLst>
                                            <p:cond delay="0"/>
                                          </p:stCondLst>
                                        </p:cTn>
                                        <p:tgtEl>
                                          <p:spTgt spid="1413"/>
                                        </p:tgtEl>
                                        <p:attrNameLst>
                                          <p:attrName>style.visibility</p:attrName>
                                        </p:attrNameLst>
                                      </p:cBhvr>
                                      <p:to>
                                        <p:strVal val="visible"/>
                                      </p:to>
                                    </p:set>
                                    <p:anim calcmode="lin" valueType="num">
                                      <p:cBhvr additive="base">
                                        <p:cTn id="177" dur="500"/>
                                        <p:tgtEl>
                                          <p:spTgt spid="1413"/>
                                        </p:tgtEl>
                                        <p:attrNameLst>
                                          <p:attrName>ppt_y</p:attrName>
                                        </p:attrNameLst>
                                      </p:cBhvr>
                                      <p:tavLst>
                                        <p:tav tm="0">
                                          <p:val>
                                            <p:strVal val="#ppt_y+1"/>
                                          </p:val>
                                        </p:tav>
                                        <p:tav tm="100000">
                                          <p:val>
                                            <p:strVal val="#ppt_y"/>
                                          </p:val>
                                        </p:tav>
                                      </p:tavLst>
                                    </p:anim>
                                  </p:childTnLst>
                                </p:cTn>
                              </p:par>
                            </p:childTnLst>
                          </p:cTn>
                        </p:par>
                      </p:childTnLst>
                    </p:cTn>
                  </p:par>
                  <p:par>
                    <p:cTn id="178" fill="hold">
                      <p:stCondLst>
                        <p:cond delay="indefinite"/>
                      </p:stCondLst>
                      <p:childTnLst>
                        <p:par>
                          <p:cTn id="179" fill="hold">
                            <p:stCondLst>
                              <p:cond delay="0"/>
                            </p:stCondLst>
                            <p:childTnLst>
                              <p:par>
                                <p:cTn id="180" presetID="2" presetClass="entr" presetSubtype="4" fill="hold" nodeType="clickEffect">
                                  <p:stCondLst>
                                    <p:cond delay="0"/>
                                  </p:stCondLst>
                                  <p:childTnLst>
                                    <p:set>
                                      <p:cBhvr>
                                        <p:cTn id="181" dur="1" fill="hold">
                                          <p:stCondLst>
                                            <p:cond delay="0"/>
                                          </p:stCondLst>
                                        </p:cTn>
                                        <p:tgtEl>
                                          <p:spTgt spid="1414"/>
                                        </p:tgtEl>
                                        <p:attrNameLst>
                                          <p:attrName>style.visibility</p:attrName>
                                        </p:attrNameLst>
                                      </p:cBhvr>
                                      <p:to>
                                        <p:strVal val="visible"/>
                                      </p:to>
                                    </p:set>
                                    <p:anim calcmode="lin" valueType="num">
                                      <p:cBhvr additive="base">
                                        <p:cTn id="182" dur="500"/>
                                        <p:tgtEl>
                                          <p:spTgt spid="1414"/>
                                        </p:tgtEl>
                                        <p:attrNameLst>
                                          <p:attrName>ppt_y</p:attrName>
                                        </p:attrNameLst>
                                      </p:cBhvr>
                                      <p:tavLst>
                                        <p:tav tm="0">
                                          <p:val>
                                            <p:strVal val="#ppt_y+1"/>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2" presetClass="entr" presetSubtype="4" fill="hold" nodeType="clickEffect">
                                  <p:stCondLst>
                                    <p:cond delay="0"/>
                                  </p:stCondLst>
                                  <p:childTnLst>
                                    <p:set>
                                      <p:cBhvr>
                                        <p:cTn id="186" dur="1" fill="hold">
                                          <p:stCondLst>
                                            <p:cond delay="0"/>
                                          </p:stCondLst>
                                        </p:cTn>
                                        <p:tgtEl>
                                          <p:spTgt spid="1415"/>
                                        </p:tgtEl>
                                        <p:attrNameLst>
                                          <p:attrName>style.visibility</p:attrName>
                                        </p:attrNameLst>
                                      </p:cBhvr>
                                      <p:to>
                                        <p:strVal val="visible"/>
                                      </p:to>
                                    </p:set>
                                    <p:anim calcmode="lin" valueType="num">
                                      <p:cBhvr additive="base">
                                        <p:cTn id="187" dur="500"/>
                                        <p:tgtEl>
                                          <p:spTgt spid="1415"/>
                                        </p:tgtEl>
                                        <p:attrNameLst>
                                          <p:attrName>ppt_y</p:attrName>
                                        </p:attrNameLst>
                                      </p:cBhvr>
                                      <p:tavLst>
                                        <p:tav tm="0">
                                          <p:val>
                                            <p:strVal val="#ppt_y+1"/>
                                          </p:val>
                                        </p:tav>
                                        <p:tav tm="100000">
                                          <p:val>
                                            <p:strVal val="#ppt_y"/>
                                          </p:val>
                                        </p:tav>
                                      </p:tavLst>
                                    </p:anim>
                                  </p:childTnLst>
                                </p:cTn>
                              </p:par>
                            </p:childTnLst>
                          </p:cTn>
                        </p:par>
                      </p:childTnLst>
                    </p:cTn>
                  </p:par>
                  <p:par>
                    <p:cTn id="188" fill="hold">
                      <p:stCondLst>
                        <p:cond delay="indefinite"/>
                      </p:stCondLst>
                      <p:childTnLst>
                        <p:par>
                          <p:cTn id="189" fill="hold">
                            <p:stCondLst>
                              <p:cond delay="0"/>
                            </p:stCondLst>
                            <p:childTnLst>
                              <p:par>
                                <p:cTn id="190" presetID="2" presetClass="entr" presetSubtype="4" fill="hold" nodeType="clickEffect">
                                  <p:stCondLst>
                                    <p:cond delay="0"/>
                                  </p:stCondLst>
                                  <p:childTnLst>
                                    <p:set>
                                      <p:cBhvr>
                                        <p:cTn id="191" dur="1" fill="hold">
                                          <p:stCondLst>
                                            <p:cond delay="0"/>
                                          </p:stCondLst>
                                        </p:cTn>
                                        <p:tgtEl>
                                          <p:spTgt spid="1416"/>
                                        </p:tgtEl>
                                        <p:attrNameLst>
                                          <p:attrName>style.visibility</p:attrName>
                                        </p:attrNameLst>
                                      </p:cBhvr>
                                      <p:to>
                                        <p:strVal val="visible"/>
                                      </p:to>
                                    </p:set>
                                    <p:anim calcmode="lin" valueType="num">
                                      <p:cBhvr additive="base">
                                        <p:cTn id="192" dur="500"/>
                                        <p:tgtEl>
                                          <p:spTgt spid="1416"/>
                                        </p:tgtEl>
                                        <p:attrNameLst>
                                          <p:attrName>ppt_y</p:attrName>
                                        </p:attrNameLst>
                                      </p:cBhvr>
                                      <p:tavLst>
                                        <p:tav tm="0">
                                          <p:val>
                                            <p:strVal val="#ppt_y+1"/>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2" presetClass="entr" presetSubtype="4" fill="hold" nodeType="clickEffect">
                                  <p:stCondLst>
                                    <p:cond delay="0"/>
                                  </p:stCondLst>
                                  <p:childTnLst>
                                    <p:set>
                                      <p:cBhvr>
                                        <p:cTn id="196" dur="1" fill="hold">
                                          <p:stCondLst>
                                            <p:cond delay="0"/>
                                          </p:stCondLst>
                                        </p:cTn>
                                        <p:tgtEl>
                                          <p:spTgt spid="1443"/>
                                        </p:tgtEl>
                                        <p:attrNameLst>
                                          <p:attrName>style.visibility</p:attrName>
                                        </p:attrNameLst>
                                      </p:cBhvr>
                                      <p:to>
                                        <p:strVal val="visible"/>
                                      </p:to>
                                    </p:set>
                                    <p:anim calcmode="lin" valueType="num">
                                      <p:cBhvr additive="base">
                                        <p:cTn id="197" dur="500"/>
                                        <p:tgtEl>
                                          <p:spTgt spid="1443"/>
                                        </p:tgtEl>
                                        <p:attrNameLst>
                                          <p:attrName>ppt_y</p:attrName>
                                        </p:attrNameLst>
                                      </p:cBhvr>
                                      <p:tavLst>
                                        <p:tav tm="0">
                                          <p:val>
                                            <p:strVal val="#ppt_y+1"/>
                                          </p:val>
                                        </p:tav>
                                        <p:tav tm="100000">
                                          <p:val>
                                            <p:strVal val="#ppt_y"/>
                                          </p:val>
                                        </p:tav>
                                      </p:tavLst>
                                    </p:anim>
                                  </p:childTnLst>
                                </p:cTn>
                              </p:par>
                            </p:childTnLst>
                          </p:cTn>
                        </p:par>
                      </p:childTnLst>
                    </p:cTn>
                  </p:par>
                  <p:par>
                    <p:cTn id="198" fill="hold">
                      <p:stCondLst>
                        <p:cond delay="indefinite"/>
                      </p:stCondLst>
                      <p:childTnLst>
                        <p:par>
                          <p:cTn id="199" fill="hold">
                            <p:stCondLst>
                              <p:cond delay="0"/>
                            </p:stCondLst>
                            <p:childTnLst>
                              <p:par>
                                <p:cTn id="200" presetID="10" presetClass="entr" presetSubtype="0" fill="hold" nodeType="clickEffect">
                                  <p:stCondLst>
                                    <p:cond delay="0"/>
                                  </p:stCondLst>
                                  <p:childTnLst>
                                    <p:set>
                                      <p:cBhvr>
                                        <p:cTn id="201" dur="1" fill="hold">
                                          <p:stCondLst>
                                            <p:cond delay="0"/>
                                          </p:stCondLst>
                                        </p:cTn>
                                        <p:tgtEl>
                                          <p:spTgt spid="1417"/>
                                        </p:tgtEl>
                                        <p:attrNameLst>
                                          <p:attrName>style.visibility</p:attrName>
                                        </p:attrNameLst>
                                      </p:cBhvr>
                                      <p:to>
                                        <p:strVal val="visible"/>
                                      </p:to>
                                    </p:set>
                                    <p:animEffect transition="in" filter="fade">
                                      <p:cBhvr>
                                        <p:cTn id="202" dur="1822"/>
                                        <p:tgtEl>
                                          <p:spTgt spid="14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451"/>
        <p:cNvGrpSpPr/>
        <p:nvPr/>
      </p:nvGrpSpPr>
      <p:grpSpPr>
        <a:xfrm>
          <a:off x="0" y="0"/>
          <a:ext cx="0" cy="0"/>
          <a:chOff x="0" y="0"/>
          <a:chExt cx="0" cy="0"/>
        </a:xfrm>
      </p:grpSpPr>
      <p:sp>
        <p:nvSpPr>
          <p:cNvPr id="1452" name="Google Shape;1452;p139"/>
          <p:cNvSpPr/>
          <p:nvPr/>
        </p:nvSpPr>
        <p:spPr>
          <a:xfrm>
            <a:off x="399955" y="2861266"/>
            <a:ext cx="8058245" cy="1632211"/>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3" name="Google Shape;1453;p139"/>
          <p:cNvSpPr txBox="1">
            <a:spLocks noGrp="1"/>
          </p:cNvSpPr>
          <p:nvPr>
            <p:ph type="title"/>
          </p:nvPr>
        </p:nvSpPr>
        <p:spPr>
          <a:xfrm>
            <a:off x="64477" y="221972"/>
            <a:ext cx="9231923" cy="627736"/>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SzPts val="1400"/>
              <a:buNone/>
            </a:pPr>
            <a:r>
              <a:rPr lang="fr-FR" u="sng">
                <a:latin typeface="Calibri"/>
                <a:ea typeface="Calibri"/>
                <a:cs typeface="Calibri"/>
                <a:sym typeface="Calibri"/>
              </a:rPr>
              <a:t>Algorithme du Tourniquet (Round Robin</a:t>
            </a:r>
            <a:r>
              <a:rPr lang="fr-FR" b="0">
                <a:latin typeface="Calibri"/>
                <a:ea typeface="Calibri"/>
                <a:cs typeface="Calibri"/>
                <a:sym typeface="Calibri"/>
              </a:rPr>
              <a:t>)</a:t>
            </a:r>
            <a:endParaRPr/>
          </a:p>
        </p:txBody>
      </p:sp>
      <p:sp>
        <p:nvSpPr>
          <p:cNvPr id="1454" name="Google Shape;1454;p139"/>
          <p:cNvSpPr/>
          <p:nvPr/>
        </p:nvSpPr>
        <p:spPr>
          <a:xfrm>
            <a:off x="1878012" y="1593850"/>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5" name="Google Shape;1455;p139"/>
          <p:cNvSpPr/>
          <p:nvPr/>
        </p:nvSpPr>
        <p:spPr>
          <a:xfrm>
            <a:off x="2974975" y="1593850"/>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6" name="Google Shape;1456;p139"/>
          <p:cNvSpPr/>
          <p:nvPr/>
        </p:nvSpPr>
        <p:spPr>
          <a:xfrm>
            <a:off x="4071937" y="1593850"/>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7" name="Google Shape;1457;p139"/>
          <p:cNvSpPr/>
          <p:nvPr/>
        </p:nvSpPr>
        <p:spPr>
          <a:xfrm>
            <a:off x="5167312" y="1593850"/>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8" name="Google Shape;1458;p139"/>
          <p:cNvSpPr/>
          <p:nvPr/>
        </p:nvSpPr>
        <p:spPr>
          <a:xfrm>
            <a:off x="6264275" y="1593850"/>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59" name="Google Shape;1459;p139"/>
          <p:cNvSpPr/>
          <p:nvPr/>
        </p:nvSpPr>
        <p:spPr>
          <a:xfrm>
            <a:off x="7361239" y="1593850"/>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0" name="Google Shape;1460;p139"/>
          <p:cNvSpPr/>
          <p:nvPr/>
        </p:nvSpPr>
        <p:spPr>
          <a:xfrm>
            <a:off x="6994719" y="1587499"/>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1" name="Google Shape;1461;p139"/>
          <p:cNvSpPr/>
          <p:nvPr/>
        </p:nvSpPr>
        <p:spPr>
          <a:xfrm>
            <a:off x="8458200" y="1593850"/>
            <a:ext cx="0" cy="1475740"/>
          </a:xfrm>
          <a:custGeom>
            <a:avLst/>
            <a:gdLst/>
            <a:ahLst/>
            <a:cxnLst/>
            <a:rect l="l" t="t" r="r" b="b"/>
            <a:pathLst>
              <a:path w="120000" h="1475739" extrusionOk="0">
                <a:moveTo>
                  <a:pt x="0" y="0"/>
                </a:moveTo>
                <a:lnTo>
                  <a:pt x="0" y="147574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2" name="Google Shape;1462;p139"/>
          <p:cNvSpPr/>
          <p:nvPr/>
        </p:nvSpPr>
        <p:spPr>
          <a:xfrm>
            <a:off x="838200" y="3362325"/>
            <a:ext cx="0" cy="604520"/>
          </a:xfrm>
          <a:custGeom>
            <a:avLst/>
            <a:gdLst/>
            <a:ahLst/>
            <a:cxnLst/>
            <a:rect l="l" t="t" r="r" b="b"/>
            <a:pathLst>
              <a:path w="120000" h="604520" extrusionOk="0">
                <a:moveTo>
                  <a:pt x="0" y="0"/>
                </a:moveTo>
                <a:lnTo>
                  <a:pt x="0" y="60452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3" name="Google Shape;1463;p139"/>
          <p:cNvSpPr/>
          <p:nvPr/>
        </p:nvSpPr>
        <p:spPr>
          <a:xfrm>
            <a:off x="2430158" y="4493478"/>
            <a:ext cx="551180" cy="0"/>
          </a:xfrm>
          <a:custGeom>
            <a:avLst/>
            <a:gdLst/>
            <a:ahLst/>
            <a:cxnLst/>
            <a:rect l="l" t="t" r="r" b="b"/>
            <a:pathLst>
              <a:path w="551180" h="120000" extrusionOk="0">
                <a:moveTo>
                  <a:pt x="0" y="0"/>
                </a:moveTo>
                <a:lnTo>
                  <a:pt x="550862" y="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4" name="Google Shape;1464;p139"/>
          <p:cNvSpPr/>
          <p:nvPr/>
        </p:nvSpPr>
        <p:spPr>
          <a:xfrm>
            <a:off x="831850" y="3947795"/>
            <a:ext cx="557530" cy="0"/>
          </a:xfrm>
          <a:custGeom>
            <a:avLst/>
            <a:gdLst/>
            <a:ahLst/>
            <a:cxnLst/>
            <a:rect l="l" t="t" r="r" b="b"/>
            <a:pathLst>
              <a:path w="557530" h="120000" extrusionOk="0">
                <a:moveTo>
                  <a:pt x="0" y="0"/>
                </a:moveTo>
                <a:lnTo>
                  <a:pt x="557212" y="0"/>
                </a:lnTo>
              </a:path>
            </a:pathLst>
          </a:custGeom>
          <a:noFill/>
          <a:ln w="381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5" name="Google Shape;1465;p139"/>
          <p:cNvSpPr/>
          <p:nvPr/>
        </p:nvSpPr>
        <p:spPr>
          <a:xfrm>
            <a:off x="7291389" y="3947795"/>
            <a:ext cx="405130" cy="0"/>
          </a:xfrm>
          <a:custGeom>
            <a:avLst/>
            <a:gdLst/>
            <a:ahLst/>
            <a:cxnLst/>
            <a:rect l="l" t="t" r="r" b="b"/>
            <a:pathLst>
              <a:path w="405129" h="120000" extrusionOk="0">
                <a:moveTo>
                  <a:pt x="0" y="0"/>
                </a:moveTo>
                <a:lnTo>
                  <a:pt x="404812" y="0"/>
                </a:lnTo>
              </a:path>
            </a:pathLst>
          </a:custGeom>
          <a:noFill/>
          <a:ln w="12700" cap="flat" cmpd="sng">
            <a:solidFill>
              <a:srgbClr val="FFFFFF"/>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66" name="Google Shape;1466;p139"/>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56</a:t>
            </a:fld>
            <a:endParaRPr/>
          </a:p>
        </p:txBody>
      </p:sp>
      <p:graphicFrame>
        <p:nvGraphicFramePr>
          <p:cNvPr id="1467" name="Google Shape;1467;p139"/>
          <p:cNvGraphicFramePr/>
          <p:nvPr/>
        </p:nvGraphicFramePr>
        <p:xfrm>
          <a:off x="586374" y="1047012"/>
          <a:ext cx="7681600" cy="1588507"/>
        </p:xfrm>
        <a:graphic>
          <a:graphicData uri="http://schemas.openxmlformats.org/drawingml/2006/table">
            <a:tbl>
              <a:tblPr firstRow="1" bandRow="1">
                <a:noFill/>
              </a:tblPr>
              <a:tblGrid>
                <a:gridCol w="1097275">
                  <a:extLst>
                    <a:ext uri="{9D8B030D-6E8A-4147-A177-3AD203B41FA5}">
                      <a16:colId xmlns:a16="http://schemas.microsoft.com/office/drawing/2014/main" val="20000"/>
                    </a:ext>
                  </a:extLst>
                </a:gridCol>
                <a:gridCol w="1097275">
                  <a:extLst>
                    <a:ext uri="{9D8B030D-6E8A-4147-A177-3AD203B41FA5}">
                      <a16:colId xmlns:a16="http://schemas.microsoft.com/office/drawing/2014/main" val="20001"/>
                    </a:ext>
                  </a:extLst>
                </a:gridCol>
                <a:gridCol w="1097275">
                  <a:extLst>
                    <a:ext uri="{9D8B030D-6E8A-4147-A177-3AD203B41FA5}">
                      <a16:colId xmlns:a16="http://schemas.microsoft.com/office/drawing/2014/main" val="20002"/>
                    </a:ext>
                  </a:extLst>
                </a:gridCol>
                <a:gridCol w="1096000">
                  <a:extLst>
                    <a:ext uri="{9D8B030D-6E8A-4147-A177-3AD203B41FA5}">
                      <a16:colId xmlns:a16="http://schemas.microsoft.com/office/drawing/2014/main" val="20003"/>
                    </a:ext>
                  </a:extLst>
                </a:gridCol>
                <a:gridCol w="1097925">
                  <a:extLst>
                    <a:ext uri="{9D8B030D-6E8A-4147-A177-3AD203B41FA5}">
                      <a16:colId xmlns:a16="http://schemas.microsoft.com/office/drawing/2014/main" val="20004"/>
                    </a:ext>
                  </a:extLst>
                </a:gridCol>
                <a:gridCol w="1097925">
                  <a:extLst>
                    <a:ext uri="{9D8B030D-6E8A-4147-A177-3AD203B41FA5}">
                      <a16:colId xmlns:a16="http://schemas.microsoft.com/office/drawing/2014/main" val="20005"/>
                    </a:ext>
                  </a:extLst>
                </a:gridCol>
                <a:gridCol w="1097925">
                  <a:extLst>
                    <a:ext uri="{9D8B030D-6E8A-4147-A177-3AD203B41FA5}">
                      <a16:colId xmlns:a16="http://schemas.microsoft.com/office/drawing/2014/main" val="20006"/>
                    </a:ext>
                  </a:extLst>
                </a:gridCol>
              </a:tblGrid>
              <a:tr h="487675">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Process</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469265" lvl="0" indent="0" algn="l" rtl="0">
                        <a:lnSpc>
                          <a:spcPct val="1193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Arrival  time</a:t>
                      </a:r>
                      <a:endParaRPr sz="1600" u="none" strike="noStrike" cap="none">
                        <a:latin typeface="Arial"/>
                        <a:ea typeface="Arial"/>
                        <a:cs typeface="Arial"/>
                        <a:sym typeface="Arial"/>
                      </a:endParaRPr>
                    </a:p>
                  </a:txBody>
                  <a:tcPr marL="0" marR="0" marT="380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r>
                        <a:rPr lang="fr-FR" sz="1575" u="none" strike="noStrike" cap="none" baseline="30000">
                          <a:solidFill>
                            <a:srgbClr val="AA5816"/>
                          </a:solidFill>
                          <a:latin typeface="Arial"/>
                          <a:ea typeface="Arial"/>
                          <a:cs typeface="Arial"/>
                          <a:sym typeface="Arial"/>
                        </a:rPr>
                        <a:t>st </a:t>
                      </a:r>
                      <a:r>
                        <a:rPr lang="fr-FR" sz="1600" u="none" strike="noStrike" cap="none">
                          <a:solidFill>
                            <a:srgbClr val="AA5816"/>
                          </a:solidFill>
                          <a:latin typeface="Arial"/>
                          <a:ea typeface="Arial"/>
                          <a:cs typeface="Arial"/>
                          <a:sym typeface="Arial"/>
                        </a:rPr>
                        <a:t>exec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tc>
                  <a:txBody>
                    <a:bodyPr/>
                    <a:lstStyle/>
                    <a:p>
                      <a:pPr marL="0" marR="498475" lvl="0" indent="0" algn="r"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1</a:t>
                      </a:r>
                      <a:r>
                        <a:rPr lang="fr-FR" sz="1575" u="none" strike="noStrike" cap="none" baseline="30000">
                          <a:solidFill>
                            <a:srgbClr val="FFFFFF"/>
                          </a:solidFill>
                          <a:latin typeface="Arial"/>
                          <a:ea typeface="Arial"/>
                          <a:cs typeface="Arial"/>
                          <a:sym typeface="Arial"/>
                        </a:rPr>
                        <a:t>st </a:t>
                      </a:r>
                      <a:r>
                        <a:rPr lang="fr-FR" sz="1600" u="none" strike="noStrike" cap="none">
                          <a:solidFill>
                            <a:srgbClr val="FFFFFF"/>
                          </a:solidFill>
                          <a:latin typeface="Arial"/>
                          <a:ea typeface="Arial"/>
                          <a:cs typeface="Arial"/>
                          <a:sym typeface="Arial"/>
                        </a:rPr>
                        <a:t>I/O</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4450"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2</a:t>
                      </a:r>
                      <a:r>
                        <a:rPr lang="fr-FR" sz="1575" u="none" strike="noStrike" cap="none" baseline="30000">
                          <a:solidFill>
                            <a:srgbClr val="AA5816"/>
                          </a:solidFill>
                          <a:latin typeface="Arial"/>
                          <a:ea typeface="Arial"/>
                          <a:cs typeface="Arial"/>
                          <a:sym typeface="Arial"/>
                        </a:rPr>
                        <a:t>nd </a:t>
                      </a:r>
                      <a:r>
                        <a:rPr lang="fr-FR" sz="1600" u="none" strike="noStrike" cap="none">
                          <a:solidFill>
                            <a:srgbClr val="AA5816"/>
                          </a:solidFill>
                          <a:latin typeface="Arial"/>
                          <a:ea typeface="Arial"/>
                          <a:cs typeface="Arial"/>
                          <a:sym typeface="Arial"/>
                        </a:rPr>
                        <a:t>exec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tc>
                  <a:txBody>
                    <a:bodyPr/>
                    <a:lstStyle/>
                    <a:p>
                      <a:pPr marL="0" marR="457200" lvl="0" indent="0" algn="r" rtl="0">
                        <a:lnSpc>
                          <a:spcPct val="116875"/>
                        </a:lnSpc>
                        <a:spcBef>
                          <a:spcPts val="0"/>
                        </a:spcBef>
                        <a:spcAft>
                          <a:spcPts val="0"/>
                        </a:spcAft>
                        <a:buClr>
                          <a:srgbClr val="000000"/>
                        </a:buClr>
                        <a:buSzPts val="1600"/>
                        <a:buFont typeface="Arial"/>
                        <a:buNone/>
                      </a:pPr>
                      <a:r>
                        <a:rPr lang="fr-FR" sz="1600" u="none" strike="noStrike" cap="none">
                          <a:solidFill>
                            <a:srgbClr val="FFFFFF"/>
                          </a:solidFill>
                          <a:latin typeface="Arial"/>
                          <a:ea typeface="Arial"/>
                          <a:cs typeface="Arial"/>
                          <a:sym typeface="Arial"/>
                        </a:rPr>
                        <a:t>2</a:t>
                      </a:r>
                      <a:r>
                        <a:rPr lang="fr-FR" sz="1575" u="none" strike="noStrike" cap="none" baseline="30000">
                          <a:solidFill>
                            <a:srgbClr val="FFFFFF"/>
                          </a:solidFill>
                          <a:latin typeface="Arial"/>
                          <a:ea typeface="Arial"/>
                          <a:cs typeface="Arial"/>
                          <a:sym typeface="Arial"/>
                        </a:rPr>
                        <a:t>nd </a:t>
                      </a:r>
                      <a:r>
                        <a:rPr lang="fr-FR" sz="1600" u="none" strike="noStrike" cap="none">
                          <a:solidFill>
                            <a:srgbClr val="FFFFFF"/>
                          </a:solidFill>
                          <a:latin typeface="Arial"/>
                          <a:ea typeface="Arial"/>
                          <a:cs typeface="Arial"/>
                          <a:sym typeface="Arial"/>
                        </a:rPr>
                        <a:t>I/O</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43815" marR="0" lvl="0" indent="0" algn="l" rtl="0">
                        <a:lnSpc>
                          <a:spcPct val="116875"/>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3</a:t>
                      </a:r>
                      <a:r>
                        <a:rPr lang="fr-FR" sz="1575" u="none" strike="noStrike" cap="none" baseline="30000">
                          <a:solidFill>
                            <a:srgbClr val="AA5816"/>
                          </a:solidFill>
                          <a:latin typeface="Arial"/>
                          <a:ea typeface="Arial"/>
                          <a:cs typeface="Arial"/>
                          <a:sym typeface="Arial"/>
                        </a:rPr>
                        <a:t>rd </a:t>
                      </a:r>
                      <a:r>
                        <a:rPr lang="fr-FR" sz="1600" u="none" strike="noStrike" cap="none">
                          <a:solidFill>
                            <a:srgbClr val="AA5816"/>
                          </a:solidFill>
                          <a:latin typeface="Arial"/>
                          <a:ea typeface="Arial"/>
                          <a:cs typeface="Arial"/>
                          <a:sym typeface="Arial"/>
                        </a:rPr>
                        <a:t>exec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91C1D2"/>
                    </a:solidFill>
                  </a:tcPr>
                </a:tc>
                <a:extLst>
                  <a:ext uri="{0D108BD9-81ED-4DB2-BD59-A6C34878D82A}">
                    <a16:rowId xmlns:a16="http://schemas.microsoft.com/office/drawing/2014/main" val="10000"/>
                  </a:ext>
                </a:extLst>
              </a:tr>
              <a:tr h="242575">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0</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0504D"/>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0504D"/>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4</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extLst>
                  <a:ext uri="{0D108BD9-81ED-4DB2-BD59-A6C34878D82A}">
                    <a16:rowId xmlns:a16="http://schemas.microsoft.com/office/drawing/2014/main" val="10001"/>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B</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8</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8</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506094"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extLst>
                  <a:ext uri="{0D108BD9-81ED-4DB2-BD59-A6C34878D82A}">
                    <a16:rowId xmlns:a16="http://schemas.microsoft.com/office/drawing/2014/main" val="10002"/>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C</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3</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2</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506094"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ADADA"/>
                    </a:solidFill>
                  </a:tcPr>
                </a:tc>
                <a:extLst>
                  <a:ext uri="{0D108BD9-81ED-4DB2-BD59-A6C34878D82A}">
                    <a16:rowId xmlns:a16="http://schemas.microsoft.com/office/drawing/2014/main" val="10003"/>
                  </a:ext>
                </a:extLst>
              </a:tr>
              <a:tr h="243850">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D</a:t>
                      </a:r>
                      <a:endParaRPr sz="1400" u="none" strike="noStrike" cap="none"/>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FD6D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2F97B5"/>
                          </a:solidFill>
                          <a:latin typeface="Arial"/>
                          <a:ea typeface="Arial"/>
                          <a:cs typeface="Arial"/>
                          <a:sym typeface="Arial"/>
                        </a:rPr>
                        <a:t>7</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81875A"/>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483869" lvl="0" indent="0" algn="r" rtl="0">
                        <a:lnSpc>
                          <a:spcPct val="113750"/>
                        </a:lnSpc>
                        <a:spcBef>
                          <a:spcPts val="0"/>
                        </a:spcBef>
                        <a:spcAft>
                          <a:spcPts val="0"/>
                        </a:spcAft>
                        <a:buClr>
                          <a:srgbClr val="000000"/>
                        </a:buClr>
                        <a:buSzPts val="1600"/>
                        <a:buFont typeface="Arial"/>
                        <a:buNone/>
                      </a:pPr>
                      <a:r>
                        <a:rPr lang="fr-FR" sz="1600" u="none" strike="noStrike" cap="none">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tc>
                  <a:txBody>
                    <a:bodyPr/>
                    <a:lstStyle/>
                    <a:p>
                      <a:pPr marL="0" marR="0" lvl="0" indent="0" algn="ctr" rtl="0">
                        <a:lnSpc>
                          <a:spcPct val="113750"/>
                        </a:lnSpc>
                        <a:spcBef>
                          <a:spcPts val="0"/>
                        </a:spcBef>
                        <a:spcAft>
                          <a:spcPts val="0"/>
                        </a:spcAft>
                        <a:buClr>
                          <a:srgbClr val="000000"/>
                        </a:buClr>
                        <a:buSzPts val="1600"/>
                        <a:buFont typeface="Arial"/>
                        <a:buNone/>
                      </a:pPr>
                      <a:r>
                        <a:rPr lang="fr-FR" sz="1600" u="none" strike="noStrike" cap="none">
                          <a:solidFill>
                            <a:srgbClr val="AA5816"/>
                          </a:solidFill>
                          <a:latin typeface="Arial"/>
                          <a:ea typeface="Arial"/>
                          <a:cs typeface="Arial"/>
                          <a:sym typeface="Arial"/>
                        </a:rPr>
                        <a:t>1</a:t>
                      </a:r>
                      <a:endParaRPr sz="16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E7F2"/>
                    </a:solidFill>
                  </a:tcPr>
                </a:tc>
                <a:extLst>
                  <a:ext uri="{0D108BD9-81ED-4DB2-BD59-A6C34878D82A}">
                    <a16:rowId xmlns:a16="http://schemas.microsoft.com/office/drawing/2014/main" val="10004"/>
                  </a:ext>
                </a:extLst>
              </a:tr>
            </a:tbl>
          </a:graphicData>
        </a:graphic>
      </p:graphicFrame>
      <p:graphicFrame>
        <p:nvGraphicFramePr>
          <p:cNvPr id="1468" name="Google Shape;1468;p139"/>
          <p:cNvGraphicFramePr/>
          <p:nvPr/>
        </p:nvGraphicFramePr>
        <p:xfrm>
          <a:off x="214711" y="4826001"/>
          <a:ext cx="8548400" cy="1737400"/>
        </p:xfrm>
        <a:graphic>
          <a:graphicData uri="http://schemas.openxmlformats.org/drawingml/2006/table">
            <a:tbl>
              <a:tblPr>
                <a:noFill/>
              </a:tblPr>
              <a:tblGrid>
                <a:gridCol w="471100">
                  <a:extLst>
                    <a:ext uri="{9D8B030D-6E8A-4147-A177-3AD203B41FA5}">
                      <a16:colId xmlns:a16="http://schemas.microsoft.com/office/drawing/2014/main" val="20000"/>
                    </a:ext>
                  </a:extLst>
                </a:gridCol>
                <a:gridCol w="597450">
                  <a:extLst>
                    <a:ext uri="{9D8B030D-6E8A-4147-A177-3AD203B41FA5}">
                      <a16:colId xmlns:a16="http://schemas.microsoft.com/office/drawing/2014/main" val="20001"/>
                    </a:ext>
                  </a:extLst>
                </a:gridCol>
                <a:gridCol w="534275">
                  <a:extLst>
                    <a:ext uri="{9D8B030D-6E8A-4147-A177-3AD203B41FA5}">
                      <a16:colId xmlns:a16="http://schemas.microsoft.com/office/drawing/2014/main" val="20002"/>
                    </a:ext>
                  </a:extLst>
                </a:gridCol>
                <a:gridCol w="534275">
                  <a:extLst>
                    <a:ext uri="{9D8B030D-6E8A-4147-A177-3AD203B41FA5}">
                      <a16:colId xmlns:a16="http://schemas.microsoft.com/office/drawing/2014/main" val="20003"/>
                    </a:ext>
                  </a:extLst>
                </a:gridCol>
                <a:gridCol w="534275">
                  <a:extLst>
                    <a:ext uri="{9D8B030D-6E8A-4147-A177-3AD203B41FA5}">
                      <a16:colId xmlns:a16="http://schemas.microsoft.com/office/drawing/2014/main" val="20004"/>
                    </a:ext>
                  </a:extLst>
                </a:gridCol>
                <a:gridCol w="534275">
                  <a:extLst>
                    <a:ext uri="{9D8B030D-6E8A-4147-A177-3AD203B41FA5}">
                      <a16:colId xmlns:a16="http://schemas.microsoft.com/office/drawing/2014/main" val="20005"/>
                    </a:ext>
                  </a:extLst>
                </a:gridCol>
                <a:gridCol w="534275">
                  <a:extLst>
                    <a:ext uri="{9D8B030D-6E8A-4147-A177-3AD203B41FA5}">
                      <a16:colId xmlns:a16="http://schemas.microsoft.com/office/drawing/2014/main" val="20006"/>
                    </a:ext>
                  </a:extLst>
                </a:gridCol>
                <a:gridCol w="534275">
                  <a:extLst>
                    <a:ext uri="{9D8B030D-6E8A-4147-A177-3AD203B41FA5}">
                      <a16:colId xmlns:a16="http://schemas.microsoft.com/office/drawing/2014/main" val="20007"/>
                    </a:ext>
                  </a:extLst>
                </a:gridCol>
                <a:gridCol w="534275">
                  <a:extLst>
                    <a:ext uri="{9D8B030D-6E8A-4147-A177-3AD203B41FA5}">
                      <a16:colId xmlns:a16="http://schemas.microsoft.com/office/drawing/2014/main" val="20008"/>
                    </a:ext>
                  </a:extLst>
                </a:gridCol>
                <a:gridCol w="534275">
                  <a:extLst>
                    <a:ext uri="{9D8B030D-6E8A-4147-A177-3AD203B41FA5}">
                      <a16:colId xmlns:a16="http://schemas.microsoft.com/office/drawing/2014/main" val="20009"/>
                    </a:ext>
                  </a:extLst>
                </a:gridCol>
                <a:gridCol w="534275">
                  <a:extLst>
                    <a:ext uri="{9D8B030D-6E8A-4147-A177-3AD203B41FA5}">
                      <a16:colId xmlns:a16="http://schemas.microsoft.com/office/drawing/2014/main" val="20010"/>
                    </a:ext>
                  </a:extLst>
                </a:gridCol>
                <a:gridCol w="534275">
                  <a:extLst>
                    <a:ext uri="{9D8B030D-6E8A-4147-A177-3AD203B41FA5}">
                      <a16:colId xmlns:a16="http://schemas.microsoft.com/office/drawing/2014/main" val="20011"/>
                    </a:ext>
                  </a:extLst>
                </a:gridCol>
                <a:gridCol w="534275">
                  <a:extLst>
                    <a:ext uri="{9D8B030D-6E8A-4147-A177-3AD203B41FA5}">
                      <a16:colId xmlns:a16="http://schemas.microsoft.com/office/drawing/2014/main" val="20012"/>
                    </a:ext>
                  </a:extLst>
                </a:gridCol>
                <a:gridCol w="534275">
                  <a:extLst>
                    <a:ext uri="{9D8B030D-6E8A-4147-A177-3AD203B41FA5}">
                      <a16:colId xmlns:a16="http://schemas.microsoft.com/office/drawing/2014/main" val="20013"/>
                    </a:ext>
                  </a:extLst>
                </a:gridCol>
                <a:gridCol w="534275">
                  <a:extLst>
                    <a:ext uri="{9D8B030D-6E8A-4147-A177-3AD203B41FA5}">
                      <a16:colId xmlns:a16="http://schemas.microsoft.com/office/drawing/2014/main" val="20014"/>
                    </a:ext>
                  </a:extLst>
                </a:gridCol>
                <a:gridCol w="534275">
                  <a:extLst>
                    <a:ext uri="{9D8B030D-6E8A-4147-A177-3AD203B41FA5}">
                      <a16:colId xmlns:a16="http://schemas.microsoft.com/office/drawing/2014/main" val="20015"/>
                    </a:ext>
                  </a:extLst>
                </a:gridCol>
              </a:tblGrid>
              <a:tr h="240025">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T=0</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T=6</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T=9</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T=12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T=13</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T=15</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T=17</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T=18</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T=20</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T=21</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T=22</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T=24</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T=25</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240025">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1"/>
                  </a:ext>
                </a:extLst>
              </a:tr>
              <a:tr h="2400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8ECF4"/>
                    </a:solidFill>
                  </a:tcPr>
                </a:tc>
                <a:extLst>
                  <a:ext uri="{0D108BD9-81ED-4DB2-BD59-A6C34878D82A}">
                    <a16:rowId xmlns:a16="http://schemas.microsoft.com/office/drawing/2014/main" val="10002"/>
                  </a:ext>
                </a:extLst>
              </a:tr>
              <a:tr h="240025">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C</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D</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A</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r>
                        <a:rPr lang="fr-FR" sz="1800" u="none" strike="noStrike" cap="none"/>
                        <a:t>B</a:t>
                      </a:r>
                      <a:endParaRPr sz="14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CFD7E7"/>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472"/>
        <p:cNvGrpSpPr/>
        <p:nvPr/>
      </p:nvGrpSpPr>
      <p:grpSpPr>
        <a:xfrm>
          <a:off x="0" y="0"/>
          <a:ext cx="0" cy="0"/>
          <a:chOff x="0" y="0"/>
          <a:chExt cx="0" cy="0"/>
        </a:xfrm>
      </p:grpSpPr>
      <p:sp>
        <p:nvSpPr>
          <p:cNvPr id="1473" name="Google Shape;1473;p140"/>
          <p:cNvSpPr txBox="1">
            <a:spLocks noGrp="1"/>
          </p:cNvSpPr>
          <p:nvPr>
            <p:ph type="title"/>
          </p:nvPr>
        </p:nvSpPr>
        <p:spPr>
          <a:xfrm>
            <a:off x="64477" y="289027"/>
            <a:ext cx="7899946" cy="62837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3200" u="sng">
                <a:solidFill>
                  <a:srgbClr val="000000"/>
                </a:solidFill>
                <a:latin typeface="Times New Roman"/>
                <a:ea typeface="Times New Roman"/>
                <a:cs typeface="Times New Roman"/>
                <a:sym typeface="Times New Roman"/>
              </a:rPr>
              <a:t>Algorithme du Tourniquet (Round Robin</a:t>
            </a:r>
            <a:r>
              <a:rPr lang="fr-FR" b="0">
                <a:solidFill>
                  <a:srgbClr val="000000"/>
                </a:solidFill>
              </a:rPr>
              <a:t>)</a:t>
            </a:r>
            <a:endParaRPr sz="3200">
              <a:latin typeface="Calibri"/>
              <a:ea typeface="Calibri"/>
              <a:cs typeface="Calibri"/>
              <a:sym typeface="Calibri"/>
            </a:endParaRPr>
          </a:p>
        </p:txBody>
      </p:sp>
      <p:sp>
        <p:nvSpPr>
          <p:cNvPr id="1474" name="Google Shape;1474;p140"/>
          <p:cNvSpPr txBox="1"/>
          <p:nvPr/>
        </p:nvSpPr>
        <p:spPr>
          <a:xfrm>
            <a:off x="78739" y="4646793"/>
            <a:ext cx="5069840" cy="756920"/>
          </a:xfrm>
          <a:prstGeom prst="rect">
            <a:avLst/>
          </a:prstGeom>
          <a:noFill/>
          <a:ln>
            <a:noFill/>
          </a:ln>
        </p:spPr>
        <p:txBody>
          <a:bodyPr spcFirstLastPara="1" wrap="square" lIns="0" tIns="73025" rIns="0" bIns="0" anchor="t" anchorCtr="0">
            <a:spAutoFit/>
          </a:bodyPr>
          <a:lstStyle/>
          <a:p>
            <a:pPr marL="3549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Processor utilization = (35 / 35) * 100 = 100 %</a:t>
            </a:r>
            <a:endParaRPr sz="2000" b="0" i="0" u="none" strike="noStrike" cap="none">
              <a:solidFill>
                <a:srgbClr val="000000"/>
              </a:solidFill>
              <a:latin typeface="Calibri"/>
              <a:ea typeface="Calibri"/>
              <a:cs typeface="Calibri"/>
              <a:sym typeface="Calibri"/>
            </a:endParaRPr>
          </a:p>
          <a:p>
            <a:pPr marL="354965" marR="0" lvl="0" indent="-342900" algn="l" rtl="0">
              <a:lnSpc>
                <a:spcPct val="100000"/>
              </a:lnSpc>
              <a:spcBef>
                <a:spcPts val="48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Throughput = 4 / 35</a:t>
            </a:r>
            <a:endParaRPr sz="2000" b="0" i="0" u="none" strike="noStrike" cap="none">
              <a:solidFill>
                <a:srgbClr val="000000"/>
              </a:solidFill>
              <a:latin typeface="Calibri"/>
              <a:ea typeface="Calibri"/>
              <a:cs typeface="Calibri"/>
              <a:sym typeface="Calibri"/>
            </a:endParaRPr>
          </a:p>
        </p:txBody>
      </p:sp>
      <p:sp>
        <p:nvSpPr>
          <p:cNvPr id="1475" name="Google Shape;1475;p140"/>
          <p:cNvSpPr/>
          <p:nvPr/>
        </p:nvSpPr>
        <p:spPr>
          <a:xfrm>
            <a:off x="568337" y="1981200"/>
            <a:ext cx="8042261" cy="191764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76" name="Google Shape;1476;p140"/>
          <p:cNvSpPr/>
          <p:nvPr/>
        </p:nvSpPr>
        <p:spPr>
          <a:xfrm>
            <a:off x="1591055" y="2136648"/>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77" name="Google Shape;1477;p140"/>
          <p:cNvSpPr/>
          <p:nvPr/>
        </p:nvSpPr>
        <p:spPr>
          <a:xfrm>
            <a:off x="1600200" y="2252268"/>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78" name="Google Shape;1478;p140"/>
          <p:cNvSpPr/>
          <p:nvPr/>
        </p:nvSpPr>
        <p:spPr>
          <a:xfrm>
            <a:off x="1658129"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79" name="Google Shape;1479;p140"/>
          <p:cNvSpPr/>
          <p:nvPr/>
        </p:nvSpPr>
        <p:spPr>
          <a:xfrm>
            <a:off x="2119883" y="2139695"/>
            <a:ext cx="182879" cy="33223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0" name="Google Shape;1480;p140"/>
          <p:cNvSpPr/>
          <p:nvPr/>
        </p:nvSpPr>
        <p:spPr>
          <a:xfrm>
            <a:off x="2208212" y="2263776"/>
            <a:ext cx="2540" cy="176530"/>
          </a:xfrm>
          <a:custGeom>
            <a:avLst/>
            <a:gdLst/>
            <a:ahLst/>
            <a:cxnLst/>
            <a:rect l="l" t="t" r="r" b="b"/>
            <a:pathLst>
              <a:path w="2539" h="176530" extrusionOk="0">
                <a:moveTo>
                  <a:pt x="1168" y="-9525"/>
                </a:moveTo>
                <a:lnTo>
                  <a:pt x="1168" y="185737"/>
                </a:lnTo>
              </a:path>
            </a:pathLst>
          </a:custGeom>
          <a:noFill/>
          <a:ln w="213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1" name="Google Shape;1481;p140"/>
          <p:cNvSpPr/>
          <p:nvPr/>
        </p:nvSpPr>
        <p:spPr>
          <a:xfrm>
            <a:off x="2146880" y="2200275"/>
            <a:ext cx="127000" cy="77470"/>
          </a:xfrm>
          <a:custGeom>
            <a:avLst/>
            <a:gdLst/>
            <a:ahLst/>
            <a:cxnLst/>
            <a:rect l="l" t="t" r="r" b="b"/>
            <a:pathLst>
              <a:path w="127000" h="77469" extrusionOk="0">
                <a:moveTo>
                  <a:pt x="64503" y="0"/>
                </a:moveTo>
                <a:lnTo>
                  <a:pt x="0" y="75349"/>
                </a:lnTo>
                <a:lnTo>
                  <a:pt x="126987" y="77038"/>
                </a:lnTo>
                <a:lnTo>
                  <a:pt x="6450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2" name="Google Shape;1482;p140"/>
          <p:cNvSpPr txBox="1"/>
          <p:nvPr/>
        </p:nvSpPr>
        <p:spPr>
          <a:xfrm>
            <a:off x="1678939" y="1846579"/>
            <a:ext cx="6191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483" name="Google Shape;1483;p140"/>
          <p:cNvSpPr/>
          <p:nvPr/>
        </p:nvSpPr>
        <p:spPr>
          <a:xfrm>
            <a:off x="34731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4" name="Google Shape;1484;p140"/>
          <p:cNvSpPr/>
          <p:nvPr/>
        </p:nvSpPr>
        <p:spPr>
          <a:xfrm>
            <a:off x="34829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5" name="Google Shape;1485;p140"/>
          <p:cNvSpPr/>
          <p:nvPr/>
        </p:nvSpPr>
        <p:spPr>
          <a:xfrm>
            <a:off x="35409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6" name="Google Shape;1486;p140"/>
          <p:cNvSpPr txBox="1"/>
          <p:nvPr/>
        </p:nvSpPr>
        <p:spPr>
          <a:xfrm>
            <a:off x="3561715"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487" name="Google Shape;1487;p140"/>
          <p:cNvSpPr/>
          <p:nvPr/>
        </p:nvSpPr>
        <p:spPr>
          <a:xfrm>
            <a:off x="51114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8" name="Google Shape;1488;p140"/>
          <p:cNvSpPr/>
          <p:nvPr/>
        </p:nvSpPr>
        <p:spPr>
          <a:xfrm>
            <a:off x="51212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89" name="Google Shape;1489;p140"/>
          <p:cNvSpPr/>
          <p:nvPr/>
        </p:nvSpPr>
        <p:spPr>
          <a:xfrm>
            <a:off x="51792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0" name="Google Shape;1490;p140"/>
          <p:cNvSpPr txBox="1"/>
          <p:nvPr/>
        </p:nvSpPr>
        <p:spPr>
          <a:xfrm>
            <a:off x="5200015"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491" name="Google Shape;1491;p140"/>
          <p:cNvSpPr/>
          <p:nvPr/>
        </p:nvSpPr>
        <p:spPr>
          <a:xfrm>
            <a:off x="60258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2" name="Google Shape;1492;p140"/>
          <p:cNvSpPr/>
          <p:nvPr/>
        </p:nvSpPr>
        <p:spPr>
          <a:xfrm>
            <a:off x="60356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3" name="Google Shape;1493;p140"/>
          <p:cNvSpPr/>
          <p:nvPr/>
        </p:nvSpPr>
        <p:spPr>
          <a:xfrm>
            <a:off x="60936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4" name="Google Shape;1494;p140"/>
          <p:cNvSpPr txBox="1"/>
          <p:nvPr/>
        </p:nvSpPr>
        <p:spPr>
          <a:xfrm>
            <a:off x="6114415"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495" name="Google Shape;1495;p140"/>
          <p:cNvSpPr/>
          <p:nvPr/>
        </p:nvSpPr>
        <p:spPr>
          <a:xfrm>
            <a:off x="70926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6" name="Google Shape;1496;p140"/>
          <p:cNvSpPr/>
          <p:nvPr/>
        </p:nvSpPr>
        <p:spPr>
          <a:xfrm>
            <a:off x="71024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7" name="Google Shape;1497;p140"/>
          <p:cNvSpPr/>
          <p:nvPr/>
        </p:nvSpPr>
        <p:spPr>
          <a:xfrm>
            <a:off x="7160403"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498" name="Google Shape;1498;p140"/>
          <p:cNvSpPr txBox="1"/>
          <p:nvPr/>
        </p:nvSpPr>
        <p:spPr>
          <a:xfrm>
            <a:off x="7181215"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499" name="Google Shape;1499;p140"/>
          <p:cNvSpPr/>
          <p:nvPr/>
        </p:nvSpPr>
        <p:spPr>
          <a:xfrm>
            <a:off x="7711440" y="2136648"/>
            <a:ext cx="252983" cy="336803"/>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0" name="Google Shape;1500;p140"/>
          <p:cNvSpPr/>
          <p:nvPr/>
        </p:nvSpPr>
        <p:spPr>
          <a:xfrm>
            <a:off x="7721600"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1" name="Google Shape;1501;p140"/>
          <p:cNvSpPr/>
          <p:nvPr/>
        </p:nvSpPr>
        <p:spPr>
          <a:xfrm>
            <a:off x="7779528"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2" name="Google Shape;1502;p140"/>
          <p:cNvSpPr txBox="1"/>
          <p:nvPr/>
        </p:nvSpPr>
        <p:spPr>
          <a:xfrm>
            <a:off x="7800340"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03" name="Google Shape;1503;p140"/>
          <p:cNvSpPr/>
          <p:nvPr/>
        </p:nvSpPr>
        <p:spPr>
          <a:xfrm>
            <a:off x="682751" y="1473708"/>
            <a:ext cx="7930895" cy="463295"/>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4" name="Google Shape;1504;p140"/>
          <p:cNvSpPr/>
          <p:nvPr/>
        </p:nvSpPr>
        <p:spPr>
          <a:xfrm>
            <a:off x="1104900" y="1676440"/>
            <a:ext cx="7086600" cy="1905"/>
          </a:xfrm>
          <a:custGeom>
            <a:avLst/>
            <a:gdLst/>
            <a:ahLst/>
            <a:cxnLst/>
            <a:rect l="l" t="t" r="r" b="b"/>
            <a:pathLst>
              <a:path w="7086600" h="1905" extrusionOk="0">
                <a:moveTo>
                  <a:pt x="0" y="0"/>
                </a:moveTo>
                <a:lnTo>
                  <a:pt x="7086600" y="1511"/>
                </a:lnTo>
              </a:path>
            </a:pathLst>
          </a:custGeom>
          <a:noFill/>
          <a:ln w="76175"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5" name="Google Shape;1505;p140"/>
          <p:cNvSpPr/>
          <p:nvPr/>
        </p:nvSpPr>
        <p:spPr>
          <a:xfrm>
            <a:off x="8153365" y="1563629"/>
            <a:ext cx="229235" cy="228600"/>
          </a:xfrm>
          <a:custGeom>
            <a:avLst/>
            <a:gdLst/>
            <a:ahLst/>
            <a:cxnLst/>
            <a:rect l="l" t="t" r="r" b="b"/>
            <a:pathLst>
              <a:path w="229234" h="228600" extrusionOk="0">
                <a:moveTo>
                  <a:pt x="63" y="0"/>
                </a:moveTo>
                <a:lnTo>
                  <a:pt x="0" y="228600"/>
                </a:lnTo>
                <a:lnTo>
                  <a:pt x="228638" y="114363"/>
                </a:lnTo>
                <a:lnTo>
                  <a:pt x="63"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6" name="Google Shape;1506;p140"/>
          <p:cNvSpPr/>
          <p:nvPr/>
        </p:nvSpPr>
        <p:spPr>
          <a:xfrm>
            <a:off x="914393" y="1562138"/>
            <a:ext cx="229235" cy="228600"/>
          </a:xfrm>
          <a:custGeom>
            <a:avLst/>
            <a:gdLst/>
            <a:ahLst/>
            <a:cxnLst/>
            <a:rect l="l" t="t" r="r" b="b"/>
            <a:pathLst>
              <a:path w="229234" h="228600" extrusionOk="0">
                <a:moveTo>
                  <a:pt x="228625" y="0"/>
                </a:moveTo>
                <a:lnTo>
                  <a:pt x="0" y="114261"/>
                </a:lnTo>
                <a:lnTo>
                  <a:pt x="228587" y="228600"/>
                </a:lnTo>
                <a:lnTo>
                  <a:pt x="228625"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07" name="Google Shape;1507;p140"/>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57</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511"/>
        <p:cNvGrpSpPr/>
        <p:nvPr/>
      </p:nvGrpSpPr>
      <p:grpSpPr>
        <a:xfrm>
          <a:off x="0" y="0"/>
          <a:ext cx="0" cy="0"/>
          <a:chOff x="0" y="0"/>
          <a:chExt cx="0" cy="0"/>
        </a:xfrm>
      </p:grpSpPr>
      <p:sp>
        <p:nvSpPr>
          <p:cNvPr id="1512" name="Google Shape;1512;p141"/>
          <p:cNvSpPr txBox="1">
            <a:spLocks noGrp="1"/>
          </p:cNvSpPr>
          <p:nvPr>
            <p:ph type="title"/>
          </p:nvPr>
        </p:nvSpPr>
        <p:spPr>
          <a:xfrm>
            <a:off x="64477" y="289027"/>
            <a:ext cx="8546121" cy="62837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3200" b="0">
                <a:latin typeface="Calibri"/>
                <a:ea typeface="Calibri"/>
                <a:cs typeface="Calibri"/>
                <a:sym typeface="Calibri"/>
              </a:rPr>
              <a:t> </a:t>
            </a:r>
            <a:r>
              <a:rPr lang="fr-FR" sz="3200" u="sng">
                <a:solidFill>
                  <a:srgbClr val="000000"/>
                </a:solidFill>
                <a:latin typeface="Times New Roman"/>
                <a:ea typeface="Times New Roman"/>
                <a:cs typeface="Times New Roman"/>
                <a:sym typeface="Times New Roman"/>
              </a:rPr>
              <a:t>Algorithme du Tourniquet (Round Robin</a:t>
            </a:r>
            <a:r>
              <a:rPr lang="fr-FR" b="0">
                <a:solidFill>
                  <a:srgbClr val="000000"/>
                </a:solidFill>
              </a:rPr>
              <a:t>)</a:t>
            </a:r>
            <a:endParaRPr sz="3200">
              <a:latin typeface="Calibri"/>
              <a:ea typeface="Calibri"/>
              <a:cs typeface="Calibri"/>
              <a:sym typeface="Calibri"/>
            </a:endParaRPr>
          </a:p>
        </p:txBody>
      </p:sp>
      <p:sp>
        <p:nvSpPr>
          <p:cNvPr id="1513" name="Google Shape;1513;p141"/>
          <p:cNvSpPr txBox="1"/>
          <p:nvPr/>
        </p:nvSpPr>
        <p:spPr>
          <a:xfrm>
            <a:off x="40640" y="4011088"/>
            <a:ext cx="4314825" cy="2270125"/>
          </a:xfrm>
          <a:prstGeom prst="rect">
            <a:avLst/>
          </a:prstGeom>
          <a:noFill/>
          <a:ln>
            <a:noFill/>
          </a:ln>
        </p:spPr>
        <p:txBody>
          <a:bodyPr spcFirstLastPara="1" wrap="square" lIns="0" tIns="44450" rIns="0" bIns="0" anchor="t" anchorCtr="0">
            <a:spAutoFit/>
          </a:bodyPr>
          <a:lstStyle/>
          <a:p>
            <a:pPr marL="3930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Turn around time:</a:t>
            </a:r>
            <a:endParaRPr sz="2000" b="0" i="0" u="none" strike="noStrike" cap="none">
              <a:solidFill>
                <a:srgbClr val="000000"/>
              </a:solidFill>
              <a:latin typeface="Calibri"/>
              <a:ea typeface="Calibri"/>
              <a:cs typeface="Calibri"/>
              <a:sym typeface="Calibri"/>
            </a:endParaRPr>
          </a:p>
          <a:p>
            <a:pPr marL="965200" marR="0" lvl="0" indent="0" algn="l" rtl="0">
              <a:lnSpc>
                <a:spcPct val="100000"/>
              </a:lnSpc>
              <a:spcBef>
                <a:spcPts val="225"/>
              </a:spcBef>
              <a:spcAft>
                <a:spcPts val="0"/>
              </a:spcAft>
              <a:buClr>
                <a:srgbClr val="000000"/>
              </a:buClr>
              <a:buSzPts val="1800"/>
              <a:buFont typeface="Arial"/>
              <a:buNone/>
            </a:pPr>
            <a:r>
              <a:rPr lang="fr-FR" sz="1800" b="0" i="0" u="none" strike="noStrike" cap="none">
                <a:solidFill>
                  <a:srgbClr val="FF6600"/>
                </a:solidFill>
                <a:latin typeface="Calibri"/>
                <a:ea typeface="Calibri"/>
                <a:cs typeface="Calibri"/>
                <a:sym typeface="Calibri"/>
              </a:rPr>
              <a:t>tat</a:t>
            </a:r>
            <a:r>
              <a:rPr lang="fr-FR" sz="1800" b="0" i="0" u="none" strike="noStrike" cap="none" baseline="-25000">
                <a:solidFill>
                  <a:srgbClr val="FF6600"/>
                </a:solidFill>
                <a:latin typeface="Calibri"/>
                <a:ea typeface="Calibri"/>
                <a:cs typeface="Calibri"/>
                <a:sym typeface="Calibri"/>
              </a:rPr>
              <a:t>A  </a:t>
            </a:r>
            <a:r>
              <a:rPr lang="fr-FR" sz="1800" b="0" i="0" u="none" strike="noStrike" cap="none">
                <a:solidFill>
                  <a:srgbClr val="FF6600"/>
                </a:solidFill>
                <a:latin typeface="Calibri"/>
                <a:ea typeface="Calibri"/>
                <a:cs typeface="Calibri"/>
                <a:sym typeface="Calibri"/>
              </a:rPr>
              <a:t>= 35 – 0 = 35</a:t>
            </a:r>
            <a:endParaRPr sz="1800" b="0" i="0" u="none" strike="noStrike" cap="none">
              <a:solidFill>
                <a:srgbClr val="000000"/>
              </a:solidFill>
              <a:latin typeface="Calibri"/>
              <a:ea typeface="Calibri"/>
              <a:cs typeface="Calibri"/>
              <a:sym typeface="Calibri"/>
            </a:endParaRPr>
          </a:p>
          <a:p>
            <a:pPr marL="964564"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tat</a:t>
            </a:r>
            <a:r>
              <a:rPr lang="fr-FR" sz="1800" b="0" i="0" u="none" strike="noStrike" cap="none" baseline="-25000">
                <a:solidFill>
                  <a:srgbClr val="000000"/>
                </a:solidFill>
                <a:latin typeface="Calibri"/>
                <a:ea typeface="Calibri"/>
                <a:cs typeface="Calibri"/>
                <a:sym typeface="Calibri"/>
              </a:rPr>
              <a:t>B  </a:t>
            </a:r>
            <a:r>
              <a:rPr lang="fr-FR" sz="1800" b="0" i="0" u="none" strike="noStrike" cap="none">
                <a:solidFill>
                  <a:srgbClr val="000000"/>
                </a:solidFill>
                <a:latin typeface="Calibri"/>
                <a:ea typeface="Calibri"/>
                <a:cs typeface="Calibri"/>
                <a:sym typeface="Calibri"/>
              </a:rPr>
              <a:t>= 34 – 2 = 32</a:t>
            </a:r>
            <a:endParaRPr sz="1800" b="0" i="0" u="none" strike="noStrike" cap="none">
              <a:solidFill>
                <a:srgbClr val="000000"/>
              </a:solidFill>
              <a:latin typeface="Calibri"/>
              <a:ea typeface="Calibri"/>
              <a:cs typeface="Calibri"/>
              <a:sym typeface="Calibri"/>
            </a:endParaRPr>
          </a:p>
          <a:p>
            <a:pPr marL="964564"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tat</a:t>
            </a:r>
            <a:r>
              <a:rPr lang="fr-FR" sz="1800" b="0" i="0" u="none" strike="noStrike" cap="none" baseline="-25000">
                <a:solidFill>
                  <a:srgbClr val="000000"/>
                </a:solidFill>
                <a:latin typeface="Calibri"/>
                <a:ea typeface="Calibri"/>
                <a:cs typeface="Calibri"/>
                <a:sym typeface="Calibri"/>
              </a:rPr>
              <a:t>C </a:t>
            </a:r>
            <a:r>
              <a:rPr lang="fr-FR" sz="1800" b="0" i="0" u="none" strike="noStrike" cap="none">
                <a:solidFill>
                  <a:srgbClr val="000000"/>
                </a:solidFill>
                <a:latin typeface="Calibri"/>
                <a:ea typeface="Calibri"/>
                <a:cs typeface="Calibri"/>
                <a:sym typeface="Calibri"/>
              </a:rPr>
              <a:t>= 15 – 3 =12</a:t>
            </a:r>
            <a:endParaRPr sz="1800" b="0" i="0" u="none" strike="noStrike" cap="none">
              <a:solidFill>
                <a:srgbClr val="000000"/>
              </a:solidFill>
              <a:latin typeface="Calibri"/>
              <a:ea typeface="Calibri"/>
              <a:cs typeface="Calibri"/>
              <a:sym typeface="Calibri"/>
            </a:endParaRPr>
          </a:p>
          <a:p>
            <a:pPr marL="965200" marR="0" lvl="0" indent="0" algn="l" rtl="0">
              <a:lnSpc>
                <a:spcPct val="100000"/>
              </a:lnSpc>
              <a:spcBef>
                <a:spcPts val="219"/>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tat</a:t>
            </a:r>
            <a:r>
              <a:rPr lang="fr-FR" sz="1800" b="0" i="0" u="none" strike="noStrike" cap="none" baseline="-25000">
                <a:solidFill>
                  <a:srgbClr val="000000"/>
                </a:solidFill>
                <a:latin typeface="Calibri"/>
                <a:ea typeface="Calibri"/>
                <a:cs typeface="Calibri"/>
                <a:sym typeface="Calibri"/>
              </a:rPr>
              <a:t>D </a:t>
            </a:r>
            <a:r>
              <a:rPr lang="fr-FR" sz="1800" b="0" i="0" u="none" strike="noStrike" cap="none">
                <a:solidFill>
                  <a:srgbClr val="000000"/>
                </a:solidFill>
                <a:latin typeface="Calibri"/>
                <a:ea typeface="Calibri"/>
                <a:cs typeface="Calibri"/>
                <a:sym typeface="Calibri"/>
              </a:rPr>
              <a:t>= 26 – 7 = 19</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35"/>
              </a:spcBef>
              <a:spcAft>
                <a:spcPts val="0"/>
              </a:spcAft>
              <a:buClr>
                <a:srgbClr val="000000"/>
              </a:buClr>
              <a:buSzPts val="2250"/>
              <a:buFont typeface="Arial"/>
              <a:buNone/>
            </a:pPr>
            <a:endParaRPr sz="2250" b="0" i="0" u="none" strike="noStrike" cap="none">
              <a:solidFill>
                <a:srgbClr val="000000"/>
              </a:solidFill>
              <a:latin typeface="Times New Roman"/>
              <a:ea typeface="Times New Roman"/>
              <a:cs typeface="Times New Roman"/>
              <a:sym typeface="Times New Roman"/>
            </a:endParaRPr>
          </a:p>
          <a:p>
            <a:pPr marL="964564" marR="0" lvl="0" indent="0" algn="l" rtl="0">
              <a:lnSpc>
                <a:spcPct val="100000"/>
              </a:lnSpc>
              <a:spcBef>
                <a:spcPts val="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tat</a:t>
            </a:r>
            <a:r>
              <a:rPr lang="fr-FR" sz="1800" b="0" i="0" u="none" strike="noStrike" cap="none" baseline="-25000">
                <a:solidFill>
                  <a:srgbClr val="000000"/>
                </a:solidFill>
                <a:latin typeface="Calibri"/>
                <a:ea typeface="Calibri"/>
                <a:cs typeface="Calibri"/>
                <a:sym typeface="Calibri"/>
              </a:rPr>
              <a:t>AVG </a:t>
            </a:r>
            <a:r>
              <a:rPr lang="fr-FR" sz="1800" b="0" i="0" u="none" strike="noStrike" cap="none">
                <a:solidFill>
                  <a:srgbClr val="000000"/>
                </a:solidFill>
                <a:latin typeface="Calibri"/>
                <a:ea typeface="Calibri"/>
                <a:cs typeface="Calibri"/>
                <a:sym typeface="Calibri"/>
              </a:rPr>
              <a:t>= (35 + 32 + 12 + 19) / 4 = 24</a:t>
            </a:r>
            <a:r>
              <a:rPr lang="fr-FR" sz="2400" b="0" i="0" u="none" strike="noStrike" cap="none">
                <a:solidFill>
                  <a:srgbClr val="000000"/>
                </a:solidFill>
                <a:latin typeface="Calibri"/>
                <a:ea typeface="Calibri"/>
                <a:cs typeface="Calibri"/>
                <a:sym typeface="Calibri"/>
              </a:rPr>
              <a:t>.</a:t>
            </a:r>
            <a:endParaRPr sz="2400" b="0" i="0" u="none" strike="noStrike" cap="none">
              <a:solidFill>
                <a:srgbClr val="000000"/>
              </a:solidFill>
              <a:latin typeface="Calibri"/>
              <a:ea typeface="Calibri"/>
              <a:cs typeface="Calibri"/>
              <a:sym typeface="Calibri"/>
            </a:endParaRPr>
          </a:p>
        </p:txBody>
      </p:sp>
      <p:sp>
        <p:nvSpPr>
          <p:cNvPr id="1514" name="Google Shape;1514;p141"/>
          <p:cNvSpPr/>
          <p:nvPr/>
        </p:nvSpPr>
        <p:spPr>
          <a:xfrm>
            <a:off x="568337" y="1981200"/>
            <a:ext cx="8042261" cy="191764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15" name="Google Shape;1515;p141"/>
          <p:cNvSpPr/>
          <p:nvPr/>
        </p:nvSpPr>
        <p:spPr>
          <a:xfrm>
            <a:off x="1591055" y="2136648"/>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16" name="Google Shape;1516;p141"/>
          <p:cNvSpPr/>
          <p:nvPr/>
        </p:nvSpPr>
        <p:spPr>
          <a:xfrm>
            <a:off x="1600200" y="2252268"/>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17" name="Google Shape;1517;p141"/>
          <p:cNvSpPr/>
          <p:nvPr/>
        </p:nvSpPr>
        <p:spPr>
          <a:xfrm>
            <a:off x="1658129"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18" name="Google Shape;1518;p141"/>
          <p:cNvSpPr/>
          <p:nvPr/>
        </p:nvSpPr>
        <p:spPr>
          <a:xfrm>
            <a:off x="2119883" y="2139695"/>
            <a:ext cx="182879" cy="33223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19" name="Google Shape;1519;p141"/>
          <p:cNvSpPr/>
          <p:nvPr/>
        </p:nvSpPr>
        <p:spPr>
          <a:xfrm>
            <a:off x="2208212" y="2263776"/>
            <a:ext cx="2540" cy="176530"/>
          </a:xfrm>
          <a:custGeom>
            <a:avLst/>
            <a:gdLst/>
            <a:ahLst/>
            <a:cxnLst/>
            <a:rect l="l" t="t" r="r" b="b"/>
            <a:pathLst>
              <a:path w="2539" h="176530" extrusionOk="0">
                <a:moveTo>
                  <a:pt x="1168" y="-9525"/>
                </a:moveTo>
                <a:lnTo>
                  <a:pt x="1168" y="185737"/>
                </a:lnTo>
              </a:path>
            </a:pathLst>
          </a:custGeom>
          <a:noFill/>
          <a:ln w="213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0" name="Google Shape;1520;p141"/>
          <p:cNvSpPr/>
          <p:nvPr/>
        </p:nvSpPr>
        <p:spPr>
          <a:xfrm>
            <a:off x="2146880" y="2200275"/>
            <a:ext cx="127000" cy="77470"/>
          </a:xfrm>
          <a:custGeom>
            <a:avLst/>
            <a:gdLst/>
            <a:ahLst/>
            <a:cxnLst/>
            <a:rect l="l" t="t" r="r" b="b"/>
            <a:pathLst>
              <a:path w="127000" h="77469" extrusionOk="0">
                <a:moveTo>
                  <a:pt x="64503" y="0"/>
                </a:moveTo>
                <a:lnTo>
                  <a:pt x="0" y="75349"/>
                </a:lnTo>
                <a:lnTo>
                  <a:pt x="126987" y="77038"/>
                </a:lnTo>
                <a:lnTo>
                  <a:pt x="6450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1" name="Google Shape;1521;p141"/>
          <p:cNvSpPr txBox="1"/>
          <p:nvPr/>
        </p:nvSpPr>
        <p:spPr>
          <a:xfrm>
            <a:off x="1678946" y="1846586"/>
            <a:ext cx="6191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522" name="Google Shape;1522;p141"/>
          <p:cNvSpPr/>
          <p:nvPr/>
        </p:nvSpPr>
        <p:spPr>
          <a:xfrm>
            <a:off x="34731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3" name="Google Shape;1523;p141"/>
          <p:cNvSpPr/>
          <p:nvPr/>
        </p:nvSpPr>
        <p:spPr>
          <a:xfrm>
            <a:off x="34829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4" name="Google Shape;1524;p141"/>
          <p:cNvSpPr/>
          <p:nvPr/>
        </p:nvSpPr>
        <p:spPr>
          <a:xfrm>
            <a:off x="35409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5" name="Google Shape;1525;p141"/>
          <p:cNvSpPr txBox="1"/>
          <p:nvPr/>
        </p:nvSpPr>
        <p:spPr>
          <a:xfrm>
            <a:off x="35617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26" name="Google Shape;1526;p141"/>
          <p:cNvSpPr/>
          <p:nvPr/>
        </p:nvSpPr>
        <p:spPr>
          <a:xfrm>
            <a:off x="51114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7" name="Google Shape;1527;p141"/>
          <p:cNvSpPr/>
          <p:nvPr/>
        </p:nvSpPr>
        <p:spPr>
          <a:xfrm>
            <a:off x="51212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8" name="Google Shape;1528;p141"/>
          <p:cNvSpPr/>
          <p:nvPr/>
        </p:nvSpPr>
        <p:spPr>
          <a:xfrm>
            <a:off x="51792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29" name="Google Shape;1529;p141"/>
          <p:cNvSpPr txBox="1"/>
          <p:nvPr/>
        </p:nvSpPr>
        <p:spPr>
          <a:xfrm>
            <a:off x="52000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30" name="Google Shape;1530;p141"/>
          <p:cNvSpPr/>
          <p:nvPr/>
        </p:nvSpPr>
        <p:spPr>
          <a:xfrm>
            <a:off x="60258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1" name="Google Shape;1531;p141"/>
          <p:cNvSpPr/>
          <p:nvPr/>
        </p:nvSpPr>
        <p:spPr>
          <a:xfrm>
            <a:off x="60356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2" name="Google Shape;1532;p141"/>
          <p:cNvSpPr/>
          <p:nvPr/>
        </p:nvSpPr>
        <p:spPr>
          <a:xfrm>
            <a:off x="60936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3" name="Google Shape;1533;p141"/>
          <p:cNvSpPr txBox="1"/>
          <p:nvPr/>
        </p:nvSpPr>
        <p:spPr>
          <a:xfrm>
            <a:off x="61144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34" name="Google Shape;1534;p141"/>
          <p:cNvSpPr/>
          <p:nvPr/>
        </p:nvSpPr>
        <p:spPr>
          <a:xfrm>
            <a:off x="70926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5" name="Google Shape;1535;p141"/>
          <p:cNvSpPr/>
          <p:nvPr/>
        </p:nvSpPr>
        <p:spPr>
          <a:xfrm>
            <a:off x="71024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6" name="Google Shape;1536;p141"/>
          <p:cNvSpPr/>
          <p:nvPr/>
        </p:nvSpPr>
        <p:spPr>
          <a:xfrm>
            <a:off x="7160403"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7" name="Google Shape;1537;p141"/>
          <p:cNvSpPr txBox="1"/>
          <p:nvPr/>
        </p:nvSpPr>
        <p:spPr>
          <a:xfrm>
            <a:off x="7181222"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38" name="Google Shape;1538;p141"/>
          <p:cNvSpPr/>
          <p:nvPr/>
        </p:nvSpPr>
        <p:spPr>
          <a:xfrm>
            <a:off x="7711440" y="2136648"/>
            <a:ext cx="252983" cy="336803"/>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39" name="Google Shape;1539;p141"/>
          <p:cNvSpPr/>
          <p:nvPr/>
        </p:nvSpPr>
        <p:spPr>
          <a:xfrm>
            <a:off x="7721600"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0" name="Google Shape;1540;p141"/>
          <p:cNvSpPr/>
          <p:nvPr/>
        </p:nvSpPr>
        <p:spPr>
          <a:xfrm>
            <a:off x="7779528"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1" name="Google Shape;1541;p141"/>
          <p:cNvSpPr txBox="1"/>
          <p:nvPr/>
        </p:nvSpPr>
        <p:spPr>
          <a:xfrm>
            <a:off x="7800347"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42" name="Google Shape;1542;p141"/>
          <p:cNvSpPr/>
          <p:nvPr/>
        </p:nvSpPr>
        <p:spPr>
          <a:xfrm>
            <a:off x="760475" y="1551431"/>
            <a:ext cx="7851647" cy="463295"/>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3" name="Google Shape;1543;p141"/>
          <p:cNvSpPr/>
          <p:nvPr/>
        </p:nvSpPr>
        <p:spPr>
          <a:xfrm>
            <a:off x="1182687" y="1754229"/>
            <a:ext cx="7009130" cy="1905"/>
          </a:xfrm>
          <a:custGeom>
            <a:avLst/>
            <a:gdLst/>
            <a:ahLst/>
            <a:cxnLst/>
            <a:rect l="l" t="t" r="r" b="b"/>
            <a:pathLst>
              <a:path w="7009130" h="1905" extrusionOk="0">
                <a:moveTo>
                  <a:pt x="0" y="0"/>
                </a:moveTo>
                <a:lnTo>
                  <a:pt x="7008812" y="1498"/>
                </a:lnTo>
              </a:path>
            </a:pathLst>
          </a:custGeom>
          <a:noFill/>
          <a:ln w="76175"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4" name="Google Shape;1544;p141"/>
          <p:cNvSpPr/>
          <p:nvPr/>
        </p:nvSpPr>
        <p:spPr>
          <a:xfrm>
            <a:off x="8153366" y="1641415"/>
            <a:ext cx="229235" cy="228600"/>
          </a:xfrm>
          <a:custGeom>
            <a:avLst/>
            <a:gdLst/>
            <a:ahLst/>
            <a:cxnLst/>
            <a:rect l="l" t="t" r="r" b="b"/>
            <a:pathLst>
              <a:path w="229234" h="228600" extrusionOk="0">
                <a:moveTo>
                  <a:pt x="63" y="0"/>
                </a:moveTo>
                <a:lnTo>
                  <a:pt x="0" y="228600"/>
                </a:lnTo>
                <a:lnTo>
                  <a:pt x="228638" y="114363"/>
                </a:lnTo>
                <a:lnTo>
                  <a:pt x="63"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5" name="Google Shape;1545;p141"/>
          <p:cNvSpPr/>
          <p:nvPr/>
        </p:nvSpPr>
        <p:spPr>
          <a:xfrm>
            <a:off x="992193" y="1639926"/>
            <a:ext cx="229235" cy="228600"/>
          </a:xfrm>
          <a:custGeom>
            <a:avLst/>
            <a:gdLst/>
            <a:ahLst/>
            <a:cxnLst/>
            <a:rect l="l" t="t" r="r" b="b"/>
            <a:pathLst>
              <a:path w="229234" h="228600" extrusionOk="0">
                <a:moveTo>
                  <a:pt x="228612" y="0"/>
                </a:moveTo>
                <a:lnTo>
                  <a:pt x="0" y="114261"/>
                </a:lnTo>
                <a:lnTo>
                  <a:pt x="228574" y="228600"/>
                </a:lnTo>
                <a:lnTo>
                  <a:pt x="228612"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6" name="Google Shape;1546;p141"/>
          <p:cNvSpPr/>
          <p:nvPr/>
        </p:nvSpPr>
        <p:spPr>
          <a:xfrm>
            <a:off x="8369807" y="1781556"/>
            <a:ext cx="22860" cy="612647"/>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7" name="Google Shape;1547;p141"/>
          <p:cNvSpPr/>
          <p:nvPr/>
        </p:nvSpPr>
        <p:spPr>
          <a:xfrm>
            <a:off x="8380414" y="1752600"/>
            <a:ext cx="1905" cy="609600"/>
          </a:xfrm>
          <a:custGeom>
            <a:avLst/>
            <a:gdLst/>
            <a:ahLst/>
            <a:cxnLst/>
            <a:rect l="l" t="t" r="r" b="b"/>
            <a:pathLst>
              <a:path w="1904" h="609600" extrusionOk="0">
                <a:moveTo>
                  <a:pt x="0" y="6096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8" name="Google Shape;1548;p141"/>
          <p:cNvSpPr/>
          <p:nvPr/>
        </p:nvSpPr>
        <p:spPr>
          <a:xfrm>
            <a:off x="979932" y="1781556"/>
            <a:ext cx="22860" cy="612647"/>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49" name="Google Shape;1549;p141"/>
          <p:cNvSpPr/>
          <p:nvPr/>
        </p:nvSpPr>
        <p:spPr>
          <a:xfrm>
            <a:off x="990600" y="1752600"/>
            <a:ext cx="1905" cy="609600"/>
          </a:xfrm>
          <a:custGeom>
            <a:avLst/>
            <a:gdLst/>
            <a:ahLst/>
            <a:cxnLst/>
            <a:rect l="l" t="t" r="r" b="b"/>
            <a:pathLst>
              <a:path w="1905" h="609600" extrusionOk="0">
                <a:moveTo>
                  <a:pt x="0" y="6096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50" name="Google Shape;1550;p141"/>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58</a:t>
            </a:fld>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554"/>
        <p:cNvGrpSpPr/>
        <p:nvPr/>
      </p:nvGrpSpPr>
      <p:grpSpPr>
        <a:xfrm>
          <a:off x="0" y="0"/>
          <a:ext cx="0" cy="0"/>
          <a:chOff x="0" y="0"/>
          <a:chExt cx="0" cy="0"/>
        </a:xfrm>
      </p:grpSpPr>
      <p:sp>
        <p:nvSpPr>
          <p:cNvPr id="1555" name="Google Shape;1555;p142"/>
          <p:cNvSpPr txBox="1">
            <a:spLocks noGrp="1"/>
          </p:cNvSpPr>
          <p:nvPr>
            <p:ph type="title"/>
          </p:nvPr>
        </p:nvSpPr>
        <p:spPr>
          <a:xfrm>
            <a:off x="568337" y="163936"/>
            <a:ext cx="7711739" cy="513715"/>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3200" u="sng">
                <a:solidFill>
                  <a:srgbClr val="000000"/>
                </a:solidFill>
              </a:rPr>
              <a:t>Algorithme du Tourniquet (Round Robin)</a:t>
            </a:r>
            <a:endParaRPr sz="3200" u="sng"/>
          </a:p>
        </p:txBody>
      </p:sp>
      <p:sp>
        <p:nvSpPr>
          <p:cNvPr id="1556" name="Google Shape;1556;p142"/>
          <p:cNvSpPr txBox="1"/>
          <p:nvPr/>
        </p:nvSpPr>
        <p:spPr>
          <a:xfrm>
            <a:off x="40640" y="3742864"/>
            <a:ext cx="6508115" cy="2174240"/>
          </a:xfrm>
          <a:prstGeom prst="rect">
            <a:avLst/>
          </a:prstGeom>
          <a:noFill/>
          <a:ln>
            <a:noFill/>
          </a:ln>
        </p:spPr>
        <p:txBody>
          <a:bodyPr spcFirstLastPara="1" wrap="square" lIns="0" tIns="44450" rIns="0" bIns="0" anchor="t" anchorCtr="0">
            <a:spAutoFit/>
          </a:bodyPr>
          <a:lstStyle/>
          <a:p>
            <a:pPr marL="3930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Waiting time:</a:t>
            </a:r>
            <a:endParaRPr sz="2000" b="0" i="0" u="none" strike="noStrike" cap="none">
              <a:solidFill>
                <a:srgbClr val="000000"/>
              </a:solidFill>
              <a:latin typeface="Calibri"/>
              <a:ea typeface="Calibri"/>
              <a:cs typeface="Calibri"/>
              <a:sym typeface="Calibri"/>
            </a:endParaRPr>
          </a:p>
          <a:p>
            <a:pPr marL="508000" marR="0" lvl="0" indent="0" algn="l" rtl="0">
              <a:lnSpc>
                <a:spcPct val="100000"/>
              </a:lnSpc>
              <a:spcBef>
                <a:spcPts val="225"/>
              </a:spcBef>
              <a:spcAft>
                <a:spcPts val="0"/>
              </a:spcAft>
              <a:buClr>
                <a:srgbClr val="000000"/>
              </a:buClr>
              <a:buSzPts val="1800"/>
              <a:buFont typeface="Arial"/>
              <a:buNone/>
            </a:pPr>
            <a:r>
              <a:rPr lang="fr-FR" sz="1800" b="0" i="0" u="none" strike="noStrike" cap="none">
                <a:solidFill>
                  <a:srgbClr val="FF6600"/>
                </a:solidFill>
                <a:latin typeface="Calibri"/>
                <a:ea typeface="Calibri"/>
                <a:cs typeface="Calibri"/>
                <a:sym typeface="Calibri"/>
              </a:rPr>
              <a:t>wt</a:t>
            </a:r>
            <a:r>
              <a:rPr lang="fr-FR" sz="1800" b="0" i="0" u="none" strike="noStrike" cap="none" baseline="-25000">
                <a:solidFill>
                  <a:srgbClr val="FF6600"/>
                </a:solidFill>
                <a:latin typeface="Calibri"/>
                <a:ea typeface="Calibri"/>
                <a:cs typeface="Calibri"/>
                <a:sym typeface="Calibri"/>
              </a:rPr>
              <a:t>A  </a:t>
            </a:r>
            <a:r>
              <a:rPr lang="fr-FR" sz="1800" b="0" i="0" u="none" strike="noStrike" cap="none">
                <a:solidFill>
                  <a:srgbClr val="FF6600"/>
                </a:solidFill>
                <a:latin typeface="Calibri"/>
                <a:ea typeface="Calibri"/>
                <a:cs typeface="Calibri"/>
                <a:sym typeface="Calibri"/>
              </a:rPr>
              <a:t>= (0 – 0)+(8 – 3)+(17 – 13)+(24 – 20)+(29 – 29)+(34 – 32)=15</a:t>
            </a:r>
            <a:endParaRPr sz="1800" b="0" i="0" u="none" strike="noStrike" cap="none">
              <a:solidFill>
                <a:srgbClr val="000000"/>
              </a:solidFill>
              <a:latin typeface="Calibri"/>
              <a:ea typeface="Calibri"/>
              <a:cs typeface="Calibri"/>
              <a:sym typeface="Calibri"/>
            </a:endParaRPr>
          </a:p>
          <a:p>
            <a:pPr marL="508000"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B  </a:t>
            </a:r>
            <a:r>
              <a:rPr lang="fr-FR" sz="1800" b="0" i="0" u="none" strike="noStrike" cap="none">
                <a:solidFill>
                  <a:srgbClr val="000000"/>
                </a:solidFill>
                <a:latin typeface="Calibri"/>
                <a:ea typeface="Calibri"/>
                <a:cs typeface="Calibri"/>
                <a:sym typeface="Calibri"/>
              </a:rPr>
              <a:t>= (3 – 2)+(9 – 6)+ (15 -12)+(21 – 18)+(26 – 24)+(32 – 29) =15</a:t>
            </a:r>
            <a:endParaRPr sz="1800" b="0" i="0" u="none" strike="noStrike" cap="none">
              <a:solidFill>
                <a:srgbClr val="000000"/>
              </a:solidFill>
              <a:latin typeface="Calibri"/>
              <a:ea typeface="Calibri"/>
              <a:cs typeface="Calibri"/>
              <a:sym typeface="Calibri"/>
            </a:endParaRPr>
          </a:p>
          <a:p>
            <a:pPr marL="507365"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C </a:t>
            </a:r>
            <a:r>
              <a:rPr lang="fr-FR" sz="1800" b="0" i="0" u="none" strike="noStrike" cap="none">
                <a:solidFill>
                  <a:srgbClr val="000000"/>
                </a:solidFill>
                <a:latin typeface="Calibri"/>
                <a:ea typeface="Calibri"/>
                <a:cs typeface="Calibri"/>
                <a:sym typeface="Calibri"/>
              </a:rPr>
              <a:t>= (6 – 3) + (13 – 9) = 7</a:t>
            </a:r>
            <a:endParaRPr sz="1800" b="0" i="0" u="none" strike="noStrike" cap="none">
              <a:solidFill>
                <a:srgbClr val="000000"/>
              </a:solidFill>
              <a:latin typeface="Calibri"/>
              <a:ea typeface="Calibri"/>
              <a:cs typeface="Calibri"/>
              <a:sym typeface="Calibri"/>
            </a:endParaRPr>
          </a:p>
          <a:p>
            <a:pPr marL="508000" marR="0" lvl="0" indent="0" algn="l" rtl="0">
              <a:lnSpc>
                <a:spcPct val="100000"/>
              </a:lnSpc>
              <a:spcBef>
                <a:spcPts val="219"/>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D </a:t>
            </a:r>
            <a:r>
              <a:rPr lang="fr-FR" sz="1800" b="0" i="0" u="none" strike="noStrike" cap="none">
                <a:solidFill>
                  <a:srgbClr val="000000"/>
                </a:solidFill>
                <a:latin typeface="Calibri"/>
                <a:ea typeface="Calibri"/>
                <a:cs typeface="Calibri"/>
                <a:sym typeface="Calibri"/>
              </a:rPr>
              <a:t>= (12 – 7) + (20 – 14) + (25 – 22) = 14</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50"/>
              <a:buFont typeface="Arial"/>
              <a:buNone/>
            </a:pPr>
            <a:endParaRPr sz="2250" b="0" i="0" u="none" strike="noStrike" cap="none">
              <a:solidFill>
                <a:srgbClr val="000000"/>
              </a:solidFill>
              <a:latin typeface="Times New Roman"/>
              <a:ea typeface="Times New Roman"/>
              <a:cs typeface="Times New Roman"/>
              <a:sym typeface="Times New Roman"/>
            </a:endParaRPr>
          </a:p>
          <a:p>
            <a:pPr marL="508000" marR="0" lvl="0" indent="0" algn="l" rtl="0">
              <a:lnSpc>
                <a:spcPct val="100000"/>
              </a:lnSpc>
              <a:spcBef>
                <a:spcPts val="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wt</a:t>
            </a:r>
            <a:r>
              <a:rPr lang="fr-FR" sz="1800" b="0" i="0" u="none" strike="noStrike" cap="none" baseline="-25000">
                <a:solidFill>
                  <a:srgbClr val="000000"/>
                </a:solidFill>
                <a:latin typeface="Calibri"/>
                <a:ea typeface="Calibri"/>
                <a:cs typeface="Calibri"/>
                <a:sym typeface="Calibri"/>
              </a:rPr>
              <a:t>AVG </a:t>
            </a:r>
            <a:r>
              <a:rPr lang="fr-FR" sz="1800" b="0" i="0" u="none" strike="noStrike" cap="none">
                <a:solidFill>
                  <a:srgbClr val="000000"/>
                </a:solidFill>
                <a:latin typeface="Calibri"/>
                <a:ea typeface="Calibri"/>
                <a:cs typeface="Calibri"/>
                <a:sym typeface="Calibri"/>
              </a:rPr>
              <a:t>= (15 + 12 + 7 + 11) / 4 = 11.25</a:t>
            </a:r>
            <a:endParaRPr sz="1800" b="0" i="0" u="none" strike="noStrike" cap="none">
              <a:solidFill>
                <a:srgbClr val="000000"/>
              </a:solidFill>
              <a:latin typeface="Calibri"/>
              <a:ea typeface="Calibri"/>
              <a:cs typeface="Calibri"/>
              <a:sym typeface="Calibri"/>
            </a:endParaRPr>
          </a:p>
        </p:txBody>
      </p:sp>
      <p:sp>
        <p:nvSpPr>
          <p:cNvPr id="1557" name="Google Shape;1557;p142"/>
          <p:cNvSpPr/>
          <p:nvPr/>
        </p:nvSpPr>
        <p:spPr>
          <a:xfrm>
            <a:off x="568337" y="1981200"/>
            <a:ext cx="8042261" cy="191764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58" name="Google Shape;1558;p142"/>
          <p:cNvSpPr/>
          <p:nvPr/>
        </p:nvSpPr>
        <p:spPr>
          <a:xfrm>
            <a:off x="1591055" y="2136648"/>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59" name="Google Shape;1559;p142"/>
          <p:cNvSpPr/>
          <p:nvPr/>
        </p:nvSpPr>
        <p:spPr>
          <a:xfrm>
            <a:off x="1600200" y="2252268"/>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0" name="Google Shape;1560;p142"/>
          <p:cNvSpPr/>
          <p:nvPr/>
        </p:nvSpPr>
        <p:spPr>
          <a:xfrm>
            <a:off x="1658129"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1" name="Google Shape;1561;p142"/>
          <p:cNvSpPr/>
          <p:nvPr/>
        </p:nvSpPr>
        <p:spPr>
          <a:xfrm>
            <a:off x="2119883" y="2139695"/>
            <a:ext cx="182879" cy="33223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2" name="Google Shape;1562;p142"/>
          <p:cNvSpPr/>
          <p:nvPr/>
        </p:nvSpPr>
        <p:spPr>
          <a:xfrm>
            <a:off x="2208212" y="2263776"/>
            <a:ext cx="2540" cy="176530"/>
          </a:xfrm>
          <a:custGeom>
            <a:avLst/>
            <a:gdLst/>
            <a:ahLst/>
            <a:cxnLst/>
            <a:rect l="l" t="t" r="r" b="b"/>
            <a:pathLst>
              <a:path w="2539" h="176530" extrusionOk="0">
                <a:moveTo>
                  <a:pt x="1168" y="-9525"/>
                </a:moveTo>
                <a:lnTo>
                  <a:pt x="1168" y="185737"/>
                </a:lnTo>
              </a:path>
            </a:pathLst>
          </a:custGeom>
          <a:noFill/>
          <a:ln w="213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3" name="Google Shape;1563;p142"/>
          <p:cNvSpPr/>
          <p:nvPr/>
        </p:nvSpPr>
        <p:spPr>
          <a:xfrm>
            <a:off x="2146880" y="2200275"/>
            <a:ext cx="127000" cy="77470"/>
          </a:xfrm>
          <a:custGeom>
            <a:avLst/>
            <a:gdLst/>
            <a:ahLst/>
            <a:cxnLst/>
            <a:rect l="l" t="t" r="r" b="b"/>
            <a:pathLst>
              <a:path w="127000" h="77469" extrusionOk="0">
                <a:moveTo>
                  <a:pt x="64503" y="0"/>
                </a:moveTo>
                <a:lnTo>
                  <a:pt x="0" y="75349"/>
                </a:lnTo>
                <a:lnTo>
                  <a:pt x="126987" y="77038"/>
                </a:lnTo>
                <a:lnTo>
                  <a:pt x="6450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4" name="Google Shape;1564;p142"/>
          <p:cNvSpPr txBox="1"/>
          <p:nvPr/>
        </p:nvSpPr>
        <p:spPr>
          <a:xfrm>
            <a:off x="1678946" y="1846586"/>
            <a:ext cx="6191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565" name="Google Shape;1565;p142"/>
          <p:cNvSpPr/>
          <p:nvPr/>
        </p:nvSpPr>
        <p:spPr>
          <a:xfrm>
            <a:off x="34731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6" name="Google Shape;1566;p142"/>
          <p:cNvSpPr/>
          <p:nvPr/>
        </p:nvSpPr>
        <p:spPr>
          <a:xfrm>
            <a:off x="34829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7" name="Google Shape;1567;p142"/>
          <p:cNvSpPr/>
          <p:nvPr/>
        </p:nvSpPr>
        <p:spPr>
          <a:xfrm>
            <a:off x="35409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68" name="Google Shape;1568;p142"/>
          <p:cNvSpPr txBox="1"/>
          <p:nvPr/>
        </p:nvSpPr>
        <p:spPr>
          <a:xfrm>
            <a:off x="35617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69" name="Google Shape;1569;p142"/>
          <p:cNvSpPr/>
          <p:nvPr/>
        </p:nvSpPr>
        <p:spPr>
          <a:xfrm>
            <a:off x="51114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0" name="Google Shape;1570;p142"/>
          <p:cNvSpPr/>
          <p:nvPr/>
        </p:nvSpPr>
        <p:spPr>
          <a:xfrm>
            <a:off x="51212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1" name="Google Shape;1571;p142"/>
          <p:cNvSpPr/>
          <p:nvPr/>
        </p:nvSpPr>
        <p:spPr>
          <a:xfrm>
            <a:off x="51792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2" name="Google Shape;1572;p142"/>
          <p:cNvSpPr txBox="1"/>
          <p:nvPr/>
        </p:nvSpPr>
        <p:spPr>
          <a:xfrm>
            <a:off x="52000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73" name="Google Shape;1573;p142"/>
          <p:cNvSpPr/>
          <p:nvPr/>
        </p:nvSpPr>
        <p:spPr>
          <a:xfrm>
            <a:off x="60258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4" name="Google Shape;1574;p142"/>
          <p:cNvSpPr/>
          <p:nvPr/>
        </p:nvSpPr>
        <p:spPr>
          <a:xfrm>
            <a:off x="60356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5" name="Google Shape;1575;p142"/>
          <p:cNvSpPr/>
          <p:nvPr/>
        </p:nvSpPr>
        <p:spPr>
          <a:xfrm>
            <a:off x="60936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6" name="Google Shape;1576;p142"/>
          <p:cNvSpPr txBox="1"/>
          <p:nvPr/>
        </p:nvSpPr>
        <p:spPr>
          <a:xfrm>
            <a:off x="61144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77" name="Google Shape;1577;p142"/>
          <p:cNvSpPr/>
          <p:nvPr/>
        </p:nvSpPr>
        <p:spPr>
          <a:xfrm>
            <a:off x="70926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8" name="Google Shape;1578;p142"/>
          <p:cNvSpPr/>
          <p:nvPr/>
        </p:nvSpPr>
        <p:spPr>
          <a:xfrm>
            <a:off x="71024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79" name="Google Shape;1579;p142"/>
          <p:cNvSpPr/>
          <p:nvPr/>
        </p:nvSpPr>
        <p:spPr>
          <a:xfrm>
            <a:off x="7160403"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0" name="Google Shape;1580;p142"/>
          <p:cNvSpPr txBox="1"/>
          <p:nvPr/>
        </p:nvSpPr>
        <p:spPr>
          <a:xfrm>
            <a:off x="7181222"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81" name="Google Shape;1581;p142"/>
          <p:cNvSpPr/>
          <p:nvPr/>
        </p:nvSpPr>
        <p:spPr>
          <a:xfrm>
            <a:off x="7711440" y="2136648"/>
            <a:ext cx="252983" cy="336803"/>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2" name="Google Shape;1582;p142"/>
          <p:cNvSpPr/>
          <p:nvPr/>
        </p:nvSpPr>
        <p:spPr>
          <a:xfrm>
            <a:off x="7721600"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3" name="Google Shape;1583;p142"/>
          <p:cNvSpPr/>
          <p:nvPr/>
        </p:nvSpPr>
        <p:spPr>
          <a:xfrm>
            <a:off x="7779528"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4" name="Google Shape;1584;p142"/>
          <p:cNvSpPr txBox="1"/>
          <p:nvPr/>
        </p:nvSpPr>
        <p:spPr>
          <a:xfrm>
            <a:off x="7800347"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585" name="Google Shape;1585;p142"/>
          <p:cNvSpPr/>
          <p:nvPr/>
        </p:nvSpPr>
        <p:spPr>
          <a:xfrm>
            <a:off x="4949951" y="1473708"/>
            <a:ext cx="1301495" cy="463295"/>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6" name="Google Shape;1586;p142"/>
          <p:cNvSpPr/>
          <p:nvPr/>
        </p:nvSpPr>
        <p:spPr>
          <a:xfrm>
            <a:off x="5372100" y="1676763"/>
            <a:ext cx="457200" cy="1270"/>
          </a:xfrm>
          <a:custGeom>
            <a:avLst/>
            <a:gdLst/>
            <a:ahLst/>
            <a:cxnLst/>
            <a:rect l="l" t="t" r="r" b="b"/>
            <a:pathLst>
              <a:path w="457200" h="1269" extrusionOk="0">
                <a:moveTo>
                  <a:pt x="-38100" y="431"/>
                </a:moveTo>
                <a:lnTo>
                  <a:pt x="495300" y="431"/>
                </a:lnTo>
              </a:path>
            </a:pathLst>
          </a:custGeom>
          <a:noFill/>
          <a:ln w="77050"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7" name="Google Shape;1587;p142"/>
          <p:cNvSpPr/>
          <p:nvPr/>
        </p:nvSpPr>
        <p:spPr>
          <a:xfrm>
            <a:off x="5790989" y="1562522"/>
            <a:ext cx="229235" cy="228600"/>
          </a:xfrm>
          <a:custGeom>
            <a:avLst/>
            <a:gdLst/>
            <a:ahLst/>
            <a:cxnLst/>
            <a:rect l="l" t="t" r="r" b="b"/>
            <a:pathLst>
              <a:path w="229235" h="228600" extrusionOk="0">
                <a:moveTo>
                  <a:pt x="0" y="0"/>
                </a:moveTo>
                <a:lnTo>
                  <a:pt x="419" y="228600"/>
                </a:lnTo>
                <a:lnTo>
                  <a:pt x="228815" y="113880"/>
                </a:lnTo>
                <a:lnTo>
                  <a:pt x="0"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8" name="Google Shape;1588;p142"/>
          <p:cNvSpPr/>
          <p:nvPr/>
        </p:nvSpPr>
        <p:spPr>
          <a:xfrm>
            <a:off x="5181606" y="1563244"/>
            <a:ext cx="229235" cy="228600"/>
          </a:xfrm>
          <a:custGeom>
            <a:avLst/>
            <a:gdLst/>
            <a:ahLst/>
            <a:cxnLst/>
            <a:rect l="l" t="t" r="r" b="b"/>
            <a:pathLst>
              <a:path w="229235" h="228600" extrusionOk="0">
                <a:moveTo>
                  <a:pt x="228371" y="0"/>
                </a:moveTo>
                <a:lnTo>
                  <a:pt x="0" y="114744"/>
                </a:lnTo>
                <a:lnTo>
                  <a:pt x="228815" y="228600"/>
                </a:lnTo>
                <a:lnTo>
                  <a:pt x="228371"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89" name="Google Shape;1589;p142"/>
          <p:cNvSpPr/>
          <p:nvPr/>
        </p:nvSpPr>
        <p:spPr>
          <a:xfrm>
            <a:off x="3648455" y="1732787"/>
            <a:ext cx="44195" cy="1496567"/>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0" name="Google Shape;1590;p142"/>
          <p:cNvSpPr/>
          <p:nvPr/>
        </p:nvSpPr>
        <p:spPr>
          <a:xfrm>
            <a:off x="3660775" y="1706562"/>
            <a:ext cx="22225" cy="1494155"/>
          </a:xfrm>
          <a:custGeom>
            <a:avLst/>
            <a:gdLst/>
            <a:ahLst/>
            <a:cxnLst/>
            <a:rect l="l" t="t" r="r" b="b"/>
            <a:pathLst>
              <a:path w="22225" h="1494155" extrusionOk="0">
                <a:moveTo>
                  <a:pt x="0" y="1493837"/>
                </a:moveTo>
                <a:lnTo>
                  <a:pt x="22225"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1" name="Google Shape;1591;p142"/>
          <p:cNvSpPr/>
          <p:nvPr/>
        </p:nvSpPr>
        <p:spPr>
          <a:xfrm>
            <a:off x="4506468" y="1734312"/>
            <a:ext cx="25907" cy="736091"/>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2" name="Google Shape;1592;p142"/>
          <p:cNvSpPr/>
          <p:nvPr/>
        </p:nvSpPr>
        <p:spPr>
          <a:xfrm>
            <a:off x="4519613" y="1708150"/>
            <a:ext cx="3175" cy="732155"/>
          </a:xfrm>
          <a:custGeom>
            <a:avLst/>
            <a:gdLst/>
            <a:ahLst/>
            <a:cxnLst/>
            <a:rect l="l" t="t" r="r" b="b"/>
            <a:pathLst>
              <a:path w="3175" h="732155" extrusionOk="0">
                <a:moveTo>
                  <a:pt x="0" y="731837"/>
                </a:moveTo>
                <a:lnTo>
                  <a:pt x="3175"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3" name="Google Shape;1593;p142"/>
          <p:cNvSpPr/>
          <p:nvPr/>
        </p:nvSpPr>
        <p:spPr>
          <a:xfrm>
            <a:off x="979932" y="1705356"/>
            <a:ext cx="22860" cy="612647"/>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4" name="Google Shape;1594;p142"/>
          <p:cNvSpPr/>
          <p:nvPr/>
        </p:nvSpPr>
        <p:spPr>
          <a:xfrm>
            <a:off x="991393" y="1716062"/>
            <a:ext cx="0" cy="579755"/>
          </a:xfrm>
          <a:custGeom>
            <a:avLst/>
            <a:gdLst/>
            <a:ahLst/>
            <a:cxnLst/>
            <a:rect l="l" t="t" r="r" b="b"/>
            <a:pathLst>
              <a:path w="120000" h="579755" extrusionOk="0">
                <a:moveTo>
                  <a:pt x="0" y="0"/>
                </a:moveTo>
                <a:lnTo>
                  <a:pt x="0" y="579462"/>
                </a:lnTo>
              </a:path>
            </a:pathLst>
          </a:custGeom>
          <a:noFill/>
          <a:ln w="20625"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5" name="Google Shape;1595;p142"/>
          <p:cNvSpPr/>
          <p:nvPr/>
        </p:nvSpPr>
        <p:spPr>
          <a:xfrm>
            <a:off x="655320" y="1473708"/>
            <a:ext cx="655319" cy="463295"/>
          </a:xfrm>
          <a:prstGeom prst="rect">
            <a:avLst/>
          </a:prstGeom>
          <a:blipFill rotWithShape="1">
            <a:blip r:embed="rId1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6" name="Google Shape;1596;p142"/>
          <p:cNvSpPr/>
          <p:nvPr/>
        </p:nvSpPr>
        <p:spPr>
          <a:xfrm>
            <a:off x="892181" y="1676425"/>
            <a:ext cx="187325" cy="1905"/>
          </a:xfrm>
          <a:custGeom>
            <a:avLst/>
            <a:gdLst/>
            <a:ahLst/>
            <a:cxnLst/>
            <a:rect l="l" t="t" r="r" b="b"/>
            <a:pathLst>
              <a:path w="187325" h="1905" extrusionOk="0">
                <a:moveTo>
                  <a:pt x="-38100" y="768"/>
                </a:moveTo>
                <a:lnTo>
                  <a:pt x="225412" y="768"/>
                </a:lnTo>
              </a:path>
            </a:pathLst>
          </a:custGeom>
          <a:noFill/>
          <a:ln w="77725"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7" name="Google Shape;1597;p142"/>
          <p:cNvSpPr/>
          <p:nvPr/>
        </p:nvSpPr>
        <p:spPr>
          <a:xfrm>
            <a:off x="853145" y="1561806"/>
            <a:ext cx="265381" cy="230753"/>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8" name="Google Shape;1598;p142"/>
          <p:cNvSpPr/>
          <p:nvPr/>
        </p:nvSpPr>
        <p:spPr>
          <a:xfrm>
            <a:off x="5169407" y="1705356"/>
            <a:ext cx="22860" cy="688847"/>
          </a:xfrm>
          <a:prstGeom prst="rect">
            <a:avLst/>
          </a:prstGeom>
          <a:blipFill rotWithShape="1">
            <a:blip r:embed="rId1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599" name="Google Shape;1599;p142"/>
          <p:cNvSpPr/>
          <p:nvPr/>
        </p:nvSpPr>
        <p:spPr>
          <a:xfrm>
            <a:off x="5180013" y="1676400"/>
            <a:ext cx="1905" cy="685800"/>
          </a:xfrm>
          <a:custGeom>
            <a:avLst/>
            <a:gdLst/>
            <a:ahLst/>
            <a:cxnLst/>
            <a:rect l="l" t="t" r="r" b="b"/>
            <a:pathLst>
              <a:path w="1904" h="685800" extrusionOk="0">
                <a:moveTo>
                  <a:pt x="0" y="6858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0" name="Google Shape;1600;p142"/>
          <p:cNvSpPr/>
          <p:nvPr/>
        </p:nvSpPr>
        <p:spPr>
          <a:xfrm>
            <a:off x="6009131" y="1705356"/>
            <a:ext cx="22860" cy="993647"/>
          </a:xfrm>
          <a:prstGeom prst="rect">
            <a:avLst/>
          </a:prstGeom>
          <a:blipFill rotWithShape="1">
            <a:blip r:embed="rId1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1" name="Google Shape;1601;p142"/>
          <p:cNvSpPr/>
          <p:nvPr/>
        </p:nvSpPr>
        <p:spPr>
          <a:xfrm>
            <a:off x="6019800" y="1676400"/>
            <a:ext cx="1905" cy="990600"/>
          </a:xfrm>
          <a:custGeom>
            <a:avLst/>
            <a:gdLst/>
            <a:ahLst/>
            <a:cxnLst/>
            <a:rect l="l" t="t" r="r" b="b"/>
            <a:pathLst>
              <a:path w="1904" h="990600" extrusionOk="0">
                <a:moveTo>
                  <a:pt x="0" y="9906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2" name="Google Shape;1602;p142"/>
          <p:cNvSpPr/>
          <p:nvPr/>
        </p:nvSpPr>
        <p:spPr>
          <a:xfrm>
            <a:off x="3459480" y="1473708"/>
            <a:ext cx="1293875" cy="463295"/>
          </a:xfrm>
          <a:prstGeom prst="rect">
            <a:avLst/>
          </a:prstGeom>
          <a:blipFill rotWithShape="1">
            <a:blip r:embed="rId1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3" name="Google Shape;1603;p142"/>
          <p:cNvSpPr/>
          <p:nvPr/>
        </p:nvSpPr>
        <p:spPr>
          <a:xfrm>
            <a:off x="3883025" y="1676759"/>
            <a:ext cx="449580" cy="1270"/>
          </a:xfrm>
          <a:custGeom>
            <a:avLst/>
            <a:gdLst/>
            <a:ahLst/>
            <a:cxnLst/>
            <a:rect l="l" t="t" r="r" b="b"/>
            <a:pathLst>
              <a:path w="449579" h="1269" extrusionOk="0">
                <a:moveTo>
                  <a:pt x="-38100" y="431"/>
                </a:moveTo>
                <a:lnTo>
                  <a:pt x="487362" y="431"/>
                </a:lnTo>
              </a:path>
            </a:pathLst>
          </a:custGeom>
          <a:noFill/>
          <a:ln w="77050"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4" name="Google Shape;1604;p142"/>
          <p:cNvSpPr/>
          <p:nvPr/>
        </p:nvSpPr>
        <p:spPr>
          <a:xfrm>
            <a:off x="4293975" y="1562526"/>
            <a:ext cx="229235" cy="228600"/>
          </a:xfrm>
          <a:custGeom>
            <a:avLst/>
            <a:gdLst/>
            <a:ahLst/>
            <a:cxnLst/>
            <a:rect l="l" t="t" r="r" b="b"/>
            <a:pathLst>
              <a:path w="229235" h="228600" extrusionOk="0">
                <a:moveTo>
                  <a:pt x="0" y="0"/>
                </a:moveTo>
                <a:lnTo>
                  <a:pt x="431" y="228600"/>
                </a:lnTo>
                <a:lnTo>
                  <a:pt x="228815" y="113868"/>
                </a:lnTo>
                <a:lnTo>
                  <a:pt x="0"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5" name="Google Shape;1605;p142"/>
          <p:cNvSpPr/>
          <p:nvPr/>
        </p:nvSpPr>
        <p:spPr>
          <a:xfrm>
            <a:off x="3692519" y="1563240"/>
            <a:ext cx="229235" cy="228600"/>
          </a:xfrm>
          <a:custGeom>
            <a:avLst/>
            <a:gdLst/>
            <a:ahLst/>
            <a:cxnLst/>
            <a:rect l="l" t="t" r="r" b="b"/>
            <a:pathLst>
              <a:path w="229235" h="228600" extrusionOk="0">
                <a:moveTo>
                  <a:pt x="228384" y="0"/>
                </a:moveTo>
                <a:lnTo>
                  <a:pt x="0" y="114744"/>
                </a:lnTo>
                <a:lnTo>
                  <a:pt x="228828" y="228600"/>
                </a:lnTo>
                <a:lnTo>
                  <a:pt x="228384"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6" name="Google Shape;1606;p142"/>
          <p:cNvSpPr/>
          <p:nvPr/>
        </p:nvSpPr>
        <p:spPr>
          <a:xfrm>
            <a:off x="1370076" y="1473708"/>
            <a:ext cx="1450847" cy="463295"/>
          </a:xfrm>
          <a:prstGeom prst="rect">
            <a:avLst/>
          </a:prstGeom>
          <a:blipFill rotWithShape="1">
            <a:blip r:embed="rId1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7" name="Google Shape;1607;p142"/>
          <p:cNvSpPr/>
          <p:nvPr/>
        </p:nvSpPr>
        <p:spPr>
          <a:xfrm>
            <a:off x="1792287" y="1676703"/>
            <a:ext cx="606425" cy="1270"/>
          </a:xfrm>
          <a:custGeom>
            <a:avLst/>
            <a:gdLst/>
            <a:ahLst/>
            <a:cxnLst/>
            <a:rect l="l" t="t" r="r" b="b"/>
            <a:pathLst>
              <a:path w="606425" h="1269" extrusionOk="0">
                <a:moveTo>
                  <a:pt x="-38100" y="488"/>
                </a:moveTo>
                <a:lnTo>
                  <a:pt x="644525" y="488"/>
                </a:lnTo>
              </a:path>
            </a:pathLst>
          </a:custGeom>
          <a:noFill/>
          <a:ln w="77175"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8" name="Google Shape;1608;p142"/>
          <p:cNvSpPr/>
          <p:nvPr/>
        </p:nvSpPr>
        <p:spPr>
          <a:xfrm>
            <a:off x="2360434" y="1562456"/>
            <a:ext cx="229235" cy="228600"/>
          </a:xfrm>
          <a:custGeom>
            <a:avLst/>
            <a:gdLst/>
            <a:ahLst/>
            <a:cxnLst/>
            <a:rect l="l" t="t" r="r" b="b"/>
            <a:pathLst>
              <a:path w="229235" h="228600" extrusionOk="0">
                <a:moveTo>
                  <a:pt x="0" y="0"/>
                </a:moveTo>
                <a:lnTo>
                  <a:pt x="355" y="228600"/>
                </a:lnTo>
                <a:lnTo>
                  <a:pt x="228777" y="113944"/>
                </a:lnTo>
                <a:lnTo>
                  <a:pt x="0"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09" name="Google Shape;1609;p142"/>
          <p:cNvSpPr/>
          <p:nvPr/>
        </p:nvSpPr>
        <p:spPr>
          <a:xfrm>
            <a:off x="1601786" y="1563309"/>
            <a:ext cx="229235" cy="228600"/>
          </a:xfrm>
          <a:custGeom>
            <a:avLst/>
            <a:gdLst/>
            <a:ahLst/>
            <a:cxnLst/>
            <a:rect l="l" t="t" r="r" b="b"/>
            <a:pathLst>
              <a:path w="229235" h="228600" extrusionOk="0">
                <a:moveTo>
                  <a:pt x="228409" y="0"/>
                </a:moveTo>
                <a:lnTo>
                  <a:pt x="0" y="114680"/>
                </a:lnTo>
                <a:lnTo>
                  <a:pt x="228790" y="228600"/>
                </a:lnTo>
                <a:lnTo>
                  <a:pt x="228409" y="0"/>
                </a:lnTo>
                <a:close/>
              </a:path>
            </a:pathLst>
          </a:custGeom>
          <a:solidFill>
            <a:srgbClr val="FF66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0" name="Google Shape;1610;p142"/>
          <p:cNvSpPr/>
          <p:nvPr/>
        </p:nvSpPr>
        <p:spPr>
          <a:xfrm>
            <a:off x="1589532" y="1705356"/>
            <a:ext cx="22860" cy="688847"/>
          </a:xfrm>
          <a:prstGeom prst="rect">
            <a:avLst/>
          </a:prstGeom>
          <a:blipFill rotWithShape="1">
            <a:blip r:embed="rId1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1" name="Google Shape;1611;p142"/>
          <p:cNvSpPr/>
          <p:nvPr/>
        </p:nvSpPr>
        <p:spPr>
          <a:xfrm>
            <a:off x="1600200" y="1676400"/>
            <a:ext cx="1905" cy="685800"/>
          </a:xfrm>
          <a:custGeom>
            <a:avLst/>
            <a:gdLst/>
            <a:ahLst/>
            <a:cxnLst/>
            <a:rect l="l" t="t" r="r" b="b"/>
            <a:pathLst>
              <a:path w="1905" h="685800" extrusionOk="0">
                <a:moveTo>
                  <a:pt x="0" y="6858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2" name="Google Shape;1612;p142"/>
          <p:cNvSpPr/>
          <p:nvPr/>
        </p:nvSpPr>
        <p:spPr>
          <a:xfrm>
            <a:off x="2578607" y="1705356"/>
            <a:ext cx="22860" cy="993647"/>
          </a:xfrm>
          <a:prstGeom prst="rect">
            <a:avLst/>
          </a:prstGeom>
          <a:blipFill rotWithShape="1">
            <a:blip r:embed="rId19">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3" name="Google Shape;1613;p142"/>
          <p:cNvSpPr/>
          <p:nvPr/>
        </p:nvSpPr>
        <p:spPr>
          <a:xfrm>
            <a:off x="2589213" y="1676400"/>
            <a:ext cx="1905" cy="990600"/>
          </a:xfrm>
          <a:custGeom>
            <a:avLst/>
            <a:gdLst/>
            <a:ahLst/>
            <a:cxnLst/>
            <a:rect l="l" t="t" r="r" b="b"/>
            <a:pathLst>
              <a:path w="1905" h="990600" extrusionOk="0">
                <a:moveTo>
                  <a:pt x="0" y="9906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4" name="Google Shape;1614;p142"/>
          <p:cNvSpPr/>
          <p:nvPr/>
        </p:nvSpPr>
        <p:spPr>
          <a:xfrm>
            <a:off x="7511795" y="1473708"/>
            <a:ext cx="873251" cy="463295"/>
          </a:xfrm>
          <a:prstGeom prst="rect">
            <a:avLst/>
          </a:prstGeom>
          <a:blipFill rotWithShape="1">
            <a:blip r:embed="rId20">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5" name="Google Shape;1615;p142"/>
          <p:cNvSpPr/>
          <p:nvPr/>
        </p:nvSpPr>
        <p:spPr>
          <a:xfrm>
            <a:off x="7745414" y="1562789"/>
            <a:ext cx="409568" cy="228786"/>
          </a:xfrm>
          <a:prstGeom prst="rect">
            <a:avLst/>
          </a:prstGeom>
          <a:blipFill rotWithShape="1">
            <a:blip r:embed="rId21">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6" name="Google Shape;1616;p142"/>
          <p:cNvSpPr/>
          <p:nvPr/>
        </p:nvSpPr>
        <p:spPr>
          <a:xfrm>
            <a:off x="7732776" y="1705356"/>
            <a:ext cx="24383" cy="688847"/>
          </a:xfrm>
          <a:prstGeom prst="rect">
            <a:avLst/>
          </a:prstGeom>
          <a:blipFill rotWithShape="1">
            <a:blip r:embed="rId22">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7" name="Google Shape;1617;p142"/>
          <p:cNvSpPr/>
          <p:nvPr/>
        </p:nvSpPr>
        <p:spPr>
          <a:xfrm>
            <a:off x="7743825" y="1676400"/>
            <a:ext cx="1905" cy="685800"/>
          </a:xfrm>
          <a:custGeom>
            <a:avLst/>
            <a:gdLst/>
            <a:ahLst/>
            <a:cxnLst/>
            <a:rect l="l" t="t" r="r" b="b"/>
            <a:pathLst>
              <a:path w="1904" h="685800" extrusionOk="0">
                <a:moveTo>
                  <a:pt x="0" y="6858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8" name="Google Shape;1618;p142"/>
          <p:cNvSpPr/>
          <p:nvPr/>
        </p:nvSpPr>
        <p:spPr>
          <a:xfrm>
            <a:off x="8142731" y="1705356"/>
            <a:ext cx="22860" cy="993647"/>
          </a:xfrm>
          <a:prstGeom prst="rect">
            <a:avLst/>
          </a:prstGeom>
          <a:blipFill rotWithShape="1">
            <a:blip r:embed="rId1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19" name="Google Shape;1619;p142"/>
          <p:cNvSpPr/>
          <p:nvPr/>
        </p:nvSpPr>
        <p:spPr>
          <a:xfrm>
            <a:off x="8153400" y="1676400"/>
            <a:ext cx="1905" cy="990600"/>
          </a:xfrm>
          <a:custGeom>
            <a:avLst/>
            <a:gdLst/>
            <a:ahLst/>
            <a:cxnLst/>
            <a:rect l="l" t="t" r="r" b="b"/>
            <a:pathLst>
              <a:path w="1904" h="990600" extrusionOk="0">
                <a:moveTo>
                  <a:pt x="0" y="990600"/>
                </a:moveTo>
                <a:lnTo>
                  <a:pt x="1587" y="0"/>
                </a:lnTo>
              </a:path>
            </a:pathLst>
          </a:custGeom>
          <a:noFill/>
          <a:ln w="19050"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0" name="Google Shape;1620;p142"/>
          <p:cNvSpPr/>
          <p:nvPr/>
        </p:nvSpPr>
        <p:spPr>
          <a:xfrm>
            <a:off x="7100316" y="1705356"/>
            <a:ext cx="24383" cy="1527047"/>
          </a:xfrm>
          <a:prstGeom prst="rect">
            <a:avLst/>
          </a:prstGeom>
          <a:blipFill rotWithShape="1">
            <a:blip r:embed="rId2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1" name="Google Shape;1621;p142"/>
          <p:cNvSpPr/>
          <p:nvPr/>
        </p:nvSpPr>
        <p:spPr>
          <a:xfrm>
            <a:off x="7112793" y="1716062"/>
            <a:ext cx="0" cy="1494155"/>
          </a:xfrm>
          <a:custGeom>
            <a:avLst/>
            <a:gdLst/>
            <a:ahLst/>
            <a:cxnLst/>
            <a:rect l="l" t="t" r="r" b="b"/>
            <a:pathLst>
              <a:path w="120000" h="1494155" extrusionOk="0">
                <a:moveTo>
                  <a:pt x="0" y="0"/>
                </a:moveTo>
                <a:lnTo>
                  <a:pt x="0" y="1493862"/>
                </a:lnTo>
              </a:path>
            </a:pathLst>
          </a:custGeom>
          <a:noFill/>
          <a:ln w="20625"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2" name="Google Shape;1622;p142"/>
          <p:cNvSpPr/>
          <p:nvPr/>
        </p:nvSpPr>
        <p:spPr>
          <a:xfrm>
            <a:off x="6774179" y="1473708"/>
            <a:ext cx="656844" cy="463295"/>
          </a:xfrm>
          <a:prstGeom prst="rect">
            <a:avLst/>
          </a:prstGeom>
          <a:blipFill rotWithShape="1">
            <a:blip r:embed="rId2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3" name="Google Shape;1623;p142"/>
          <p:cNvSpPr/>
          <p:nvPr/>
        </p:nvSpPr>
        <p:spPr>
          <a:xfrm>
            <a:off x="7010406" y="1676425"/>
            <a:ext cx="187325" cy="1905"/>
          </a:xfrm>
          <a:custGeom>
            <a:avLst/>
            <a:gdLst/>
            <a:ahLst/>
            <a:cxnLst/>
            <a:rect l="l" t="t" r="r" b="b"/>
            <a:pathLst>
              <a:path w="187325" h="1905" extrusionOk="0">
                <a:moveTo>
                  <a:pt x="-38100" y="768"/>
                </a:moveTo>
                <a:lnTo>
                  <a:pt x="225412" y="768"/>
                </a:lnTo>
              </a:path>
            </a:pathLst>
          </a:custGeom>
          <a:noFill/>
          <a:ln w="77725"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4" name="Google Shape;1624;p142"/>
          <p:cNvSpPr/>
          <p:nvPr/>
        </p:nvSpPr>
        <p:spPr>
          <a:xfrm>
            <a:off x="6971370" y="1561806"/>
            <a:ext cx="265381" cy="230753"/>
          </a:xfrm>
          <a:prstGeom prst="rect">
            <a:avLst/>
          </a:prstGeom>
          <a:blipFill rotWithShape="1">
            <a:blip r:embed="rId1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25" name="Google Shape;1625;p142"/>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59</a:t>
            </a:fld>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Google Shape;1630;p143"/>
          <p:cNvSpPr txBox="1">
            <a:spLocks noGrp="1"/>
          </p:cNvSpPr>
          <p:nvPr>
            <p:ph type="title"/>
          </p:nvPr>
        </p:nvSpPr>
        <p:spPr>
          <a:xfrm>
            <a:off x="64477" y="289027"/>
            <a:ext cx="8165123" cy="505267"/>
          </a:xfrm>
          <a:prstGeom prst="rect">
            <a:avLst/>
          </a:prstGeom>
          <a:noFill/>
          <a:ln>
            <a:noFill/>
          </a:ln>
        </p:spPr>
        <p:txBody>
          <a:bodyPr spcFirstLastPara="1" wrap="square" lIns="0" tIns="12700" rIns="0" bIns="0" anchor="t" anchorCtr="0">
            <a:spAutoFit/>
          </a:bodyPr>
          <a:lstStyle/>
          <a:p>
            <a:pPr marL="12700" lvl="0" indent="0" algn="l" rtl="0">
              <a:lnSpc>
                <a:spcPct val="100000"/>
              </a:lnSpc>
              <a:spcBef>
                <a:spcPts val="0"/>
              </a:spcBef>
              <a:spcAft>
                <a:spcPts val="0"/>
              </a:spcAft>
              <a:buSzPts val="1400"/>
              <a:buNone/>
            </a:pPr>
            <a:r>
              <a:rPr lang="fr-FR" sz="3200" u="sng">
                <a:latin typeface="Calibri"/>
                <a:ea typeface="Calibri"/>
                <a:cs typeface="Calibri"/>
                <a:sym typeface="Calibri"/>
              </a:rPr>
              <a:t>Algorithme du Tourniquet (Round Robin)</a:t>
            </a:r>
            <a:endParaRPr sz="3200" u="sng">
              <a:latin typeface="Calibri"/>
              <a:ea typeface="Calibri"/>
              <a:cs typeface="Calibri"/>
              <a:sym typeface="Calibri"/>
            </a:endParaRPr>
          </a:p>
        </p:txBody>
      </p:sp>
      <p:sp>
        <p:nvSpPr>
          <p:cNvPr id="1631" name="Google Shape;1631;p143"/>
          <p:cNvSpPr txBox="1"/>
          <p:nvPr/>
        </p:nvSpPr>
        <p:spPr>
          <a:xfrm>
            <a:off x="40640" y="3742864"/>
            <a:ext cx="3847465" cy="2174240"/>
          </a:xfrm>
          <a:prstGeom prst="rect">
            <a:avLst/>
          </a:prstGeom>
          <a:noFill/>
          <a:ln>
            <a:noFill/>
          </a:ln>
        </p:spPr>
        <p:txBody>
          <a:bodyPr spcFirstLastPara="1" wrap="square" lIns="0" tIns="44450" rIns="0" bIns="0" anchor="t" anchorCtr="0">
            <a:spAutoFit/>
          </a:bodyPr>
          <a:lstStyle/>
          <a:p>
            <a:pPr marL="393065" marR="0" lvl="0" indent="-342900" algn="l" rtl="0">
              <a:lnSpc>
                <a:spcPct val="100000"/>
              </a:lnSpc>
              <a:spcBef>
                <a:spcPts val="0"/>
              </a:spcBef>
              <a:spcAft>
                <a:spcPts val="0"/>
              </a:spcAft>
              <a:buClr>
                <a:srgbClr val="000000"/>
              </a:buClr>
              <a:buSzPts val="2000"/>
              <a:buFont typeface="Arial"/>
              <a:buChar char="•"/>
            </a:pPr>
            <a:r>
              <a:rPr lang="fr-FR" sz="2000" b="0" i="0" u="none" strike="noStrike" cap="none">
                <a:solidFill>
                  <a:srgbClr val="000000"/>
                </a:solidFill>
                <a:latin typeface="Calibri"/>
                <a:ea typeface="Calibri"/>
                <a:cs typeface="Calibri"/>
                <a:sym typeface="Calibri"/>
              </a:rPr>
              <a:t>Response time:</a:t>
            </a:r>
            <a:endParaRPr sz="2000" b="0" i="0" u="none" strike="noStrike" cap="none">
              <a:solidFill>
                <a:srgbClr val="000000"/>
              </a:solidFill>
              <a:latin typeface="Calibri"/>
              <a:ea typeface="Calibri"/>
              <a:cs typeface="Calibri"/>
              <a:sym typeface="Calibri"/>
            </a:endParaRPr>
          </a:p>
          <a:p>
            <a:pPr marL="965200" marR="0" lvl="0" indent="0" algn="l" rtl="0">
              <a:lnSpc>
                <a:spcPct val="100000"/>
              </a:lnSpc>
              <a:spcBef>
                <a:spcPts val="22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rt</a:t>
            </a:r>
            <a:r>
              <a:rPr lang="fr-FR" sz="1800" b="0" i="0" u="none" strike="noStrike" cap="none" baseline="-25000">
                <a:solidFill>
                  <a:srgbClr val="000000"/>
                </a:solidFill>
                <a:latin typeface="Calibri"/>
                <a:ea typeface="Calibri"/>
                <a:cs typeface="Calibri"/>
                <a:sym typeface="Calibri"/>
              </a:rPr>
              <a:t>A  </a:t>
            </a:r>
            <a:r>
              <a:rPr lang="fr-FR" sz="1800" b="0" i="0" u="none" strike="noStrike" cap="none">
                <a:solidFill>
                  <a:srgbClr val="000000"/>
                </a:solidFill>
                <a:latin typeface="Calibri"/>
                <a:ea typeface="Calibri"/>
                <a:cs typeface="Calibri"/>
                <a:sym typeface="Calibri"/>
              </a:rPr>
              <a:t>= 0 – 0 = 0</a:t>
            </a:r>
            <a:endParaRPr sz="1800" b="0" i="0" u="none" strike="noStrike" cap="none">
              <a:solidFill>
                <a:srgbClr val="000000"/>
              </a:solidFill>
              <a:latin typeface="Calibri"/>
              <a:ea typeface="Calibri"/>
              <a:cs typeface="Calibri"/>
              <a:sym typeface="Calibri"/>
            </a:endParaRPr>
          </a:p>
          <a:p>
            <a:pPr marL="965200"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FF6600"/>
                </a:solidFill>
                <a:latin typeface="Calibri"/>
                <a:ea typeface="Calibri"/>
                <a:cs typeface="Calibri"/>
                <a:sym typeface="Calibri"/>
              </a:rPr>
              <a:t>rt</a:t>
            </a:r>
            <a:r>
              <a:rPr lang="fr-FR" sz="1800" b="0" i="0" u="none" strike="noStrike" cap="none" baseline="-25000">
                <a:solidFill>
                  <a:srgbClr val="FF6600"/>
                </a:solidFill>
                <a:latin typeface="Calibri"/>
                <a:ea typeface="Calibri"/>
                <a:cs typeface="Calibri"/>
                <a:sym typeface="Calibri"/>
              </a:rPr>
              <a:t>B  </a:t>
            </a:r>
            <a:r>
              <a:rPr lang="fr-FR" sz="1800" b="0" i="0" u="none" strike="noStrike" cap="none">
                <a:solidFill>
                  <a:srgbClr val="FF6600"/>
                </a:solidFill>
                <a:latin typeface="Calibri"/>
                <a:ea typeface="Calibri"/>
                <a:cs typeface="Calibri"/>
                <a:sym typeface="Calibri"/>
              </a:rPr>
              <a:t>= 3 – 2 = 1</a:t>
            </a:r>
            <a:endParaRPr sz="1800" b="0" i="0" u="none" strike="noStrike" cap="none">
              <a:solidFill>
                <a:srgbClr val="000000"/>
              </a:solidFill>
              <a:latin typeface="Calibri"/>
              <a:ea typeface="Calibri"/>
              <a:cs typeface="Calibri"/>
              <a:sym typeface="Calibri"/>
            </a:endParaRPr>
          </a:p>
          <a:p>
            <a:pPr marL="964564" marR="0" lvl="0" indent="0" algn="l" rtl="0">
              <a:lnSpc>
                <a:spcPct val="100000"/>
              </a:lnSpc>
              <a:spcBef>
                <a:spcPts val="21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rt</a:t>
            </a:r>
            <a:r>
              <a:rPr lang="fr-FR" sz="1800" b="0" i="0" u="none" strike="noStrike" cap="none" baseline="-25000">
                <a:solidFill>
                  <a:srgbClr val="000000"/>
                </a:solidFill>
                <a:latin typeface="Calibri"/>
                <a:ea typeface="Calibri"/>
                <a:cs typeface="Calibri"/>
                <a:sym typeface="Calibri"/>
              </a:rPr>
              <a:t>C  </a:t>
            </a:r>
            <a:r>
              <a:rPr lang="fr-FR" sz="1800" b="0" i="0" u="none" strike="noStrike" cap="none">
                <a:solidFill>
                  <a:srgbClr val="000000"/>
                </a:solidFill>
                <a:latin typeface="Calibri"/>
                <a:ea typeface="Calibri"/>
                <a:cs typeface="Calibri"/>
                <a:sym typeface="Calibri"/>
              </a:rPr>
              <a:t>= 6 – 3 = 3</a:t>
            </a:r>
            <a:endParaRPr sz="1800" b="0" i="0" u="none" strike="noStrike" cap="none">
              <a:solidFill>
                <a:srgbClr val="000000"/>
              </a:solidFill>
              <a:latin typeface="Calibri"/>
              <a:ea typeface="Calibri"/>
              <a:cs typeface="Calibri"/>
              <a:sym typeface="Calibri"/>
            </a:endParaRPr>
          </a:p>
          <a:p>
            <a:pPr marL="964564" marR="0" lvl="0" indent="0" algn="l" rtl="0">
              <a:lnSpc>
                <a:spcPct val="100000"/>
              </a:lnSpc>
              <a:spcBef>
                <a:spcPts val="219"/>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rt</a:t>
            </a:r>
            <a:r>
              <a:rPr lang="fr-FR" sz="1800" b="0" i="0" u="none" strike="noStrike" cap="none" baseline="-25000">
                <a:solidFill>
                  <a:srgbClr val="000000"/>
                </a:solidFill>
                <a:latin typeface="Calibri"/>
                <a:ea typeface="Calibri"/>
                <a:cs typeface="Calibri"/>
                <a:sym typeface="Calibri"/>
              </a:rPr>
              <a:t>D </a:t>
            </a:r>
            <a:r>
              <a:rPr lang="fr-FR" sz="1800" b="0" i="0" u="none" strike="noStrike" cap="none">
                <a:solidFill>
                  <a:srgbClr val="000000"/>
                </a:solidFill>
                <a:latin typeface="Calibri"/>
                <a:ea typeface="Calibri"/>
                <a:cs typeface="Calibri"/>
                <a:sym typeface="Calibri"/>
              </a:rPr>
              <a:t>= 12 – 7 = 5</a:t>
            </a:r>
            <a:endParaRPr sz="18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50"/>
              <a:buFont typeface="Arial"/>
              <a:buNone/>
            </a:pPr>
            <a:endParaRPr sz="2250" b="0" i="0" u="none" strike="noStrike" cap="none">
              <a:solidFill>
                <a:srgbClr val="000000"/>
              </a:solidFill>
              <a:latin typeface="Times New Roman"/>
              <a:ea typeface="Times New Roman"/>
              <a:cs typeface="Times New Roman"/>
              <a:sym typeface="Times New Roman"/>
            </a:endParaRPr>
          </a:p>
          <a:p>
            <a:pPr marL="965200" marR="0" lvl="0" indent="0" algn="l" rtl="0">
              <a:lnSpc>
                <a:spcPct val="100000"/>
              </a:lnSpc>
              <a:spcBef>
                <a:spcPts val="5"/>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rt</a:t>
            </a:r>
            <a:r>
              <a:rPr lang="fr-FR" sz="1800" b="0" i="0" u="none" strike="noStrike" cap="none" baseline="-25000">
                <a:solidFill>
                  <a:srgbClr val="000000"/>
                </a:solidFill>
                <a:latin typeface="Calibri"/>
                <a:ea typeface="Calibri"/>
                <a:cs typeface="Calibri"/>
                <a:sym typeface="Calibri"/>
              </a:rPr>
              <a:t>AVG </a:t>
            </a:r>
            <a:r>
              <a:rPr lang="fr-FR" sz="1800" b="0" i="0" u="none" strike="noStrike" cap="none">
                <a:solidFill>
                  <a:srgbClr val="000000"/>
                </a:solidFill>
                <a:latin typeface="Calibri"/>
                <a:ea typeface="Calibri"/>
                <a:cs typeface="Calibri"/>
                <a:sym typeface="Calibri"/>
              </a:rPr>
              <a:t>= (0 + 1 + 3 + 5) / 4 = 2.25</a:t>
            </a:r>
            <a:endParaRPr sz="1800" b="0" i="0" u="none" strike="noStrike" cap="none">
              <a:solidFill>
                <a:srgbClr val="000000"/>
              </a:solidFill>
              <a:latin typeface="Calibri"/>
              <a:ea typeface="Calibri"/>
              <a:cs typeface="Calibri"/>
              <a:sym typeface="Calibri"/>
            </a:endParaRPr>
          </a:p>
        </p:txBody>
      </p:sp>
      <p:sp>
        <p:nvSpPr>
          <p:cNvPr id="1632" name="Google Shape;1632;p143"/>
          <p:cNvSpPr/>
          <p:nvPr/>
        </p:nvSpPr>
        <p:spPr>
          <a:xfrm>
            <a:off x="568337" y="1981200"/>
            <a:ext cx="8042261" cy="1917649"/>
          </a:xfrm>
          <a:prstGeom prst="rect">
            <a:avLst/>
          </a:prstGeom>
          <a:blipFill rotWithShape="1">
            <a:blip r:embed="rId3">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3" name="Google Shape;1633;p143"/>
          <p:cNvSpPr/>
          <p:nvPr/>
        </p:nvSpPr>
        <p:spPr>
          <a:xfrm>
            <a:off x="1591055" y="2136648"/>
            <a:ext cx="252983" cy="336803"/>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4" name="Google Shape;1634;p143"/>
          <p:cNvSpPr/>
          <p:nvPr/>
        </p:nvSpPr>
        <p:spPr>
          <a:xfrm>
            <a:off x="1600200" y="2252268"/>
            <a:ext cx="118745" cy="186690"/>
          </a:xfrm>
          <a:custGeom>
            <a:avLst/>
            <a:gdLst/>
            <a:ahLst/>
            <a:cxnLst/>
            <a:rect l="l" t="t" r="r" b="b"/>
            <a:pathLst>
              <a:path w="118744"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5" name="Google Shape;1635;p143"/>
          <p:cNvSpPr/>
          <p:nvPr/>
        </p:nvSpPr>
        <p:spPr>
          <a:xfrm>
            <a:off x="1658129"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6" name="Google Shape;1636;p143"/>
          <p:cNvSpPr/>
          <p:nvPr/>
        </p:nvSpPr>
        <p:spPr>
          <a:xfrm>
            <a:off x="2119883" y="2139695"/>
            <a:ext cx="182879" cy="332232"/>
          </a:xfrm>
          <a:prstGeom prst="rect">
            <a:avLst/>
          </a:prstGeom>
          <a:blipFill rotWithShape="1">
            <a:blip r:embed="rId5">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7" name="Google Shape;1637;p143"/>
          <p:cNvSpPr/>
          <p:nvPr/>
        </p:nvSpPr>
        <p:spPr>
          <a:xfrm>
            <a:off x="2208212" y="2263776"/>
            <a:ext cx="2540" cy="176530"/>
          </a:xfrm>
          <a:custGeom>
            <a:avLst/>
            <a:gdLst/>
            <a:ahLst/>
            <a:cxnLst/>
            <a:rect l="l" t="t" r="r" b="b"/>
            <a:pathLst>
              <a:path w="2539" h="176530" extrusionOk="0">
                <a:moveTo>
                  <a:pt x="1168" y="-9525"/>
                </a:moveTo>
                <a:lnTo>
                  <a:pt x="1168" y="185737"/>
                </a:lnTo>
              </a:path>
            </a:pathLst>
          </a:custGeom>
          <a:noFill/>
          <a:ln w="2137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8" name="Google Shape;1638;p143"/>
          <p:cNvSpPr/>
          <p:nvPr/>
        </p:nvSpPr>
        <p:spPr>
          <a:xfrm>
            <a:off x="2146880" y="2200275"/>
            <a:ext cx="127000" cy="77470"/>
          </a:xfrm>
          <a:custGeom>
            <a:avLst/>
            <a:gdLst/>
            <a:ahLst/>
            <a:cxnLst/>
            <a:rect l="l" t="t" r="r" b="b"/>
            <a:pathLst>
              <a:path w="127000" h="77469" extrusionOk="0">
                <a:moveTo>
                  <a:pt x="64503" y="0"/>
                </a:moveTo>
                <a:lnTo>
                  <a:pt x="0" y="75349"/>
                </a:lnTo>
                <a:lnTo>
                  <a:pt x="126987" y="77038"/>
                </a:lnTo>
                <a:lnTo>
                  <a:pt x="64503"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39" name="Google Shape;1639;p143"/>
          <p:cNvSpPr txBox="1"/>
          <p:nvPr/>
        </p:nvSpPr>
        <p:spPr>
          <a:xfrm>
            <a:off x="1678946" y="1846586"/>
            <a:ext cx="619125"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	p</a:t>
            </a:r>
            <a:endParaRPr sz="1800" b="0" i="0" u="none" strike="noStrike" cap="none">
              <a:solidFill>
                <a:srgbClr val="000000"/>
              </a:solidFill>
              <a:latin typeface="Calibri"/>
              <a:ea typeface="Calibri"/>
              <a:cs typeface="Calibri"/>
              <a:sym typeface="Calibri"/>
            </a:endParaRPr>
          </a:p>
        </p:txBody>
      </p:sp>
      <p:sp>
        <p:nvSpPr>
          <p:cNvPr id="1640" name="Google Shape;1640;p143"/>
          <p:cNvSpPr/>
          <p:nvPr/>
        </p:nvSpPr>
        <p:spPr>
          <a:xfrm>
            <a:off x="34731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1" name="Google Shape;1641;p143"/>
          <p:cNvSpPr/>
          <p:nvPr/>
        </p:nvSpPr>
        <p:spPr>
          <a:xfrm>
            <a:off x="34829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2" name="Google Shape;1642;p143"/>
          <p:cNvSpPr/>
          <p:nvPr/>
        </p:nvSpPr>
        <p:spPr>
          <a:xfrm>
            <a:off x="35409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3" name="Google Shape;1643;p143"/>
          <p:cNvSpPr txBox="1"/>
          <p:nvPr/>
        </p:nvSpPr>
        <p:spPr>
          <a:xfrm>
            <a:off x="35617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644" name="Google Shape;1644;p143"/>
          <p:cNvSpPr/>
          <p:nvPr/>
        </p:nvSpPr>
        <p:spPr>
          <a:xfrm>
            <a:off x="51114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5" name="Google Shape;1645;p143"/>
          <p:cNvSpPr/>
          <p:nvPr/>
        </p:nvSpPr>
        <p:spPr>
          <a:xfrm>
            <a:off x="51212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6" name="Google Shape;1646;p143"/>
          <p:cNvSpPr/>
          <p:nvPr/>
        </p:nvSpPr>
        <p:spPr>
          <a:xfrm>
            <a:off x="51792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7" name="Google Shape;1647;p143"/>
          <p:cNvSpPr txBox="1"/>
          <p:nvPr/>
        </p:nvSpPr>
        <p:spPr>
          <a:xfrm>
            <a:off x="52000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648" name="Google Shape;1648;p143"/>
          <p:cNvSpPr/>
          <p:nvPr/>
        </p:nvSpPr>
        <p:spPr>
          <a:xfrm>
            <a:off x="60258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49" name="Google Shape;1649;p143"/>
          <p:cNvSpPr/>
          <p:nvPr/>
        </p:nvSpPr>
        <p:spPr>
          <a:xfrm>
            <a:off x="60356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0" name="Google Shape;1650;p143"/>
          <p:cNvSpPr/>
          <p:nvPr/>
        </p:nvSpPr>
        <p:spPr>
          <a:xfrm>
            <a:off x="6093603" y="2198693"/>
            <a:ext cx="107314" cy="98425"/>
          </a:xfrm>
          <a:custGeom>
            <a:avLst/>
            <a:gdLst/>
            <a:ahLst/>
            <a:cxnLst/>
            <a:rect l="l" t="t" r="r" b="b"/>
            <a:pathLst>
              <a:path w="107314"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1" name="Google Shape;1651;p143"/>
          <p:cNvSpPr txBox="1"/>
          <p:nvPr/>
        </p:nvSpPr>
        <p:spPr>
          <a:xfrm>
            <a:off x="6114421"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652" name="Google Shape;1652;p143"/>
          <p:cNvSpPr/>
          <p:nvPr/>
        </p:nvSpPr>
        <p:spPr>
          <a:xfrm>
            <a:off x="7092695" y="2136648"/>
            <a:ext cx="252983" cy="336803"/>
          </a:xfrm>
          <a:prstGeom prst="rect">
            <a:avLst/>
          </a:prstGeom>
          <a:blipFill rotWithShape="1">
            <a:blip r:embed="rId6">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3" name="Google Shape;1653;p143"/>
          <p:cNvSpPr/>
          <p:nvPr/>
        </p:nvSpPr>
        <p:spPr>
          <a:xfrm>
            <a:off x="7102475"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4" name="Google Shape;1654;p143"/>
          <p:cNvSpPr/>
          <p:nvPr/>
        </p:nvSpPr>
        <p:spPr>
          <a:xfrm>
            <a:off x="7160403"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5" name="Google Shape;1655;p143"/>
          <p:cNvSpPr txBox="1"/>
          <p:nvPr/>
        </p:nvSpPr>
        <p:spPr>
          <a:xfrm>
            <a:off x="7181222"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656" name="Google Shape;1656;p143"/>
          <p:cNvSpPr/>
          <p:nvPr/>
        </p:nvSpPr>
        <p:spPr>
          <a:xfrm>
            <a:off x="7711440" y="2136648"/>
            <a:ext cx="252983" cy="336803"/>
          </a:xfrm>
          <a:prstGeom prst="rect">
            <a:avLst/>
          </a:prstGeom>
          <a:blipFill rotWithShape="1">
            <a:blip r:embed="rId7">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7" name="Google Shape;1657;p143"/>
          <p:cNvSpPr/>
          <p:nvPr/>
        </p:nvSpPr>
        <p:spPr>
          <a:xfrm>
            <a:off x="7721600" y="2252268"/>
            <a:ext cx="118745" cy="186690"/>
          </a:xfrm>
          <a:custGeom>
            <a:avLst/>
            <a:gdLst/>
            <a:ahLst/>
            <a:cxnLst/>
            <a:rect l="l" t="t" r="r" b="b"/>
            <a:pathLst>
              <a:path w="118745" h="186689" extrusionOk="0">
                <a:moveTo>
                  <a:pt x="0" y="186131"/>
                </a:moveTo>
                <a:lnTo>
                  <a:pt x="118325" y="0"/>
                </a:lnTo>
              </a:path>
            </a:pathLst>
          </a:custGeom>
          <a:noFill/>
          <a:ln w="19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8" name="Google Shape;1658;p143"/>
          <p:cNvSpPr/>
          <p:nvPr/>
        </p:nvSpPr>
        <p:spPr>
          <a:xfrm>
            <a:off x="7779528" y="2198693"/>
            <a:ext cx="107314" cy="98425"/>
          </a:xfrm>
          <a:custGeom>
            <a:avLst/>
            <a:gdLst/>
            <a:ahLst/>
            <a:cxnLst/>
            <a:rect l="l" t="t" r="r" b="b"/>
            <a:pathLst>
              <a:path w="107315" h="98425" extrusionOk="0">
                <a:moveTo>
                  <a:pt x="94475" y="0"/>
                </a:moveTo>
                <a:lnTo>
                  <a:pt x="0" y="30225"/>
                </a:lnTo>
                <a:lnTo>
                  <a:pt x="107175" y="98374"/>
                </a:lnTo>
                <a:lnTo>
                  <a:pt x="94475" y="0"/>
                </a:lnTo>
                <a:close/>
              </a:path>
            </a:pathLst>
          </a:custGeom>
          <a:solidFill>
            <a:srgbClr val="000000"/>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59" name="Google Shape;1659;p143"/>
          <p:cNvSpPr txBox="1"/>
          <p:nvPr/>
        </p:nvSpPr>
        <p:spPr>
          <a:xfrm>
            <a:off x="7800347" y="1846579"/>
            <a:ext cx="146050" cy="299720"/>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Clr>
                <a:srgbClr val="000000"/>
              </a:buClr>
              <a:buSzPts val="1800"/>
              <a:buFont typeface="Arial"/>
              <a:buNone/>
            </a:pPr>
            <a:r>
              <a:rPr lang="fr-FR" sz="1800" b="0" i="0" u="none" strike="noStrike" cap="none">
                <a:solidFill>
                  <a:srgbClr val="000000"/>
                </a:solidFill>
                <a:latin typeface="Calibri"/>
                <a:ea typeface="Calibri"/>
                <a:cs typeface="Calibri"/>
                <a:sym typeface="Calibri"/>
              </a:rPr>
              <a:t>p</a:t>
            </a:r>
            <a:endParaRPr sz="1800" b="0" i="0" u="none" strike="noStrike" cap="none">
              <a:solidFill>
                <a:srgbClr val="000000"/>
              </a:solidFill>
              <a:latin typeface="Calibri"/>
              <a:ea typeface="Calibri"/>
              <a:cs typeface="Calibri"/>
              <a:sym typeface="Calibri"/>
            </a:endParaRPr>
          </a:p>
        </p:txBody>
      </p:sp>
      <p:sp>
        <p:nvSpPr>
          <p:cNvPr id="1660" name="Google Shape;1660;p143"/>
          <p:cNvSpPr/>
          <p:nvPr/>
        </p:nvSpPr>
        <p:spPr>
          <a:xfrm>
            <a:off x="1360931" y="1703831"/>
            <a:ext cx="22860" cy="766572"/>
          </a:xfrm>
          <a:prstGeom prst="rect">
            <a:avLst/>
          </a:prstGeom>
          <a:blipFill rotWithShape="1">
            <a:blip r:embed="rId8">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1" name="Google Shape;1661;p143"/>
          <p:cNvSpPr/>
          <p:nvPr/>
        </p:nvSpPr>
        <p:spPr>
          <a:xfrm>
            <a:off x="1372393" y="1716062"/>
            <a:ext cx="0" cy="734060"/>
          </a:xfrm>
          <a:custGeom>
            <a:avLst/>
            <a:gdLst/>
            <a:ahLst/>
            <a:cxnLst/>
            <a:rect l="l" t="t" r="r" b="b"/>
            <a:pathLst>
              <a:path w="120000" h="734060" extrusionOk="0">
                <a:moveTo>
                  <a:pt x="0" y="0"/>
                </a:moveTo>
                <a:lnTo>
                  <a:pt x="0" y="733451"/>
                </a:lnTo>
              </a:path>
            </a:pathLst>
          </a:custGeom>
          <a:noFill/>
          <a:ln w="20625"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2" name="Google Shape;1662;p143"/>
          <p:cNvSpPr/>
          <p:nvPr/>
        </p:nvSpPr>
        <p:spPr>
          <a:xfrm>
            <a:off x="1589532" y="1705356"/>
            <a:ext cx="22860" cy="993647"/>
          </a:xfrm>
          <a:prstGeom prst="rect">
            <a:avLst/>
          </a:prstGeom>
          <a:blipFill rotWithShape="1">
            <a:blip r:embed="rId9">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3" name="Google Shape;1663;p143"/>
          <p:cNvSpPr/>
          <p:nvPr/>
        </p:nvSpPr>
        <p:spPr>
          <a:xfrm>
            <a:off x="1600993" y="1716062"/>
            <a:ext cx="0" cy="960755"/>
          </a:xfrm>
          <a:custGeom>
            <a:avLst/>
            <a:gdLst/>
            <a:ahLst/>
            <a:cxnLst/>
            <a:rect l="l" t="t" r="r" b="b"/>
            <a:pathLst>
              <a:path w="120000" h="960755" extrusionOk="0">
                <a:moveTo>
                  <a:pt x="0" y="0"/>
                </a:moveTo>
                <a:lnTo>
                  <a:pt x="0" y="960462"/>
                </a:lnTo>
              </a:path>
            </a:pathLst>
          </a:custGeom>
          <a:noFill/>
          <a:ln w="20625" cap="flat" cmpd="sng">
            <a:solidFill>
              <a:srgbClr val="FF6600"/>
            </a:solidFill>
            <a:prstDash val="dash"/>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4" name="Google Shape;1664;p143"/>
          <p:cNvSpPr/>
          <p:nvPr/>
        </p:nvSpPr>
        <p:spPr>
          <a:xfrm>
            <a:off x="1161287" y="1473708"/>
            <a:ext cx="655319" cy="463295"/>
          </a:xfrm>
          <a:prstGeom prst="rect">
            <a:avLst/>
          </a:prstGeom>
          <a:blipFill rotWithShape="1">
            <a:blip r:embed="rId10">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5" name="Google Shape;1665;p143"/>
          <p:cNvSpPr/>
          <p:nvPr/>
        </p:nvSpPr>
        <p:spPr>
          <a:xfrm>
            <a:off x="1397006" y="1676425"/>
            <a:ext cx="187325" cy="1905"/>
          </a:xfrm>
          <a:custGeom>
            <a:avLst/>
            <a:gdLst/>
            <a:ahLst/>
            <a:cxnLst/>
            <a:rect l="l" t="t" r="r" b="b"/>
            <a:pathLst>
              <a:path w="187325" h="1905" extrusionOk="0">
                <a:moveTo>
                  <a:pt x="-38100" y="768"/>
                </a:moveTo>
                <a:lnTo>
                  <a:pt x="225412" y="768"/>
                </a:lnTo>
              </a:path>
            </a:pathLst>
          </a:custGeom>
          <a:noFill/>
          <a:ln w="77725" cap="flat" cmpd="sng">
            <a:solidFill>
              <a:srgbClr val="FF66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6" name="Google Shape;1666;p143"/>
          <p:cNvSpPr/>
          <p:nvPr/>
        </p:nvSpPr>
        <p:spPr>
          <a:xfrm>
            <a:off x="1357970" y="1561806"/>
            <a:ext cx="265381" cy="230753"/>
          </a:xfrm>
          <a:prstGeom prst="rect">
            <a:avLst/>
          </a:prstGeom>
          <a:blipFill rotWithShape="1">
            <a:blip r:embed="rId11">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667" name="Google Shape;1667;p143"/>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60</a:t>
            </a:fld>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672"/>
        <p:cNvGrpSpPr/>
        <p:nvPr/>
      </p:nvGrpSpPr>
      <p:grpSpPr>
        <a:xfrm>
          <a:off x="0" y="0"/>
          <a:ext cx="0" cy="0"/>
          <a:chOff x="0" y="0"/>
          <a:chExt cx="0" cy="0"/>
        </a:xfrm>
      </p:grpSpPr>
      <p:sp>
        <p:nvSpPr>
          <p:cNvPr id="1673" name="Google Shape;1673;p144"/>
          <p:cNvSpPr txBox="1">
            <a:spLocks noGrp="1"/>
          </p:cNvSpPr>
          <p:nvPr>
            <p:ph type="sldNum" idx="12"/>
          </p:nvPr>
        </p:nvSpPr>
        <p:spPr>
          <a:xfrm>
            <a:off x="84138" y="6242050"/>
            <a:ext cx="587375" cy="488950"/>
          </a:xfrm>
          <a:prstGeom prst="rect">
            <a:avLst/>
          </a:prstGeom>
          <a:noFill/>
          <a:ln>
            <a:noFill/>
          </a:ln>
        </p:spPr>
        <p:txBody>
          <a:bodyPr spcFirstLastPara="1" wrap="square" lIns="91425" tIns="45700" rIns="91425" bIns="45700" anchor="b" anchorCtr="1">
            <a:noAutofit/>
          </a:bodyPr>
          <a:lstStyle/>
          <a:p>
            <a:pPr marL="0" lvl="0" indent="0" algn="l" rtl="0">
              <a:lnSpc>
                <a:spcPct val="100000"/>
              </a:lnSpc>
              <a:spcBef>
                <a:spcPts val="0"/>
              </a:spcBef>
              <a:spcAft>
                <a:spcPts val="0"/>
              </a:spcAft>
              <a:buSzPts val="2600"/>
              <a:buNone/>
            </a:pPr>
            <a:fld id="{00000000-1234-1234-1234-123412341234}" type="slidenum">
              <a:rPr lang="fr-FR">
                <a:solidFill>
                  <a:srgbClr val="FFFFFF"/>
                </a:solidFill>
              </a:rPr>
              <a:t>61</a:t>
            </a:fld>
            <a:endParaRPr>
              <a:solidFill>
                <a:srgbClr val="FFFFFF"/>
              </a:solidFill>
            </a:endParaRPr>
          </a:p>
        </p:txBody>
      </p:sp>
      <p:sp>
        <p:nvSpPr>
          <p:cNvPr id="1674" name="Google Shape;1674;p144"/>
          <p:cNvSpPr>
            <a:spLocks noGrp="1"/>
          </p:cNvSpPr>
          <p:nvPr>
            <p:ph type="title"/>
          </p:nvPr>
        </p:nvSpPr>
        <p:spPr>
          <a:xfrm>
            <a:off x="663046" y="0"/>
            <a:ext cx="7924800" cy="685800"/>
          </a:xfrm>
          <a:prstGeom prst="roundRect">
            <a:avLst>
              <a:gd name="adj" fmla="val 21667"/>
            </a:avLst>
          </a:prstGeom>
          <a:noFill/>
          <a:ln>
            <a:noFill/>
          </a:ln>
        </p:spPr>
        <p:txBody>
          <a:bodyPr spcFirstLastPara="1" wrap="square" lIns="91425" tIns="45700" rIns="91425" bIns="45700" anchor="b" anchorCtr="0">
            <a:noAutofit/>
          </a:bodyPr>
          <a:lstStyle/>
          <a:p>
            <a:pPr marL="0" lvl="0" indent="0" algn="just" rtl="0">
              <a:lnSpc>
                <a:spcPct val="150000"/>
              </a:lnSpc>
              <a:spcBef>
                <a:spcPts val="0"/>
              </a:spcBef>
              <a:spcAft>
                <a:spcPts val="0"/>
              </a:spcAft>
              <a:buSzPts val="1400"/>
              <a:buNone/>
            </a:pPr>
            <a:r>
              <a:rPr lang="fr-FR"/>
              <a:t> </a:t>
            </a:r>
            <a:r>
              <a:rPr lang="fr-FR" sz="2400" u="sng">
                <a:solidFill>
                  <a:srgbClr val="000204"/>
                </a:solidFill>
              </a:rPr>
              <a:t>Ordonnancement avec priorité</a:t>
            </a:r>
            <a:endParaRPr/>
          </a:p>
        </p:txBody>
      </p:sp>
      <p:sp>
        <p:nvSpPr>
          <p:cNvPr id="1675" name="Google Shape;1675;p144"/>
          <p:cNvSpPr txBox="1"/>
          <p:nvPr/>
        </p:nvSpPr>
        <p:spPr>
          <a:xfrm>
            <a:off x="84138" y="1371600"/>
            <a:ext cx="9059862" cy="2554545"/>
          </a:xfrm>
          <a:prstGeom prst="rect">
            <a:avLst/>
          </a:prstGeom>
          <a:noFill/>
          <a:ln>
            <a:noFill/>
          </a:ln>
        </p:spPr>
        <p:txBody>
          <a:bodyPr spcFirstLastPara="1" wrap="square" lIns="91425" tIns="45700" rIns="91425" bIns="45700" anchor="t" anchorCtr="0">
            <a:spAutoFit/>
          </a:bodyPr>
          <a:lstStyle/>
          <a:p>
            <a:pPr marL="342900" marR="0" lvl="0" indent="-342900" algn="just" rtl="0">
              <a:lnSpc>
                <a:spcPct val="150000"/>
              </a:lnSpc>
              <a:spcBef>
                <a:spcPts val="0"/>
              </a:spcBef>
              <a:spcAft>
                <a:spcPts val="0"/>
              </a:spcAft>
              <a:buClr>
                <a:srgbClr val="000204"/>
              </a:buClr>
              <a:buSzPts val="2000"/>
              <a:buFont typeface="Arial"/>
              <a:buChar char="•"/>
            </a:pPr>
            <a:r>
              <a:rPr lang="fr-FR" sz="2000" b="0" i="0" u="none" strike="noStrike" cap="none">
                <a:solidFill>
                  <a:srgbClr val="000204"/>
                </a:solidFill>
                <a:latin typeface="Times New Roman"/>
                <a:ea typeface="Times New Roman"/>
                <a:cs typeface="Times New Roman"/>
                <a:sym typeface="Times New Roman"/>
              </a:rPr>
              <a:t>Un processus ne peut s'exécuter que si aucun processus de priorité supérieure n'est dans l'état </a:t>
            </a:r>
            <a:r>
              <a:rPr lang="fr-FR" sz="2000" b="0" i="1" u="none" strike="noStrike" cap="none">
                <a:solidFill>
                  <a:srgbClr val="000204"/>
                </a:solidFill>
                <a:latin typeface="Times New Roman"/>
                <a:ea typeface="Times New Roman"/>
                <a:cs typeface="Times New Roman"/>
                <a:sym typeface="Times New Roman"/>
              </a:rPr>
              <a:t>ready.</a:t>
            </a:r>
            <a:endParaRPr sz="1400" b="0" i="0" u="none" strike="noStrike" cap="none">
              <a:solidFill>
                <a:srgbClr val="000000"/>
              </a:solidFill>
              <a:latin typeface="Arial"/>
              <a:ea typeface="Arial"/>
              <a:cs typeface="Arial"/>
              <a:sym typeface="Arial"/>
            </a:endParaRPr>
          </a:p>
          <a:p>
            <a:pPr marL="0" marR="0" lvl="0" indent="0" algn="just" rtl="0">
              <a:lnSpc>
                <a:spcPct val="100000"/>
              </a:lnSpc>
              <a:spcBef>
                <a:spcPts val="0"/>
              </a:spcBef>
              <a:spcAft>
                <a:spcPts val="0"/>
              </a:spcAft>
              <a:buClr>
                <a:srgbClr val="000000"/>
              </a:buClr>
              <a:buSzPts val="2000"/>
              <a:buFont typeface="Arial"/>
              <a:buNone/>
            </a:pPr>
            <a:endParaRPr sz="2000" b="0" i="1" u="none" strike="noStrike" cap="none">
              <a:solidFill>
                <a:srgbClr val="003366"/>
              </a:solidFill>
              <a:latin typeface="Arial"/>
              <a:ea typeface="Arial"/>
              <a:cs typeface="Arial"/>
              <a:sym typeface="Arial"/>
            </a:endParaRPr>
          </a:p>
          <a:p>
            <a:pPr marL="0" marR="0" lvl="0" indent="0" algn="just" rtl="0">
              <a:lnSpc>
                <a:spcPct val="100000"/>
              </a:lnSpc>
              <a:spcBef>
                <a:spcPts val="0"/>
              </a:spcBef>
              <a:spcAft>
                <a:spcPts val="0"/>
              </a:spcAft>
              <a:buClr>
                <a:srgbClr val="000204"/>
              </a:buClr>
              <a:buSzPts val="2000"/>
              <a:buFont typeface="Arial"/>
              <a:buChar char="•"/>
            </a:pPr>
            <a:r>
              <a:rPr lang="fr-FR" sz="2000" b="0" i="0" u="none" strike="noStrike" cap="none">
                <a:solidFill>
                  <a:srgbClr val="000204"/>
                </a:solidFill>
                <a:latin typeface="Times New Roman"/>
                <a:ea typeface="Times New Roman"/>
                <a:cs typeface="Times New Roman"/>
                <a:sym typeface="Times New Roman"/>
              </a:rPr>
              <a:t> Tous les processus ont la même priorité c'est la politique FIFO qui est appliquée.</a:t>
            </a:r>
            <a:endParaRPr sz="2000" b="0" i="0" u="none" strike="noStrike" cap="none">
              <a:solidFill>
                <a:srgbClr val="003366"/>
              </a:solidFill>
              <a:latin typeface="Arial"/>
              <a:ea typeface="Arial"/>
              <a:cs typeface="Arial"/>
              <a:sym typeface="Arial"/>
            </a:endParaRPr>
          </a:p>
          <a:p>
            <a:pPr marL="357188" marR="0" lvl="0" indent="0" algn="just" rtl="0">
              <a:lnSpc>
                <a:spcPct val="100000"/>
              </a:lnSpc>
              <a:spcBef>
                <a:spcPts val="0"/>
              </a:spcBef>
              <a:spcAft>
                <a:spcPts val="0"/>
              </a:spcAft>
              <a:buClr>
                <a:srgbClr val="000000"/>
              </a:buClr>
              <a:buSzPts val="2000"/>
              <a:buFont typeface="Arial"/>
              <a:buNone/>
            </a:pPr>
            <a:endParaRPr sz="2000" b="0" i="0" u="none" strike="noStrike" cap="none">
              <a:solidFill>
                <a:srgbClr val="003366"/>
              </a:solidFill>
              <a:latin typeface="Arial"/>
              <a:ea typeface="Arial"/>
              <a:cs typeface="Arial"/>
              <a:sym typeface="Arial"/>
            </a:endParaRPr>
          </a:p>
          <a:p>
            <a:pPr marL="0" marR="0" lvl="0" indent="0" algn="just" rtl="0">
              <a:lnSpc>
                <a:spcPct val="100000"/>
              </a:lnSpc>
              <a:spcBef>
                <a:spcPts val="0"/>
              </a:spcBef>
              <a:spcAft>
                <a:spcPts val="0"/>
              </a:spcAft>
              <a:buClr>
                <a:srgbClr val="003366"/>
              </a:buClr>
              <a:buSzPts val="2000"/>
              <a:buFont typeface="Arial"/>
              <a:buChar char="•"/>
            </a:pPr>
            <a:r>
              <a:rPr lang="fr-FR" sz="2000" b="0" i="0" u="none" strike="noStrike" cap="none">
                <a:solidFill>
                  <a:srgbClr val="003366"/>
                </a:solidFill>
                <a:latin typeface="Arial"/>
                <a:ea typeface="Arial"/>
                <a:cs typeface="Arial"/>
                <a:sym typeface="Arial"/>
              </a:rPr>
              <a:t> </a:t>
            </a:r>
            <a:r>
              <a:rPr lang="fr-FR" sz="2000" b="0" i="0" u="none" strike="noStrike" cap="none">
                <a:solidFill>
                  <a:srgbClr val="000204"/>
                </a:solidFill>
                <a:latin typeface="Times New Roman"/>
                <a:ea typeface="Times New Roman"/>
                <a:cs typeface="Times New Roman"/>
                <a:sym typeface="Times New Roman"/>
              </a:rPr>
              <a:t>Ordonnancement</a:t>
            </a:r>
            <a:endParaRPr sz="1400" b="0" i="0" u="none" strike="noStrike" cap="none">
              <a:solidFill>
                <a:srgbClr val="000000"/>
              </a:solidFill>
              <a:latin typeface="Arial"/>
              <a:ea typeface="Arial"/>
              <a:cs typeface="Arial"/>
              <a:sym typeface="Arial"/>
            </a:endParaRPr>
          </a:p>
          <a:p>
            <a:pPr marL="357188" marR="0" lvl="0" indent="-127000" algn="just" rtl="0">
              <a:lnSpc>
                <a:spcPct val="100000"/>
              </a:lnSpc>
              <a:spcBef>
                <a:spcPts val="0"/>
              </a:spcBef>
              <a:spcAft>
                <a:spcPts val="0"/>
              </a:spcAft>
              <a:buClr>
                <a:srgbClr val="000204"/>
              </a:buClr>
              <a:buSzPts val="2000"/>
              <a:buFont typeface="Arial"/>
              <a:buChar char="–"/>
            </a:pPr>
            <a:r>
              <a:rPr lang="fr-FR" sz="2000" b="0" i="0" u="none" strike="noStrike" cap="none">
                <a:solidFill>
                  <a:srgbClr val="000204"/>
                </a:solidFill>
                <a:latin typeface="Times New Roman"/>
                <a:ea typeface="Times New Roman"/>
                <a:cs typeface="Times New Roman"/>
                <a:sym typeface="Times New Roman"/>
              </a:rPr>
              <a:t> non-préemptif ou</a:t>
            </a:r>
            <a:r>
              <a:rPr lang="fr-FR" sz="2000" b="0" i="1" u="none" strike="noStrike" cap="none">
                <a:solidFill>
                  <a:srgbClr val="000204"/>
                </a:solidFill>
                <a:latin typeface="Times New Roman"/>
                <a:ea typeface="Times New Roman"/>
                <a:cs typeface="Times New Roman"/>
                <a:sym typeface="Times New Roman"/>
              </a:rPr>
              <a:t> préemptif</a:t>
            </a:r>
            <a:endParaRPr sz="2000" b="0" i="0" u="none" strike="noStrike" cap="none">
              <a:solidFill>
                <a:srgbClr val="000204"/>
              </a:solidFill>
              <a:latin typeface="Times New Roman"/>
              <a:ea typeface="Times New Roman"/>
              <a:cs typeface="Times New Roman"/>
              <a:sym typeface="Times New Roman"/>
            </a:endParaRPr>
          </a:p>
        </p:txBody>
      </p:sp>
      <p:sp>
        <p:nvSpPr>
          <p:cNvPr id="1676" name="Google Shape;1676;p144"/>
          <p:cNvSpPr/>
          <p:nvPr/>
        </p:nvSpPr>
        <p:spPr>
          <a:xfrm>
            <a:off x="0" y="685800"/>
            <a:ext cx="8963025" cy="1077218"/>
          </a:xfrm>
          <a:prstGeom prst="rect">
            <a:avLst/>
          </a:prstGeom>
          <a:noFill/>
          <a:ln>
            <a:noFill/>
          </a:ln>
        </p:spPr>
        <p:txBody>
          <a:bodyPr spcFirstLastPara="1" wrap="square" lIns="91425" tIns="45700" rIns="91425" bIns="45700" anchor="t" anchorCtr="0">
            <a:noAutofit/>
          </a:bodyPr>
          <a:lstStyle/>
          <a:p>
            <a:pPr marL="342900" marR="0" lvl="1" indent="-342900" algn="just" rtl="0">
              <a:lnSpc>
                <a:spcPct val="100000"/>
              </a:lnSpc>
              <a:spcBef>
                <a:spcPts val="0"/>
              </a:spcBef>
              <a:spcAft>
                <a:spcPts val="0"/>
              </a:spcAft>
              <a:buClr>
                <a:srgbClr val="000204"/>
              </a:buClr>
              <a:buSzPts val="2000"/>
              <a:buFont typeface="Arial"/>
              <a:buChar char="•"/>
            </a:pPr>
            <a:r>
              <a:rPr lang="fr-FR" sz="2000" b="0" i="0" u="none" strike="noStrike" cap="none">
                <a:solidFill>
                  <a:srgbClr val="000204"/>
                </a:solidFill>
                <a:latin typeface="Times New Roman"/>
                <a:ea typeface="Times New Roman"/>
                <a:cs typeface="Times New Roman"/>
                <a:sym typeface="Times New Roman"/>
              </a:rPr>
              <a:t>Le système d’exploitation ordonne les processus prêts selon l’ordre décroissant de leurs priorités et le processus à élire est celui avec la plus haute priorité </a:t>
            </a:r>
            <a:endParaRPr sz="1400" b="0" i="0" u="none" strike="noStrike" cap="none">
              <a:solidFill>
                <a:srgbClr val="000000"/>
              </a:solidFill>
              <a:latin typeface="Arial"/>
              <a:ea typeface="Arial"/>
              <a:cs typeface="Arial"/>
              <a:sym typeface="Arial"/>
            </a:endParaRPr>
          </a:p>
          <a:p>
            <a:pPr marL="177800" marR="0" lvl="1" indent="0" algn="just" rtl="0">
              <a:lnSpc>
                <a:spcPct val="100000"/>
              </a:lnSpc>
              <a:spcBef>
                <a:spcPts val="800"/>
              </a:spcBef>
              <a:spcAft>
                <a:spcPts val="0"/>
              </a:spcAft>
              <a:buClr>
                <a:srgbClr val="000000"/>
              </a:buClr>
              <a:buSzPts val="1600"/>
              <a:buFont typeface="Arial"/>
              <a:buNone/>
            </a:pPr>
            <a:r>
              <a:rPr lang="fr-FR" sz="1600" b="0" i="0" u="none" strike="noStrike" cap="none">
                <a:solidFill>
                  <a:srgbClr val="000204"/>
                </a:solidFill>
                <a:latin typeface="Times New Roman"/>
                <a:ea typeface="Times New Roman"/>
                <a:cs typeface="Times New Roman"/>
                <a:sym typeface="Times New Roman"/>
              </a:rPr>
              <a:t> </a:t>
            </a:r>
            <a:endParaRPr sz="1600" b="0" i="0" u="none" strike="noStrike" cap="none">
              <a:solidFill>
                <a:srgbClr val="003366"/>
              </a:solidFill>
              <a:latin typeface="Arial"/>
              <a:ea typeface="Arial"/>
              <a:cs typeface="Arial"/>
              <a:sym typeface="Arial"/>
            </a:endParaRPr>
          </a:p>
        </p:txBody>
      </p:sp>
      <p:sp>
        <p:nvSpPr>
          <p:cNvPr id="1677" name="Google Shape;1677;p144"/>
          <p:cNvSpPr txBox="1"/>
          <p:nvPr/>
        </p:nvSpPr>
        <p:spPr>
          <a:xfrm>
            <a:off x="8870188" y="6656475"/>
            <a:ext cx="206375" cy="156068"/>
          </a:xfrm>
          <a:prstGeom prst="rect">
            <a:avLst/>
          </a:prstGeom>
          <a:noFill/>
          <a:ln>
            <a:noFill/>
          </a:ln>
        </p:spPr>
        <p:txBody>
          <a:bodyPr spcFirstLastPara="1" wrap="square" lIns="0" tIns="0" rIns="0" bIns="0" anchor="t" anchorCtr="0">
            <a:spAutoFit/>
          </a:bodyPr>
          <a:lstStyle/>
          <a:p>
            <a:pPr marL="25400" marR="0" lvl="0" indent="0" algn="l" rtl="0">
              <a:lnSpc>
                <a:spcPct val="103333"/>
              </a:lnSpc>
              <a:spcBef>
                <a:spcPts val="0"/>
              </a:spcBef>
              <a:spcAft>
                <a:spcPts val="0"/>
              </a:spcAft>
              <a:buClr>
                <a:srgbClr val="8A8A8A"/>
              </a:buClr>
              <a:buSzPts val="1200"/>
              <a:buFont typeface="Calibri"/>
              <a:buNone/>
            </a:pPr>
            <a:r>
              <a:rPr lang="fr-FR" sz="1200" b="0" i="0" u="none" strike="noStrike" cap="none">
                <a:solidFill>
                  <a:srgbClr val="8A8A8A"/>
                </a:solidFill>
                <a:latin typeface="Calibri"/>
                <a:ea typeface="Calibri"/>
                <a:cs typeface="Calibri"/>
                <a:sym typeface="Calibri"/>
              </a:rPr>
              <a:t>43</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75"/>
                                        </p:tgtEl>
                                        <p:attrNameLst>
                                          <p:attrName>style.visibility</p:attrName>
                                        </p:attrNameLst>
                                      </p:cBhvr>
                                      <p:to>
                                        <p:strVal val="visible"/>
                                      </p:to>
                                    </p:set>
                                    <p:animEffect transition="in" filter="fade">
                                      <p:cBhvr>
                                        <p:cTn id="7" dur="500"/>
                                        <p:tgtEl>
                                          <p:spTgt spid="1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682"/>
        <p:cNvGrpSpPr/>
        <p:nvPr/>
      </p:nvGrpSpPr>
      <p:grpSpPr>
        <a:xfrm>
          <a:off x="0" y="0"/>
          <a:ext cx="0" cy="0"/>
          <a:chOff x="0" y="0"/>
          <a:chExt cx="0" cy="0"/>
        </a:xfrm>
      </p:grpSpPr>
      <p:sp>
        <p:nvSpPr>
          <p:cNvPr id="1683" name="Google Shape;1683;p145"/>
          <p:cNvSpPr txBox="1"/>
          <p:nvPr/>
        </p:nvSpPr>
        <p:spPr>
          <a:xfrm>
            <a:off x="0" y="0"/>
            <a:ext cx="9664700" cy="14700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800"/>
              <a:buFont typeface="Calibri"/>
              <a:buNone/>
            </a:pPr>
            <a:r>
              <a:rPr lang="fr-FR" sz="2800" b="1" i="0" u="sng" strike="noStrike" cap="none">
                <a:solidFill>
                  <a:srgbClr val="000000"/>
                </a:solidFill>
                <a:latin typeface="Calibri"/>
                <a:ea typeface="Calibri"/>
                <a:cs typeface="Calibri"/>
                <a:sym typeface="Calibri"/>
              </a:rPr>
              <a:t>Ordonancement avec priorité </a:t>
            </a:r>
            <a:r>
              <a:rPr lang="fr-FR" sz="2800" b="1" i="0" u="sng" strike="noStrike" cap="none">
                <a:solidFill>
                  <a:srgbClr val="C00000"/>
                </a:solidFill>
                <a:latin typeface="Calibri"/>
                <a:ea typeface="Calibri"/>
                <a:cs typeface="Calibri"/>
                <a:sym typeface="Calibri"/>
              </a:rPr>
              <a:t>non-</a:t>
            </a:r>
            <a:r>
              <a:rPr lang="fr-FR" sz="2800" b="1" i="0" u="sng" strike="noStrike" cap="none">
                <a:solidFill>
                  <a:srgbClr val="C0504D"/>
                </a:solidFill>
                <a:latin typeface="Calibri"/>
                <a:ea typeface="Calibri"/>
                <a:cs typeface="Calibri"/>
                <a:sym typeface="Calibri"/>
              </a:rPr>
              <a:t>préemptif</a:t>
            </a:r>
            <a:endParaRPr sz="2800" b="1" i="0" u="sng" strike="noStrike" cap="none">
              <a:solidFill>
                <a:srgbClr val="C0504D"/>
              </a:solidFill>
              <a:latin typeface="Calibri"/>
              <a:ea typeface="Calibri"/>
              <a:cs typeface="Calibri"/>
              <a:sym typeface="Calibri"/>
            </a:endParaRPr>
          </a:p>
        </p:txBody>
      </p:sp>
      <p:graphicFrame>
        <p:nvGraphicFramePr>
          <p:cNvPr id="1684" name="Google Shape;1684;p145"/>
          <p:cNvGraphicFramePr/>
          <p:nvPr/>
        </p:nvGraphicFramePr>
        <p:xfrm>
          <a:off x="150843" y="1200695"/>
          <a:ext cx="4876800" cy="2494340"/>
        </p:xfrm>
        <a:graphic>
          <a:graphicData uri="http://schemas.openxmlformats.org/drawingml/2006/table">
            <a:tbl>
              <a:tblPr firstRow="1" bandRow="1">
                <a:noFill/>
              </a:tblPr>
              <a:tblGrid>
                <a:gridCol w="1219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Processus</a:t>
                      </a:r>
                      <a:endParaRPr sz="18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Temps d’exécution</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Priorité</a:t>
                      </a:r>
                      <a:endParaRPr sz="18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Temps d’arrivée</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3</a:t>
                      </a:r>
                      <a:endParaRPr sz="1400" u="none" strike="noStrike" cap="none"/>
                    </a:p>
                  </a:txBody>
                  <a:tcPr marL="91450" marR="91450" marT="45725" marB="45725"/>
                </a:tc>
                <a:tc rowSpan="5">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Tous les</a:t>
                      </a:r>
                      <a:br>
                        <a:rPr lang="fr-FR" sz="1800" b="1" u="none" strike="noStrike" cap="none"/>
                      </a:br>
                      <a:r>
                        <a:rPr lang="fr-FR" sz="1800" b="1" u="none" strike="noStrike" cap="none"/>
                        <a:t>Processus</a:t>
                      </a:r>
                      <a:br>
                        <a:rPr lang="fr-FR" sz="1800" b="1" u="none" strike="noStrike" cap="none"/>
                      </a:br>
                      <a:r>
                        <a:rPr lang="fr-FR" sz="1800" b="1" u="none" strike="noStrike" cap="none"/>
                        <a:t>Arrivent au </a:t>
                      </a:r>
                      <a:r>
                        <a:rPr lang="fr-FR" sz="1800" b="1" u="none" strike="noStrike" cap="none" err="1"/>
                        <a:t>meme</a:t>
                      </a:r>
                      <a:r>
                        <a:rPr lang="fr-FR" sz="1800" b="1" u="none" strike="noStrike" cap="none"/>
                        <a:t> temps</a:t>
                      </a:r>
                      <a:endParaRPr sz="1800" b="1" u="none" strike="noStrike" cap="none">
                        <a:solidFill>
                          <a:srgbClr val="C00000"/>
                        </a:solidFill>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800" b="1" u="none" strike="noStrike" cap="none"/>
                    </a:p>
                  </a:txBody>
                  <a:tcPr marL="91450" marR="91450" marT="45725" marB="45725"/>
                </a:tc>
                <a:tc vMerge="1">
                  <a:txBody>
                    <a:bodyPr/>
                    <a:lstStyle/>
                    <a:p>
                      <a:endParaRPr lang="fr-FR"/>
                    </a:p>
                  </a:txBody>
                  <a:tcPr/>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2</a:t>
                      </a:r>
                      <a:endParaRPr sz="1400" u="none" strike="noStrike" cap="none"/>
                    </a:p>
                  </a:txBody>
                  <a:tcPr marL="91450" marR="91450" marT="45725" marB="45725"/>
                </a:tc>
                <a:tc vMerge="1">
                  <a:txBody>
                    <a:bodyPr/>
                    <a:lstStyle/>
                    <a:p>
                      <a:endParaRPr lang="fr-FR"/>
                    </a:p>
                  </a:txBody>
                  <a:tcPr/>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a:t>
                      </a:r>
                      <a:endParaRPr sz="1800" b="1" u="none" strike="noStrike" cap="none"/>
                    </a:p>
                  </a:txBody>
                  <a:tcPr marL="91450" marR="91450" marT="45725" marB="45725"/>
                </a:tc>
                <a:tc vMerge="1">
                  <a:txBody>
                    <a:bodyPr/>
                    <a:lstStyle/>
                    <a:p>
                      <a:endParaRPr lang="fr-FR"/>
                    </a:p>
                  </a:txBody>
                  <a:tcPr/>
                </a:tc>
                <a:extLst>
                  <a:ext uri="{0D108BD9-81ED-4DB2-BD59-A6C34878D82A}">
                    <a16:rowId xmlns:a16="http://schemas.microsoft.com/office/drawing/2014/main" val="10004"/>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P5</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4</a:t>
                      </a:r>
                      <a:endParaRPr sz="1800" b="1" u="none" strike="noStrike" cap="none"/>
                    </a:p>
                  </a:txBody>
                  <a:tcPr marL="91450" marR="91450" marT="45725" marB="45725"/>
                </a:tc>
                <a:tc vMerge="1">
                  <a:txBody>
                    <a:bodyPr/>
                    <a:lstStyle/>
                    <a:p>
                      <a:endParaRPr lang="fr-FR"/>
                    </a:p>
                  </a:txBody>
                  <a:tcPr/>
                </a:tc>
                <a:extLst>
                  <a:ext uri="{0D108BD9-81ED-4DB2-BD59-A6C34878D82A}">
                    <a16:rowId xmlns:a16="http://schemas.microsoft.com/office/drawing/2014/main" val="10005"/>
                  </a:ext>
                </a:extLst>
              </a:tr>
            </a:tbl>
          </a:graphicData>
        </a:graphic>
      </p:graphicFrame>
      <p:sp>
        <p:nvSpPr>
          <p:cNvPr id="1685" name="Google Shape;1685;p145"/>
          <p:cNvSpPr/>
          <p:nvPr/>
        </p:nvSpPr>
        <p:spPr>
          <a:xfrm>
            <a:off x="150842" y="4324290"/>
            <a:ext cx="8840758" cy="6096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686" name="Google Shape;1686;p145"/>
          <p:cNvCxnSpPr/>
          <p:nvPr/>
        </p:nvCxnSpPr>
        <p:spPr>
          <a:xfrm>
            <a:off x="150843" y="4324290"/>
            <a:ext cx="0" cy="762000"/>
          </a:xfrm>
          <a:prstGeom prst="straightConnector1">
            <a:avLst/>
          </a:prstGeom>
          <a:noFill/>
          <a:ln w="9525" cap="flat" cmpd="sng">
            <a:solidFill>
              <a:schemeClr val="dk1"/>
            </a:solidFill>
            <a:prstDash val="solid"/>
            <a:round/>
            <a:headEnd type="none" w="sm" len="sm"/>
            <a:tailEnd type="none" w="sm" len="sm"/>
          </a:ln>
        </p:spPr>
      </p:cxnSp>
      <p:cxnSp>
        <p:nvCxnSpPr>
          <p:cNvPr id="1687" name="Google Shape;1687;p145"/>
          <p:cNvCxnSpPr/>
          <p:nvPr/>
        </p:nvCxnSpPr>
        <p:spPr>
          <a:xfrm>
            <a:off x="1147855" y="4336990"/>
            <a:ext cx="0" cy="762000"/>
          </a:xfrm>
          <a:prstGeom prst="straightConnector1">
            <a:avLst/>
          </a:prstGeom>
          <a:noFill/>
          <a:ln w="9525" cap="flat" cmpd="sng">
            <a:solidFill>
              <a:schemeClr val="dk1"/>
            </a:solidFill>
            <a:prstDash val="solid"/>
            <a:round/>
            <a:headEnd type="none" w="sm" len="sm"/>
            <a:tailEnd type="none" w="sm" len="sm"/>
          </a:ln>
        </p:spPr>
      </p:cxnSp>
      <p:cxnSp>
        <p:nvCxnSpPr>
          <p:cNvPr id="1688" name="Google Shape;1688;p145"/>
          <p:cNvCxnSpPr/>
          <p:nvPr/>
        </p:nvCxnSpPr>
        <p:spPr>
          <a:xfrm>
            <a:off x="3657600" y="4324290"/>
            <a:ext cx="0" cy="762000"/>
          </a:xfrm>
          <a:prstGeom prst="straightConnector1">
            <a:avLst/>
          </a:prstGeom>
          <a:noFill/>
          <a:ln w="9525" cap="flat" cmpd="sng">
            <a:solidFill>
              <a:schemeClr val="dk1"/>
            </a:solidFill>
            <a:prstDash val="solid"/>
            <a:round/>
            <a:headEnd type="none" w="sm" len="sm"/>
            <a:tailEnd type="none" w="sm" len="sm"/>
          </a:ln>
        </p:spPr>
      </p:cxnSp>
      <p:cxnSp>
        <p:nvCxnSpPr>
          <p:cNvPr id="1689" name="Google Shape;1689;p145"/>
          <p:cNvCxnSpPr/>
          <p:nvPr/>
        </p:nvCxnSpPr>
        <p:spPr>
          <a:xfrm>
            <a:off x="8312520" y="4324290"/>
            <a:ext cx="0" cy="762000"/>
          </a:xfrm>
          <a:prstGeom prst="straightConnector1">
            <a:avLst/>
          </a:prstGeom>
          <a:noFill/>
          <a:ln w="9525" cap="flat" cmpd="sng">
            <a:solidFill>
              <a:schemeClr val="dk1"/>
            </a:solidFill>
            <a:prstDash val="solid"/>
            <a:round/>
            <a:headEnd type="none" w="sm" len="sm"/>
            <a:tailEnd type="none" w="sm" len="sm"/>
          </a:ln>
        </p:spPr>
      </p:cxnSp>
      <p:sp>
        <p:nvSpPr>
          <p:cNvPr id="1690" name="Google Shape;1690;p145"/>
          <p:cNvSpPr txBox="1"/>
          <p:nvPr/>
        </p:nvSpPr>
        <p:spPr>
          <a:xfrm>
            <a:off x="0" y="50862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0</a:t>
            </a:r>
            <a:endParaRPr sz="1400" b="0" i="0" u="none" strike="noStrike" cap="none">
              <a:solidFill>
                <a:srgbClr val="000000"/>
              </a:solidFill>
              <a:latin typeface="Arial"/>
              <a:ea typeface="Arial"/>
              <a:cs typeface="Arial"/>
              <a:sym typeface="Arial"/>
            </a:endParaRPr>
          </a:p>
        </p:txBody>
      </p:sp>
      <p:sp>
        <p:nvSpPr>
          <p:cNvPr id="1691" name="Google Shape;1691;p145"/>
          <p:cNvSpPr/>
          <p:nvPr/>
        </p:nvSpPr>
        <p:spPr>
          <a:xfrm>
            <a:off x="5161354" y="1158302"/>
            <a:ext cx="4002891" cy="70788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Temps d’attente :</a:t>
            </a:r>
            <a:br>
              <a:rPr lang="fr-FR" sz="2000" b="1" i="0" u="none" strike="noStrike" cap="none">
                <a:solidFill>
                  <a:srgbClr val="F79646"/>
                </a:solidFill>
                <a:latin typeface="Calibri"/>
                <a:ea typeface="Calibri"/>
                <a:cs typeface="Calibri"/>
                <a:sym typeface="Calibri"/>
              </a:rPr>
            </a:br>
            <a:r>
              <a:rPr lang="fr-FR" sz="2000" b="1" i="0" u="none" strike="noStrike" cap="none">
                <a:solidFill>
                  <a:srgbClr val="F79646"/>
                </a:solidFill>
                <a:latin typeface="Calibri"/>
                <a:ea typeface="Calibri"/>
                <a:cs typeface="Calibri"/>
                <a:sym typeface="Calibri"/>
              </a:rPr>
              <a:t> début d’exécution– temps d’arrivée</a:t>
            </a:r>
            <a:endParaRPr sz="2000" b="1" i="0" u="none" strike="noStrike" cap="none">
              <a:solidFill>
                <a:srgbClr val="F79646"/>
              </a:solidFill>
              <a:latin typeface="Calibri"/>
              <a:ea typeface="Calibri"/>
              <a:cs typeface="Calibri"/>
              <a:sym typeface="Calibri"/>
            </a:endParaRPr>
          </a:p>
        </p:txBody>
      </p:sp>
      <p:sp>
        <p:nvSpPr>
          <p:cNvPr id="1692" name="Google Shape;1692;p145"/>
          <p:cNvSpPr/>
          <p:nvPr/>
        </p:nvSpPr>
        <p:spPr>
          <a:xfrm>
            <a:off x="5536883" y="1867157"/>
            <a:ext cx="44196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P1 = 6</a:t>
            </a:r>
            <a:endParaRPr sz="1400" b="0" i="0" u="none" strike="noStrike" cap="none">
              <a:solidFill>
                <a:srgbClr val="000000"/>
              </a:solidFill>
              <a:latin typeface="Arial"/>
              <a:ea typeface="Arial"/>
              <a:cs typeface="Arial"/>
              <a:sym typeface="Arial"/>
            </a:endParaRPr>
          </a:p>
        </p:txBody>
      </p:sp>
      <p:sp>
        <p:nvSpPr>
          <p:cNvPr id="1693" name="Google Shape;1693;p145"/>
          <p:cNvSpPr/>
          <p:nvPr/>
        </p:nvSpPr>
        <p:spPr>
          <a:xfrm>
            <a:off x="5517590" y="2240794"/>
            <a:ext cx="34225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P2 = 0</a:t>
            </a:r>
            <a:endParaRPr sz="1400" b="0" i="0" u="none" strike="noStrike" cap="none">
              <a:solidFill>
                <a:srgbClr val="000000"/>
              </a:solidFill>
              <a:latin typeface="Arial"/>
              <a:ea typeface="Arial"/>
              <a:cs typeface="Arial"/>
              <a:sym typeface="Arial"/>
            </a:endParaRPr>
          </a:p>
        </p:txBody>
      </p:sp>
      <p:sp>
        <p:nvSpPr>
          <p:cNvPr id="1694" name="Google Shape;1694;p145"/>
          <p:cNvSpPr/>
          <p:nvPr/>
        </p:nvSpPr>
        <p:spPr>
          <a:xfrm>
            <a:off x="5497996" y="2640904"/>
            <a:ext cx="954107"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P3 = 16</a:t>
            </a:r>
            <a:endParaRPr sz="1400" b="0" i="0" u="none" strike="noStrike" cap="none">
              <a:solidFill>
                <a:srgbClr val="000000"/>
              </a:solidFill>
              <a:latin typeface="Arial"/>
              <a:ea typeface="Arial"/>
              <a:cs typeface="Arial"/>
              <a:sym typeface="Arial"/>
            </a:endParaRPr>
          </a:p>
        </p:txBody>
      </p:sp>
      <p:sp>
        <p:nvSpPr>
          <p:cNvPr id="1695" name="Google Shape;1695;p145"/>
          <p:cNvSpPr/>
          <p:nvPr/>
        </p:nvSpPr>
        <p:spPr>
          <a:xfrm>
            <a:off x="5517590" y="3075608"/>
            <a:ext cx="954107"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P4 = 18</a:t>
            </a:r>
            <a:endParaRPr sz="1400" b="0" i="0" u="none" strike="noStrike" cap="none">
              <a:solidFill>
                <a:srgbClr val="000000"/>
              </a:solidFill>
              <a:latin typeface="Arial"/>
              <a:ea typeface="Arial"/>
              <a:cs typeface="Arial"/>
              <a:sym typeface="Arial"/>
            </a:endParaRPr>
          </a:p>
        </p:txBody>
      </p:sp>
      <p:sp>
        <p:nvSpPr>
          <p:cNvPr id="1696" name="Google Shape;1696;p145"/>
          <p:cNvSpPr txBox="1"/>
          <p:nvPr/>
        </p:nvSpPr>
        <p:spPr>
          <a:xfrm>
            <a:off x="990600" y="50862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p:txBody>
      </p:sp>
      <p:sp>
        <p:nvSpPr>
          <p:cNvPr id="1697" name="Google Shape;1697;p145"/>
          <p:cNvSpPr txBox="1"/>
          <p:nvPr/>
        </p:nvSpPr>
        <p:spPr>
          <a:xfrm>
            <a:off x="3505200" y="50862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6</a:t>
            </a:r>
            <a:endParaRPr sz="1400" b="0" i="0" u="none" strike="noStrike" cap="none">
              <a:solidFill>
                <a:srgbClr val="000000"/>
              </a:solidFill>
              <a:latin typeface="Arial"/>
              <a:ea typeface="Arial"/>
              <a:cs typeface="Arial"/>
              <a:sym typeface="Arial"/>
            </a:endParaRPr>
          </a:p>
        </p:txBody>
      </p:sp>
      <p:sp>
        <p:nvSpPr>
          <p:cNvPr id="1698" name="Google Shape;1698;p145"/>
          <p:cNvSpPr txBox="1"/>
          <p:nvPr/>
        </p:nvSpPr>
        <p:spPr>
          <a:xfrm>
            <a:off x="381000" y="440049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699" name="Google Shape;1699;p145"/>
          <p:cNvSpPr txBox="1"/>
          <p:nvPr/>
        </p:nvSpPr>
        <p:spPr>
          <a:xfrm>
            <a:off x="7010400"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16</a:t>
            </a:r>
            <a:endParaRPr sz="1400" b="0" i="0" u="none" strike="noStrike" cap="none">
              <a:solidFill>
                <a:srgbClr val="000000"/>
              </a:solidFill>
              <a:latin typeface="Arial"/>
              <a:ea typeface="Arial"/>
              <a:cs typeface="Arial"/>
              <a:sym typeface="Arial"/>
            </a:endParaRPr>
          </a:p>
        </p:txBody>
      </p:sp>
      <p:sp>
        <p:nvSpPr>
          <p:cNvPr id="1700" name="Google Shape;1700;p145"/>
          <p:cNvSpPr/>
          <p:nvPr/>
        </p:nvSpPr>
        <p:spPr>
          <a:xfrm>
            <a:off x="157255" y="5710535"/>
            <a:ext cx="8302537"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70C0"/>
                </a:solidFill>
                <a:latin typeface="Calibri"/>
                <a:ea typeface="Calibri"/>
                <a:cs typeface="Calibri"/>
                <a:sym typeface="Calibri"/>
              </a:rPr>
              <a:t>Temps d’attente moyen  = (6 + 0 + 16 + 18 + 1) / 5 = 41 / 5 = 8.2</a:t>
            </a:r>
            <a:endParaRPr sz="1400" b="0" i="0" u="none" strike="noStrike" cap="none">
              <a:solidFill>
                <a:srgbClr val="000000"/>
              </a:solidFill>
              <a:latin typeface="Arial"/>
              <a:ea typeface="Arial"/>
              <a:cs typeface="Arial"/>
              <a:sym typeface="Arial"/>
            </a:endParaRPr>
          </a:p>
        </p:txBody>
      </p:sp>
      <p:cxnSp>
        <p:nvCxnSpPr>
          <p:cNvPr id="1701" name="Google Shape;1701;p145"/>
          <p:cNvCxnSpPr/>
          <p:nvPr/>
        </p:nvCxnSpPr>
        <p:spPr>
          <a:xfrm>
            <a:off x="7162800" y="4324290"/>
            <a:ext cx="0" cy="762000"/>
          </a:xfrm>
          <a:prstGeom prst="straightConnector1">
            <a:avLst/>
          </a:prstGeom>
          <a:noFill/>
          <a:ln w="9525" cap="flat" cmpd="sng">
            <a:solidFill>
              <a:schemeClr val="dk1"/>
            </a:solidFill>
            <a:prstDash val="solid"/>
            <a:round/>
            <a:headEnd type="none" w="sm" len="sm"/>
            <a:tailEnd type="none" w="sm" len="sm"/>
          </a:ln>
        </p:spPr>
      </p:cxnSp>
      <p:sp>
        <p:nvSpPr>
          <p:cNvPr id="1702" name="Google Shape;1702;p145"/>
          <p:cNvSpPr txBox="1"/>
          <p:nvPr/>
        </p:nvSpPr>
        <p:spPr>
          <a:xfrm>
            <a:off x="8090048"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18</a:t>
            </a:r>
            <a:endParaRPr sz="1400" b="0" i="0" u="none" strike="noStrike" cap="none">
              <a:solidFill>
                <a:srgbClr val="000000"/>
              </a:solidFill>
              <a:latin typeface="Arial"/>
              <a:ea typeface="Arial"/>
              <a:cs typeface="Arial"/>
              <a:sym typeface="Arial"/>
            </a:endParaRPr>
          </a:p>
        </p:txBody>
      </p:sp>
      <p:sp>
        <p:nvSpPr>
          <p:cNvPr id="1703" name="Google Shape;1703;p145"/>
          <p:cNvSpPr/>
          <p:nvPr/>
        </p:nvSpPr>
        <p:spPr>
          <a:xfrm>
            <a:off x="5497996" y="3486090"/>
            <a:ext cx="824265"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F79646"/>
                </a:solidFill>
                <a:latin typeface="Calibri"/>
                <a:ea typeface="Calibri"/>
                <a:cs typeface="Calibri"/>
                <a:sym typeface="Calibri"/>
              </a:rPr>
              <a:t>P5 = 1</a:t>
            </a:r>
            <a:endParaRPr sz="1400" b="0" i="0" u="none" strike="noStrike" cap="none">
              <a:solidFill>
                <a:srgbClr val="000000"/>
              </a:solidFill>
              <a:latin typeface="Arial"/>
              <a:ea typeface="Arial"/>
              <a:cs typeface="Arial"/>
              <a:sym typeface="Arial"/>
            </a:endParaRPr>
          </a:p>
        </p:txBody>
      </p:sp>
      <p:cxnSp>
        <p:nvCxnSpPr>
          <p:cNvPr id="1704" name="Google Shape;1704;p145"/>
          <p:cNvCxnSpPr/>
          <p:nvPr/>
        </p:nvCxnSpPr>
        <p:spPr>
          <a:xfrm>
            <a:off x="8990968" y="4310390"/>
            <a:ext cx="0" cy="762000"/>
          </a:xfrm>
          <a:prstGeom prst="straightConnector1">
            <a:avLst/>
          </a:prstGeom>
          <a:noFill/>
          <a:ln w="9525" cap="flat" cmpd="sng">
            <a:solidFill>
              <a:schemeClr val="dk1"/>
            </a:solidFill>
            <a:prstDash val="solid"/>
            <a:round/>
            <a:headEnd type="none" w="sm" len="sm"/>
            <a:tailEnd type="none" w="sm" len="sm"/>
          </a:ln>
        </p:spPr>
      </p:cxnSp>
      <p:sp>
        <p:nvSpPr>
          <p:cNvPr id="1705" name="Google Shape;1705;p145"/>
          <p:cNvSpPr txBox="1"/>
          <p:nvPr/>
        </p:nvSpPr>
        <p:spPr>
          <a:xfrm>
            <a:off x="8775848" y="50862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19</a:t>
            </a:r>
            <a:endParaRPr sz="1400" b="0" i="0" u="none" strike="noStrike" cap="none">
              <a:solidFill>
                <a:srgbClr val="000000"/>
              </a:solidFill>
              <a:latin typeface="Arial"/>
              <a:ea typeface="Arial"/>
              <a:cs typeface="Arial"/>
              <a:sym typeface="Arial"/>
            </a:endParaRPr>
          </a:p>
        </p:txBody>
      </p:sp>
      <p:sp>
        <p:nvSpPr>
          <p:cNvPr id="1706" name="Google Shape;1706;p145"/>
          <p:cNvSpPr txBox="1"/>
          <p:nvPr/>
        </p:nvSpPr>
        <p:spPr>
          <a:xfrm>
            <a:off x="1905000" y="44297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P5</a:t>
            </a:r>
            <a:endParaRPr sz="1400" b="0" i="0" u="none" strike="noStrike" cap="none">
              <a:solidFill>
                <a:srgbClr val="000000"/>
              </a:solidFill>
              <a:latin typeface="Arial"/>
              <a:ea typeface="Arial"/>
              <a:cs typeface="Arial"/>
              <a:sym typeface="Arial"/>
            </a:endParaRPr>
          </a:p>
        </p:txBody>
      </p:sp>
      <p:sp>
        <p:nvSpPr>
          <p:cNvPr id="1707" name="Google Shape;1707;p145"/>
          <p:cNvSpPr txBox="1"/>
          <p:nvPr/>
        </p:nvSpPr>
        <p:spPr>
          <a:xfrm>
            <a:off x="5156834" y="44297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708" name="Google Shape;1708;p145"/>
          <p:cNvSpPr txBox="1"/>
          <p:nvPr/>
        </p:nvSpPr>
        <p:spPr>
          <a:xfrm>
            <a:off x="7467600" y="44297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709" name="Google Shape;1709;p145"/>
          <p:cNvSpPr txBox="1"/>
          <p:nvPr/>
        </p:nvSpPr>
        <p:spPr>
          <a:xfrm>
            <a:off x="8382000" y="44297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sp>
        <p:nvSpPr>
          <p:cNvPr id="1710" name="Google Shape;1710;p145"/>
          <p:cNvSpPr txBox="1"/>
          <p:nvPr/>
        </p:nvSpPr>
        <p:spPr>
          <a:xfrm>
            <a:off x="150842" y="805525"/>
            <a:ext cx="4681508"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Calibri"/>
                <a:ea typeface="Calibri"/>
                <a:cs typeface="Calibri"/>
                <a:sym typeface="Calibri"/>
              </a:rPr>
              <a:t>On considère l’ensemble de processus suivant :</a:t>
            </a:r>
            <a:endParaRPr sz="1400" b="0" i="0" u="none" strike="noStrike" cap="none">
              <a:solidFill>
                <a:srgbClr val="000000"/>
              </a:solidFill>
              <a:latin typeface="Arial"/>
              <a:ea typeface="Arial"/>
              <a:cs typeface="Arial"/>
              <a:sym typeface="Arial"/>
            </a:endParaRPr>
          </a:p>
        </p:txBody>
      </p:sp>
      <p:sp>
        <p:nvSpPr>
          <p:cNvPr id="1711" name="Google Shape;1711;p145"/>
          <p:cNvSpPr txBox="1"/>
          <p:nvPr/>
        </p:nvSpPr>
        <p:spPr>
          <a:xfrm>
            <a:off x="124716" y="482359"/>
            <a:ext cx="6014945" cy="64633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Helvetica Neue"/>
                <a:ea typeface="Helvetica Neue"/>
                <a:cs typeface="Helvetica Neue"/>
                <a:sym typeface="Helvetica Neue"/>
              </a:rPr>
              <a:t>Priorité</a:t>
            </a:r>
            <a:r>
              <a:rPr lang="fr-FR" sz="1800" b="0" i="0" u="none" strike="noStrike" cap="none">
                <a:solidFill>
                  <a:srgbClr val="000000"/>
                </a:solidFill>
                <a:latin typeface="Calibri"/>
                <a:ea typeface="Calibri"/>
                <a:cs typeface="Calibri"/>
                <a:sym typeface="Calibri"/>
              </a:rPr>
              <a:t>: On exécute les processus selon leur priorité.</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712" name="Google Shape;1712;p145"/>
          <p:cNvSpPr txBox="1"/>
          <p:nvPr/>
        </p:nvSpPr>
        <p:spPr>
          <a:xfrm>
            <a:off x="381000" y="3886200"/>
            <a:ext cx="7931224"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Le diagramme de Gantt avec un ordonnancement avec priorité est comme suit :</a:t>
            </a:r>
            <a:endParaRPr sz="1400" b="0" i="0" u="none" strike="noStrike" cap="none">
              <a:solidFill>
                <a:srgbClr val="000000"/>
              </a:solidFill>
              <a:latin typeface="Arial"/>
              <a:ea typeface="Arial"/>
              <a:cs typeface="Arial"/>
              <a:sym typeface="Arial"/>
            </a:endParaRPr>
          </a:p>
        </p:txBody>
      </p:sp>
      <p:sp>
        <p:nvSpPr>
          <p:cNvPr id="1713" name="Google Shape;1713;p1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62</a:t>
            </a:fld>
            <a:endParaRPr>
              <a:solidFill>
                <a:srgbClr val="88888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85"/>
                                        </p:tgtEl>
                                        <p:attrNameLst>
                                          <p:attrName>style.visibility</p:attrName>
                                        </p:attrNameLst>
                                      </p:cBhvr>
                                      <p:to>
                                        <p:strVal val="visible"/>
                                      </p:to>
                                    </p:set>
                                    <p:animEffect transition="in" filter="fade">
                                      <p:cBhvr>
                                        <p:cTn id="7" dur="500"/>
                                        <p:tgtEl>
                                          <p:spTgt spid="168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687"/>
                                        </p:tgtEl>
                                        <p:attrNameLst>
                                          <p:attrName>style.visibility</p:attrName>
                                        </p:attrNameLst>
                                      </p:cBhvr>
                                      <p:to>
                                        <p:strVal val="visible"/>
                                      </p:to>
                                    </p:set>
                                    <p:anim calcmode="lin" valueType="num">
                                      <p:cBhvr additive="base">
                                        <p:cTn id="12" dur="500"/>
                                        <p:tgtEl>
                                          <p:spTgt spid="1687"/>
                                        </p:tgtEl>
                                        <p:attrNameLst>
                                          <p:attrName>ppt_y</p:attrName>
                                        </p:attrNameLst>
                                      </p:cBhvr>
                                      <p:tavLst>
                                        <p:tav tm="0">
                                          <p:val>
                                            <p:strVal val="#ppt_y+1"/>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86"/>
                                        </p:tgtEl>
                                        <p:attrNameLst>
                                          <p:attrName>style.visibility</p:attrName>
                                        </p:attrNameLst>
                                      </p:cBhvr>
                                      <p:to>
                                        <p:strVal val="visible"/>
                                      </p:to>
                                    </p:set>
                                    <p:anim calcmode="lin" valueType="num">
                                      <p:cBhvr additive="base">
                                        <p:cTn id="15" dur="500"/>
                                        <p:tgtEl>
                                          <p:spTgt spid="1686"/>
                                        </p:tgtEl>
                                        <p:attrNameLst>
                                          <p:attrName>ppt_y</p:attrName>
                                        </p:attrNameLst>
                                      </p:cBhvr>
                                      <p:tavLst>
                                        <p:tav tm="0">
                                          <p:val>
                                            <p:strVal val="#ppt_y+1"/>
                                          </p:val>
                                        </p:tav>
                                        <p:tav tm="100000">
                                          <p:val>
                                            <p:strVal val="#ppt_y"/>
                                          </p:val>
                                        </p:tav>
                                      </p:tavLst>
                                    </p:anim>
                                  </p:childTnLst>
                                </p:cTn>
                              </p:par>
                              <p:par>
                                <p:cTn id="16" presetID="2" presetClass="entr" presetSubtype="4" fill="hold" nodeType="withEffect">
                                  <p:stCondLst>
                                    <p:cond delay="0"/>
                                  </p:stCondLst>
                                  <p:childTnLst>
                                    <p:set>
                                      <p:cBhvr>
                                        <p:cTn id="17" dur="1" fill="hold">
                                          <p:stCondLst>
                                            <p:cond delay="0"/>
                                          </p:stCondLst>
                                        </p:cTn>
                                        <p:tgtEl>
                                          <p:spTgt spid="1688"/>
                                        </p:tgtEl>
                                        <p:attrNameLst>
                                          <p:attrName>style.visibility</p:attrName>
                                        </p:attrNameLst>
                                      </p:cBhvr>
                                      <p:to>
                                        <p:strVal val="visible"/>
                                      </p:to>
                                    </p:set>
                                    <p:anim calcmode="lin" valueType="num">
                                      <p:cBhvr additive="base">
                                        <p:cTn id="18" dur="500"/>
                                        <p:tgtEl>
                                          <p:spTgt spid="1688"/>
                                        </p:tgtEl>
                                        <p:attrNameLst>
                                          <p:attrName>ppt_y</p:attrName>
                                        </p:attrNameLst>
                                      </p:cBhvr>
                                      <p:tavLst>
                                        <p:tav tm="0">
                                          <p:val>
                                            <p:strVal val="#ppt_y+1"/>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701"/>
                                        </p:tgtEl>
                                        <p:attrNameLst>
                                          <p:attrName>style.visibility</p:attrName>
                                        </p:attrNameLst>
                                      </p:cBhvr>
                                      <p:to>
                                        <p:strVal val="visible"/>
                                      </p:to>
                                    </p:set>
                                    <p:anim calcmode="lin" valueType="num">
                                      <p:cBhvr additive="base">
                                        <p:cTn id="21" dur="500"/>
                                        <p:tgtEl>
                                          <p:spTgt spid="1701"/>
                                        </p:tgtEl>
                                        <p:attrNameLst>
                                          <p:attrName>ppt_y</p:attrName>
                                        </p:attrNameLst>
                                      </p:cBhvr>
                                      <p:tavLst>
                                        <p:tav tm="0">
                                          <p:val>
                                            <p:strVal val="#ppt_y+1"/>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689"/>
                                        </p:tgtEl>
                                        <p:attrNameLst>
                                          <p:attrName>style.visibility</p:attrName>
                                        </p:attrNameLst>
                                      </p:cBhvr>
                                      <p:to>
                                        <p:strVal val="visible"/>
                                      </p:to>
                                    </p:set>
                                    <p:anim calcmode="lin" valueType="num">
                                      <p:cBhvr additive="base">
                                        <p:cTn id="24" dur="500"/>
                                        <p:tgtEl>
                                          <p:spTgt spid="1689"/>
                                        </p:tgtEl>
                                        <p:attrNameLst>
                                          <p:attrName>ppt_y</p:attrName>
                                        </p:attrNameLst>
                                      </p:cBhvr>
                                      <p:tavLst>
                                        <p:tav tm="0">
                                          <p:val>
                                            <p:strVal val="#ppt_y+1"/>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704"/>
                                        </p:tgtEl>
                                        <p:attrNameLst>
                                          <p:attrName>style.visibility</p:attrName>
                                        </p:attrNameLst>
                                      </p:cBhvr>
                                      <p:to>
                                        <p:strVal val="visible"/>
                                      </p:to>
                                    </p:set>
                                    <p:anim calcmode="lin" valueType="num">
                                      <p:cBhvr additive="base">
                                        <p:cTn id="27" dur="500"/>
                                        <p:tgtEl>
                                          <p:spTgt spid="1704"/>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1698"/>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1696"/>
                                        </p:tgtEl>
                                        <p:attrNameLst>
                                          <p:attrName>style.visibility</p:attrName>
                                        </p:attrNameLst>
                                      </p:cBhvr>
                                      <p:to>
                                        <p:strVal val="visible"/>
                                      </p:to>
                                    </p:set>
                                    <p:animEffect transition="in" filter="fade">
                                      <p:cBhvr>
                                        <p:cTn id="36" dur="1000"/>
                                        <p:tgtEl>
                                          <p:spTgt spid="1696"/>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06"/>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nodeType="clickEffect">
                                  <p:stCondLst>
                                    <p:cond delay="0"/>
                                  </p:stCondLst>
                                  <p:childTnLst>
                                    <p:set>
                                      <p:cBhvr>
                                        <p:cTn id="44" dur="1" fill="hold">
                                          <p:stCondLst>
                                            <p:cond delay="0"/>
                                          </p:stCondLst>
                                        </p:cTn>
                                        <p:tgtEl>
                                          <p:spTgt spid="1697"/>
                                        </p:tgtEl>
                                        <p:attrNameLst>
                                          <p:attrName>style.visibility</p:attrName>
                                        </p:attrNameLst>
                                      </p:cBhvr>
                                      <p:to>
                                        <p:strVal val="visible"/>
                                      </p:to>
                                    </p:set>
                                    <p:animEffect transition="in" filter="fade">
                                      <p:cBhvr>
                                        <p:cTn id="45" dur="1000"/>
                                        <p:tgtEl>
                                          <p:spTgt spid="1697"/>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707"/>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0" presetClass="entr" presetSubtype="0" fill="hold" nodeType="clickEffect">
                                  <p:stCondLst>
                                    <p:cond delay="0"/>
                                  </p:stCondLst>
                                  <p:childTnLst>
                                    <p:set>
                                      <p:cBhvr>
                                        <p:cTn id="53" dur="1" fill="hold">
                                          <p:stCondLst>
                                            <p:cond delay="0"/>
                                          </p:stCondLst>
                                        </p:cTn>
                                        <p:tgtEl>
                                          <p:spTgt spid="1699"/>
                                        </p:tgtEl>
                                        <p:attrNameLst>
                                          <p:attrName>style.visibility</p:attrName>
                                        </p:attrNameLst>
                                      </p:cBhvr>
                                      <p:to>
                                        <p:strVal val="visible"/>
                                      </p:to>
                                    </p:set>
                                    <p:animEffect transition="in" filter="fade">
                                      <p:cBhvr>
                                        <p:cTn id="54" dur="1000"/>
                                        <p:tgtEl>
                                          <p:spTgt spid="1699"/>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708"/>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702"/>
                                        </p:tgtEl>
                                        <p:attrNameLst>
                                          <p:attrName>style.visibility</p:attrName>
                                        </p:attrNameLst>
                                      </p:cBhvr>
                                      <p:to>
                                        <p:strVal val="visible"/>
                                      </p:to>
                                    </p:set>
                                    <p:animEffect transition="in" filter="fade">
                                      <p:cBhvr>
                                        <p:cTn id="63" dur="1000"/>
                                        <p:tgtEl>
                                          <p:spTgt spid="1702"/>
                                        </p:tgtEl>
                                      </p:cBhvr>
                                    </p:animEffec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1709"/>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1705"/>
                                        </p:tgtEl>
                                        <p:attrNameLst>
                                          <p:attrName>style.visibility</p:attrName>
                                        </p:attrNameLst>
                                      </p:cBhvr>
                                      <p:to>
                                        <p:strVal val="visible"/>
                                      </p:to>
                                    </p:set>
                                    <p:animEffect transition="in" filter="fade">
                                      <p:cBhvr>
                                        <p:cTn id="72" dur="1000"/>
                                        <p:tgtEl>
                                          <p:spTgt spid="1705"/>
                                        </p:tgtEl>
                                      </p:cBhvr>
                                    </p:animEffec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691"/>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1692"/>
                                        </p:tgtEl>
                                        <p:attrNameLst>
                                          <p:attrName>style.visibility</p:attrName>
                                        </p:attrNameLst>
                                      </p:cBhvr>
                                      <p:to>
                                        <p:strVal val="visible"/>
                                      </p:to>
                                    </p:set>
                                    <p:animEffect transition="in" filter="fade">
                                      <p:cBhvr>
                                        <p:cTn id="81" dur="1000"/>
                                        <p:tgtEl>
                                          <p:spTgt spid="1692"/>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nodeType="clickEffect">
                                  <p:stCondLst>
                                    <p:cond delay="0"/>
                                  </p:stCondLst>
                                  <p:childTnLst>
                                    <p:set>
                                      <p:cBhvr>
                                        <p:cTn id="85" dur="1" fill="hold">
                                          <p:stCondLst>
                                            <p:cond delay="0"/>
                                          </p:stCondLst>
                                        </p:cTn>
                                        <p:tgtEl>
                                          <p:spTgt spid="1693"/>
                                        </p:tgtEl>
                                        <p:attrNameLst>
                                          <p:attrName>style.visibility</p:attrName>
                                        </p:attrNameLst>
                                      </p:cBhvr>
                                      <p:to>
                                        <p:strVal val="visible"/>
                                      </p:to>
                                    </p:set>
                                    <p:animEffect transition="in" filter="fade">
                                      <p:cBhvr>
                                        <p:cTn id="86" dur="1000"/>
                                        <p:tgtEl>
                                          <p:spTgt spid="1693"/>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nodeType="clickEffect">
                                  <p:stCondLst>
                                    <p:cond delay="0"/>
                                  </p:stCondLst>
                                  <p:childTnLst>
                                    <p:set>
                                      <p:cBhvr>
                                        <p:cTn id="90" dur="1" fill="hold">
                                          <p:stCondLst>
                                            <p:cond delay="0"/>
                                          </p:stCondLst>
                                        </p:cTn>
                                        <p:tgtEl>
                                          <p:spTgt spid="1694"/>
                                        </p:tgtEl>
                                        <p:attrNameLst>
                                          <p:attrName>style.visibility</p:attrName>
                                        </p:attrNameLst>
                                      </p:cBhvr>
                                      <p:to>
                                        <p:strVal val="visible"/>
                                      </p:to>
                                    </p:set>
                                    <p:animEffect transition="in" filter="fade">
                                      <p:cBhvr>
                                        <p:cTn id="91" dur="1000"/>
                                        <p:tgtEl>
                                          <p:spTgt spid="1694"/>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nodeType="clickEffect">
                                  <p:stCondLst>
                                    <p:cond delay="0"/>
                                  </p:stCondLst>
                                  <p:childTnLst>
                                    <p:set>
                                      <p:cBhvr>
                                        <p:cTn id="95" dur="1" fill="hold">
                                          <p:stCondLst>
                                            <p:cond delay="0"/>
                                          </p:stCondLst>
                                        </p:cTn>
                                        <p:tgtEl>
                                          <p:spTgt spid="1695"/>
                                        </p:tgtEl>
                                        <p:attrNameLst>
                                          <p:attrName>style.visibility</p:attrName>
                                        </p:attrNameLst>
                                      </p:cBhvr>
                                      <p:to>
                                        <p:strVal val="visible"/>
                                      </p:to>
                                    </p:set>
                                    <p:animEffect transition="in" filter="fade">
                                      <p:cBhvr>
                                        <p:cTn id="96" dur="1000"/>
                                        <p:tgtEl>
                                          <p:spTgt spid="1695"/>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1703"/>
                                        </p:tgtEl>
                                        <p:attrNameLst>
                                          <p:attrName>style.visibility</p:attrName>
                                        </p:attrNameLst>
                                      </p:cBhvr>
                                      <p:to>
                                        <p:strVal val="visible"/>
                                      </p:to>
                                    </p:set>
                                    <p:animEffect transition="in" filter="fade">
                                      <p:cBhvr>
                                        <p:cTn id="101" dur="1000"/>
                                        <p:tgtEl>
                                          <p:spTgt spid="1703"/>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nodeType="clickEffect">
                                  <p:stCondLst>
                                    <p:cond delay="0"/>
                                  </p:stCondLst>
                                  <p:childTnLst>
                                    <p:set>
                                      <p:cBhvr>
                                        <p:cTn id="105" dur="1" fill="hold">
                                          <p:stCondLst>
                                            <p:cond delay="0"/>
                                          </p:stCondLst>
                                        </p:cTn>
                                        <p:tgtEl>
                                          <p:spTgt spid="1700"/>
                                        </p:tgtEl>
                                        <p:attrNameLst>
                                          <p:attrName>style.visibility</p:attrName>
                                        </p:attrNameLst>
                                      </p:cBhvr>
                                      <p:to>
                                        <p:strVal val="visible"/>
                                      </p:to>
                                    </p:set>
                                    <p:animEffect transition="in" filter="fade">
                                      <p:cBhvr>
                                        <p:cTn id="106" dur="2000"/>
                                        <p:tgtEl>
                                          <p:spTgt spid="17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718"/>
        <p:cNvGrpSpPr/>
        <p:nvPr/>
      </p:nvGrpSpPr>
      <p:grpSpPr>
        <a:xfrm>
          <a:off x="0" y="0"/>
          <a:ext cx="0" cy="0"/>
          <a:chOff x="0" y="0"/>
          <a:chExt cx="0" cy="0"/>
        </a:xfrm>
      </p:grpSpPr>
      <p:sp>
        <p:nvSpPr>
          <p:cNvPr id="1719" name="Google Shape;1719;p146"/>
          <p:cNvSpPr txBox="1"/>
          <p:nvPr/>
        </p:nvSpPr>
        <p:spPr>
          <a:xfrm>
            <a:off x="0" y="97064"/>
            <a:ext cx="9144000" cy="1470025"/>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rgbClr val="000000"/>
              </a:buClr>
              <a:buSzPts val="2800"/>
              <a:buFont typeface="Calibri"/>
              <a:buNone/>
            </a:pPr>
            <a:r>
              <a:rPr lang="fr-FR" sz="2800" b="1" i="0" u="sng" strike="noStrike" cap="none">
                <a:solidFill>
                  <a:srgbClr val="000000"/>
                </a:solidFill>
                <a:latin typeface="Calibri"/>
                <a:ea typeface="Calibri"/>
                <a:cs typeface="Calibri"/>
                <a:sym typeface="Calibri"/>
              </a:rPr>
              <a:t>Ordonnancement avec priorité </a:t>
            </a:r>
            <a:r>
              <a:rPr lang="fr-FR" sz="2800" b="1" i="0" u="sng" strike="noStrike" cap="none">
                <a:solidFill>
                  <a:srgbClr val="C0504D"/>
                </a:solidFill>
                <a:latin typeface="Calibri"/>
                <a:ea typeface="Calibri"/>
                <a:cs typeface="Calibri"/>
                <a:sym typeface="Calibri"/>
              </a:rPr>
              <a:t>préemptif</a:t>
            </a:r>
            <a:endParaRPr sz="2800" b="1" i="0" u="sng" strike="noStrike" cap="none">
              <a:solidFill>
                <a:srgbClr val="C0504D"/>
              </a:solidFill>
              <a:latin typeface="Calibri"/>
              <a:ea typeface="Calibri"/>
              <a:cs typeface="Calibri"/>
              <a:sym typeface="Calibri"/>
            </a:endParaRPr>
          </a:p>
        </p:txBody>
      </p:sp>
      <p:graphicFrame>
        <p:nvGraphicFramePr>
          <p:cNvPr id="1720" name="Google Shape;1720;p146"/>
          <p:cNvGraphicFramePr/>
          <p:nvPr/>
        </p:nvGraphicFramePr>
        <p:xfrm>
          <a:off x="152400" y="1504890"/>
          <a:ext cx="4876800" cy="2494340"/>
        </p:xfrm>
        <a:graphic>
          <a:graphicData uri="http://schemas.openxmlformats.org/drawingml/2006/table">
            <a:tbl>
              <a:tblPr firstRow="1" bandRow="1">
                <a:noFill/>
              </a:tblPr>
              <a:tblGrid>
                <a:gridCol w="121920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tblGrid>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Processus</a:t>
                      </a:r>
                      <a:endParaRPr sz="18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Temps d’exécution</a:t>
                      </a:r>
                      <a:endParaRPr sz="18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Priorité</a:t>
                      </a:r>
                      <a:endParaRPr sz="1800" u="none" strike="noStrike" cap="none"/>
                    </a:p>
                  </a:txBody>
                  <a:tcPr marL="91450" marR="91450" marT="45725" marB="45725" anchor="ctr"/>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u="none" strike="noStrike" cap="none"/>
                        <a:t>Temps d’arrivée</a:t>
                      </a:r>
                      <a:endParaRPr sz="1800" u="none" strike="noStrike" cap="none"/>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P1</a:t>
                      </a:r>
                      <a:endParaRPr sz="14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1800"/>
                        <a:buFont typeface="Arial"/>
                        <a:buNone/>
                      </a:pPr>
                      <a:r>
                        <a:rPr lang="fr-FR" sz="1800" b="1" u="none" strike="noStrike" cap="none"/>
                        <a:t>10</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solidFill>
                            <a:srgbClr val="C00000"/>
                          </a:solidFill>
                        </a:rPr>
                        <a:t>0.0</a:t>
                      </a:r>
                      <a:endParaRPr sz="1400" u="none" strike="noStrike" cap="none"/>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800" b="1"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solidFill>
                            <a:srgbClr val="C00000"/>
                          </a:solidFill>
                        </a:rPr>
                        <a:t>1.0</a:t>
                      </a:r>
                      <a:endParaRPr sz="1400" u="none" strike="noStrike" cap="none"/>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P3</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2</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2</a:t>
                      </a:r>
                      <a:endParaRPr sz="1800" b="1"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solidFill>
                            <a:srgbClr val="C00000"/>
                          </a:solidFill>
                        </a:rPr>
                        <a:t>2.0</a:t>
                      </a:r>
                      <a:endParaRPr sz="1400" u="none" strike="noStrike" cap="none"/>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P4</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1</a:t>
                      </a:r>
                      <a:endParaRPr sz="1800" b="1"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solidFill>
                            <a:srgbClr val="C00000"/>
                          </a:solidFill>
                        </a:rPr>
                        <a:t>3.0</a:t>
                      </a:r>
                      <a:endParaRPr sz="1400" u="none" strike="noStrike" cap="none"/>
                    </a:p>
                  </a:txBody>
                  <a:tcPr marL="91450" marR="91450" marT="45725" marB="45725"/>
                </a:tc>
                <a:extLst>
                  <a:ext uri="{0D108BD9-81ED-4DB2-BD59-A6C34878D82A}">
                    <a16:rowId xmlns:a16="http://schemas.microsoft.com/office/drawing/2014/main" val="10004"/>
                  </a:ext>
                </a:extLst>
              </a:tr>
              <a:tr h="370850">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P5</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5</a:t>
                      </a:r>
                      <a:endParaRPr sz="1400"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t>4</a:t>
                      </a:r>
                      <a:endParaRPr sz="1800" b="1" u="none" strike="noStrike" cap="none"/>
                    </a:p>
                  </a:txBody>
                  <a:tcPr marL="91450" marR="91450" marT="45725" marB="45725"/>
                </a:tc>
                <a:tc>
                  <a:txBody>
                    <a:bodyPr/>
                    <a:lstStyle/>
                    <a:p>
                      <a:pPr marL="0" marR="0" lvl="0" indent="0" algn="ctr" rtl="0">
                        <a:lnSpc>
                          <a:spcPct val="100000"/>
                        </a:lnSpc>
                        <a:spcBef>
                          <a:spcPts val="0"/>
                        </a:spcBef>
                        <a:spcAft>
                          <a:spcPts val="0"/>
                        </a:spcAft>
                        <a:buClr>
                          <a:srgbClr val="000000"/>
                        </a:buClr>
                        <a:buSzPts val="1800"/>
                        <a:buFont typeface="Arial"/>
                        <a:buNone/>
                      </a:pPr>
                      <a:r>
                        <a:rPr lang="fr-FR" sz="1800" b="1" u="none" strike="noStrike" cap="none">
                          <a:solidFill>
                            <a:srgbClr val="C00000"/>
                          </a:solidFill>
                        </a:rPr>
                        <a:t>4.0</a:t>
                      </a:r>
                      <a:endParaRPr sz="1400" u="none" strike="noStrike" cap="none"/>
                    </a:p>
                  </a:txBody>
                  <a:tcPr marL="91450" marR="91450" marT="45725" marB="45725"/>
                </a:tc>
                <a:extLst>
                  <a:ext uri="{0D108BD9-81ED-4DB2-BD59-A6C34878D82A}">
                    <a16:rowId xmlns:a16="http://schemas.microsoft.com/office/drawing/2014/main" val="10005"/>
                  </a:ext>
                </a:extLst>
              </a:tr>
            </a:tbl>
          </a:graphicData>
        </a:graphic>
      </p:graphicFrame>
      <p:sp>
        <p:nvSpPr>
          <p:cNvPr id="1721" name="Google Shape;1721;p146"/>
          <p:cNvSpPr/>
          <p:nvPr/>
        </p:nvSpPr>
        <p:spPr>
          <a:xfrm>
            <a:off x="173855" y="832076"/>
            <a:ext cx="9118600" cy="36933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000000"/>
                </a:solidFill>
                <a:latin typeface="Calibri"/>
                <a:ea typeface="Calibri"/>
                <a:cs typeface="Calibri"/>
                <a:sym typeface="Calibri"/>
              </a:rPr>
              <a:t>On considère l’ensemble de processus suivant :</a:t>
            </a:r>
            <a:endParaRPr sz="1400" b="0" i="0" u="none" strike="noStrike" cap="none">
              <a:solidFill>
                <a:srgbClr val="000000"/>
              </a:solidFill>
              <a:latin typeface="Arial"/>
              <a:ea typeface="Arial"/>
              <a:cs typeface="Arial"/>
              <a:sym typeface="Arial"/>
            </a:endParaRPr>
          </a:p>
        </p:txBody>
      </p:sp>
      <p:sp>
        <p:nvSpPr>
          <p:cNvPr id="1722" name="Google Shape;1722;p146"/>
          <p:cNvSpPr/>
          <p:nvPr/>
        </p:nvSpPr>
        <p:spPr>
          <a:xfrm>
            <a:off x="5359717" y="1524000"/>
            <a:ext cx="3608873" cy="64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Temps d’attente :</a:t>
            </a:r>
            <a:br>
              <a:rPr lang="fr-FR" sz="1800" b="1" i="0" u="none" strike="noStrike" cap="none">
                <a:solidFill>
                  <a:srgbClr val="C00000"/>
                </a:solidFill>
                <a:latin typeface="Calibri"/>
                <a:ea typeface="Calibri"/>
                <a:cs typeface="Calibri"/>
                <a:sym typeface="Calibri"/>
              </a:rPr>
            </a:br>
            <a:r>
              <a:rPr lang="fr-FR" sz="1800" b="1" i="0" u="none" strike="noStrike" cap="none">
                <a:solidFill>
                  <a:srgbClr val="C00000"/>
                </a:solidFill>
                <a:latin typeface="Calibri"/>
                <a:ea typeface="Calibri"/>
                <a:cs typeface="Calibri"/>
                <a:sym typeface="Calibri"/>
              </a:rPr>
              <a:t> début d’exécution– temps d’arrivée</a:t>
            </a:r>
            <a:endParaRPr sz="1800" b="1" i="0" u="none" strike="noStrike" cap="none">
              <a:solidFill>
                <a:srgbClr val="C00000"/>
              </a:solidFill>
              <a:latin typeface="Calibri"/>
              <a:ea typeface="Calibri"/>
              <a:cs typeface="Calibri"/>
              <a:sym typeface="Calibri"/>
            </a:endParaRPr>
          </a:p>
        </p:txBody>
      </p:sp>
      <p:sp>
        <p:nvSpPr>
          <p:cNvPr id="1723" name="Google Shape;1723;p146"/>
          <p:cNvSpPr/>
          <p:nvPr/>
        </p:nvSpPr>
        <p:spPr>
          <a:xfrm>
            <a:off x="5568392" y="2247780"/>
            <a:ext cx="441960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0000"/>
                </a:solidFill>
                <a:latin typeface="Calibri"/>
                <a:ea typeface="Calibri"/>
                <a:cs typeface="Calibri"/>
                <a:sym typeface="Calibri"/>
              </a:rPr>
              <a:t>P1 = (0 - 0)+(2 - 1)+(9 - 4) = 6</a:t>
            </a:r>
            <a:endParaRPr sz="1400" b="0" i="0" u="none" strike="noStrike" cap="none">
              <a:solidFill>
                <a:srgbClr val="000000"/>
              </a:solidFill>
              <a:latin typeface="Arial"/>
              <a:ea typeface="Arial"/>
              <a:cs typeface="Arial"/>
              <a:sym typeface="Arial"/>
            </a:endParaRPr>
          </a:p>
        </p:txBody>
      </p:sp>
      <p:sp>
        <p:nvSpPr>
          <p:cNvPr id="1724" name="Google Shape;1724;p146"/>
          <p:cNvSpPr/>
          <p:nvPr/>
        </p:nvSpPr>
        <p:spPr>
          <a:xfrm>
            <a:off x="5568392" y="2552580"/>
            <a:ext cx="3422576"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0000"/>
                </a:solidFill>
                <a:latin typeface="Calibri"/>
                <a:ea typeface="Calibri"/>
                <a:cs typeface="Calibri"/>
                <a:sym typeface="Calibri"/>
              </a:rPr>
              <a:t>P2 = 1 – 1 = 0</a:t>
            </a:r>
            <a:endParaRPr sz="1400" b="0" i="0" u="none" strike="noStrike" cap="none">
              <a:solidFill>
                <a:srgbClr val="000000"/>
              </a:solidFill>
              <a:latin typeface="Arial"/>
              <a:ea typeface="Arial"/>
              <a:cs typeface="Arial"/>
              <a:sym typeface="Arial"/>
            </a:endParaRPr>
          </a:p>
        </p:txBody>
      </p:sp>
      <p:sp>
        <p:nvSpPr>
          <p:cNvPr id="1725" name="Google Shape;1725;p146"/>
          <p:cNvSpPr/>
          <p:nvPr/>
        </p:nvSpPr>
        <p:spPr>
          <a:xfrm>
            <a:off x="5562600" y="2857380"/>
            <a:ext cx="183095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0000"/>
                </a:solidFill>
                <a:latin typeface="Calibri"/>
                <a:ea typeface="Calibri"/>
                <a:cs typeface="Calibri"/>
                <a:sym typeface="Calibri"/>
              </a:rPr>
              <a:t>P3 = 16 – 2 = 14</a:t>
            </a:r>
            <a:endParaRPr sz="1400" b="0" i="0" u="none" strike="noStrike" cap="none">
              <a:solidFill>
                <a:srgbClr val="000000"/>
              </a:solidFill>
              <a:latin typeface="Arial"/>
              <a:ea typeface="Arial"/>
              <a:cs typeface="Arial"/>
              <a:sym typeface="Arial"/>
            </a:endParaRPr>
          </a:p>
        </p:txBody>
      </p:sp>
      <p:sp>
        <p:nvSpPr>
          <p:cNvPr id="1726" name="Google Shape;1726;p146"/>
          <p:cNvSpPr/>
          <p:nvPr/>
        </p:nvSpPr>
        <p:spPr>
          <a:xfrm>
            <a:off x="5568392" y="3181290"/>
            <a:ext cx="1830950"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0000"/>
                </a:solidFill>
                <a:latin typeface="Calibri"/>
                <a:ea typeface="Calibri"/>
                <a:cs typeface="Calibri"/>
                <a:sym typeface="Calibri"/>
              </a:rPr>
              <a:t>P4 = 18 – 3 = 15</a:t>
            </a:r>
            <a:endParaRPr sz="1400" b="0" i="0" u="none" strike="noStrike" cap="none">
              <a:solidFill>
                <a:srgbClr val="000000"/>
              </a:solidFill>
              <a:latin typeface="Arial"/>
              <a:ea typeface="Arial"/>
              <a:cs typeface="Arial"/>
              <a:sym typeface="Arial"/>
            </a:endParaRPr>
          </a:p>
        </p:txBody>
      </p:sp>
      <p:sp>
        <p:nvSpPr>
          <p:cNvPr id="1727" name="Google Shape;1727;p146"/>
          <p:cNvSpPr/>
          <p:nvPr/>
        </p:nvSpPr>
        <p:spPr>
          <a:xfrm>
            <a:off x="157255" y="5710535"/>
            <a:ext cx="8302537" cy="461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2400" b="1" i="0" u="none" strike="noStrike" cap="none">
                <a:solidFill>
                  <a:srgbClr val="0070C0"/>
                </a:solidFill>
                <a:latin typeface="Calibri"/>
                <a:ea typeface="Calibri"/>
                <a:cs typeface="Calibri"/>
                <a:sym typeface="Calibri"/>
              </a:rPr>
              <a:t>Temps d’attente moyen= (6 + 0 + 14 + 15 + 0) / 5 = 35 / 5 = 7</a:t>
            </a:r>
            <a:endParaRPr sz="1400" b="0" i="0" u="none" strike="noStrike" cap="none">
              <a:solidFill>
                <a:srgbClr val="000000"/>
              </a:solidFill>
              <a:latin typeface="Arial"/>
              <a:ea typeface="Arial"/>
              <a:cs typeface="Arial"/>
              <a:sym typeface="Arial"/>
            </a:endParaRPr>
          </a:p>
        </p:txBody>
      </p:sp>
      <p:sp>
        <p:nvSpPr>
          <p:cNvPr id="1728" name="Google Shape;1728;p146"/>
          <p:cNvSpPr/>
          <p:nvPr/>
        </p:nvSpPr>
        <p:spPr>
          <a:xfrm>
            <a:off x="5568392" y="3486090"/>
            <a:ext cx="1571264"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0000"/>
                </a:solidFill>
                <a:latin typeface="Calibri"/>
                <a:ea typeface="Calibri"/>
                <a:cs typeface="Calibri"/>
                <a:sym typeface="Calibri"/>
              </a:rPr>
              <a:t>P5 = 4 – 4 = 0</a:t>
            </a:r>
            <a:endParaRPr sz="1400" b="0" i="0" u="none" strike="noStrike" cap="none">
              <a:solidFill>
                <a:srgbClr val="000000"/>
              </a:solidFill>
              <a:latin typeface="Arial"/>
              <a:ea typeface="Arial"/>
              <a:cs typeface="Arial"/>
              <a:sym typeface="Arial"/>
            </a:endParaRPr>
          </a:p>
        </p:txBody>
      </p:sp>
      <p:sp>
        <p:nvSpPr>
          <p:cNvPr id="1729" name="Google Shape;1729;p146"/>
          <p:cNvSpPr/>
          <p:nvPr/>
        </p:nvSpPr>
        <p:spPr>
          <a:xfrm>
            <a:off x="150842" y="4400490"/>
            <a:ext cx="8840758" cy="609600"/>
          </a:xfrm>
          <a:prstGeom prst="rect">
            <a:avLst/>
          </a:prstGeom>
          <a:solidFill>
            <a:schemeClr val="lt1"/>
          </a:solid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cxnSp>
        <p:nvCxnSpPr>
          <p:cNvPr id="1730" name="Google Shape;1730;p146"/>
          <p:cNvCxnSpPr/>
          <p:nvPr/>
        </p:nvCxnSpPr>
        <p:spPr>
          <a:xfrm>
            <a:off x="150843" y="4400490"/>
            <a:ext cx="0" cy="762000"/>
          </a:xfrm>
          <a:prstGeom prst="straightConnector1">
            <a:avLst/>
          </a:prstGeom>
          <a:noFill/>
          <a:ln w="9525" cap="flat" cmpd="sng">
            <a:solidFill>
              <a:schemeClr val="dk1"/>
            </a:solidFill>
            <a:prstDash val="solid"/>
            <a:round/>
            <a:headEnd type="none" w="sm" len="sm"/>
            <a:tailEnd type="none" w="sm" len="sm"/>
          </a:ln>
        </p:spPr>
      </p:cxnSp>
      <p:cxnSp>
        <p:nvCxnSpPr>
          <p:cNvPr id="1731" name="Google Shape;1731;p146"/>
          <p:cNvCxnSpPr/>
          <p:nvPr/>
        </p:nvCxnSpPr>
        <p:spPr>
          <a:xfrm>
            <a:off x="762000" y="4413190"/>
            <a:ext cx="0" cy="762000"/>
          </a:xfrm>
          <a:prstGeom prst="straightConnector1">
            <a:avLst/>
          </a:prstGeom>
          <a:noFill/>
          <a:ln w="9525" cap="flat" cmpd="sng">
            <a:solidFill>
              <a:schemeClr val="dk1"/>
            </a:solidFill>
            <a:prstDash val="solid"/>
            <a:round/>
            <a:headEnd type="none" w="sm" len="sm"/>
            <a:tailEnd type="none" w="sm" len="sm"/>
          </a:ln>
        </p:spPr>
      </p:cxnSp>
      <p:cxnSp>
        <p:nvCxnSpPr>
          <p:cNvPr id="1732" name="Google Shape;1732;p146"/>
          <p:cNvCxnSpPr/>
          <p:nvPr/>
        </p:nvCxnSpPr>
        <p:spPr>
          <a:xfrm>
            <a:off x="1524000" y="4400490"/>
            <a:ext cx="0" cy="762000"/>
          </a:xfrm>
          <a:prstGeom prst="straightConnector1">
            <a:avLst/>
          </a:prstGeom>
          <a:noFill/>
          <a:ln w="9525" cap="flat" cmpd="sng">
            <a:solidFill>
              <a:schemeClr val="dk1"/>
            </a:solidFill>
            <a:prstDash val="solid"/>
            <a:round/>
            <a:headEnd type="none" w="sm" len="sm"/>
            <a:tailEnd type="none" w="sm" len="sm"/>
          </a:ln>
        </p:spPr>
      </p:cxnSp>
      <p:cxnSp>
        <p:nvCxnSpPr>
          <p:cNvPr id="1733" name="Google Shape;1733;p146"/>
          <p:cNvCxnSpPr/>
          <p:nvPr/>
        </p:nvCxnSpPr>
        <p:spPr>
          <a:xfrm>
            <a:off x="2514600" y="4413190"/>
            <a:ext cx="0" cy="762000"/>
          </a:xfrm>
          <a:prstGeom prst="straightConnector1">
            <a:avLst/>
          </a:prstGeom>
          <a:noFill/>
          <a:ln w="9525" cap="flat" cmpd="sng">
            <a:solidFill>
              <a:schemeClr val="dk1"/>
            </a:solidFill>
            <a:prstDash val="solid"/>
            <a:round/>
            <a:headEnd type="none" w="sm" len="sm"/>
            <a:tailEnd type="none" w="sm" len="sm"/>
          </a:ln>
        </p:spPr>
      </p:cxnSp>
      <p:sp>
        <p:nvSpPr>
          <p:cNvPr id="1734" name="Google Shape;1734;p146"/>
          <p:cNvSpPr txBox="1"/>
          <p:nvPr/>
        </p:nvSpPr>
        <p:spPr>
          <a:xfrm>
            <a:off x="0" y="51624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0</a:t>
            </a:r>
            <a:endParaRPr sz="1400" b="0" i="0" u="none" strike="noStrike" cap="none">
              <a:solidFill>
                <a:srgbClr val="000000"/>
              </a:solidFill>
              <a:latin typeface="Arial"/>
              <a:ea typeface="Arial"/>
              <a:cs typeface="Arial"/>
              <a:sym typeface="Arial"/>
            </a:endParaRPr>
          </a:p>
        </p:txBody>
      </p:sp>
      <p:sp>
        <p:nvSpPr>
          <p:cNvPr id="1735" name="Google Shape;1735;p146"/>
          <p:cNvSpPr txBox="1"/>
          <p:nvPr/>
        </p:nvSpPr>
        <p:spPr>
          <a:xfrm>
            <a:off x="609600" y="51624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a:t>
            </a:r>
            <a:endParaRPr sz="1400" b="0" i="0" u="none" strike="noStrike" cap="none">
              <a:solidFill>
                <a:srgbClr val="000000"/>
              </a:solidFill>
              <a:latin typeface="Arial"/>
              <a:ea typeface="Arial"/>
              <a:cs typeface="Arial"/>
              <a:sym typeface="Arial"/>
            </a:endParaRPr>
          </a:p>
        </p:txBody>
      </p:sp>
      <p:sp>
        <p:nvSpPr>
          <p:cNvPr id="1736" name="Google Shape;1736;p146"/>
          <p:cNvSpPr txBox="1"/>
          <p:nvPr/>
        </p:nvSpPr>
        <p:spPr>
          <a:xfrm>
            <a:off x="1371600" y="51624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2</a:t>
            </a:r>
            <a:endParaRPr sz="1400" b="0" i="0" u="none" strike="noStrike" cap="none">
              <a:solidFill>
                <a:srgbClr val="000000"/>
              </a:solidFill>
              <a:latin typeface="Arial"/>
              <a:ea typeface="Arial"/>
              <a:cs typeface="Arial"/>
              <a:sym typeface="Arial"/>
            </a:endParaRPr>
          </a:p>
        </p:txBody>
      </p:sp>
      <p:sp>
        <p:nvSpPr>
          <p:cNvPr id="1737" name="Google Shape;1737;p146"/>
          <p:cNvSpPr txBox="1"/>
          <p:nvPr/>
        </p:nvSpPr>
        <p:spPr>
          <a:xfrm>
            <a:off x="203834" y="447669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738" name="Google Shape;1738;p146"/>
          <p:cNvSpPr txBox="1"/>
          <p:nvPr/>
        </p:nvSpPr>
        <p:spPr>
          <a:xfrm>
            <a:off x="2362200" y="51624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4</a:t>
            </a:r>
            <a:endParaRPr sz="1400" b="0" i="0" u="none" strike="noStrike" cap="none">
              <a:solidFill>
                <a:srgbClr val="000000"/>
              </a:solidFill>
              <a:latin typeface="Arial"/>
              <a:ea typeface="Arial"/>
              <a:cs typeface="Arial"/>
              <a:sym typeface="Arial"/>
            </a:endParaRPr>
          </a:p>
        </p:txBody>
      </p:sp>
      <p:sp>
        <p:nvSpPr>
          <p:cNvPr id="1739" name="Google Shape;1739;p146"/>
          <p:cNvSpPr txBox="1"/>
          <p:nvPr/>
        </p:nvSpPr>
        <p:spPr>
          <a:xfrm>
            <a:off x="6566048" y="51624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16</a:t>
            </a:r>
            <a:endParaRPr sz="1400" b="0" i="0" u="none" strike="noStrike" cap="none">
              <a:solidFill>
                <a:srgbClr val="000000"/>
              </a:solidFill>
              <a:latin typeface="Arial"/>
              <a:ea typeface="Arial"/>
              <a:cs typeface="Arial"/>
              <a:sym typeface="Arial"/>
            </a:endParaRPr>
          </a:p>
        </p:txBody>
      </p:sp>
      <p:cxnSp>
        <p:nvCxnSpPr>
          <p:cNvPr id="1740" name="Google Shape;1740;p146"/>
          <p:cNvCxnSpPr/>
          <p:nvPr/>
        </p:nvCxnSpPr>
        <p:spPr>
          <a:xfrm>
            <a:off x="4043455" y="4386590"/>
            <a:ext cx="0" cy="762000"/>
          </a:xfrm>
          <a:prstGeom prst="straightConnector1">
            <a:avLst/>
          </a:prstGeom>
          <a:noFill/>
          <a:ln w="9525" cap="flat" cmpd="sng">
            <a:solidFill>
              <a:schemeClr val="dk1"/>
            </a:solidFill>
            <a:prstDash val="solid"/>
            <a:round/>
            <a:headEnd type="none" w="sm" len="sm"/>
            <a:tailEnd type="none" w="sm" len="sm"/>
          </a:ln>
        </p:spPr>
      </p:cxnSp>
      <p:sp>
        <p:nvSpPr>
          <p:cNvPr id="1741" name="Google Shape;1741;p146"/>
          <p:cNvSpPr txBox="1"/>
          <p:nvPr/>
        </p:nvSpPr>
        <p:spPr>
          <a:xfrm>
            <a:off x="3876490" y="5162490"/>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9</a:t>
            </a:r>
            <a:endParaRPr sz="1400" b="0" i="0" u="none" strike="noStrike" cap="none">
              <a:solidFill>
                <a:srgbClr val="000000"/>
              </a:solidFill>
              <a:latin typeface="Arial"/>
              <a:ea typeface="Arial"/>
              <a:cs typeface="Arial"/>
              <a:sym typeface="Arial"/>
            </a:endParaRPr>
          </a:p>
        </p:txBody>
      </p:sp>
      <p:cxnSp>
        <p:nvCxnSpPr>
          <p:cNvPr id="1742" name="Google Shape;1742;p146"/>
          <p:cNvCxnSpPr/>
          <p:nvPr/>
        </p:nvCxnSpPr>
        <p:spPr>
          <a:xfrm>
            <a:off x="6781800" y="4386590"/>
            <a:ext cx="0" cy="762000"/>
          </a:xfrm>
          <a:prstGeom prst="straightConnector1">
            <a:avLst/>
          </a:prstGeom>
          <a:noFill/>
          <a:ln w="9525" cap="flat" cmpd="sng">
            <a:solidFill>
              <a:schemeClr val="dk1"/>
            </a:solidFill>
            <a:prstDash val="solid"/>
            <a:round/>
            <a:headEnd type="none" w="sm" len="sm"/>
            <a:tailEnd type="none" w="sm" len="sm"/>
          </a:ln>
        </p:spPr>
      </p:cxnSp>
      <p:cxnSp>
        <p:nvCxnSpPr>
          <p:cNvPr id="1743" name="Google Shape;1743;p146"/>
          <p:cNvCxnSpPr/>
          <p:nvPr/>
        </p:nvCxnSpPr>
        <p:spPr>
          <a:xfrm>
            <a:off x="8153400" y="4386590"/>
            <a:ext cx="0" cy="762000"/>
          </a:xfrm>
          <a:prstGeom prst="straightConnector1">
            <a:avLst/>
          </a:prstGeom>
          <a:noFill/>
          <a:ln w="9525" cap="flat" cmpd="sng">
            <a:solidFill>
              <a:schemeClr val="dk1"/>
            </a:solidFill>
            <a:prstDash val="solid"/>
            <a:round/>
            <a:headEnd type="none" w="sm" len="sm"/>
            <a:tailEnd type="none" w="sm" len="sm"/>
          </a:ln>
        </p:spPr>
      </p:cxnSp>
      <p:sp>
        <p:nvSpPr>
          <p:cNvPr id="1744" name="Google Shape;1744;p146"/>
          <p:cNvSpPr txBox="1"/>
          <p:nvPr/>
        </p:nvSpPr>
        <p:spPr>
          <a:xfrm>
            <a:off x="7937648" y="51624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18</a:t>
            </a:r>
            <a:endParaRPr sz="1400" b="0" i="0" u="none" strike="noStrike" cap="none">
              <a:solidFill>
                <a:srgbClr val="000000"/>
              </a:solidFill>
              <a:latin typeface="Arial"/>
              <a:ea typeface="Arial"/>
              <a:cs typeface="Arial"/>
              <a:sym typeface="Arial"/>
            </a:endParaRPr>
          </a:p>
        </p:txBody>
      </p:sp>
      <p:sp>
        <p:nvSpPr>
          <p:cNvPr id="1745" name="Google Shape;1745;p146"/>
          <p:cNvSpPr txBox="1"/>
          <p:nvPr/>
        </p:nvSpPr>
        <p:spPr>
          <a:xfrm>
            <a:off x="8775848" y="5162490"/>
            <a:ext cx="444352"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000000"/>
                </a:solidFill>
                <a:latin typeface="Calibri"/>
                <a:ea typeface="Calibri"/>
                <a:cs typeface="Calibri"/>
                <a:sym typeface="Calibri"/>
              </a:rPr>
              <a:t>19</a:t>
            </a:r>
            <a:endParaRPr sz="1400" b="0" i="0" u="none" strike="noStrike" cap="none">
              <a:solidFill>
                <a:srgbClr val="000000"/>
              </a:solidFill>
              <a:latin typeface="Arial"/>
              <a:ea typeface="Arial"/>
              <a:cs typeface="Arial"/>
              <a:sym typeface="Arial"/>
            </a:endParaRPr>
          </a:p>
        </p:txBody>
      </p:sp>
      <p:sp>
        <p:nvSpPr>
          <p:cNvPr id="1746" name="Google Shape;1746;p146"/>
          <p:cNvSpPr txBox="1"/>
          <p:nvPr/>
        </p:nvSpPr>
        <p:spPr>
          <a:xfrm>
            <a:off x="813434" y="45059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P2</a:t>
            </a:r>
            <a:endParaRPr sz="1400" b="0" i="0" u="none" strike="noStrike" cap="none">
              <a:solidFill>
                <a:srgbClr val="000000"/>
              </a:solidFill>
              <a:latin typeface="Arial"/>
              <a:ea typeface="Arial"/>
              <a:cs typeface="Arial"/>
              <a:sym typeface="Arial"/>
            </a:endParaRPr>
          </a:p>
        </p:txBody>
      </p:sp>
      <p:sp>
        <p:nvSpPr>
          <p:cNvPr id="1747" name="Google Shape;1747;p146"/>
          <p:cNvSpPr txBox="1"/>
          <p:nvPr/>
        </p:nvSpPr>
        <p:spPr>
          <a:xfrm>
            <a:off x="1727834" y="45059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748" name="Google Shape;1748;p146"/>
          <p:cNvSpPr txBox="1"/>
          <p:nvPr/>
        </p:nvSpPr>
        <p:spPr>
          <a:xfrm>
            <a:off x="2971800" y="45059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P5</a:t>
            </a:r>
            <a:endParaRPr sz="1400" b="0" i="0" u="none" strike="noStrike" cap="none">
              <a:solidFill>
                <a:srgbClr val="000000"/>
              </a:solidFill>
              <a:latin typeface="Arial"/>
              <a:ea typeface="Arial"/>
              <a:cs typeface="Arial"/>
              <a:sym typeface="Arial"/>
            </a:endParaRPr>
          </a:p>
        </p:txBody>
      </p:sp>
      <p:sp>
        <p:nvSpPr>
          <p:cNvPr id="1749" name="Google Shape;1749;p146"/>
          <p:cNvSpPr txBox="1"/>
          <p:nvPr/>
        </p:nvSpPr>
        <p:spPr>
          <a:xfrm>
            <a:off x="5080634" y="45059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P1</a:t>
            </a:r>
            <a:endParaRPr sz="1400" b="0" i="0" u="none" strike="noStrike" cap="none">
              <a:solidFill>
                <a:srgbClr val="000000"/>
              </a:solidFill>
              <a:latin typeface="Arial"/>
              <a:ea typeface="Arial"/>
              <a:cs typeface="Arial"/>
              <a:sym typeface="Arial"/>
            </a:endParaRPr>
          </a:p>
        </p:txBody>
      </p:sp>
      <p:sp>
        <p:nvSpPr>
          <p:cNvPr id="1750" name="Google Shape;1750;p146"/>
          <p:cNvSpPr txBox="1"/>
          <p:nvPr/>
        </p:nvSpPr>
        <p:spPr>
          <a:xfrm>
            <a:off x="7214234" y="450598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P3</a:t>
            </a:r>
            <a:endParaRPr sz="1400" b="0" i="0" u="none" strike="noStrike" cap="none">
              <a:solidFill>
                <a:srgbClr val="000000"/>
              </a:solidFill>
              <a:latin typeface="Arial"/>
              <a:ea typeface="Arial"/>
              <a:cs typeface="Arial"/>
              <a:sym typeface="Arial"/>
            </a:endParaRPr>
          </a:p>
        </p:txBody>
      </p:sp>
      <p:sp>
        <p:nvSpPr>
          <p:cNvPr id="1751" name="Google Shape;1751;p146"/>
          <p:cNvSpPr txBox="1"/>
          <p:nvPr/>
        </p:nvSpPr>
        <p:spPr>
          <a:xfrm>
            <a:off x="8305800" y="4495800"/>
            <a:ext cx="558166" cy="52322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fr-FR" sz="2800" b="1" i="0" u="none" strike="noStrike" cap="none">
                <a:solidFill>
                  <a:srgbClr val="C0504D"/>
                </a:solidFill>
                <a:latin typeface="Calibri"/>
                <a:ea typeface="Calibri"/>
                <a:cs typeface="Calibri"/>
                <a:sym typeface="Calibri"/>
              </a:rPr>
              <a:t>P4</a:t>
            </a:r>
            <a:endParaRPr sz="1400" b="0" i="0" u="none" strike="noStrike" cap="none">
              <a:solidFill>
                <a:srgbClr val="000000"/>
              </a:solidFill>
              <a:latin typeface="Arial"/>
              <a:ea typeface="Arial"/>
              <a:cs typeface="Arial"/>
              <a:sym typeface="Arial"/>
            </a:endParaRPr>
          </a:p>
        </p:txBody>
      </p:sp>
      <p:cxnSp>
        <p:nvCxnSpPr>
          <p:cNvPr id="1752" name="Google Shape;1752;p146"/>
          <p:cNvCxnSpPr/>
          <p:nvPr/>
        </p:nvCxnSpPr>
        <p:spPr>
          <a:xfrm>
            <a:off x="8991600" y="4419600"/>
            <a:ext cx="0" cy="762000"/>
          </a:xfrm>
          <a:prstGeom prst="straightConnector1">
            <a:avLst/>
          </a:prstGeom>
          <a:noFill/>
          <a:ln w="9525" cap="flat" cmpd="sng">
            <a:solidFill>
              <a:schemeClr val="dk1"/>
            </a:solidFill>
            <a:prstDash val="solid"/>
            <a:round/>
            <a:headEnd type="none" w="sm" len="sm"/>
            <a:tailEnd type="none" w="sm" len="sm"/>
          </a:ln>
        </p:spPr>
      </p:cxnSp>
      <p:sp>
        <p:nvSpPr>
          <p:cNvPr id="1753" name="Google Shape;1753;p146"/>
          <p:cNvSpPr txBox="1"/>
          <p:nvPr/>
        </p:nvSpPr>
        <p:spPr>
          <a:xfrm>
            <a:off x="1822944" y="2143035"/>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504D"/>
                </a:solidFill>
                <a:latin typeface="Calibri"/>
                <a:ea typeface="Calibri"/>
                <a:cs typeface="Calibri"/>
                <a:sym typeface="Calibri"/>
              </a:rPr>
              <a:t>9</a:t>
            </a:r>
            <a:endParaRPr sz="1400" b="0" i="0" u="none" strike="noStrike" cap="none">
              <a:solidFill>
                <a:srgbClr val="000000"/>
              </a:solidFill>
              <a:latin typeface="Arial"/>
              <a:ea typeface="Arial"/>
              <a:cs typeface="Arial"/>
              <a:sym typeface="Arial"/>
            </a:endParaRPr>
          </a:p>
        </p:txBody>
      </p:sp>
      <p:sp>
        <p:nvSpPr>
          <p:cNvPr id="1754" name="Google Shape;1754;p146"/>
          <p:cNvSpPr txBox="1"/>
          <p:nvPr/>
        </p:nvSpPr>
        <p:spPr>
          <a:xfrm>
            <a:off x="2209800" y="2143035"/>
            <a:ext cx="31451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fr-FR" sz="2000" b="1" i="0" u="none" strike="noStrike" cap="none">
                <a:solidFill>
                  <a:srgbClr val="C0504D"/>
                </a:solidFill>
                <a:latin typeface="Calibri"/>
                <a:ea typeface="Calibri"/>
                <a:cs typeface="Calibri"/>
                <a:sym typeface="Calibri"/>
              </a:rPr>
              <a:t>7</a:t>
            </a:r>
            <a:endParaRPr sz="1400" b="0" i="0" u="none" strike="noStrike" cap="none">
              <a:solidFill>
                <a:srgbClr val="000000"/>
              </a:solidFill>
              <a:latin typeface="Arial"/>
              <a:ea typeface="Arial"/>
              <a:cs typeface="Arial"/>
              <a:sym typeface="Arial"/>
            </a:endParaRPr>
          </a:p>
        </p:txBody>
      </p:sp>
      <p:cxnSp>
        <p:nvCxnSpPr>
          <p:cNvPr id="1755" name="Google Shape;1755;p146"/>
          <p:cNvCxnSpPr/>
          <p:nvPr/>
        </p:nvCxnSpPr>
        <p:spPr>
          <a:xfrm>
            <a:off x="457200" y="2343090"/>
            <a:ext cx="4343400" cy="0"/>
          </a:xfrm>
          <a:prstGeom prst="straightConnector1">
            <a:avLst/>
          </a:prstGeom>
          <a:noFill/>
          <a:ln w="19050" cap="flat" cmpd="sng">
            <a:solidFill>
              <a:srgbClr val="45A9C4"/>
            </a:solidFill>
            <a:prstDash val="solid"/>
            <a:round/>
            <a:headEnd type="none" w="sm" len="sm"/>
            <a:tailEnd type="none" w="sm" len="sm"/>
          </a:ln>
        </p:spPr>
      </p:cxnSp>
      <p:sp>
        <p:nvSpPr>
          <p:cNvPr id="1756" name="Google Shape;1756;p146"/>
          <p:cNvSpPr txBox="1"/>
          <p:nvPr/>
        </p:nvSpPr>
        <p:spPr>
          <a:xfrm>
            <a:off x="203834" y="4058959"/>
            <a:ext cx="9397366"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fr-FR" sz="1800" b="1" i="0" u="none" strike="noStrike" cap="none">
                <a:solidFill>
                  <a:srgbClr val="C00000"/>
                </a:solidFill>
                <a:latin typeface="Calibri"/>
                <a:ea typeface="Calibri"/>
                <a:cs typeface="Calibri"/>
                <a:sym typeface="Calibri"/>
              </a:rPr>
              <a:t>Le diagramme de Gantt avec un ordonnancement avec priorité préemptif est comme suit :</a:t>
            </a:r>
            <a:endParaRPr sz="1400" b="0" i="0" u="none" strike="noStrike" cap="none">
              <a:solidFill>
                <a:srgbClr val="000000"/>
              </a:solidFill>
              <a:latin typeface="Arial"/>
              <a:ea typeface="Arial"/>
              <a:cs typeface="Arial"/>
              <a:sym typeface="Arial"/>
            </a:endParaRPr>
          </a:p>
        </p:txBody>
      </p:sp>
      <p:sp>
        <p:nvSpPr>
          <p:cNvPr id="1757" name="Google Shape;1757;p1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fr-FR">
                <a:solidFill>
                  <a:srgbClr val="888888"/>
                </a:solidFill>
              </a:rPr>
              <a:t>63</a:t>
            </a:fld>
            <a:endParaRPr>
              <a:solidFill>
                <a:srgbClr val="888888"/>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30"/>
                                        </p:tgtEl>
                                        <p:attrNameLst>
                                          <p:attrName>style.visibility</p:attrName>
                                        </p:attrNameLst>
                                      </p:cBhvr>
                                      <p:to>
                                        <p:strVal val="visible"/>
                                      </p:to>
                                    </p:set>
                                    <p:animEffect transition="in" filter="fade">
                                      <p:cBhvr>
                                        <p:cTn id="7" dur="500"/>
                                        <p:tgtEl>
                                          <p:spTgt spid="1730"/>
                                        </p:tgtEl>
                                      </p:cBhvr>
                                    </p:animEffect>
                                  </p:childTnLst>
                                </p:cTn>
                              </p:par>
                              <p:par>
                                <p:cTn id="8" presetID="10" presetClass="entr" presetSubtype="0" fill="hold" nodeType="withEffect">
                                  <p:stCondLst>
                                    <p:cond delay="0"/>
                                  </p:stCondLst>
                                  <p:childTnLst>
                                    <p:set>
                                      <p:cBhvr>
                                        <p:cTn id="9" dur="1" fill="hold">
                                          <p:stCondLst>
                                            <p:cond delay="0"/>
                                          </p:stCondLst>
                                        </p:cTn>
                                        <p:tgtEl>
                                          <p:spTgt spid="1731"/>
                                        </p:tgtEl>
                                        <p:attrNameLst>
                                          <p:attrName>style.visibility</p:attrName>
                                        </p:attrNameLst>
                                      </p:cBhvr>
                                      <p:to>
                                        <p:strVal val="visible"/>
                                      </p:to>
                                    </p:set>
                                    <p:animEffect transition="in" filter="fade">
                                      <p:cBhvr>
                                        <p:cTn id="10" dur="500"/>
                                        <p:tgtEl>
                                          <p:spTgt spid="1731"/>
                                        </p:tgtEl>
                                      </p:cBhvr>
                                    </p:animEffect>
                                  </p:childTnLst>
                                </p:cTn>
                              </p:par>
                              <p:par>
                                <p:cTn id="11" presetID="10" presetClass="entr" presetSubtype="0" fill="hold" nodeType="withEffect">
                                  <p:stCondLst>
                                    <p:cond delay="0"/>
                                  </p:stCondLst>
                                  <p:childTnLst>
                                    <p:set>
                                      <p:cBhvr>
                                        <p:cTn id="12" dur="1" fill="hold">
                                          <p:stCondLst>
                                            <p:cond delay="0"/>
                                          </p:stCondLst>
                                        </p:cTn>
                                        <p:tgtEl>
                                          <p:spTgt spid="1732"/>
                                        </p:tgtEl>
                                        <p:attrNameLst>
                                          <p:attrName>style.visibility</p:attrName>
                                        </p:attrNameLst>
                                      </p:cBhvr>
                                      <p:to>
                                        <p:strVal val="visible"/>
                                      </p:to>
                                    </p:set>
                                    <p:animEffect transition="in" filter="fade">
                                      <p:cBhvr>
                                        <p:cTn id="13" dur="500"/>
                                        <p:tgtEl>
                                          <p:spTgt spid="1732"/>
                                        </p:tgtEl>
                                      </p:cBhvr>
                                    </p:animEffect>
                                  </p:childTnLst>
                                </p:cTn>
                              </p:par>
                              <p:par>
                                <p:cTn id="14" presetID="10" presetClass="entr" presetSubtype="0" fill="hold" nodeType="withEffect">
                                  <p:stCondLst>
                                    <p:cond delay="0"/>
                                  </p:stCondLst>
                                  <p:childTnLst>
                                    <p:set>
                                      <p:cBhvr>
                                        <p:cTn id="15" dur="1" fill="hold">
                                          <p:stCondLst>
                                            <p:cond delay="0"/>
                                          </p:stCondLst>
                                        </p:cTn>
                                        <p:tgtEl>
                                          <p:spTgt spid="1733"/>
                                        </p:tgtEl>
                                        <p:attrNameLst>
                                          <p:attrName>style.visibility</p:attrName>
                                        </p:attrNameLst>
                                      </p:cBhvr>
                                      <p:to>
                                        <p:strVal val="visible"/>
                                      </p:to>
                                    </p:set>
                                    <p:animEffect transition="in" filter="fade">
                                      <p:cBhvr>
                                        <p:cTn id="16" dur="500"/>
                                        <p:tgtEl>
                                          <p:spTgt spid="1733"/>
                                        </p:tgtEl>
                                      </p:cBhvr>
                                    </p:animEffect>
                                  </p:childTnLst>
                                </p:cTn>
                              </p:par>
                              <p:par>
                                <p:cTn id="17" presetID="10" presetClass="entr" presetSubtype="0" fill="hold" nodeType="withEffect">
                                  <p:stCondLst>
                                    <p:cond delay="0"/>
                                  </p:stCondLst>
                                  <p:childTnLst>
                                    <p:set>
                                      <p:cBhvr>
                                        <p:cTn id="18" dur="1" fill="hold">
                                          <p:stCondLst>
                                            <p:cond delay="0"/>
                                          </p:stCondLst>
                                        </p:cTn>
                                        <p:tgtEl>
                                          <p:spTgt spid="1740"/>
                                        </p:tgtEl>
                                        <p:attrNameLst>
                                          <p:attrName>style.visibility</p:attrName>
                                        </p:attrNameLst>
                                      </p:cBhvr>
                                      <p:to>
                                        <p:strVal val="visible"/>
                                      </p:to>
                                    </p:set>
                                    <p:animEffect transition="in" filter="fade">
                                      <p:cBhvr>
                                        <p:cTn id="19" dur="500"/>
                                        <p:tgtEl>
                                          <p:spTgt spid="1740"/>
                                        </p:tgtEl>
                                      </p:cBhvr>
                                    </p:animEffect>
                                  </p:childTnLst>
                                </p:cTn>
                              </p:par>
                              <p:par>
                                <p:cTn id="20" presetID="10" presetClass="entr" presetSubtype="0" fill="hold" nodeType="withEffect">
                                  <p:stCondLst>
                                    <p:cond delay="0"/>
                                  </p:stCondLst>
                                  <p:childTnLst>
                                    <p:set>
                                      <p:cBhvr>
                                        <p:cTn id="21" dur="1" fill="hold">
                                          <p:stCondLst>
                                            <p:cond delay="0"/>
                                          </p:stCondLst>
                                        </p:cTn>
                                        <p:tgtEl>
                                          <p:spTgt spid="1742"/>
                                        </p:tgtEl>
                                        <p:attrNameLst>
                                          <p:attrName>style.visibility</p:attrName>
                                        </p:attrNameLst>
                                      </p:cBhvr>
                                      <p:to>
                                        <p:strVal val="visible"/>
                                      </p:to>
                                    </p:set>
                                    <p:animEffect transition="in" filter="fade">
                                      <p:cBhvr>
                                        <p:cTn id="22" dur="500"/>
                                        <p:tgtEl>
                                          <p:spTgt spid="1742"/>
                                        </p:tgtEl>
                                      </p:cBhvr>
                                    </p:animEffect>
                                  </p:childTnLst>
                                </p:cTn>
                              </p:par>
                              <p:par>
                                <p:cTn id="23" presetID="10" presetClass="entr" presetSubtype="0" fill="hold" nodeType="withEffect">
                                  <p:stCondLst>
                                    <p:cond delay="0"/>
                                  </p:stCondLst>
                                  <p:childTnLst>
                                    <p:set>
                                      <p:cBhvr>
                                        <p:cTn id="24" dur="1" fill="hold">
                                          <p:stCondLst>
                                            <p:cond delay="0"/>
                                          </p:stCondLst>
                                        </p:cTn>
                                        <p:tgtEl>
                                          <p:spTgt spid="1743"/>
                                        </p:tgtEl>
                                        <p:attrNameLst>
                                          <p:attrName>style.visibility</p:attrName>
                                        </p:attrNameLst>
                                      </p:cBhvr>
                                      <p:to>
                                        <p:strVal val="visible"/>
                                      </p:to>
                                    </p:set>
                                    <p:animEffect transition="in" filter="fade">
                                      <p:cBhvr>
                                        <p:cTn id="25" dur="500"/>
                                        <p:tgtEl>
                                          <p:spTgt spid="1743"/>
                                        </p:tgtEl>
                                      </p:cBhvr>
                                    </p:animEffect>
                                  </p:childTnLst>
                                </p:cTn>
                              </p:par>
                              <p:par>
                                <p:cTn id="26" presetID="10" presetClass="entr" presetSubtype="0" fill="hold" nodeType="withEffect">
                                  <p:stCondLst>
                                    <p:cond delay="0"/>
                                  </p:stCondLst>
                                  <p:childTnLst>
                                    <p:set>
                                      <p:cBhvr>
                                        <p:cTn id="27" dur="1" fill="hold">
                                          <p:stCondLst>
                                            <p:cond delay="0"/>
                                          </p:stCondLst>
                                        </p:cTn>
                                        <p:tgtEl>
                                          <p:spTgt spid="1752"/>
                                        </p:tgtEl>
                                        <p:attrNameLst>
                                          <p:attrName>style.visibility</p:attrName>
                                        </p:attrNameLst>
                                      </p:cBhvr>
                                      <p:to>
                                        <p:strVal val="visible"/>
                                      </p:to>
                                    </p:set>
                                    <p:animEffect transition="in" filter="fade">
                                      <p:cBhvr>
                                        <p:cTn id="28" dur="500"/>
                                        <p:tgtEl>
                                          <p:spTgt spid="1752"/>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734"/>
                                        </p:tgtEl>
                                        <p:attrNameLst>
                                          <p:attrName>style.visibility</p:attrName>
                                        </p:attrNameLst>
                                      </p:cBhvr>
                                      <p:to>
                                        <p:strVal val="visible"/>
                                      </p:to>
                                    </p:set>
                                    <p:animEffect transition="in" filter="fade">
                                      <p:cBhvr>
                                        <p:cTn id="33" dur="1000"/>
                                        <p:tgtEl>
                                          <p:spTgt spid="173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737"/>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1735"/>
                                        </p:tgtEl>
                                        <p:attrNameLst>
                                          <p:attrName>style.visibility</p:attrName>
                                        </p:attrNameLst>
                                      </p:cBhvr>
                                      <p:to>
                                        <p:strVal val="visible"/>
                                      </p:to>
                                    </p:set>
                                    <p:animEffect transition="in" filter="fade">
                                      <p:cBhvr>
                                        <p:cTn id="42" dur="1000"/>
                                        <p:tgtEl>
                                          <p:spTgt spid="1735"/>
                                        </p:tgtEl>
                                      </p:cBhvr>
                                    </p:animEffec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1753"/>
                                        </p:tgtEl>
                                        <p:attrNameLst>
                                          <p:attrName>style.visibility</p:attrName>
                                        </p:attrNameLst>
                                      </p:cBhvr>
                                      <p:to>
                                        <p:strVal val="visible"/>
                                      </p:to>
                                    </p:set>
                                    <p:anim calcmode="lin" valueType="num">
                                      <p:cBhvr additive="base">
                                        <p:cTn id="47" dur="500"/>
                                        <p:tgtEl>
                                          <p:spTgt spid="1753"/>
                                        </p:tgtEl>
                                        <p:attrNameLst>
                                          <p:attrName>ppt_y</p:attrName>
                                        </p:attrNameLst>
                                      </p:cBhvr>
                                      <p:tavLst>
                                        <p:tav tm="0">
                                          <p:val>
                                            <p:strVal val="#ppt_y+1"/>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174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736"/>
                                        </p:tgtEl>
                                        <p:attrNameLst>
                                          <p:attrName>style.visibility</p:attrName>
                                        </p:attrNameLst>
                                      </p:cBhvr>
                                      <p:to>
                                        <p:strVal val="visible"/>
                                      </p:to>
                                    </p:set>
                                    <p:animEffect transition="in" filter="fade">
                                      <p:cBhvr>
                                        <p:cTn id="56" dur="1000"/>
                                        <p:tgtEl>
                                          <p:spTgt spid="1736"/>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1747"/>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1738"/>
                                        </p:tgtEl>
                                        <p:attrNameLst>
                                          <p:attrName>style.visibility</p:attrName>
                                        </p:attrNameLst>
                                      </p:cBhvr>
                                      <p:to>
                                        <p:strVal val="visible"/>
                                      </p:to>
                                    </p:set>
                                    <p:animEffect transition="in" filter="fade">
                                      <p:cBhvr>
                                        <p:cTn id="65" dur="1000"/>
                                        <p:tgtEl>
                                          <p:spTgt spid="1738"/>
                                        </p:tgtEl>
                                      </p:cBhvr>
                                    </p:animEffect>
                                  </p:childTnLst>
                                </p:cTn>
                              </p:par>
                            </p:childTnLst>
                          </p:cTn>
                        </p:par>
                      </p:childTnLst>
                    </p:cTn>
                  </p:par>
                  <p:par>
                    <p:cTn id="66" fill="hold">
                      <p:stCondLst>
                        <p:cond delay="indefinite"/>
                      </p:stCondLst>
                      <p:childTnLst>
                        <p:par>
                          <p:cTn id="67" fill="hold">
                            <p:stCondLst>
                              <p:cond delay="0"/>
                            </p:stCondLst>
                            <p:childTnLst>
                              <p:par>
                                <p:cTn id="68" presetID="2" presetClass="entr" presetSubtype="4" fill="hold" nodeType="clickEffect">
                                  <p:stCondLst>
                                    <p:cond delay="0"/>
                                  </p:stCondLst>
                                  <p:childTnLst>
                                    <p:set>
                                      <p:cBhvr>
                                        <p:cTn id="69" dur="1" fill="hold">
                                          <p:stCondLst>
                                            <p:cond delay="0"/>
                                          </p:stCondLst>
                                        </p:cTn>
                                        <p:tgtEl>
                                          <p:spTgt spid="1754"/>
                                        </p:tgtEl>
                                        <p:attrNameLst>
                                          <p:attrName>style.visibility</p:attrName>
                                        </p:attrNameLst>
                                      </p:cBhvr>
                                      <p:to>
                                        <p:strVal val="visible"/>
                                      </p:to>
                                    </p:set>
                                    <p:anim calcmode="lin" valueType="num">
                                      <p:cBhvr additive="base">
                                        <p:cTn id="70" dur="500"/>
                                        <p:tgtEl>
                                          <p:spTgt spid="1754"/>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1748"/>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set>
                                      <p:cBhvr>
                                        <p:cTn id="78" dur="1" fill="hold">
                                          <p:stCondLst>
                                            <p:cond delay="0"/>
                                          </p:stCondLst>
                                        </p:cTn>
                                        <p:tgtEl>
                                          <p:spTgt spid="1741"/>
                                        </p:tgtEl>
                                        <p:attrNameLst>
                                          <p:attrName>style.visibility</p:attrName>
                                        </p:attrNameLst>
                                      </p:cBhvr>
                                      <p:to>
                                        <p:strVal val="visible"/>
                                      </p:to>
                                    </p:set>
                                    <p:animEffect transition="in" filter="fade">
                                      <p:cBhvr>
                                        <p:cTn id="79" dur="1000"/>
                                        <p:tgtEl>
                                          <p:spTgt spid="1741"/>
                                        </p:tgtEl>
                                      </p:cBhvr>
                                    </p:animEffect>
                                  </p:childTnLst>
                                </p:cTn>
                              </p:par>
                            </p:childTnLst>
                          </p:cTn>
                        </p:par>
                      </p:childTnLst>
                    </p:cTn>
                  </p:par>
                  <p:par>
                    <p:cTn id="80" fill="hold">
                      <p:stCondLst>
                        <p:cond delay="indefinite"/>
                      </p:stCondLst>
                      <p:childTnLst>
                        <p:par>
                          <p:cTn id="81" fill="hold">
                            <p:stCondLst>
                              <p:cond delay="0"/>
                            </p:stCondLst>
                            <p:childTnLst>
                              <p:par>
                                <p:cTn id="82" presetID="1" presetClass="entr" presetSubtype="0" fill="hold" nodeType="clickEffect">
                                  <p:stCondLst>
                                    <p:cond delay="0"/>
                                  </p:stCondLst>
                                  <p:childTnLst>
                                    <p:set>
                                      <p:cBhvr>
                                        <p:cTn id="83" dur="1" fill="hold">
                                          <p:stCondLst>
                                            <p:cond delay="0"/>
                                          </p:stCondLst>
                                        </p:cTn>
                                        <p:tgtEl>
                                          <p:spTgt spid="1749"/>
                                        </p:tgtEl>
                                        <p:attrNameLst>
                                          <p:attrName>style.visibility</p:attrName>
                                        </p:attrNameLst>
                                      </p:cBhvr>
                                      <p:to>
                                        <p:strVal val="visible"/>
                                      </p:to>
                                    </p:set>
                                  </p:childTnLst>
                                </p:cTn>
                              </p:par>
                            </p:childTnLst>
                          </p:cTn>
                        </p:par>
                      </p:childTnLst>
                    </p:cTn>
                  </p:par>
                  <p:par>
                    <p:cTn id="84" fill="hold">
                      <p:stCondLst>
                        <p:cond delay="indefinite"/>
                      </p:stCondLst>
                      <p:childTnLst>
                        <p:par>
                          <p:cTn id="85" fill="hold">
                            <p:stCondLst>
                              <p:cond delay="0"/>
                            </p:stCondLst>
                            <p:childTnLst>
                              <p:par>
                                <p:cTn id="86" presetID="10" presetClass="entr" presetSubtype="0" fill="hold" nodeType="clickEffect">
                                  <p:stCondLst>
                                    <p:cond delay="0"/>
                                  </p:stCondLst>
                                  <p:childTnLst>
                                    <p:set>
                                      <p:cBhvr>
                                        <p:cTn id="87" dur="1" fill="hold">
                                          <p:stCondLst>
                                            <p:cond delay="0"/>
                                          </p:stCondLst>
                                        </p:cTn>
                                        <p:tgtEl>
                                          <p:spTgt spid="1739"/>
                                        </p:tgtEl>
                                        <p:attrNameLst>
                                          <p:attrName>style.visibility</p:attrName>
                                        </p:attrNameLst>
                                      </p:cBhvr>
                                      <p:to>
                                        <p:strVal val="visible"/>
                                      </p:to>
                                    </p:set>
                                    <p:animEffect transition="in" filter="fade">
                                      <p:cBhvr>
                                        <p:cTn id="88" dur="1000"/>
                                        <p:tgtEl>
                                          <p:spTgt spid="1739"/>
                                        </p:tgtEl>
                                      </p:cBhvr>
                                    </p:animEffect>
                                  </p:childTnLst>
                                </p:cTn>
                              </p:par>
                            </p:childTnLst>
                          </p:cTn>
                        </p:par>
                      </p:childTnLst>
                    </p:cTn>
                  </p:par>
                  <p:par>
                    <p:cTn id="89" fill="hold">
                      <p:stCondLst>
                        <p:cond delay="indefinite"/>
                      </p:stCondLst>
                      <p:childTnLst>
                        <p:par>
                          <p:cTn id="90" fill="hold">
                            <p:stCondLst>
                              <p:cond delay="0"/>
                            </p:stCondLst>
                            <p:childTnLst>
                              <p:par>
                                <p:cTn id="91" presetID="2" presetClass="entr" presetSubtype="4" fill="hold" nodeType="clickEffect">
                                  <p:stCondLst>
                                    <p:cond delay="0"/>
                                  </p:stCondLst>
                                  <p:childTnLst>
                                    <p:set>
                                      <p:cBhvr>
                                        <p:cTn id="92" dur="1" fill="hold">
                                          <p:stCondLst>
                                            <p:cond delay="0"/>
                                          </p:stCondLst>
                                        </p:cTn>
                                        <p:tgtEl>
                                          <p:spTgt spid="1755"/>
                                        </p:tgtEl>
                                        <p:attrNameLst>
                                          <p:attrName>style.visibility</p:attrName>
                                        </p:attrNameLst>
                                      </p:cBhvr>
                                      <p:to>
                                        <p:strVal val="visible"/>
                                      </p:to>
                                    </p:set>
                                    <p:anim calcmode="lin" valueType="num">
                                      <p:cBhvr additive="base">
                                        <p:cTn id="93" dur="500"/>
                                        <p:tgtEl>
                                          <p:spTgt spid="1755"/>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1750"/>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0" presetClass="entr" presetSubtype="0" fill="hold" nodeType="clickEffect">
                                  <p:stCondLst>
                                    <p:cond delay="0"/>
                                  </p:stCondLst>
                                  <p:childTnLst>
                                    <p:set>
                                      <p:cBhvr>
                                        <p:cTn id="101" dur="1" fill="hold">
                                          <p:stCondLst>
                                            <p:cond delay="0"/>
                                          </p:stCondLst>
                                        </p:cTn>
                                        <p:tgtEl>
                                          <p:spTgt spid="1744"/>
                                        </p:tgtEl>
                                        <p:attrNameLst>
                                          <p:attrName>style.visibility</p:attrName>
                                        </p:attrNameLst>
                                      </p:cBhvr>
                                      <p:to>
                                        <p:strVal val="visible"/>
                                      </p:to>
                                    </p:set>
                                    <p:animEffect transition="in" filter="fade">
                                      <p:cBhvr>
                                        <p:cTn id="102" dur="1000"/>
                                        <p:tgtEl>
                                          <p:spTgt spid="1744"/>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1751"/>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nodeType="clickEffect">
                                  <p:stCondLst>
                                    <p:cond delay="0"/>
                                  </p:stCondLst>
                                  <p:childTnLst>
                                    <p:set>
                                      <p:cBhvr>
                                        <p:cTn id="110" dur="1" fill="hold">
                                          <p:stCondLst>
                                            <p:cond delay="0"/>
                                          </p:stCondLst>
                                        </p:cTn>
                                        <p:tgtEl>
                                          <p:spTgt spid="1745"/>
                                        </p:tgtEl>
                                        <p:attrNameLst>
                                          <p:attrName>style.visibility</p:attrName>
                                        </p:attrNameLst>
                                      </p:cBhvr>
                                      <p:to>
                                        <p:strVal val="visible"/>
                                      </p:to>
                                    </p:set>
                                    <p:animEffect transition="in" filter="fade">
                                      <p:cBhvr>
                                        <p:cTn id="111" dur="1000"/>
                                        <p:tgtEl>
                                          <p:spTgt spid="1745"/>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nodeType="clickEffect">
                                  <p:stCondLst>
                                    <p:cond delay="0"/>
                                  </p:stCondLst>
                                  <p:childTnLst>
                                    <p:set>
                                      <p:cBhvr>
                                        <p:cTn id="115" dur="1" fill="hold">
                                          <p:stCondLst>
                                            <p:cond delay="0"/>
                                          </p:stCondLst>
                                        </p:cTn>
                                        <p:tgtEl>
                                          <p:spTgt spid="1722"/>
                                        </p:tgtEl>
                                        <p:attrNameLst>
                                          <p:attrName>style.visibility</p:attrName>
                                        </p:attrNameLst>
                                      </p:cBhvr>
                                      <p:to>
                                        <p:strVal val="visible"/>
                                      </p:to>
                                    </p:set>
                                    <p:animEffect transition="in" filter="fade">
                                      <p:cBhvr>
                                        <p:cTn id="116" dur="1000"/>
                                        <p:tgtEl>
                                          <p:spTgt spid="1722"/>
                                        </p:tgtEl>
                                      </p:cBhvr>
                                    </p:animEffect>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nodeType="clickEffect">
                                  <p:stCondLst>
                                    <p:cond delay="0"/>
                                  </p:stCondLst>
                                  <p:childTnLst>
                                    <p:set>
                                      <p:cBhvr>
                                        <p:cTn id="120" dur="1" fill="hold">
                                          <p:stCondLst>
                                            <p:cond delay="0"/>
                                          </p:stCondLst>
                                        </p:cTn>
                                        <p:tgtEl>
                                          <p:spTgt spid="1723"/>
                                        </p:tgtEl>
                                        <p:attrNameLst>
                                          <p:attrName>style.visibility</p:attrName>
                                        </p:attrNameLst>
                                      </p:cBhvr>
                                      <p:to>
                                        <p:strVal val="visible"/>
                                      </p:to>
                                    </p:set>
                                    <p:anim calcmode="lin" valueType="num">
                                      <p:cBhvr additive="base">
                                        <p:cTn id="121" dur="500"/>
                                        <p:tgtEl>
                                          <p:spTgt spid="1723"/>
                                        </p:tgtEl>
                                        <p:attrNameLst>
                                          <p:attrName>ppt_y</p:attrName>
                                        </p:attrNameLst>
                                      </p:cBhvr>
                                      <p:tavLst>
                                        <p:tav tm="0">
                                          <p:val>
                                            <p:strVal val="#ppt_y+1"/>
                                          </p:val>
                                        </p:tav>
                                        <p:tav tm="100000">
                                          <p:val>
                                            <p:strVal val="#ppt_y"/>
                                          </p:val>
                                        </p:tav>
                                      </p:tavLst>
                                    </p:anim>
                                  </p:childTnLst>
                                </p:cTn>
                              </p:par>
                            </p:childTnLst>
                          </p:cTn>
                        </p:par>
                      </p:childTnLst>
                    </p:cTn>
                  </p:par>
                  <p:par>
                    <p:cTn id="122" fill="hold">
                      <p:stCondLst>
                        <p:cond delay="indefinite"/>
                      </p:stCondLst>
                      <p:childTnLst>
                        <p:par>
                          <p:cTn id="123" fill="hold">
                            <p:stCondLst>
                              <p:cond delay="0"/>
                            </p:stCondLst>
                            <p:childTnLst>
                              <p:par>
                                <p:cTn id="124" presetID="2" presetClass="entr" presetSubtype="4" fill="hold" nodeType="clickEffect">
                                  <p:stCondLst>
                                    <p:cond delay="0"/>
                                  </p:stCondLst>
                                  <p:childTnLst>
                                    <p:set>
                                      <p:cBhvr>
                                        <p:cTn id="125" dur="1" fill="hold">
                                          <p:stCondLst>
                                            <p:cond delay="0"/>
                                          </p:stCondLst>
                                        </p:cTn>
                                        <p:tgtEl>
                                          <p:spTgt spid="1724"/>
                                        </p:tgtEl>
                                        <p:attrNameLst>
                                          <p:attrName>style.visibility</p:attrName>
                                        </p:attrNameLst>
                                      </p:cBhvr>
                                      <p:to>
                                        <p:strVal val="visible"/>
                                      </p:to>
                                    </p:set>
                                    <p:anim calcmode="lin" valueType="num">
                                      <p:cBhvr additive="base">
                                        <p:cTn id="126" dur="500"/>
                                        <p:tgtEl>
                                          <p:spTgt spid="1724"/>
                                        </p:tgtEl>
                                        <p:attrNameLst>
                                          <p:attrName>ppt_y</p:attrName>
                                        </p:attrNameLst>
                                      </p:cBhvr>
                                      <p:tavLst>
                                        <p:tav tm="0">
                                          <p:val>
                                            <p:strVal val="#ppt_y+1"/>
                                          </p:val>
                                        </p:tav>
                                        <p:tav tm="100000">
                                          <p:val>
                                            <p:strVal val="#ppt_y"/>
                                          </p:val>
                                        </p:tav>
                                      </p:tavLst>
                                    </p:anim>
                                  </p:childTnLst>
                                </p:cTn>
                              </p:par>
                            </p:childTnLst>
                          </p:cTn>
                        </p:par>
                      </p:childTnLst>
                    </p:cTn>
                  </p:par>
                  <p:par>
                    <p:cTn id="127" fill="hold">
                      <p:stCondLst>
                        <p:cond delay="indefinite"/>
                      </p:stCondLst>
                      <p:childTnLst>
                        <p:par>
                          <p:cTn id="128" fill="hold">
                            <p:stCondLst>
                              <p:cond delay="0"/>
                            </p:stCondLst>
                            <p:childTnLst>
                              <p:par>
                                <p:cTn id="129" presetID="2" presetClass="entr" presetSubtype="4" fill="hold" nodeType="clickEffect">
                                  <p:stCondLst>
                                    <p:cond delay="0"/>
                                  </p:stCondLst>
                                  <p:childTnLst>
                                    <p:set>
                                      <p:cBhvr>
                                        <p:cTn id="130" dur="1" fill="hold">
                                          <p:stCondLst>
                                            <p:cond delay="0"/>
                                          </p:stCondLst>
                                        </p:cTn>
                                        <p:tgtEl>
                                          <p:spTgt spid="1725"/>
                                        </p:tgtEl>
                                        <p:attrNameLst>
                                          <p:attrName>style.visibility</p:attrName>
                                        </p:attrNameLst>
                                      </p:cBhvr>
                                      <p:to>
                                        <p:strVal val="visible"/>
                                      </p:to>
                                    </p:set>
                                    <p:anim calcmode="lin" valueType="num">
                                      <p:cBhvr additive="base">
                                        <p:cTn id="131" dur="500"/>
                                        <p:tgtEl>
                                          <p:spTgt spid="1725"/>
                                        </p:tgtEl>
                                        <p:attrNameLst>
                                          <p:attrName>ppt_y</p:attrName>
                                        </p:attrNameLst>
                                      </p:cBhvr>
                                      <p:tavLst>
                                        <p:tav tm="0">
                                          <p:val>
                                            <p:strVal val="#ppt_y+1"/>
                                          </p:val>
                                        </p:tav>
                                        <p:tav tm="100000">
                                          <p:val>
                                            <p:strVal val="#ppt_y"/>
                                          </p:val>
                                        </p:tav>
                                      </p:tavLst>
                                    </p:anim>
                                  </p:childTnLst>
                                </p:cTn>
                              </p:par>
                            </p:childTnLst>
                          </p:cTn>
                        </p:par>
                      </p:childTnLst>
                    </p:cTn>
                  </p:par>
                  <p:par>
                    <p:cTn id="132" fill="hold">
                      <p:stCondLst>
                        <p:cond delay="indefinite"/>
                      </p:stCondLst>
                      <p:childTnLst>
                        <p:par>
                          <p:cTn id="133" fill="hold">
                            <p:stCondLst>
                              <p:cond delay="0"/>
                            </p:stCondLst>
                            <p:childTnLst>
                              <p:par>
                                <p:cTn id="134" presetID="2" presetClass="entr" presetSubtype="4" fill="hold" nodeType="clickEffect">
                                  <p:stCondLst>
                                    <p:cond delay="0"/>
                                  </p:stCondLst>
                                  <p:childTnLst>
                                    <p:set>
                                      <p:cBhvr>
                                        <p:cTn id="135" dur="1" fill="hold">
                                          <p:stCondLst>
                                            <p:cond delay="0"/>
                                          </p:stCondLst>
                                        </p:cTn>
                                        <p:tgtEl>
                                          <p:spTgt spid="1726"/>
                                        </p:tgtEl>
                                        <p:attrNameLst>
                                          <p:attrName>style.visibility</p:attrName>
                                        </p:attrNameLst>
                                      </p:cBhvr>
                                      <p:to>
                                        <p:strVal val="visible"/>
                                      </p:to>
                                    </p:set>
                                    <p:anim calcmode="lin" valueType="num">
                                      <p:cBhvr additive="base">
                                        <p:cTn id="136" dur="500"/>
                                        <p:tgtEl>
                                          <p:spTgt spid="1726"/>
                                        </p:tgtEl>
                                        <p:attrNameLst>
                                          <p:attrName>ppt_y</p:attrName>
                                        </p:attrNameLst>
                                      </p:cBhvr>
                                      <p:tavLst>
                                        <p:tav tm="0">
                                          <p:val>
                                            <p:strVal val="#ppt_y+1"/>
                                          </p:val>
                                        </p:tav>
                                        <p:tav tm="100000">
                                          <p:val>
                                            <p:strVal val="#ppt_y"/>
                                          </p:val>
                                        </p:tav>
                                      </p:tavLst>
                                    </p:anim>
                                  </p:childTnLst>
                                </p:cTn>
                              </p:par>
                            </p:childTnLst>
                          </p:cTn>
                        </p:par>
                      </p:childTnLst>
                    </p:cTn>
                  </p:par>
                  <p:par>
                    <p:cTn id="137" fill="hold">
                      <p:stCondLst>
                        <p:cond delay="indefinite"/>
                      </p:stCondLst>
                      <p:childTnLst>
                        <p:par>
                          <p:cTn id="138" fill="hold">
                            <p:stCondLst>
                              <p:cond delay="0"/>
                            </p:stCondLst>
                            <p:childTnLst>
                              <p:par>
                                <p:cTn id="139" presetID="2" presetClass="entr" presetSubtype="4" fill="hold" nodeType="clickEffect">
                                  <p:stCondLst>
                                    <p:cond delay="0"/>
                                  </p:stCondLst>
                                  <p:childTnLst>
                                    <p:set>
                                      <p:cBhvr>
                                        <p:cTn id="140" dur="1" fill="hold">
                                          <p:stCondLst>
                                            <p:cond delay="0"/>
                                          </p:stCondLst>
                                        </p:cTn>
                                        <p:tgtEl>
                                          <p:spTgt spid="1728"/>
                                        </p:tgtEl>
                                        <p:attrNameLst>
                                          <p:attrName>style.visibility</p:attrName>
                                        </p:attrNameLst>
                                      </p:cBhvr>
                                      <p:to>
                                        <p:strVal val="visible"/>
                                      </p:to>
                                    </p:set>
                                    <p:anim calcmode="lin" valueType="num">
                                      <p:cBhvr additive="base">
                                        <p:cTn id="141" dur="500"/>
                                        <p:tgtEl>
                                          <p:spTgt spid="1728"/>
                                        </p:tgtEl>
                                        <p:attrNameLst>
                                          <p:attrName>ppt_y</p:attrName>
                                        </p:attrNameLst>
                                      </p:cBhvr>
                                      <p:tavLst>
                                        <p:tav tm="0">
                                          <p:val>
                                            <p:strVal val="#ppt_y+1"/>
                                          </p:val>
                                        </p:tav>
                                        <p:tav tm="100000">
                                          <p:val>
                                            <p:strVal val="#ppt_y"/>
                                          </p:val>
                                        </p:tav>
                                      </p:tavLst>
                                    </p:anim>
                                  </p:childTnLst>
                                </p:cTn>
                              </p:par>
                            </p:childTnLst>
                          </p:cTn>
                        </p:par>
                      </p:childTnLst>
                    </p:cTn>
                  </p:par>
                  <p:par>
                    <p:cTn id="142" fill="hold">
                      <p:stCondLst>
                        <p:cond delay="indefinite"/>
                      </p:stCondLst>
                      <p:childTnLst>
                        <p:par>
                          <p:cTn id="143" fill="hold">
                            <p:stCondLst>
                              <p:cond delay="0"/>
                            </p:stCondLst>
                            <p:childTnLst>
                              <p:par>
                                <p:cTn id="144" presetID="10" presetClass="entr" presetSubtype="0" fill="hold" nodeType="clickEffect">
                                  <p:stCondLst>
                                    <p:cond delay="0"/>
                                  </p:stCondLst>
                                  <p:childTnLst>
                                    <p:set>
                                      <p:cBhvr>
                                        <p:cTn id="145" dur="1" fill="hold">
                                          <p:stCondLst>
                                            <p:cond delay="0"/>
                                          </p:stCondLst>
                                        </p:cTn>
                                        <p:tgtEl>
                                          <p:spTgt spid="1727"/>
                                        </p:tgtEl>
                                        <p:attrNameLst>
                                          <p:attrName>style.visibility</p:attrName>
                                        </p:attrNameLst>
                                      </p:cBhvr>
                                      <p:to>
                                        <p:strVal val="visible"/>
                                      </p:to>
                                    </p:set>
                                    <p:animEffect transition="in" filter="fade">
                                      <p:cBhvr>
                                        <p:cTn id="146" dur="1822"/>
                                        <p:tgtEl>
                                          <p:spTgt spid="17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761"/>
        <p:cNvGrpSpPr/>
        <p:nvPr/>
      </p:nvGrpSpPr>
      <p:grpSpPr>
        <a:xfrm>
          <a:off x="0" y="0"/>
          <a:ext cx="0" cy="0"/>
          <a:chOff x="0" y="0"/>
          <a:chExt cx="0" cy="0"/>
        </a:xfrm>
      </p:grpSpPr>
      <p:sp>
        <p:nvSpPr>
          <p:cNvPr id="1762" name="Google Shape;1762;p147"/>
          <p:cNvSpPr txBox="1">
            <a:spLocks noGrp="1"/>
          </p:cNvSpPr>
          <p:nvPr>
            <p:ph type="title"/>
          </p:nvPr>
        </p:nvSpPr>
        <p:spPr>
          <a:xfrm>
            <a:off x="64477" y="221972"/>
            <a:ext cx="4225290" cy="635000"/>
          </a:xfrm>
          <a:prstGeom prst="rect">
            <a:avLst/>
          </a:prstGeom>
          <a:noFill/>
          <a:ln>
            <a:noFill/>
          </a:ln>
        </p:spPr>
        <p:txBody>
          <a:bodyPr spcFirstLastPara="1" wrap="square" lIns="0" tIns="12050" rIns="0" bIns="0" anchor="t" anchorCtr="0">
            <a:spAutoFit/>
          </a:bodyPr>
          <a:lstStyle/>
          <a:p>
            <a:pPr marL="12700" lvl="0" indent="0" algn="l" rtl="0">
              <a:lnSpc>
                <a:spcPct val="100000"/>
              </a:lnSpc>
              <a:spcBef>
                <a:spcPts val="0"/>
              </a:spcBef>
              <a:spcAft>
                <a:spcPts val="0"/>
              </a:spcAft>
              <a:buSzPts val="1400"/>
              <a:buNone/>
            </a:pPr>
            <a:r>
              <a:rPr lang="fr-FR" b="0">
                <a:latin typeface="Calibri"/>
                <a:ea typeface="Calibri"/>
                <a:cs typeface="Calibri"/>
                <a:sym typeface="Calibri"/>
              </a:rPr>
              <a:t>Tableau récapitulatif</a:t>
            </a:r>
            <a:endParaRPr/>
          </a:p>
        </p:txBody>
      </p:sp>
      <p:graphicFrame>
        <p:nvGraphicFramePr>
          <p:cNvPr id="1763" name="Google Shape;1763;p147"/>
          <p:cNvGraphicFramePr/>
          <p:nvPr/>
        </p:nvGraphicFramePr>
        <p:xfrm>
          <a:off x="304801" y="1933903"/>
          <a:ext cx="8500325" cy="3248915"/>
        </p:xfrm>
        <a:graphic>
          <a:graphicData uri="http://schemas.openxmlformats.org/drawingml/2006/table">
            <a:tbl>
              <a:tblPr firstRow="1" bandRow="1">
                <a:noFill/>
              </a:tblPr>
              <a:tblGrid>
                <a:gridCol w="1699700">
                  <a:extLst>
                    <a:ext uri="{9D8B030D-6E8A-4147-A177-3AD203B41FA5}">
                      <a16:colId xmlns:a16="http://schemas.microsoft.com/office/drawing/2014/main" val="20000"/>
                    </a:ext>
                  </a:extLst>
                </a:gridCol>
                <a:gridCol w="1699700">
                  <a:extLst>
                    <a:ext uri="{9D8B030D-6E8A-4147-A177-3AD203B41FA5}">
                      <a16:colId xmlns:a16="http://schemas.microsoft.com/office/drawing/2014/main" val="20001"/>
                    </a:ext>
                  </a:extLst>
                </a:gridCol>
                <a:gridCol w="1701500">
                  <a:extLst>
                    <a:ext uri="{9D8B030D-6E8A-4147-A177-3AD203B41FA5}">
                      <a16:colId xmlns:a16="http://schemas.microsoft.com/office/drawing/2014/main" val="20002"/>
                    </a:ext>
                  </a:extLst>
                </a:gridCol>
                <a:gridCol w="1567175">
                  <a:extLst>
                    <a:ext uri="{9D8B030D-6E8A-4147-A177-3AD203B41FA5}">
                      <a16:colId xmlns:a16="http://schemas.microsoft.com/office/drawing/2014/main" val="20003"/>
                    </a:ext>
                  </a:extLst>
                </a:gridCol>
                <a:gridCol w="1832250">
                  <a:extLst>
                    <a:ext uri="{9D8B030D-6E8A-4147-A177-3AD203B41FA5}">
                      <a16:colId xmlns:a16="http://schemas.microsoft.com/office/drawing/2014/main" val="20004"/>
                    </a:ext>
                  </a:extLst>
                </a:gridCol>
              </a:tblGrid>
              <a:tr h="371475">
                <a:tc>
                  <a:txBody>
                    <a:bodyPr/>
                    <a:lstStyle/>
                    <a:p>
                      <a:pPr marL="0" marR="0" lvl="0" indent="0" algn="l" rtl="0">
                        <a:lnSpc>
                          <a:spcPct val="100000"/>
                        </a:lnSpc>
                        <a:spcBef>
                          <a:spcPts val="0"/>
                        </a:spcBef>
                        <a:spcAft>
                          <a:spcPts val="0"/>
                        </a:spcAft>
                        <a:buClr>
                          <a:srgbClr val="000000"/>
                        </a:buClr>
                        <a:buSzPts val="1900"/>
                        <a:buFont typeface="Arial"/>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b="1" u="none" strike="noStrike" cap="none">
                          <a:solidFill>
                            <a:srgbClr val="FFFFFF"/>
                          </a:solidFill>
                          <a:latin typeface="Arial"/>
                          <a:ea typeface="Arial"/>
                          <a:cs typeface="Arial"/>
                          <a:sym typeface="Arial"/>
                        </a:rPr>
                        <a:t>FCFS</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b="1" u="none" strike="noStrike" cap="none">
                          <a:solidFill>
                            <a:srgbClr val="FFFFFF"/>
                          </a:solidFill>
                          <a:latin typeface="Arial"/>
                          <a:ea typeface="Arial"/>
                          <a:cs typeface="Arial"/>
                          <a:sym typeface="Arial"/>
                        </a:rPr>
                        <a:t>SJF</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b="1" u="none" strike="noStrike" cap="none">
                          <a:solidFill>
                            <a:srgbClr val="FFFFFF"/>
                          </a:solidFill>
                          <a:latin typeface="Arial"/>
                          <a:ea typeface="Arial"/>
                          <a:cs typeface="Arial"/>
                          <a:sym typeface="Arial"/>
                        </a:rPr>
                        <a:t>PSJF</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b="1" u="none" strike="noStrike" cap="none">
                          <a:solidFill>
                            <a:srgbClr val="FFFFFF"/>
                          </a:solidFill>
                          <a:latin typeface="Arial"/>
                          <a:ea typeface="Arial"/>
                          <a:cs typeface="Arial"/>
                          <a:sym typeface="Arial"/>
                        </a:rPr>
                        <a:t>Tourniquet</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4F81BD"/>
                    </a:solidFill>
                  </a:tcPr>
                </a:tc>
                <a:extLst>
                  <a:ext uri="{0D108BD9-81ED-4DB2-BD59-A6C34878D82A}">
                    <a16:rowId xmlns:a16="http://schemas.microsoft.com/office/drawing/2014/main" val="10000"/>
                  </a:ext>
                </a:extLst>
              </a:tr>
              <a:tr h="371475">
                <a:tc>
                  <a:txBody>
                    <a:bodyPr/>
                    <a:lstStyle/>
                    <a:p>
                      <a:pPr marL="76200" marR="0" lvl="0" indent="0" algn="l" rtl="0">
                        <a:lnSpc>
                          <a:spcPct val="11675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tat</a:t>
                      </a:r>
                      <a:r>
                        <a:rPr lang="fr-FR" sz="1950" u="none" strike="noStrike" cap="none" baseline="-25000">
                          <a:latin typeface="Arial"/>
                          <a:ea typeface="Arial"/>
                          <a:cs typeface="Arial"/>
                          <a:sym typeface="Arial"/>
                        </a:rPr>
                        <a:t>avg</a:t>
                      </a:r>
                      <a:endParaRPr sz="1950" u="none" strike="noStrike" cap="none" baseline="-25000">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28.25</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23.50</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18.75</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24.50</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extLst>
                  <a:ext uri="{0D108BD9-81ED-4DB2-BD59-A6C34878D82A}">
                    <a16:rowId xmlns:a16="http://schemas.microsoft.com/office/drawing/2014/main" val="10001"/>
                  </a:ext>
                </a:extLst>
              </a:tr>
              <a:tr h="371475">
                <a:tc>
                  <a:txBody>
                    <a:bodyPr/>
                    <a:lstStyle/>
                    <a:p>
                      <a:pPr marL="76200" marR="0" lvl="0" indent="0" algn="l" rtl="0">
                        <a:lnSpc>
                          <a:spcPct val="100000"/>
                        </a:lnSpc>
                        <a:spcBef>
                          <a:spcPts val="0"/>
                        </a:spcBef>
                        <a:spcAft>
                          <a:spcPts val="0"/>
                        </a:spcAft>
                        <a:buClr>
                          <a:srgbClr val="000000"/>
                        </a:buClr>
                        <a:buSzPts val="3000"/>
                        <a:buFont typeface="Arial"/>
                        <a:buNone/>
                      </a:pPr>
                      <a:r>
                        <a:rPr lang="fr-FR" sz="3000" u="none" strike="noStrike" cap="none" baseline="30000">
                          <a:latin typeface="Arial"/>
                          <a:ea typeface="Arial"/>
                          <a:cs typeface="Arial"/>
                          <a:sym typeface="Arial"/>
                        </a:rPr>
                        <a:t>wt</a:t>
                      </a:r>
                      <a:r>
                        <a:rPr lang="fr-FR" sz="1300" u="none" strike="noStrike" cap="none">
                          <a:latin typeface="Arial"/>
                          <a:ea typeface="Arial"/>
                          <a:cs typeface="Arial"/>
                          <a:sym typeface="Arial"/>
                        </a:rPr>
                        <a:t>avg</a:t>
                      </a:r>
                      <a:endParaRPr sz="1300" u="none" strike="noStrike" cap="none">
                        <a:latin typeface="Arial"/>
                        <a:ea typeface="Arial"/>
                        <a:cs typeface="Arial"/>
                        <a:sym typeface="Arial"/>
                      </a:endParaRPr>
                    </a:p>
                  </a:txBody>
                  <a:tcPr marL="0" marR="0" marT="533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FF3F7"/>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16.50</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FF3F7"/>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10.50</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FF3F7"/>
                    </a:solidFill>
                  </a:tcPr>
                </a:tc>
                <a:tc>
                  <a:txBody>
                    <a:bodyPr/>
                    <a:lstStyle/>
                    <a:p>
                      <a:pPr marL="215265"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6.25</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FF3F7"/>
                    </a:solidFill>
                  </a:tcPr>
                </a:tc>
                <a:tc>
                  <a:txBody>
                    <a:bodyPr/>
                    <a:lstStyle/>
                    <a:p>
                      <a:pPr marL="76200"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12.25</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FF3F7"/>
                    </a:solidFill>
                  </a:tcPr>
                </a:tc>
                <a:extLst>
                  <a:ext uri="{0D108BD9-81ED-4DB2-BD59-A6C34878D82A}">
                    <a16:rowId xmlns:a16="http://schemas.microsoft.com/office/drawing/2014/main" val="10002"/>
                  </a:ext>
                </a:extLst>
              </a:tr>
              <a:tr h="371475">
                <a:tc>
                  <a:txBody>
                    <a:bodyPr/>
                    <a:lstStyle/>
                    <a:p>
                      <a:pPr marL="76200" marR="0" lvl="0" indent="0" algn="l" rtl="0">
                        <a:lnSpc>
                          <a:spcPct val="100000"/>
                        </a:lnSpc>
                        <a:spcBef>
                          <a:spcPts val="0"/>
                        </a:spcBef>
                        <a:spcAft>
                          <a:spcPts val="0"/>
                        </a:spcAft>
                        <a:buClr>
                          <a:srgbClr val="000000"/>
                        </a:buClr>
                        <a:buSzPts val="3000"/>
                        <a:buFont typeface="Arial"/>
                        <a:buNone/>
                      </a:pPr>
                      <a:r>
                        <a:rPr lang="fr-FR" sz="3000" u="none" strike="noStrike" cap="none" baseline="30000">
                          <a:latin typeface="Arial"/>
                          <a:ea typeface="Arial"/>
                          <a:cs typeface="Arial"/>
                          <a:sym typeface="Arial"/>
                        </a:rPr>
                        <a:t>rt</a:t>
                      </a:r>
                      <a:r>
                        <a:rPr lang="fr-FR" sz="1300" u="none" strike="noStrike" cap="none">
                          <a:latin typeface="Arial"/>
                          <a:ea typeface="Arial"/>
                          <a:cs typeface="Arial"/>
                          <a:sym typeface="Arial"/>
                        </a:rPr>
                        <a:t>avg</a:t>
                      </a:r>
                      <a:endParaRPr sz="1300" u="none" strike="noStrike" cap="none">
                        <a:latin typeface="Arial"/>
                        <a:ea typeface="Arial"/>
                        <a:cs typeface="Arial"/>
                        <a:sym typeface="Arial"/>
                      </a:endParaRPr>
                    </a:p>
                  </a:txBody>
                  <a:tcPr marL="0" marR="0" marT="5335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215265"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4.50</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215265"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3.00</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215265"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1.25</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tc>
                  <a:txBody>
                    <a:bodyPr/>
                    <a:lstStyle/>
                    <a:p>
                      <a:pPr marL="215265" marR="0" lvl="0" indent="0" algn="l" rtl="0">
                        <a:lnSpc>
                          <a:spcPct val="116500"/>
                        </a:lnSpc>
                        <a:spcBef>
                          <a:spcPts val="0"/>
                        </a:spcBef>
                        <a:spcAft>
                          <a:spcPts val="0"/>
                        </a:spcAft>
                        <a:buClr>
                          <a:srgbClr val="000000"/>
                        </a:buClr>
                        <a:buSzPts val="2000"/>
                        <a:buFont typeface="Arial"/>
                        <a:buNone/>
                      </a:pPr>
                      <a:r>
                        <a:rPr lang="fr-FR" sz="2000" u="none" strike="noStrike" cap="none">
                          <a:latin typeface="Arial"/>
                          <a:ea typeface="Arial"/>
                          <a:cs typeface="Arial"/>
                          <a:sym typeface="Arial"/>
                        </a:rPr>
                        <a:t>2.25</a:t>
                      </a:r>
                      <a:endParaRPr sz="20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CE5EE"/>
                    </a:solidFill>
                  </a:tcPr>
                </a:tc>
                <a:extLst>
                  <a:ext uri="{0D108BD9-81ED-4DB2-BD59-A6C34878D82A}">
                    <a16:rowId xmlns:a16="http://schemas.microsoft.com/office/drawing/2014/main" val="10003"/>
                  </a:ext>
                </a:extLst>
              </a:tr>
              <a:tr h="279600">
                <a:tc rowSpan="5">
                  <a:txBody>
                    <a:bodyPr/>
                    <a:lstStyle/>
                    <a:p>
                      <a:pPr marL="0" marR="0" lvl="0" indent="0" algn="l" rtl="0">
                        <a:lnSpc>
                          <a:spcPct val="100000"/>
                        </a:lnSpc>
                        <a:spcBef>
                          <a:spcPts val="0"/>
                        </a:spcBef>
                        <a:spcAft>
                          <a:spcPts val="0"/>
                        </a:spcAft>
                        <a:buClr>
                          <a:srgbClr val="000000"/>
                        </a:buClr>
                        <a:buSzPts val="1900"/>
                        <a:buFont typeface="Arial"/>
                        <a:buNone/>
                      </a:pPr>
                      <a:endParaRPr sz="19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FF3F7"/>
                    </a:solidFill>
                  </a:tcPr>
                </a:tc>
                <a:tc>
                  <a:txBody>
                    <a:bodyPr/>
                    <a:lstStyle/>
                    <a:p>
                      <a:pPr marL="76200" marR="0" lvl="0" indent="0" algn="l" rtl="0">
                        <a:lnSpc>
                          <a:spcPct val="116666"/>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Facile à</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EFF3F7"/>
                    </a:solidFill>
                  </a:tcPr>
                </a:tc>
                <a:tc>
                  <a:txBody>
                    <a:bodyPr/>
                    <a:lstStyle/>
                    <a:p>
                      <a:pPr marL="76200" marR="0" lvl="0" indent="0" algn="l" rtl="0">
                        <a:lnSpc>
                          <a:spcPct val="116666"/>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Impossible de</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EFF3F7"/>
                    </a:solidFill>
                  </a:tcPr>
                </a:tc>
                <a:tc>
                  <a:txBody>
                    <a:bodyPr/>
                    <a:lstStyle/>
                    <a:p>
                      <a:pPr marL="76200" marR="0" lvl="0" indent="0" algn="l" rtl="0">
                        <a:lnSpc>
                          <a:spcPct val="116666"/>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Impossible de</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EFF3F7"/>
                    </a:solidFill>
                  </a:tcPr>
                </a:tc>
                <a:tc>
                  <a:txBody>
                    <a:bodyPr/>
                    <a:lstStyle/>
                    <a:p>
                      <a:pPr marL="76200" marR="0" lvl="0" indent="0" algn="l" rtl="0">
                        <a:lnSpc>
                          <a:spcPct val="116666"/>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Implémentable,</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solidFill>
                      <a:srgbClr val="EFF3F7"/>
                    </a:solidFill>
                  </a:tcPr>
                </a:tc>
                <a:extLst>
                  <a:ext uri="{0D108BD9-81ED-4DB2-BD59-A6C34878D82A}">
                    <a16:rowId xmlns:a16="http://schemas.microsoft.com/office/drawing/2014/main" val="10004"/>
                  </a:ext>
                </a:extLst>
              </a:tr>
              <a:tr h="549450">
                <a:tc vMerge="1">
                  <a:txBody>
                    <a:bodyPr/>
                    <a:lstStyle/>
                    <a:p>
                      <a:endParaRPr lang="fr-FR"/>
                    </a:p>
                  </a:txBody>
                  <a:tcPr/>
                </a:tc>
                <a:tc>
                  <a:txBody>
                    <a:bodyPr/>
                    <a:lstStyle/>
                    <a:p>
                      <a:pPr marL="76200" marR="0" lvl="0" indent="0" algn="l" rtl="0">
                        <a:lnSpc>
                          <a:spcPct val="114444"/>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implémenter</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5000"/>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connaître le</a:t>
                      </a:r>
                      <a:endParaRPr sz="1800" u="none" strike="noStrike" cap="none">
                        <a:latin typeface="Arial"/>
                        <a:ea typeface="Arial"/>
                        <a:cs typeface="Arial"/>
                        <a:sym typeface="Arial"/>
                      </a:endParaRPr>
                    </a:p>
                    <a:p>
                      <a:pPr marL="76200" marR="0" lvl="0" indent="0" algn="l" rtl="0">
                        <a:lnSpc>
                          <a:spcPct val="119722"/>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prochain temps</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5000"/>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connaître le</a:t>
                      </a:r>
                      <a:endParaRPr sz="1800" u="none" strike="noStrike" cap="none">
                        <a:latin typeface="Arial"/>
                        <a:ea typeface="Arial"/>
                        <a:cs typeface="Arial"/>
                        <a:sym typeface="Arial"/>
                      </a:endParaRPr>
                    </a:p>
                    <a:p>
                      <a:pPr marL="76200" marR="0" lvl="0" indent="0" algn="l" rtl="0">
                        <a:lnSpc>
                          <a:spcPct val="119722"/>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prochain</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5000"/>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rt</a:t>
                      </a:r>
                      <a:r>
                        <a:rPr lang="fr-FR" sz="1800" u="none" strike="noStrike" cap="none" baseline="-25000">
                          <a:latin typeface="Arial"/>
                          <a:ea typeface="Arial"/>
                          <a:cs typeface="Arial"/>
                          <a:sym typeface="Arial"/>
                        </a:rPr>
                        <a:t>max </a:t>
                      </a:r>
                      <a:r>
                        <a:rPr lang="fr-FR" sz="1800" u="none" strike="noStrike" cap="none">
                          <a:latin typeface="Arial"/>
                          <a:ea typeface="Arial"/>
                          <a:cs typeface="Arial"/>
                          <a:sym typeface="Arial"/>
                        </a:rPr>
                        <a:t>est</a:t>
                      </a:r>
                      <a:endParaRPr sz="1800" u="none" strike="noStrike" cap="none">
                        <a:latin typeface="Arial"/>
                        <a:ea typeface="Arial"/>
                        <a:cs typeface="Arial"/>
                        <a:sym typeface="Arial"/>
                      </a:endParaRPr>
                    </a:p>
                    <a:p>
                      <a:pPr marL="76200" marR="0" lvl="0" indent="0" algn="l" rtl="0">
                        <a:lnSpc>
                          <a:spcPct val="119722"/>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important pour</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extLst>
                  <a:ext uri="{0D108BD9-81ED-4DB2-BD59-A6C34878D82A}">
                    <a16:rowId xmlns:a16="http://schemas.microsoft.com/office/drawing/2014/main" val="10005"/>
                  </a:ext>
                </a:extLst>
              </a:tr>
              <a:tr h="273525">
                <a:tc vMerge="1">
                  <a:txBody>
                    <a:bodyPr/>
                    <a:lstStyle/>
                    <a:p>
                      <a:endParaRPr lang="fr-FR"/>
                    </a:p>
                  </a:txBody>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4166"/>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de travail du</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4166"/>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temps de</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4166"/>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les systèmes</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extLst>
                  <a:ext uri="{0D108BD9-81ED-4DB2-BD59-A6C34878D82A}">
                    <a16:rowId xmlns:a16="http://schemas.microsoft.com/office/drawing/2014/main" val="10006"/>
                  </a:ext>
                </a:extLst>
              </a:tr>
              <a:tr h="274325">
                <a:tc vMerge="1">
                  <a:txBody>
                    <a:bodyPr/>
                    <a:lstStyle/>
                    <a:p>
                      <a:endParaRPr lang="fr-FR"/>
                    </a:p>
                  </a:txBody>
                  <a:tcPr/>
                </a:tc>
                <a:tc>
                  <a:txBody>
                    <a:bodyPr/>
                    <a:lstStyle/>
                    <a:p>
                      <a:pPr marL="0" marR="0" lvl="0" indent="0" algn="l" rtl="0">
                        <a:lnSpc>
                          <a:spcPct val="100000"/>
                        </a:lnSpc>
                        <a:spcBef>
                          <a:spcPts val="0"/>
                        </a:spcBef>
                        <a:spcAft>
                          <a:spcPts val="0"/>
                        </a:spcAft>
                        <a:buClr>
                          <a:srgbClr val="000000"/>
                        </a:buClr>
                        <a:buSzPts val="1700"/>
                        <a:buFont typeface="Arial"/>
                        <a:buNone/>
                      </a:pPr>
                      <a:endParaRPr sz="17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4444"/>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CPU</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4444"/>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travail du CPU</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tc>
                  <a:txBody>
                    <a:bodyPr/>
                    <a:lstStyle/>
                    <a:p>
                      <a:pPr marL="76200" marR="0" lvl="0" indent="0" algn="l" rtl="0">
                        <a:lnSpc>
                          <a:spcPct val="114444"/>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interactifs</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solidFill>
                      <a:srgbClr val="EFF3F7"/>
                    </a:solidFill>
                  </a:tcPr>
                </a:tc>
                <a:extLst>
                  <a:ext uri="{0D108BD9-81ED-4DB2-BD59-A6C34878D82A}">
                    <a16:rowId xmlns:a16="http://schemas.microsoft.com/office/drawing/2014/main" val="10007"/>
                  </a:ext>
                </a:extLst>
              </a:tr>
              <a:tr h="269025">
                <a:tc vMerge="1">
                  <a:txBody>
                    <a:bodyPr/>
                    <a:lstStyle/>
                    <a:p>
                      <a:endParaRPr lang="fr-FR"/>
                    </a:p>
                  </a:txBody>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B w="12700" cap="flat" cmpd="sng">
                      <a:solidFill>
                        <a:srgbClr val="FFFFFF"/>
                      </a:solidFill>
                      <a:prstDash val="solid"/>
                      <a:round/>
                      <a:headEnd type="none" w="sm" len="sm"/>
                      <a:tailEnd type="none" w="sm" len="sm"/>
                    </a:lnB>
                    <a:solidFill>
                      <a:srgbClr val="EFF3F7"/>
                    </a:solidFill>
                  </a:tcPr>
                </a:tc>
                <a:tc>
                  <a:txBody>
                    <a:bodyPr/>
                    <a:lstStyle/>
                    <a:p>
                      <a:pPr marL="76200" marR="0" lvl="0" indent="0" algn="l" rtl="0">
                        <a:lnSpc>
                          <a:spcPct val="112222"/>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exactement.</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B w="12700" cap="flat" cmpd="sng">
                      <a:solidFill>
                        <a:srgbClr val="FFFFFF"/>
                      </a:solidFill>
                      <a:prstDash val="solid"/>
                      <a:round/>
                      <a:headEnd type="none" w="sm" len="sm"/>
                      <a:tailEnd type="none" w="sm" len="sm"/>
                    </a:lnB>
                    <a:solidFill>
                      <a:srgbClr val="EFF3F7"/>
                    </a:solidFill>
                  </a:tcPr>
                </a:tc>
                <a:tc>
                  <a:txBody>
                    <a:bodyPr/>
                    <a:lstStyle/>
                    <a:p>
                      <a:pPr marL="76200" marR="0" lvl="0" indent="0" algn="l" rtl="0">
                        <a:lnSpc>
                          <a:spcPct val="112222"/>
                        </a:lnSpc>
                        <a:spcBef>
                          <a:spcPts val="0"/>
                        </a:spcBef>
                        <a:spcAft>
                          <a:spcPts val="0"/>
                        </a:spcAft>
                        <a:buClr>
                          <a:srgbClr val="000000"/>
                        </a:buClr>
                        <a:buSzPts val="1800"/>
                        <a:buFont typeface="Arial"/>
                        <a:buNone/>
                      </a:pPr>
                      <a:r>
                        <a:rPr lang="fr-FR" sz="1800" u="none" strike="noStrike" cap="none">
                          <a:latin typeface="Arial"/>
                          <a:ea typeface="Arial"/>
                          <a:cs typeface="Arial"/>
                          <a:sym typeface="Arial"/>
                        </a:rPr>
                        <a:t>exactement.</a:t>
                      </a:r>
                      <a:endParaRPr sz="1800" u="none" strike="noStrike" cap="none">
                        <a:latin typeface="Arial"/>
                        <a:ea typeface="Arial"/>
                        <a:cs typeface="Arial"/>
                        <a:sym typeface="Arial"/>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B w="12700" cap="flat" cmpd="sng">
                      <a:solidFill>
                        <a:srgbClr val="FFFFFF"/>
                      </a:solidFill>
                      <a:prstDash val="solid"/>
                      <a:round/>
                      <a:headEnd type="none" w="sm" len="sm"/>
                      <a:tailEnd type="none" w="sm" len="sm"/>
                    </a:lnB>
                    <a:solidFill>
                      <a:srgbClr val="EFF3F7"/>
                    </a:solidFill>
                  </a:tcPr>
                </a:tc>
                <a:tc>
                  <a:txBody>
                    <a:bodyPr/>
                    <a:lstStyle/>
                    <a:p>
                      <a:pPr marL="0" marR="0" lvl="0" indent="0" algn="l" rtl="0">
                        <a:lnSpc>
                          <a:spcPct val="100000"/>
                        </a:lnSpc>
                        <a:spcBef>
                          <a:spcPts val="0"/>
                        </a:spcBef>
                        <a:spcAft>
                          <a:spcPts val="0"/>
                        </a:spcAft>
                        <a:buClr>
                          <a:srgbClr val="000000"/>
                        </a:buClr>
                        <a:buSzPts val="1600"/>
                        <a:buFont typeface="Arial"/>
                        <a:buNone/>
                      </a:pPr>
                      <a:endParaRPr sz="1600" u="none" strike="noStrike" cap="none">
                        <a:latin typeface="Times New Roman"/>
                        <a:ea typeface="Times New Roman"/>
                        <a:cs typeface="Times New Roman"/>
                        <a:sym typeface="Times New Roman"/>
                      </a:endParaRPr>
                    </a:p>
                  </a:txBody>
                  <a:tcPr marL="0" marR="0" marT="0" marB="0">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B w="12700" cap="flat" cmpd="sng">
                      <a:solidFill>
                        <a:srgbClr val="FFFFFF"/>
                      </a:solidFill>
                      <a:prstDash val="solid"/>
                      <a:round/>
                      <a:headEnd type="none" w="sm" len="sm"/>
                      <a:tailEnd type="none" w="sm" len="sm"/>
                    </a:lnB>
                    <a:solidFill>
                      <a:srgbClr val="EFF3F7"/>
                    </a:solidFill>
                  </a:tcPr>
                </a:tc>
                <a:extLst>
                  <a:ext uri="{0D108BD9-81ED-4DB2-BD59-A6C34878D82A}">
                    <a16:rowId xmlns:a16="http://schemas.microsoft.com/office/drawing/2014/main" val="10008"/>
                  </a:ext>
                </a:extLst>
              </a:tr>
            </a:tbl>
          </a:graphicData>
        </a:graphic>
      </p:graphicFrame>
      <p:sp>
        <p:nvSpPr>
          <p:cNvPr id="1764" name="Google Shape;1764;p147"/>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64</a:t>
            </a:fld>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768"/>
        <p:cNvGrpSpPr/>
        <p:nvPr/>
      </p:nvGrpSpPr>
      <p:grpSpPr>
        <a:xfrm>
          <a:off x="0" y="0"/>
          <a:ext cx="0" cy="0"/>
          <a:chOff x="0" y="0"/>
          <a:chExt cx="0" cy="0"/>
        </a:xfrm>
      </p:grpSpPr>
      <p:sp>
        <p:nvSpPr>
          <p:cNvPr id="1769" name="Google Shape;1769;p148"/>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Exercices</a:t>
            </a:r>
            <a:r>
              <a:rPr lang="fr-FR"/>
              <a:t> </a:t>
            </a:r>
            <a:endParaRPr/>
          </a:p>
        </p:txBody>
      </p:sp>
      <p:sp>
        <p:nvSpPr>
          <p:cNvPr id="1770" name="Google Shape;1770;p148"/>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65</a:t>
            </a:fld>
            <a:endParaRPr/>
          </a:p>
        </p:txBody>
      </p:sp>
      <p:sp>
        <p:nvSpPr>
          <p:cNvPr id="1771" name="Google Shape;1771;p148"/>
          <p:cNvSpPr/>
          <p:nvPr/>
        </p:nvSpPr>
        <p:spPr>
          <a:xfrm>
            <a:off x="145473" y="1213523"/>
            <a:ext cx="8931090" cy="5139869"/>
          </a:xfrm>
          <a:prstGeom prst="rect">
            <a:avLst/>
          </a:prstGeom>
          <a:noFill/>
          <a:ln>
            <a:noFill/>
          </a:ln>
        </p:spPr>
        <p:txBody>
          <a:bodyPr spcFirstLastPara="1" wrap="square" lIns="91425" tIns="45700" rIns="91425" bIns="45700" anchor="t" anchorCtr="0">
            <a:noAutofit/>
          </a:bodyPr>
          <a:lstStyle/>
          <a:p>
            <a:pPr marL="0" marR="0" lvl="0" indent="0" algn="just" rtl="0">
              <a:lnSpc>
                <a:spcPct val="200000"/>
              </a:lnSpc>
              <a:spcBef>
                <a:spcPts val="0"/>
              </a:spcBef>
              <a:spcAft>
                <a:spcPts val="0"/>
              </a:spcAft>
              <a:buNone/>
            </a:pPr>
            <a:r>
              <a:rPr lang="fr-FR" sz="2000" b="1" i="0" u="sng" strike="noStrike" cap="none">
                <a:solidFill>
                  <a:schemeClr val="dk2"/>
                </a:solidFill>
                <a:latin typeface="Times New Roman"/>
                <a:ea typeface="Times New Roman"/>
                <a:cs typeface="Times New Roman"/>
                <a:sym typeface="Times New Roman"/>
              </a:rPr>
              <a:t>Exercice 1 :</a:t>
            </a:r>
            <a:endParaRPr/>
          </a:p>
          <a:p>
            <a:pPr marL="0" marR="0" lvl="0" indent="0" algn="just" rtl="0">
              <a:lnSpc>
                <a:spcPct val="200000"/>
              </a:lnSpc>
              <a:spcBef>
                <a:spcPts val="0"/>
              </a:spcBef>
              <a:spcAft>
                <a:spcPts val="0"/>
              </a:spcAft>
              <a:buNone/>
            </a:pPr>
            <a:r>
              <a:rPr lang="fr-FR" sz="1800" b="1" i="0" u="none" strike="noStrike" cap="none">
                <a:solidFill>
                  <a:srgbClr val="000000"/>
                </a:solidFill>
                <a:latin typeface="Times New Roman"/>
                <a:ea typeface="Times New Roman"/>
                <a:cs typeface="Times New Roman"/>
                <a:sym typeface="Times New Roman"/>
              </a:rPr>
              <a:t>Cinq travaux A, B, C, D et E arrivent pratiquement en même temps dans un centre de calcul. Leur temps d’exécution respectif est estimé à 10, 6, 2, 4 et 8 secondes.</a:t>
            </a:r>
            <a:endParaRPr/>
          </a:p>
          <a:p>
            <a:pPr marL="0" marR="0" lvl="0" indent="0" algn="just" rtl="0">
              <a:lnSpc>
                <a:spcPct val="200000"/>
              </a:lnSpc>
              <a:spcBef>
                <a:spcPts val="0"/>
              </a:spcBef>
              <a:spcAft>
                <a:spcPts val="0"/>
              </a:spcAft>
              <a:buNone/>
            </a:pPr>
            <a:r>
              <a:rPr lang="fr-FR" sz="1800" b="1" i="0" u="none" strike="noStrike" cap="none">
                <a:solidFill>
                  <a:srgbClr val="000000"/>
                </a:solidFill>
                <a:latin typeface="Times New Roman"/>
                <a:ea typeface="Times New Roman"/>
                <a:cs typeface="Times New Roman"/>
                <a:sym typeface="Times New Roman"/>
              </a:rPr>
              <a:t>Tracez le digramme de Gantt et déterminez le temps moyen de rotation pour chacun des algorithmes d’ordonnancement suivants. Ne tenez pas compte du temps perdu lors de la commutation des processus.</a:t>
            </a:r>
            <a:endParaRPr sz="1800" b="1" i="0" u="none" strike="noStrike" cap="none">
              <a:solidFill>
                <a:srgbClr val="000000"/>
              </a:solidFill>
              <a:latin typeface="Times New Roman"/>
              <a:ea typeface="Times New Roman"/>
              <a:cs typeface="Times New Roman"/>
              <a:sym typeface="Times New Roman"/>
            </a:endParaRPr>
          </a:p>
          <a:p>
            <a:pPr marL="0" marR="0" lvl="0" indent="0" algn="just" rtl="0">
              <a:lnSpc>
                <a:spcPct val="200000"/>
              </a:lnSpc>
              <a:spcBef>
                <a:spcPts val="0"/>
              </a:spcBef>
              <a:spcAft>
                <a:spcPts val="0"/>
              </a:spcAft>
              <a:buNone/>
            </a:pPr>
            <a:r>
              <a:rPr lang="fr-FR" sz="1800" b="1" i="0" u="none" strike="noStrike" cap="none">
                <a:solidFill>
                  <a:srgbClr val="000000"/>
                </a:solidFill>
                <a:latin typeface="Times New Roman"/>
                <a:ea typeface="Times New Roman"/>
                <a:cs typeface="Times New Roman"/>
                <a:sym typeface="Times New Roman"/>
              </a:rPr>
              <a:t>• Premier arrivé, premier servi FCFS (exécution dans l’ordre 10, 6, 2, 4, 8) ;</a:t>
            </a:r>
            <a:endParaRPr/>
          </a:p>
          <a:p>
            <a:pPr marL="0" marR="0" lvl="0" indent="0" algn="just" rtl="0">
              <a:lnSpc>
                <a:spcPct val="200000"/>
              </a:lnSpc>
              <a:spcBef>
                <a:spcPts val="0"/>
              </a:spcBef>
              <a:spcAft>
                <a:spcPts val="0"/>
              </a:spcAft>
              <a:buNone/>
            </a:pPr>
            <a:r>
              <a:rPr lang="fr-FR" sz="1800" b="1" i="0" u="none" strike="noStrike" cap="none">
                <a:solidFill>
                  <a:srgbClr val="000000"/>
                </a:solidFill>
                <a:latin typeface="Times New Roman"/>
                <a:ea typeface="Times New Roman"/>
                <a:cs typeface="Times New Roman"/>
                <a:sym typeface="Times New Roman"/>
              </a:rPr>
              <a:t>• Plus court d’abord SJF ;</a:t>
            </a:r>
            <a:endParaRPr/>
          </a:p>
          <a:p>
            <a:pPr marL="0" marR="0" lvl="0" indent="0" algn="just" rtl="0">
              <a:lnSpc>
                <a:spcPct val="200000"/>
              </a:lnSpc>
              <a:spcBef>
                <a:spcPts val="0"/>
              </a:spcBef>
              <a:spcAft>
                <a:spcPts val="0"/>
              </a:spcAft>
              <a:buNone/>
            </a:pPr>
            <a:r>
              <a:rPr lang="fr-FR" sz="1800" b="1" i="0" u="none" strike="noStrike" cap="none">
                <a:solidFill>
                  <a:srgbClr val="000000"/>
                </a:solidFill>
                <a:latin typeface="Times New Roman"/>
                <a:ea typeface="Times New Roman"/>
                <a:cs typeface="Times New Roman"/>
                <a:sym typeface="Times New Roman"/>
              </a:rPr>
              <a:t>• Tourniquet (quantum q = 4 s).</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775"/>
        <p:cNvGrpSpPr/>
        <p:nvPr/>
      </p:nvGrpSpPr>
      <p:grpSpPr>
        <a:xfrm>
          <a:off x="0" y="0"/>
          <a:ext cx="0" cy="0"/>
          <a:chOff x="0" y="0"/>
          <a:chExt cx="0" cy="0"/>
        </a:xfrm>
      </p:grpSpPr>
      <p:sp>
        <p:nvSpPr>
          <p:cNvPr id="1776" name="Google Shape;1776;p149"/>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SOLUTION</a:t>
            </a:r>
            <a:r>
              <a:rPr lang="fr-FR"/>
              <a:t> </a:t>
            </a:r>
            <a:endParaRPr/>
          </a:p>
        </p:txBody>
      </p:sp>
      <p:sp>
        <p:nvSpPr>
          <p:cNvPr id="1777" name="Google Shape;1777;p149"/>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66</a:t>
            </a:fld>
            <a:endParaRPr/>
          </a:p>
        </p:txBody>
      </p:sp>
      <p:sp>
        <p:nvSpPr>
          <p:cNvPr id="1778" name="Google Shape;1778;p149"/>
          <p:cNvSpPr/>
          <p:nvPr/>
        </p:nvSpPr>
        <p:spPr>
          <a:xfrm>
            <a:off x="168384" y="1338590"/>
            <a:ext cx="8975616" cy="40011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2000"/>
              <a:buFont typeface="Noto Sans Symbols"/>
              <a:buChar char="⮚"/>
            </a:pPr>
            <a:r>
              <a:rPr lang="fr-FR" sz="2000" b="1" i="0" u="sng" strike="noStrike" cap="none">
                <a:solidFill>
                  <a:srgbClr val="00B050"/>
                </a:solidFill>
                <a:latin typeface="Arial"/>
                <a:ea typeface="Arial"/>
                <a:cs typeface="Arial"/>
                <a:sym typeface="Arial"/>
              </a:rPr>
              <a:t>Algorithme FCFS </a:t>
            </a:r>
            <a:r>
              <a:rPr lang="fr-FR" sz="2000" b="1" i="0" u="none" strike="noStrike" cap="none">
                <a:solidFill>
                  <a:srgbClr val="00B050"/>
                </a:solidFill>
                <a:latin typeface="Arial"/>
                <a:ea typeface="Arial"/>
                <a:cs typeface="Arial"/>
                <a:sym typeface="Arial"/>
              </a:rPr>
              <a:t>  </a:t>
            </a:r>
            <a:r>
              <a:rPr lang="fr-FR" sz="2000" b="0" i="0" u="none" strike="noStrike" cap="none">
                <a:solidFill>
                  <a:srgbClr val="00B050"/>
                </a:solidFill>
                <a:latin typeface="Arial"/>
                <a:ea typeface="Arial"/>
                <a:cs typeface="Arial"/>
                <a:sym typeface="Arial"/>
              </a:rPr>
              <a:t>TRM = ((10-0)+(16-0)+(18-0)+(22-0)+(30-0)) / 5 = 19,2</a:t>
            </a:r>
            <a:endParaRPr/>
          </a:p>
        </p:txBody>
      </p:sp>
      <p:pic>
        <p:nvPicPr>
          <p:cNvPr id="1779" name="Google Shape;1779;p149"/>
          <p:cNvPicPr preferRelativeResize="0"/>
          <p:nvPr/>
        </p:nvPicPr>
        <p:blipFill rotWithShape="1">
          <a:blip r:embed="rId3">
            <a:alphaModFix/>
          </a:blip>
          <a:srcRect/>
          <a:stretch/>
        </p:blipFill>
        <p:spPr>
          <a:xfrm>
            <a:off x="0" y="1771059"/>
            <a:ext cx="8499764" cy="2238123"/>
          </a:xfrm>
          <a:prstGeom prst="rect">
            <a:avLst/>
          </a:prstGeom>
          <a:noFill/>
          <a:ln>
            <a:noFill/>
          </a:ln>
        </p:spPr>
      </p:pic>
      <p:sp>
        <p:nvSpPr>
          <p:cNvPr id="1780" name="Google Shape;1780;p149"/>
          <p:cNvSpPr/>
          <p:nvPr/>
        </p:nvSpPr>
        <p:spPr>
          <a:xfrm>
            <a:off x="168385" y="3935977"/>
            <a:ext cx="8165124" cy="40011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2000"/>
              <a:buFont typeface="Noto Sans Symbols"/>
              <a:buChar char="⮚"/>
            </a:pPr>
            <a:r>
              <a:rPr lang="fr-FR" sz="2000" b="1" i="0" u="sng" strike="noStrike" cap="none">
                <a:solidFill>
                  <a:srgbClr val="00B050"/>
                </a:solidFill>
                <a:latin typeface="Arial"/>
                <a:ea typeface="Arial"/>
                <a:cs typeface="Arial"/>
                <a:sym typeface="Arial"/>
              </a:rPr>
              <a:t>Algorithme SJF </a:t>
            </a:r>
            <a:r>
              <a:rPr lang="fr-FR" sz="2000" b="0" i="0" u="none" strike="noStrike" cap="none">
                <a:solidFill>
                  <a:srgbClr val="00B050"/>
                </a:solidFill>
                <a:latin typeface="Arial"/>
                <a:ea typeface="Arial"/>
                <a:cs typeface="Arial"/>
                <a:sym typeface="Arial"/>
              </a:rPr>
              <a:t> TRM = ((2-0)+(6-0)+(12-0)+(20-0)+(30-0)) / 5 = 14</a:t>
            </a:r>
            <a:endParaRPr/>
          </a:p>
        </p:txBody>
      </p:sp>
      <p:pic>
        <p:nvPicPr>
          <p:cNvPr id="1781" name="Google Shape;1781;p149"/>
          <p:cNvPicPr preferRelativeResize="0"/>
          <p:nvPr/>
        </p:nvPicPr>
        <p:blipFill rotWithShape="1">
          <a:blip r:embed="rId4">
            <a:alphaModFix/>
          </a:blip>
          <a:srcRect/>
          <a:stretch/>
        </p:blipFill>
        <p:spPr>
          <a:xfrm>
            <a:off x="168384" y="4387574"/>
            <a:ext cx="8331380" cy="2013226"/>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785"/>
        <p:cNvGrpSpPr/>
        <p:nvPr/>
      </p:nvGrpSpPr>
      <p:grpSpPr>
        <a:xfrm>
          <a:off x="0" y="0"/>
          <a:ext cx="0" cy="0"/>
          <a:chOff x="0" y="0"/>
          <a:chExt cx="0" cy="0"/>
        </a:xfrm>
      </p:grpSpPr>
      <p:sp>
        <p:nvSpPr>
          <p:cNvPr id="1786" name="Google Shape;1786;p150"/>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SOLUTION</a:t>
            </a:r>
            <a:r>
              <a:rPr lang="fr-FR"/>
              <a:t> </a:t>
            </a:r>
            <a:endParaRPr/>
          </a:p>
        </p:txBody>
      </p:sp>
      <p:sp>
        <p:nvSpPr>
          <p:cNvPr id="1787" name="Google Shape;1787;p150"/>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67</a:t>
            </a:fld>
            <a:endParaRPr/>
          </a:p>
        </p:txBody>
      </p:sp>
      <p:sp>
        <p:nvSpPr>
          <p:cNvPr id="1788" name="Google Shape;1788;p150"/>
          <p:cNvSpPr/>
          <p:nvPr/>
        </p:nvSpPr>
        <p:spPr>
          <a:xfrm>
            <a:off x="168384" y="1338590"/>
            <a:ext cx="8701803" cy="40011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000000"/>
              </a:buClr>
              <a:buSzPts val="2000"/>
              <a:buFont typeface="Noto Sans Symbols"/>
              <a:buChar char="⮚"/>
            </a:pPr>
            <a:r>
              <a:rPr lang="fr-FR" sz="2000" b="1" i="0" u="sng" strike="noStrike" cap="none">
                <a:solidFill>
                  <a:srgbClr val="00B050"/>
                </a:solidFill>
                <a:latin typeface="Arial"/>
                <a:ea typeface="Arial"/>
                <a:cs typeface="Arial"/>
                <a:sym typeface="Arial"/>
              </a:rPr>
              <a:t>Algorithme </a:t>
            </a:r>
            <a:r>
              <a:rPr lang="fr-FR" sz="2000" b="1" i="0" u="none" strike="noStrike" cap="none">
                <a:solidFill>
                  <a:srgbClr val="00B050"/>
                </a:solidFill>
                <a:latin typeface="Arial"/>
                <a:ea typeface="Arial"/>
                <a:cs typeface="Arial"/>
                <a:sym typeface="Arial"/>
              </a:rPr>
              <a:t>RR   </a:t>
            </a:r>
            <a:r>
              <a:rPr lang="fr-FR" sz="2000" b="0" i="0" u="none" strike="noStrike" cap="none">
                <a:solidFill>
                  <a:srgbClr val="00B050"/>
                </a:solidFill>
                <a:latin typeface="Arial"/>
                <a:ea typeface="Arial"/>
                <a:cs typeface="Arial"/>
                <a:sym typeface="Arial"/>
              </a:rPr>
              <a:t>TRM = ((10-0)+(14-0)+(24-0)+(28-0)+(30-0)) / 5 = 21,2 </a:t>
            </a:r>
            <a:endParaRPr sz="2000" b="0" i="0" u="none" strike="noStrike" cap="none">
              <a:solidFill>
                <a:srgbClr val="00B050"/>
              </a:solidFill>
              <a:latin typeface="Arial"/>
              <a:ea typeface="Arial"/>
              <a:cs typeface="Arial"/>
              <a:sym typeface="Arial"/>
            </a:endParaRPr>
          </a:p>
        </p:txBody>
      </p:sp>
      <p:pic>
        <p:nvPicPr>
          <p:cNvPr id="1789" name="Google Shape;1789;p150"/>
          <p:cNvPicPr preferRelativeResize="0"/>
          <p:nvPr/>
        </p:nvPicPr>
        <p:blipFill rotWithShape="1">
          <a:blip r:embed="rId3">
            <a:alphaModFix/>
          </a:blip>
          <a:srcRect/>
          <a:stretch/>
        </p:blipFill>
        <p:spPr>
          <a:xfrm>
            <a:off x="168383" y="2261882"/>
            <a:ext cx="8456071" cy="30167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793"/>
        <p:cNvGrpSpPr/>
        <p:nvPr/>
      </p:nvGrpSpPr>
      <p:grpSpPr>
        <a:xfrm>
          <a:off x="0" y="0"/>
          <a:ext cx="0" cy="0"/>
          <a:chOff x="0" y="0"/>
          <a:chExt cx="0" cy="0"/>
        </a:xfrm>
      </p:grpSpPr>
      <p:sp>
        <p:nvSpPr>
          <p:cNvPr id="1794" name="Google Shape;1794;p151"/>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Exercices</a:t>
            </a:r>
            <a:r>
              <a:rPr lang="fr-FR"/>
              <a:t> </a:t>
            </a:r>
            <a:endParaRPr/>
          </a:p>
        </p:txBody>
      </p:sp>
      <p:sp>
        <p:nvSpPr>
          <p:cNvPr id="1795" name="Google Shape;1795;p151"/>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68</a:t>
            </a:fld>
            <a:endParaRPr/>
          </a:p>
        </p:txBody>
      </p:sp>
      <p:sp>
        <p:nvSpPr>
          <p:cNvPr id="1796" name="Google Shape;1796;p151"/>
          <p:cNvSpPr/>
          <p:nvPr/>
        </p:nvSpPr>
        <p:spPr>
          <a:xfrm>
            <a:off x="145473" y="1213523"/>
            <a:ext cx="8931090" cy="1938992"/>
          </a:xfrm>
          <a:prstGeom prst="rect">
            <a:avLst/>
          </a:prstGeom>
          <a:noFill/>
          <a:ln>
            <a:noFill/>
          </a:ln>
        </p:spPr>
        <p:txBody>
          <a:bodyPr spcFirstLastPara="1" wrap="square" lIns="91425" tIns="45700" rIns="91425" bIns="45700" anchor="t" anchorCtr="0">
            <a:noAutofit/>
          </a:bodyPr>
          <a:lstStyle/>
          <a:p>
            <a:pPr marL="0" marR="0" lvl="0" indent="0" algn="just" rtl="0">
              <a:lnSpc>
                <a:spcPct val="200000"/>
              </a:lnSpc>
              <a:spcBef>
                <a:spcPts val="0"/>
              </a:spcBef>
              <a:spcAft>
                <a:spcPts val="0"/>
              </a:spcAft>
              <a:buNone/>
            </a:pPr>
            <a:r>
              <a:rPr lang="fr-FR" sz="2000" b="1" i="0" u="sng" strike="noStrike" cap="none">
                <a:solidFill>
                  <a:schemeClr val="dk2"/>
                </a:solidFill>
                <a:latin typeface="Times New Roman"/>
                <a:ea typeface="Times New Roman"/>
                <a:cs typeface="Times New Roman"/>
                <a:sym typeface="Times New Roman"/>
              </a:rPr>
              <a:t>Exercice 2 :</a:t>
            </a:r>
            <a:endParaRPr sz="2000" b="1" i="0" u="none" strike="noStrike" cap="none">
              <a:solidFill>
                <a:schemeClr val="dk1"/>
              </a:solidFill>
              <a:latin typeface="Times New Roman"/>
              <a:ea typeface="Times New Roman"/>
              <a:cs typeface="Times New Roman"/>
              <a:sym typeface="Times New Roman"/>
            </a:endParaRPr>
          </a:p>
          <a:p>
            <a:pPr marL="0" marR="0" lvl="0" indent="0" algn="just" rtl="0">
              <a:lnSpc>
                <a:spcPct val="2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On considère l’ensemble des processus suivants :</a:t>
            </a:r>
            <a:endParaRPr/>
          </a:p>
          <a:p>
            <a:pPr marL="0" marR="0" lvl="0" indent="0" algn="just" rtl="0">
              <a:lnSpc>
                <a:spcPct val="2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p:txBody>
      </p:sp>
      <p:graphicFrame>
        <p:nvGraphicFramePr>
          <p:cNvPr id="1797" name="Google Shape;1797;p151"/>
          <p:cNvGraphicFramePr/>
          <p:nvPr/>
        </p:nvGraphicFramePr>
        <p:xfrm>
          <a:off x="394855" y="2674534"/>
          <a:ext cx="8167300" cy="2530800"/>
        </p:xfrm>
        <a:graphic>
          <a:graphicData uri="http://schemas.openxmlformats.org/drawingml/2006/table">
            <a:tbl>
              <a:tblPr firstRow="1" bandRow="1">
                <a:noFill/>
              </a:tblPr>
              <a:tblGrid>
                <a:gridCol w="2041825">
                  <a:extLst>
                    <a:ext uri="{9D8B030D-6E8A-4147-A177-3AD203B41FA5}">
                      <a16:colId xmlns:a16="http://schemas.microsoft.com/office/drawing/2014/main" val="20000"/>
                    </a:ext>
                  </a:extLst>
                </a:gridCol>
                <a:gridCol w="2041825">
                  <a:extLst>
                    <a:ext uri="{9D8B030D-6E8A-4147-A177-3AD203B41FA5}">
                      <a16:colId xmlns:a16="http://schemas.microsoft.com/office/drawing/2014/main" val="20001"/>
                    </a:ext>
                  </a:extLst>
                </a:gridCol>
                <a:gridCol w="2041825">
                  <a:extLst>
                    <a:ext uri="{9D8B030D-6E8A-4147-A177-3AD203B41FA5}">
                      <a16:colId xmlns:a16="http://schemas.microsoft.com/office/drawing/2014/main" val="20002"/>
                    </a:ext>
                  </a:extLst>
                </a:gridCol>
                <a:gridCol w="2041825">
                  <a:extLst>
                    <a:ext uri="{9D8B030D-6E8A-4147-A177-3AD203B41FA5}">
                      <a16:colId xmlns:a16="http://schemas.microsoft.com/office/drawing/2014/main" val="20003"/>
                    </a:ext>
                  </a:extLst>
                </a:gridCol>
              </a:tblGrid>
              <a:tr h="776100">
                <a:tc>
                  <a:txBody>
                    <a:bodyPr/>
                    <a:lstStyle/>
                    <a:p>
                      <a:pPr marL="0" marR="0" lvl="0" indent="0" algn="ctr" rtl="0">
                        <a:lnSpc>
                          <a:spcPct val="100000"/>
                        </a:lnSpc>
                        <a:spcBef>
                          <a:spcPts val="0"/>
                        </a:spcBef>
                        <a:spcAft>
                          <a:spcPts val="0"/>
                        </a:spcAft>
                        <a:buNone/>
                      </a:pPr>
                      <a:r>
                        <a:rPr lang="fr-FR" sz="2000" u="none" strike="noStrike" cap="none"/>
                        <a:t>Processus</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Date d ’arrivée</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Temps CPU</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Priorité</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0"/>
                  </a:ext>
                </a:extLst>
              </a:tr>
              <a:tr h="438675">
                <a:tc>
                  <a:txBody>
                    <a:bodyPr/>
                    <a:lstStyle/>
                    <a:p>
                      <a:pPr marL="0" marR="0" lvl="0" indent="0" algn="ctr" rtl="0">
                        <a:lnSpc>
                          <a:spcPct val="100000"/>
                        </a:lnSpc>
                        <a:spcBef>
                          <a:spcPts val="0"/>
                        </a:spcBef>
                        <a:spcAft>
                          <a:spcPts val="0"/>
                        </a:spcAft>
                        <a:buNone/>
                      </a:pPr>
                      <a:r>
                        <a:rPr lang="fr-FR" sz="2000" u="none" strike="noStrike" cap="none"/>
                        <a:t>1</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7h00</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10 mn</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2</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1"/>
                  </a:ext>
                </a:extLst>
              </a:tr>
              <a:tr h="438675">
                <a:tc>
                  <a:txBody>
                    <a:bodyPr/>
                    <a:lstStyle/>
                    <a:p>
                      <a:pPr marL="0" marR="0" lvl="0" indent="0" algn="ctr" rtl="0">
                        <a:lnSpc>
                          <a:spcPct val="100000"/>
                        </a:lnSpc>
                        <a:spcBef>
                          <a:spcPts val="0"/>
                        </a:spcBef>
                        <a:spcAft>
                          <a:spcPts val="0"/>
                        </a:spcAft>
                        <a:buNone/>
                      </a:pPr>
                      <a:r>
                        <a:rPr lang="fr-FR" sz="2000" u="none" strike="noStrike" cap="none"/>
                        <a:t>2</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fr-FR" sz="2000" u="none" strike="noStrike" cap="none"/>
                        <a:t>7h00</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fr-FR" sz="2000" u="none" strike="noStrike" cap="none"/>
                        <a:t>15 mn</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3</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2"/>
                  </a:ext>
                </a:extLst>
              </a:tr>
              <a:tr h="438675">
                <a:tc>
                  <a:txBody>
                    <a:bodyPr/>
                    <a:lstStyle/>
                    <a:p>
                      <a:pPr marL="0" marR="0" lvl="0" indent="0" algn="ctr" rtl="0">
                        <a:lnSpc>
                          <a:spcPct val="100000"/>
                        </a:lnSpc>
                        <a:spcBef>
                          <a:spcPts val="0"/>
                        </a:spcBef>
                        <a:spcAft>
                          <a:spcPts val="0"/>
                        </a:spcAft>
                        <a:buNone/>
                      </a:pPr>
                      <a:r>
                        <a:rPr lang="fr-FR" sz="2000" u="none" strike="noStrike" cap="none"/>
                        <a:t>3</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fr-FR" sz="2000" u="none" strike="noStrike" cap="none"/>
                        <a:t>7h03</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fr-FR" sz="2000" u="none" strike="noStrike" cap="none"/>
                        <a:t>8 mn</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4</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3"/>
                  </a:ext>
                </a:extLst>
              </a:tr>
              <a:tr h="438675">
                <a:tc>
                  <a:txBody>
                    <a:bodyPr/>
                    <a:lstStyle/>
                    <a:p>
                      <a:pPr marL="0" marR="0" lvl="0" indent="0" algn="ctr" rtl="0">
                        <a:lnSpc>
                          <a:spcPct val="100000"/>
                        </a:lnSpc>
                        <a:spcBef>
                          <a:spcPts val="0"/>
                        </a:spcBef>
                        <a:spcAft>
                          <a:spcPts val="0"/>
                        </a:spcAft>
                        <a:buNone/>
                      </a:pPr>
                      <a:r>
                        <a:rPr lang="fr-FR" sz="2000" u="none" strike="noStrike" cap="none"/>
                        <a:t>4</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fr-FR" sz="2000" u="none" strike="noStrike" cap="none"/>
                        <a:t>7h10</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Clr>
                          <a:srgbClr val="000000"/>
                        </a:buClr>
                        <a:buSzPts val="2000"/>
                        <a:buFont typeface="Arial"/>
                        <a:buNone/>
                      </a:pPr>
                      <a:r>
                        <a:rPr lang="fr-FR" sz="2000" u="none" strike="noStrike" cap="none"/>
                        <a:t>18 mn</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tc>
                  <a:txBody>
                    <a:bodyPr/>
                    <a:lstStyle/>
                    <a:p>
                      <a:pPr marL="0" marR="0" lvl="0" indent="0" algn="ctr" rtl="0">
                        <a:lnSpc>
                          <a:spcPct val="100000"/>
                        </a:lnSpc>
                        <a:spcBef>
                          <a:spcPts val="0"/>
                        </a:spcBef>
                        <a:spcAft>
                          <a:spcPts val="0"/>
                        </a:spcAft>
                        <a:buNone/>
                      </a:pPr>
                      <a:r>
                        <a:rPr lang="fr-FR" sz="2000" u="none" strike="noStrike" cap="none"/>
                        <a:t>5</a:t>
                      </a:r>
                      <a:endParaRPr sz="2000" b="1" u="none" strike="noStrike" cap="none">
                        <a:solidFill>
                          <a:schemeClr val="dk1"/>
                        </a:solidFill>
                        <a:latin typeface="Times New Roman"/>
                        <a:ea typeface="Times New Roman"/>
                        <a:cs typeface="Times New Roman"/>
                        <a:sym typeface="Times New Roman"/>
                      </a:endParaRPr>
                    </a:p>
                  </a:txBody>
                  <a:tcPr marL="91450" marR="91450" marT="45725" marB="45725"/>
                </a:tc>
                <a:extLst>
                  <a:ext uri="{0D108BD9-81ED-4DB2-BD59-A6C34878D82A}">
                    <a16:rowId xmlns:a16="http://schemas.microsoft.com/office/drawing/2014/main" val="10004"/>
                  </a:ext>
                </a:extLst>
              </a:tr>
            </a:tbl>
          </a:graphicData>
        </a:graphic>
      </p:graphicFrame>
      <p:sp>
        <p:nvSpPr>
          <p:cNvPr id="1798" name="Google Shape;1798;p151"/>
          <p:cNvSpPr/>
          <p:nvPr/>
        </p:nvSpPr>
        <p:spPr>
          <a:xfrm>
            <a:off x="355422" y="5640812"/>
            <a:ext cx="8123560" cy="132343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A- On suppose qu’on utilise un algorithme d’ordonnancement basé sur la priorité (les priorités sont décroissantes : 5 est le plus prioritaire). Donnez le diagramme de Gantt pour les priorités données dans le tableau</a:t>
            </a:r>
            <a:r>
              <a:rPr lang="fr-FR" sz="1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802"/>
        <p:cNvGrpSpPr/>
        <p:nvPr/>
      </p:nvGrpSpPr>
      <p:grpSpPr>
        <a:xfrm>
          <a:off x="0" y="0"/>
          <a:ext cx="0" cy="0"/>
          <a:chOff x="0" y="0"/>
          <a:chExt cx="0" cy="0"/>
        </a:xfrm>
      </p:grpSpPr>
      <p:sp>
        <p:nvSpPr>
          <p:cNvPr id="1803" name="Google Shape;1803;p152"/>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SOLUTION</a:t>
            </a:r>
            <a:r>
              <a:rPr lang="fr-FR"/>
              <a:t> </a:t>
            </a:r>
            <a:endParaRPr/>
          </a:p>
        </p:txBody>
      </p:sp>
      <p:sp>
        <p:nvSpPr>
          <p:cNvPr id="1804" name="Google Shape;1804;p152"/>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69</a:t>
            </a:fld>
            <a:endParaRPr/>
          </a:p>
        </p:txBody>
      </p:sp>
      <p:sp>
        <p:nvSpPr>
          <p:cNvPr id="1805" name="Google Shape;1805;p152"/>
          <p:cNvSpPr/>
          <p:nvPr/>
        </p:nvSpPr>
        <p:spPr>
          <a:xfrm>
            <a:off x="145473" y="1892840"/>
            <a:ext cx="7668490" cy="132343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fr-FR" sz="2000" b="1" i="0" u="sng" strike="noStrike" cap="none">
                <a:solidFill>
                  <a:schemeClr val="dk1"/>
                </a:solidFill>
                <a:latin typeface="Times New Roman"/>
                <a:ea typeface="Times New Roman"/>
                <a:cs typeface="Times New Roman"/>
                <a:sym typeface="Times New Roman"/>
              </a:rPr>
              <a:t>Priorité Statique </a:t>
            </a:r>
            <a:endParaRPr sz="2000" b="1" i="0" u="sng"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 TRM = ((28-10)+(29-3)+(41-0)+(51-0)) / 4 = 34</a:t>
            </a:r>
            <a:endParaRPr/>
          </a:p>
          <a:p>
            <a:pPr marL="0" marR="0" lvl="0" indent="0" algn="l" rtl="0">
              <a:lnSpc>
                <a:spcPct val="1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 TAM = ((18-18)+(26-8)+(41-15)+(51-10)) / 4 = 21,25</a:t>
            </a:r>
            <a:endParaRPr/>
          </a:p>
        </p:txBody>
      </p:sp>
      <p:pic>
        <p:nvPicPr>
          <p:cNvPr id="1806" name="Google Shape;1806;p152"/>
          <p:cNvPicPr preferRelativeResize="0"/>
          <p:nvPr/>
        </p:nvPicPr>
        <p:blipFill rotWithShape="1">
          <a:blip r:embed="rId3">
            <a:alphaModFix/>
          </a:blip>
          <a:srcRect/>
          <a:stretch/>
        </p:blipFill>
        <p:spPr>
          <a:xfrm>
            <a:off x="298727" y="3281517"/>
            <a:ext cx="8060025" cy="2786774"/>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810"/>
        <p:cNvGrpSpPr/>
        <p:nvPr/>
      </p:nvGrpSpPr>
      <p:grpSpPr>
        <a:xfrm>
          <a:off x="0" y="0"/>
          <a:ext cx="0" cy="0"/>
          <a:chOff x="0" y="0"/>
          <a:chExt cx="0" cy="0"/>
        </a:xfrm>
      </p:grpSpPr>
      <p:sp>
        <p:nvSpPr>
          <p:cNvPr id="1811" name="Google Shape;1811;p153"/>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Exercices</a:t>
            </a:r>
            <a:r>
              <a:rPr lang="fr-FR"/>
              <a:t> </a:t>
            </a:r>
            <a:endParaRPr/>
          </a:p>
        </p:txBody>
      </p:sp>
      <p:sp>
        <p:nvSpPr>
          <p:cNvPr id="1812" name="Google Shape;1812;p153"/>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70</a:t>
            </a:fld>
            <a:endParaRPr/>
          </a:p>
        </p:txBody>
      </p:sp>
      <p:sp>
        <p:nvSpPr>
          <p:cNvPr id="1813" name="Google Shape;1813;p153"/>
          <p:cNvSpPr/>
          <p:nvPr/>
        </p:nvSpPr>
        <p:spPr>
          <a:xfrm>
            <a:off x="355422" y="1205898"/>
            <a:ext cx="8788578" cy="501675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B- On voudrait que la priorité des processus soit dynamique au cours du temps. Ainsi, pour calculer la priorité d’un processus, on utilise la formule suivante :</a:t>
            </a:r>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fr-FR" sz="2000" b="1" i="0" u="sng" strike="noStrike" cap="none">
                <a:solidFill>
                  <a:schemeClr val="dk1"/>
                </a:solidFill>
                <a:latin typeface="Times New Roman"/>
                <a:ea typeface="Times New Roman"/>
                <a:cs typeface="Times New Roman"/>
                <a:sym typeface="Times New Roman"/>
              </a:rPr>
              <a:t>Remarque </a:t>
            </a:r>
            <a:r>
              <a:rPr lang="fr-FR" sz="2000" b="1" i="0" u="none" strike="noStrike" cap="none">
                <a:solidFill>
                  <a:schemeClr val="dk1"/>
                </a:solidFill>
                <a:latin typeface="Times New Roman"/>
                <a:ea typeface="Times New Roman"/>
                <a:cs typeface="Times New Roman"/>
                <a:sym typeface="Times New Roman"/>
              </a:rPr>
              <a:t>: Lors des calculs, on arrondira suivant l’exemple suivant : 3.5 ou 3.6 -&gt; 4, 3.1 ou 3.4 -&gt; 3.</a:t>
            </a:r>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1. Donnez le diagramme de Gantt sachant que la priorité est recalculée toutes les 5 minutes.</a:t>
            </a:r>
            <a:endParaRPr/>
          </a:p>
          <a:p>
            <a:pPr marL="0" marR="0" lvl="0" indent="0" algn="l" rtl="0">
              <a:lnSpc>
                <a:spcPct val="1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2. Calculez le temps d’attente moyen ainsi que le temps de rotation moyen.</a:t>
            </a:r>
            <a:endParaRPr/>
          </a:p>
          <a:p>
            <a:pPr marL="0" marR="0" lvl="0" indent="0" algn="l" rtl="0">
              <a:lnSpc>
                <a:spcPct val="100000"/>
              </a:lnSpc>
              <a:spcBef>
                <a:spcPts val="0"/>
              </a:spcBef>
              <a:spcAft>
                <a:spcPts val="0"/>
              </a:spcAft>
              <a:buNone/>
            </a:pPr>
            <a:r>
              <a:rPr lang="fr-FR" sz="2000" b="1" i="0" u="none" strike="noStrike" cap="none">
                <a:solidFill>
                  <a:schemeClr val="dk1"/>
                </a:solidFill>
                <a:latin typeface="Times New Roman"/>
                <a:ea typeface="Times New Roman"/>
                <a:cs typeface="Times New Roman"/>
                <a:sym typeface="Times New Roman"/>
              </a:rPr>
              <a:t>3. Comparez les résultats obtenus par rapport à ceux obtenus avec l’algorithme de priorité classique.</a:t>
            </a:r>
            <a:endParaRPr/>
          </a:p>
        </p:txBody>
      </p:sp>
      <p:pic>
        <p:nvPicPr>
          <p:cNvPr id="1814" name="Google Shape;1814;p153"/>
          <p:cNvPicPr preferRelativeResize="0"/>
          <p:nvPr/>
        </p:nvPicPr>
        <p:blipFill rotWithShape="1">
          <a:blip r:embed="rId3">
            <a:alphaModFix/>
          </a:blip>
          <a:srcRect/>
          <a:stretch/>
        </p:blipFill>
        <p:spPr>
          <a:xfrm>
            <a:off x="542913" y="2306780"/>
            <a:ext cx="7494104" cy="1205348"/>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818"/>
        <p:cNvGrpSpPr/>
        <p:nvPr/>
      </p:nvGrpSpPr>
      <p:grpSpPr>
        <a:xfrm>
          <a:off x="0" y="0"/>
          <a:ext cx="0" cy="0"/>
          <a:chOff x="0" y="0"/>
          <a:chExt cx="0" cy="0"/>
        </a:xfrm>
      </p:grpSpPr>
      <p:sp>
        <p:nvSpPr>
          <p:cNvPr id="1819" name="Google Shape;1819;p154"/>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SOLUTION</a:t>
            </a:r>
            <a:r>
              <a:rPr lang="fr-FR"/>
              <a:t> </a:t>
            </a:r>
            <a:endParaRPr/>
          </a:p>
        </p:txBody>
      </p:sp>
      <p:sp>
        <p:nvSpPr>
          <p:cNvPr id="1820" name="Google Shape;1820;p154"/>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71</a:t>
            </a:fld>
            <a:endParaRPr/>
          </a:p>
        </p:txBody>
      </p:sp>
      <p:pic>
        <p:nvPicPr>
          <p:cNvPr id="1821" name="Google Shape;1821;p154"/>
          <p:cNvPicPr preferRelativeResize="0"/>
          <p:nvPr/>
        </p:nvPicPr>
        <p:blipFill rotWithShape="1">
          <a:blip r:embed="rId3">
            <a:alphaModFix/>
          </a:blip>
          <a:srcRect/>
          <a:stretch/>
        </p:blipFill>
        <p:spPr>
          <a:xfrm>
            <a:off x="0" y="3839205"/>
            <a:ext cx="8753659" cy="2817270"/>
          </a:xfrm>
          <a:prstGeom prst="rect">
            <a:avLst/>
          </a:prstGeom>
          <a:noFill/>
          <a:ln>
            <a:noFill/>
          </a:ln>
        </p:spPr>
      </p:pic>
      <p:pic>
        <p:nvPicPr>
          <p:cNvPr id="1822" name="Google Shape;1822;p154"/>
          <p:cNvPicPr preferRelativeResize="0"/>
          <p:nvPr/>
        </p:nvPicPr>
        <p:blipFill rotWithShape="1">
          <a:blip r:embed="rId4">
            <a:alphaModFix/>
          </a:blip>
          <a:srcRect/>
          <a:stretch/>
        </p:blipFill>
        <p:spPr>
          <a:xfrm>
            <a:off x="263872" y="1377604"/>
            <a:ext cx="8606316" cy="2273988"/>
          </a:xfrm>
          <a:prstGeom prst="rect">
            <a:avLst/>
          </a:prstGeom>
          <a:noFill/>
          <a:ln>
            <a:no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826"/>
        <p:cNvGrpSpPr/>
        <p:nvPr/>
      </p:nvGrpSpPr>
      <p:grpSpPr>
        <a:xfrm>
          <a:off x="0" y="0"/>
          <a:ext cx="0" cy="0"/>
          <a:chOff x="0" y="0"/>
          <a:chExt cx="0" cy="0"/>
        </a:xfrm>
      </p:grpSpPr>
      <p:sp>
        <p:nvSpPr>
          <p:cNvPr id="1827" name="Google Shape;1827;p155"/>
          <p:cNvSpPr txBox="1">
            <a:spLocks noGrp="1"/>
          </p:cNvSpPr>
          <p:nvPr>
            <p:ph type="title"/>
          </p:nvPr>
        </p:nvSpPr>
        <p:spPr>
          <a:xfrm>
            <a:off x="2454385" y="180408"/>
            <a:ext cx="4225290" cy="635000"/>
          </a:xfrm>
          <a:prstGeom prst="rect">
            <a:avLst/>
          </a:prstGeom>
          <a:noFill/>
          <a:ln>
            <a:noFill/>
          </a:ln>
        </p:spPr>
        <p:txBody>
          <a:bodyPr spcFirstLastPara="1" wrap="square" lIns="0" tIns="12050" rIns="0" bIns="0" anchor="t" anchorCtr="0">
            <a:spAutoFit/>
          </a:bodyPr>
          <a:lstStyle/>
          <a:p>
            <a:pPr marL="12700" lvl="0" indent="0" algn="ctr" rtl="0">
              <a:lnSpc>
                <a:spcPct val="100000"/>
              </a:lnSpc>
              <a:spcBef>
                <a:spcPts val="0"/>
              </a:spcBef>
              <a:spcAft>
                <a:spcPts val="0"/>
              </a:spcAft>
              <a:buSzPts val="1400"/>
              <a:buNone/>
            </a:pPr>
            <a:r>
              <a:rPr lang="fr-FR">
                <a:solidFill>
                  <a:schemeClr val="dk2"/>
                </a:solidFill>
              </a:rPr>
              <a:t>SOLUTION</a:t>
            </a:r>
            <a:r>
              <a:rPr lang="fr-FR"/>
              <a:t> </a:t>
            </a:r>
            <a:endParaRPr/>
          </a:p>
        </p:txBody>
      </p:sp>
      <p:sp>
        <p:nvSpPr>
          <p:cNvPr id="1828" name="Google Shape;1828;p155"/>
          <p:cNvSpPr txBox="1">
            <a:spLocks noGrp="1"/>
          </p:cNvSpPr>
          <p:nvPr>
            <p:ph type="sldNum" idx="12"/>
          </p:nvPr>
        </p:nvSpPr>
        <p:spPr>
          <a:xfrm>
            <a:off x="8870188" y="6656475"/>
            <a:ext cx="206375" cy="177800"/>
          </a:xfrm>
          <a:prstGeom prst="rect">
            <a:avLst/>
          </a:prstGeom>
          <a:noFill/>
          <a:ln>
            <a:noFill/>
          </a:ln>
        </p:spPr>
        <p:txBody>
          <a:bodyPr spcFirstLastPara="1" wrap="square" lIns="0" tIns="0" rIns="0" bIns="0" anchor="t" anchorCtr="0">
            <a:spAutoFit/>
          </a:bodyPr>
          <a:lstStyle/>
          <a:p>
            <a:pPr marL="25400" lvl="0" indent="0" algn="l" rtl="0">
              <a:lnSpc>
                <a:spcPct val="103333"/>
              </a:lnSpc>
              <a:spcBef>
                <a:spcPts val="0"/>
              </a:spcBef>
              <a:spcAft>
                <a:spcPts val="0"/>
              </a:spcAft>
              <a:buSzPts val="1200"/>
              <a:buNone/>
            </a:pPr>
            <a:fld id="{00000000-1234-1234-1234-123412341234}" type="slidenum">
              <a:rPr lang="fr-FR"/>
              <a:t>72</a:t>
            </a:fld>
            <a:endParaRPr/>
          </a:p>
        </p:txBody>
      </p:sp>
      <p:sp>
        <p:nvSpPr>
          <p:cNvPr id="1829" name="Google Shape;1829;p155"/>
          <p:cNvSpPr/>
          <p:nvPr/>
        </p:nvSpPr>
        <p:spPr>
          <a:xfrm>
            <a:off x="207816" y="1451843"/>
            <a:ext cx="8142825" cy="132343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fr-FR" sz="2000" b="1" i="0" u="sng" strike="noStrike" cap="none">
                <a:solidFill>
                  <a:schemeClr val="dk1"/>
                </a:solidFill>
                <a:latin typeface="Times New Roman"/>
                <a:ea typeface="Times New Roman"/>
                <a:cs typeface="Times New Roman"/>
                <a:sym typeface="Times New Roman"/>
              </a:rPr>
              <a:t>Priorité Dynamique </a:t>
            </a:r>
            <a:endParaRPr/>
          </a:p>
          <a:p>
            <a:pPr marL="0" marR="0" lvl="0" indent="0" algn="l" rtl="0">
              <a:lnSpc>
                <a:spcPct val="100000"/>
              </a:lnSpc>
              <a:spcBef>
                <a:spcPts val="0"/>
              </a:spcBef>
              <a:spcAft>
                <a:spcPts val="0"/>
              </a:spcAft>
              <a:buNone/>
            </a:pPr>
            <a:endParaRPr sz="2000" b="1" i="0" u="none" strike="noStrike" cap="none">
              <a:solidFill>
                <a:schemeClr val="dk1"/>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2000"/>
              <a:buFont typeface="Noto Sans Symbols"/>
              <a:buChar char="▪"/>
            </a:pPr>
            <a:r>
              <a:rPr lang="fr-FR" sz="2000" b="1" i="0" u="none" strike="noStrike" cap="none">
                <a:solidFill>
                  <a:schemeClr val="dk1"/>
                </a:solidFill>
                <a:latin typeface="Times New Roman"/>
                <a:ea typeface="Times New Roman"/>
                <a:cs typeface="Times New Roman"/>
                <a:sym typeface="Times New Roman"/>
              </a:rPr>
              <a:t>TRM = ((30-0)+(47-0)+(41-3)+(51-10)) / 4 = 39</a:t>
            </a:r>
            <a:endParaRPr sz="2000" b="1" i="0" u="none" strike="noStrike" cap="none">
              <a:solidFill>
                <a:schemeClr val="dk1"/>
              </a:solidFill>
              <a:latin typeface="Times New Roman"/>
              <a:ea typeface="Times New Roman"/>
              <a:cs typeface="Times New Roman"/>
              <a:sym typeface="Times New Roman"/>
            </a:endParaRPr>
          </a:p>
          <a:p>
            <a:pPr marL="285750" marR="0" lvl="0" indent="-285750" algn="l" rtl="0">
              <a:lnSpc>
                <a:spcPct val="100000"/>
              </a:lnSpc>
              <a:spcBef>
                <a:spcPts val="0"/>
              </a:spcBef>
              <a:spcAft>
                <a:spcPts val="0"/>
              </a:spcAft>
              <a:buClr>
                <a:srgbClr val="000000"/>
              </a:buClr>
              <a:buSzPts val="2000"/>
              <a:buFont typeface="Noto Sans Symbols"/>
              <a:buChar char="▪"/>
            </a:pPr>
            <a:r>
              <a:rPr lang="fr-FR" sz="2000" b="1" i="0" u="none" strike="noStrike" cap="none">
                <a:solidFill>
                  <a:schemeClr val="dk1"/>
                </a:solidFill>
                <a:latin typeface="Times New Roman"/>
                <a:ea typeface="Times New Roman"/>
                <a:cs typeface="Times New Roman"/>
                <a:sym typeface="Times New Roman"/>
              </a:rPr>
              <a:t> TAM = ((30-0-10)+(47-0-15)+(41-3-8)+(51-10-18)) / 4 = 26,25</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31748" y="2163635"/>
            <a:ext cx="6276975" cy="1362710"/>
          </a:xfrm>
          <a:prstGeom prst="rect">
            <a:avLst/>
          </a:prstGeom>
        </p:spPr>
        <p:txBody>
          <a:bodyPr vert="horz" wrap="square" lIns="0" tIns="29209" rIns="0" bIns="0" rtlCol="0">
            <a:spAutoFit/>
          </a:bodyPr>
          <a:lstStyle/>
          <a:p>
            <a:pPr marL="12700" marR="5080" indent="127000">
              <a:lnSpc>
                <a:spcPts val="5250"/>
              </a:lnSpc>
              <a:spcBef>
                <a:spcPts val="229"/>
              </a:spcBef>
            </a:pPr>
            <a:r>
              <a:rPr sz="4400" spc="-5"/>
              <a:t>Chapitre3 </a:t>
            </a:r>
            <a:r>
              <a:rPr sz="4400"/>
              <a:t>: </a:t>
            </a:r>
            <a:r>
              <a:rPr sz="4400" spc="-5"/>
              <a:t>Les </a:t>
            </a:r>
            <a:r>
              <a:rPr sz="4400" spc="-10"/>
              <a:t>Processus </a:t>
            </a:r>
            <a:r>
              <a:rPr sz="4400"/>
              <a:t>: </a:t>
            </a:r>
            <a:r>
              <a:rPr sz="4400" spc="5"/>
              <a:t> </a:t>
            </a:r>
            <a:r>
              <a:rPr sz="4400" spc="-5"/>
              <a:t>Création</a:t>
            </a:r>
            <a:r>
              <a:rPr sz="4400" spc="-50"/>
              <a:t> </a:t>
            </a:r>
            <a:r>
              <a:rPr sz="4400" spc="-5"/>
              <a:t>et</a:t>
            </a:r>
            <a:r>
              <a:rPr sz="4400" spc="-55"/>
              <a:t> </a:t>
            </a:r>
            <a:r>
              <a:rPr sz="4400" spc="-5"/>
              <a:t>synchronisation</a:t>
            </a:r>
            <a:endParaRPr sz="44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7323" y="477711"/>
            <a:ext cx="3126740" cy="695960"/>
          </a:xfrm>
          <a:prstGeom prst="rect">
            <a:avLst/>
          </a:prstGeom>
        </p:spPr>
        <p:txBody>
          <a:bodyPr vert="horz" wrap="square" lIns="0" tIns="12700" rIns="0" bIns="0" rtlCol="0">
            <a:spAutoFit/>
          </a:bodyPr>
          <a:lstStyle/>
          <a:p>
            <a:pPr marL="12700">
              <a:lnSpc>
                <a:spcPct val="100000"/>
              </a:lnSpc>
              <a:spcBef>
                <a:spcPts val="100"/>
              </a:spcBef>
            </a:pPr>
            <a:r>
              <a:rPr sz="4400" spc="-5"/>
              <a:t>Les</a:t>
            </a:r>
            <a:r>
              <a:rPr sz="4400" spc="-90"/>
              <a:t> </a:t>
            </a:r>
            <a:r>
              <a:rPr sz="4400" spc="-5"/>
              <a:t>processus</a:t>
            </a:r>
            <a:endParaRPr sz="4400"/>
          </a:p>
        </p:txBody>
      </p:sp>
      <p:pic>
        <p:nvPicPr>
          <p:cNvPr id="3" name="object 3"/>
          <p:cNvPicPr/>
          <p:nvPr/>
        </p:nvPicPr>
        <p:blipFill>
          <a:blip r:embed="rId2" cstate="print"/>
          <a:stretch>
            <a:fillRect/>
          </a:stretch>
        </p:blipFill>
        <p:spPr>
          <a:xfrm>
            <a:off x="457200" y="1450720"/>
            <a:ext cx="8072493" cy="4786345"/>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36947" y="390588"/>
            <a:ext cx="6062980" cy="452120"/>
          </a:xfrm>
          <a:prstGeom prst="rect">
            <a:avLst/>
          </a:prstGeom>
        </p:spPr>
        <p:txBody>
          <a:bodyPr vert="horz" wrap="square" lIns="0" tIns="12700" rIns="0" bIns="0" rtlCol="0">
            <a:spAutoFit/>
          </a:bodyPr>
          <a:lstStyle/>
          <a:p>
            <a:pPr marL="12700">
              <a:lnSpc>
                <a:spcPct val="100000"/>
              </a:lnSpc>
              <a:spcBef>
                <a:spcPts val="100"/>
              </a:spcBef>
            </a:pPr>
            <a:r>
              <a:rPr sz="2800" spc="-5"/>
              <a:t>Différence</a:t>
            </a:r>
            <a:r>
              <a:rPr sz="2800" spc="-25"/>
              <a:t> </a:t>
            </a:r>
            <a:r>
              <a:rPr sz="2800" spc="-5"/>
              <a:t>entre</a:t>
            </a:r>
            <a:r>
              <a:rPr sz="2800" spc="-25"/>
              <a:t> </a:t>
            </a:r>
            <a:r>
              <a:rPr sz="2800" spc="-5"/>
              <a:t>programme</a:t>
            </a:r>
            <a:r>
              <a:rPr sz="2800" spc="-25"/>
              <a:t> </a:t>
            </a:r>
            <a:r>
              <a:rPr sz="2800" spc="-5"/>
              <a:t>et</a:t>
            </a:r>
            <a:r>
              <a:rPr sz="2800" spc="-20"/>
              <a:t> </a:t>
            </a:r>
            <a:r>
              <a:rPr sz="2800" spc="-5"/>
              <a:t>processus</a:t>
            </a:r>
            <a:endParaRPr sz="2800"/>
          </a:p>
        </p:txBody>
      </p:sp>
      <p:pic>
        <p:nvPicPr>
          <p:cNvPr id="3" name="object 3"/>
          <p:cNvPicPr/>
          <p:nvPr/>
        </p:nvPicPr>
        <p:blipFill>
          <a:blip r:embed="rId2" cstate="print"/>
          <a:stretch>
            <a:fillRect/>
          </a:stretch>
        </p:blipFill>
        <p:spPr>
          <a:xfrm>
            <a:off x="457200" y="1302487"/>
            <a:ext cx="8181974" cy="2190749"/>
          </a:xfrm>
          <a:prstGeom prst="rect">
            <a:avLst/>
          </a:prstGeom>
        </p:spPr>
      </p:pic>
      <p:pic>
        <p:nvPicPr>
          <p:cNvPr id="4" name="object 4"/>
          <p:cNvPicPr/>
          <p:nvPr/>
        </p:nvPicPr>
        <p:blipFill>
          <a:blip r:embed="rId3" cstate="print"/>
          <a:stretch>
            <a:fillRect/>
          </a:stretch>
        </p:blipFill>
        <p:spPr>
          <a:xfrm>
            <a:off x="428625" y="3789040"/>
            <a:ext cx="8210549" cy="2276474"/>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007323" y="477711"/>
            <a:ext cx="3126740" cy="695960"/>
          </a:xfrm>
          <a:prstGeom prst="rect">
            <a:avLst/>
          </a:prstGeom>
        </p:spPr>
        <p:txBody>
          <a:bodyPr vert="horz" wrap="square" lIns="0" tIns="12700" rIns="0" bIns="0" rtlCol="0">
            <a:spAutoFit/>
          </a:bodyPr>
          <a:lstStyle/>
          <a:p>
            <a:pPr marL="12700">
              <a:lnSpc>
                <a:spcPct val="100000"/>
              </a:lnSpc>
              <a:spcBef>
                <a:spcPts val="100"/>
              </a:spcBef>
            </a:pPr>
            <a:r>
              <a:rPr sz="4400" spc="-5"/>
              <a:t>Les</a:t>
            </a:r>
            <a:r>
              <a:rPr sz="4400" spc="-90"/>
              <a:t> </a:t>
            </a:r>
            <a:r>
              <a:rPr sz="4400" spc="-5"/>
              <a:t>processus</a:t>
            </a:r>
            <a:endParaRPr sz="4400"/>
          </a:p>
        </p:txBody>
      </p:sp>
      <p:pic>
        <p:nvPicPr>
          <p:cNvPr id="3" name="object 3"/>
          <p:cNvPicPr/>
          <p:nvPr/>
        </p:nvPicPr>
        <p:blipFill>
          <a:blip r:embed="rId2" cstate="print"/>
          <a:stretch>
            <a:fillRect/>
          </a:stretch>
        </p:blipFill>
        <p:spPr>
          <a:xfrm>
            <a:off x="361950" y="1471636"/>
            <a:ext cx="8420099" cy="5314949"/>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3244" y="477711"/>
            <a:ext cx="4673600" cy="695960"/>
          </a:xfrm>
          <a:prstGeom prst="rect">
            <a:avLst/>
          </a:prstGeom>
        </p:spPr>
        <p:txBody>
          <a:bodyPr vert="horz" wrap="square" lIns="0" tIns="12700" rIns="0" bIns="0" rtlCol="0">
            <a:spAutoFit/>
          </a:bodyPr>
          <a:lstStyle/>
          <a:p>
            <a:pPr marL="12700">
              <a:lnSpc>
                <a:spcPct val="100000"/>
              </a:lnSpc>
              <a:spcBef>
                <a:spcPts val="100"/>
              </a:spcBef>
            </a:pPr>
            <a:r>
              <a:rPr sz="4400" spc="-5"/>
              <a:t>Etats</a:t>
            </a:r>
            <a:r>
              <a:rPr sz="4400" spc="-50"/>
              <a:t> </a:t>
            </a:r>
            <a:r>
              <a:rPr sz="4400" spc="-5"/>
              <a:t>d’un</a:t>
            </a:r>
            <a:r>
              <a:rPr sz="4400" spc="-45"/>
              <a:t> </a:t>
            </a:r>
            <a:r>
              <a:rPr sz="4400" spc="-5"/>
              <a:t>processus</a:t>
            </a:r>
            <a:endParaRPr sz="4400"/>
          </a:p>
        </p:txBody>
      </p:sp>
      <p:pic>
        <p:nvPicPr>
          <p:cNvPr id="3" name="object 3"/>
          <p:cNvPicPr/>
          <p:nvPr/>
        </p:nvPicPr>
        <p:blipFill>
          <a:blip r:embed="rId2" cstate="print"/>
          <a:stretch>
            <a:fillRect/>
          </a:stretch>
        </p:blipFill>
        <p:spPr>
          <a:xfrm>
            <a:off x="357158" y="1571612"/>
            <a:ext cx="8353424" cy="5276849"/>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76325" y="842962"/>
            <a:ext cx="6934199" cy="5114924"/>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861469" y="477711"/>
            <a:ext cx="1419225" cy="695960"/>
          </a:xfrm>
          <a:prstGeom prst="rect">
            <a:avLst/>
          </a:prstGeom>
        </p:spPr>
        <p:txBody>
          <a:bodyPr vert="horz" wrap="square" lIns="0" tIns="12700" rIns="0" bIns="0" rtlCol="0">
            <a:spAutoFit/>
          </a:bodyPr>
          <a:lstStyle/>
          <a:p>
            <a:pPr marL="12700">
              <a:lnSpc>
                <a:spcPct val="100000"/>
              </a:lnSpc>
              <a:spcBef>
                <a:spcPts val="100"/>
              </a:spcBef>
            </a:pPr>
            <a:r>
              <a:rPr sz="4400" spc="-5"/>
              <a:t>Image</a:t>
            </a:r>
            <a:endParaRPr sz="4400"/>
          </a:p>
        </p:txBody>
      </p:sp>
      <p:grpSp>
        <p:nvGrpSpPr>
          <p:cNvPr id="3" name="object 3"/>
          <p:cNvGrpSpPr/>
          <p:nvPr/>
        </p:nvGrpSpPr>
        <p:grpSpPr>
          <a:xfrm>
            <a:off x="266720" y="1307195"/>
            <a:ext cx="8324850" cy="4767580"/>
            <a:chOff x="266720" y="1307195"/>
            <a:chExt cx="8324850" cy="4767580"/>
          </a:xfrm>
        </p:grpSpPr>
        <p:pic>
          <p:nvPicPr>
            <p:cNvPr id="4" name="object 4"/>
            <p:cNvPicPr/>
            <p:nvPr/>
          </p:nvPicPr>
          <p:blipFill>
            <a:blip r:embed="rId2" cstate="print"/>
            <a:stretch>
              <a:fillRect/>
            </a:stretch>
          </p:blipFill>
          <p:spPr>
            <a:xfrm>
              <a:off x="266720" y="1307195"/>
              <a:ext cx="8324849" cy="4767279"/>
            </a:xfrm>
            <a:prstGeom prst="rect">
              <a:avLst/>
            </a:prstGeom>
          </p:spPr>
        </p:pic>
        <p:pic>
          <p:nvPicPr>
            <p:cNvPr id="5" name="object 5"/>
            <p:cNvPicPr/>
            <p:nvPr/>
          </p:nvPicPr>
          <p:blipFill>
            <a:blip r:embed="rId3" cstate="print"/>
            <a:stretch>
              <a:fillRect/>
            </a:stretch>
          </p:blipFill>
          <p:spPr>
            <a:xfrm>
              <a:off x="7429520" y="1688655"/>
              <a:ext cx="1162049" cy="4114799"/>
            </a:xfrm>
            <a:prstGeom prst="rect">
              <a:avLst/>
            </a:prstGeom>
          </p:spPr>
        </p:pic>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3450" y="477711"/>
            <a:ext cx="5147945" cy="695960"/>
          </a:xfrm>
          <a:prstGeom prst="rect">
            <a:avLst/>
          </a:prstGeom>
        </p:spPr>
        <p:txBody>
          <a:bodyPr vert="horz" wrap="square" lIns="0" tIns="12700" rIns="0" bIns="0" rtlCol="0">
            <a:spAutoFit/>
          </a:bodyPr>
          <a:lstStyle/>
          <a:p>
            <a:pPr marL="12700">
              <a:lnSpc>
                <a:spcPct val="100000"/>
              </a:lnSpc>
              <a:spcBef>
                <a:spcPts val="100"/>
              </a:spcBef>
            </a:pPr>
            <a:r>
              <a:rPr sz="4400" spc="-10"/>
              <a:t>Processus</a:t>
            </a:r>
            <a:r>
              <a:rPr sz="4400" spc="-50"/>
              <a:t> </a:t>
            </a:r>
            <a:r>
              <a:rPr sz="4400" spc="-5"/>
              <a:t>en</a:t>
            </a:r>
            <a:r>
              <a:rPr sz="4400" spc="-50"/>
              <a:t> </a:t>
            </a:r>
            <a:r>
              <a:rPr sz="4400" spc="-5"/>
              <a:t>mémoire</a:t>
            </a:r>
            <a:endParaRPr sz="4400"/>
          </a:p>
        </p:txBody>
      </p:sp>
      <p:pic>
        <p:nvPicPr>
          <p:cNvPr id="3" name="object 3"/>
          <p:cNvPicPr/>
          <p:nvPr/>
        </p:nvPicPr>
        <p:blipFill>
          <a:blip r:embed="rId2" cstate="print"/>
          <a:stretch>
            <a:fillRect/>
          </a:stretch>
        </p:blipFill>
        <p:spPr>
          <a:xfrm>
            <a:off x="428596" y="1643050"/>
            <a:ext cx="7676283" cy="4929221"/>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93450" y="477711"/>
            <a:ext cx="5147945" cy="695960"/>
          </a:xfrm>
          <a:prstGeom prst="rect">
            <a:avLst/>
          </a:prstGeom>
        </p:spPr>
        <p:txBody>
          <a:bodyPr vert="horz" wrap="square" lIns="0" tIns="12700" rIns="0" bIns="0" rtlCol="0">
            <a:spAutoFit/>
          </a:bodyPr>
          <a:lstStyle/>
          <a:p>
            <a:pPr marL="12700">
              <a:lnSpc>
                <a:spcPct val="100000"/>
              </a:lnSpc>
              <a:spcBef>
                <a:spcPts val="100"/>
              </a:spcBef>
            </a:pPr>
            <a:r>
              <a:rPr sz="4400" spc="-10"/>
              <a:t>Processus</a:t>
            </a:r>
            <a:r>
              <a:rPr sz="4400" spc="-50"/>
              <a:t> </a:t>
            </a:r>
            <a:r>
              <a:rPr sz="4400" spc="-5"/>
              <a:t>en</a:t>
            </a:r>
            <a:r>
              <a:rPr sz="4400" spc="-50"/>
              <a:t> </a:t>
            </a:r>
            <a:r>
              <a:rPr sz="4400" spc="-5"/>
              <a:t>mémoire</a:t>
            </a:r>
            <a:endParaRPr sz="4400"/>
          </a:p>
        </p:txBody>
      </p:sp>
      <p:pic>
        <p:nvPicPr>
          <p:cNvPr id="3" name="object 3"/>
          <p:cNvPicPr/>
          <p:nvPr/>
        </p:nvPicPr>
        <p:blipFill>
          <a:blip r:embed="rId2" cstate="print"/>
          <a:stretch>
            <a:fillRect/>
          </a:stretch>
        </p:blipFill>
        <p:spPr>
          <a:xfrm>
            <a:off x="706691" y="1417638"/>
            <a:ext cx="8298037" cy="4872952"/>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305" rIns="0" bIns="0" rtlCol="0">
            <a:spAutoFit/>
          </a:bodyPr>
          <a:lstStyle/>
          <a:p>
            <a:pPr marL="2400935" marR="5080" indent="-1435735">
              <a:lnSpc>
                <a:spcPts val="4730"/>
              </a:lnSpc>
              <a:spcBef>
                <a:spcPts val="215"/>
              </a:spcBef>
            </a:pPr>
            <a:r>
              <a:t>Création de </a:t>
            </a:r>
            <a:r>
              <a:rPr spc="-5"/>
              <a:t>processus </a:t>
            </a:r>
            <a:r>
              <a:rPr spc="-880"/>
              <a:t> </a:t>
            </a:r>
            <a:r>
              <a:rPr spc="-5"/>
              <a:t>Clonage</a:t>
            </a:r>
          </a:p>
        </p:txBody>
      </p:sp>
      <p:pic>
        <p:nvPicPr>
          <p:cNvPr id="3" name="object 3"/>
          <p:cNvPicPr/>
          <p:nvPr/>
        </p:nvPicPr>
        <p:blipFill>
          <a:blip r:embed="rId2" cstate="print"/>
          <a:stretch>
            <a:fillRect/>
          </a:stretch>
        </p:blipFill>
        <p:spPr>
          <a:xfrm>
            <a:off x="1857375" y="2200291"/>
            <a:ext cx="5353049" cy="3362324"/>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053194" y="477711"/>
            <a:ext cx="5034280" cy="695960"/>
          </a:xfrm>
          <a:prstGeom prst="rect">
            <a:avLst/>
          </a:prstGeom>
        </p:spPr>
        <p:txBody>
          <a:bodyPr vert="horz" wrap="square" lIns="0" tIns="12700" rIns="0" bIns="0" rtlCol="0">
            <a:spAutoFit/>
          </a:bodyPr>
          <a:lstStyle/>
          <a:p>
            <a:pPr marL="12700">
              <a:lnSpc>
                <a:spcPct val="100000"/>
              </a:lnSpc>
              <a:spcBef>
                <a:spcPts val="100"/>
              </a:spcBef>
            </a:pPr>
            <a:r>
              <a:rPr sz="4400" spc="-5"/>
              <a:t>Création</a:t>
            </a:r>
            <a:r>
              <a:rPr sz="4400" spc="-50"/>
              <a:t> </a:t>
            </a:r>
            <a:r>
              <a:rPr sz="4400" spc="-5"/>
              <a:t>de</a:t>
            </a:r>
            <a:r>
              <a:rPr sz="4400" spc="-45"/>
              <a:t> </a:t>
            </a:r>
            <a:r>
              <a:rPr sz="4400" spc="-5"/>
              <a:t>processus</a:t>
            </a:r>
            <a:endParaRPr sz="4400"/>
          </a:p>
        </p:txBody>
      </p:sp>
      <p:pic>
        <p:nvPicPr>
          <p:cNvPr id="3" name="object 3"/>
          <p:cNvPicPr/>
          <p:nvPr/>
        </p:nvPicPr>
        <p:blipFill>
          <a:blip r:embed="rId2" cstate="print"/>
          <a:stretch>
            <a:fillRect/>
          </a:stretch>
        </p:blipFill>
        <p:spPr>
          <a:xfrm>
            <a:off x="285720" y="1571612"/>
            <a:ext cx="8324849" cy="2124074"/>
          </a:xfrm>
          <a:prstGeom prst="rect">
            <a:avLst/>
          </a:prstGeom>
        </p:spPr>
      </p:pic>
      <p:pic>
        <p:nvPicPr>
          <p:cNvPr id="4" name="object 4"/>
          <p:cNvPicPr/>
          <p:nvPr/>
        </p:nvPicPr>
        <p:blipFill>
          <a:blip r:embed="rId3" cstate="print"/>
          <a:stretch>
            <a:fillRect/>
          </a:stretch>
        </p:blipFill>
        <p:spPr>
          <a:xfrm>
            <a:off x="457200" y="3786190"/>
            <a:ext cx="4676774" cy="2486024"/>
          </a:xfrm>
          <a:prstGeom prst="rect">
            <a:avLst/>
          </a:prstGeom>
        </p:spPr>
      </p:pic>
      <p:pic>
        <p:nvPicPr>
          <p:cNvPr id="5" name="object 5"/>
          <p:cNvPicPr/>
          <p:nvPr/>
        </p:nvPicPr>
        <p:blipFill>
          <a:blip r:embed="rId4" cstate="print"/>
          <a:stretch>
            <a:fillRect/>
          </a:stretch>
        </p:blipFill>
        <p:spPr>
          <a:xfrm>
            <a:off x="5214942" y="3786190"/>
            <a:ext cx="3648075" cy="2285999"/>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3537" y="0"/>
            <a:ext cx="4533265" cy="629285"/>
          </a:xfrm>
          <a:prstGeom prst="rect">
            <a:avLst/>
          </a:prstGeom>
        </p:spPr>
        <p:txBody>
          <a:bodyPr vert="horz" wrap="square" lIns="0" tIns="13970" rIns="0" bIns="0" rtlCol="0">
            <a:spAutoFit/>
          </a:bodyPr>
          <a:lstStyle/>
          <a:p>
            <a:pPr marL="12700">
              <a:lnSpc>
                <a:spcPct val="100000"/>
              </a:lnSpc>
              <a:spcBef>
                <a:spcPts val="110"/>
              </a:spcBef>
            </a:pPr>
            <a:r>
              <a:t>Création</a:t>
            </a:r>
            <a:r>
              <a:rPr spc="-30"/>
              <a:t> </a:t>
            </a:r>
            <a:r>
              <a:t>de</a:t>
            </a:r>
            <a:r>
              <a:rPr spc="-30"/>
              <a:t> </a:t>
            </a:r>
            <a:r>
              <a:rPr spc="-5"/>
              <a:t>processus</a:t>
            </a:r>
          </a:p>
        </p:txBody>
      </p:sp>
      <p:pic>
        <p:nvPicPr>
          <p:cNvPr id="3" name="object 3"/>
          <p:cNvPicPr/>
          <p:nvPr/>
        </p:nvPicPr>
        <p:blipFill>
          <a:blip r:embed="rId2" cstate="print"/>
          <a:stretch>
            <a:fillRect/>
          </a:stretch>
        </p:blipFill>
        <p:spPr>
          <a:xfrm>
            <a:off x="401757" y="1112299"/>
            <a:ext cx="8334374" cy="4749391"/>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75343" y="213246"/>
            <a:ext cx="7984490" cy="1229360"/>
          </a:xfrm>
          <a:prstGeom prst="rect">
            <a:avLst/>
          </a:prstGeom>
        </p:spPr>
        <p:txBody>
          <a:bodyPr vert="horz" wrap="square" lIns="0" tIns="27305" rIns="0" bIns="0" rtlCol="0">
            <a:spAutoFit/>
          </a:bodyPr>
          <a:lstStyle/>
          <a:p>
            <a:pPr marL="2871470" marR="5080" indent="-2859405">
              <a:lnSpc>
                <a:spcPts val="4730"/>
              </a:lnSpc>
              <a:spcBef>
                <a:spcPts val="215"/>
              </a:spcBef>
            </a:pPr>
            <a:r>
              <a:t>Création</a:t>
            </a:r>
            <a:r>
              <a:rPr spc="-25"/>
              <a:t> </a:t>
            </a:r>
            <a:r>
              <a:t>de</a:t>
            </a:r>
            <a:r>
              <a:rPr spc="-25"/>
              <a:t> </a:t>
            </a:r>
            <a:r>
              <a:t>processus</a:t>
            </a:r>
            <a:r>
              <a:rPr spc="-30"/>
              <a:t> </a:t>
            </a:r>
            <a:r>
              <a:t>Déroulement</a:t>
            </a:r>
            <a:r>
              <a:rPr spc="-20"/>
              <a:t> </a:t>
            </a:r>
            <a:r>
              <a:t>de </a:t>
            </a:r>
            <a:r>
              <a:rPr spc="-880"/>
              <a:t> </a:t>
            </a:r>
            <a:r>
              <a:rPr spc="-5"/>
              <a:t>l’exécution</a:t>
            </a:r>
          </a:p>
        </p:txBody>
      </p:sp>
      <p:grpSp>
        <p:nvGrpSpPr>
          <p:cNvPr id="3" name="object 3"/>
          <p:cNvGrpSpPr/>
          <p:nvPr/>
        </p:nvGrpSpPr>
        <p:grpSpPr>
          <a:xfrm>
            <a:off x="214282" y="1428736"/>
            <a:ext cx="8486775" cy="5115560"/>
            <a:chOff x="214282" y="1428736"/>
            <a:chExt cx="8486775" cy="5115560"/>
          </a:xfrm>
        </p:grpSpPr>
        <p:pic>
          <p:nvPicPr>
            <p:cNvPr id="4" name="object 4"/>
            <p:cNvPicPr/>
            <p:nvPr/>
          </p:nvPicPr>
          <p:blipFill>
            <a:blip r:embed="rId2" cstate="print"/>
            <a:stretch>
              <a:fillRect/>
            </a:stretch>
          </p:blipFill>
          <p:spPr>
            <a:xfrm>
              <a:off x="214282" y="1428736"/>
              <a:ext cx="4943474" cy="3200399"/>
            </a:xfrm>
            <a:prstGeom prst="rect">
              <a:avLst/>
            </a:prstGeom>
          </p:spPr>
        </p:pic>
        <p:pic>
          <p:nvPicPr>
            <p:cNvPr id="5" name="object 5"/>
            <p:cNvPicPr/>
            <p:nvPr/>
          </p:nvPicPr>
          <p:blipFill>
            <a:blip r:embed="rId3" cstate="print"/>
            <a:stretch>
              <a:fillRect/>
            </a:stretch>
          </p:blipFill>
          <p:spPr>
            <a:xfrm>
              <a:off x="5286380" y="1647812"/>
              <a:ext cx="3333749" cy="2895599"/>
            </a:xfrm>
            <a:prstGeom prst="rect">
              <a:avLst/>
            </a:prstGeom>
          </p:spPr>
        </p:pic>
        <p:pic>
          <p:nvPicPr>
            <p:cNvPr id="6" name="object 6"/>
            <p:cNvPicPr/>
            <p:nvPr/>
          </p:nvPicPr>
          <p:blipFill>
            <a:blip r:embed="rId4" cstate="print"/>
            <a:stretch>
              <a:fillRect/>
            </a:stretch>
          </p:blipFill>
          <p:spPr>
            <a:xfrm>
              <a:off x="357158" y="4572007"/>
              <a:ext cx="8343899" cy="1971674"/>
            </a:xfrm>
            <a:prstGeom prst="rect">
              <a:avLst/>
            </a:prstGeom>
          </p:spPr>
        </p:pic>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64315" y="1556792"/>
            <a:ext cx="8215369" cy="4491044"/>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305" rIns="0" bIns="0" rtlCol="0">
            <a:spAutoFit/>
          </a:bodyPr>
          <a:lstStyle/>
          <a:p>
            <a:pPr marL="1817370" marR="5080" indent="-852169">
              <a:lnSpc>
                <a:spcPts val="4730"/>
              </a:lnSpc>
              <a:spcBef>
                <a:spcPts val="215"/>
              </a:spcBef>
            </a:pPr>
            <a:r>
              <a:t>Création de </a:t>
            </a:r>
            <a:r>
              <a:rPr spc="-5"/>
              <a:t>processus </a:t>
            </a:r>
            <a:r>
              <a:rPr spc="-880"/>
              <a:t> </a:t>
            </a:r>
            <a:r>
              <a:rPr spc="-5"/>
              <a:t>Arborescence</a:t>
            </a:r>
          </a:p>
        </p:txBody>
      </p:sp>
      <p:pic>
        <p:nvPicPr>
          <p:cNvPr id="3" name="object 3"/>
          <p:cNvPicPr/>
          <p:nvPr/>
        </p:nvPicPr>
        <p:blipFill>
          <a:blip r:embed="rId2" cstate="print"/>
          <a:stretch>
            <a:fillRect/>
          </a:stretch>
        </p:blipFill>
        <p:spPr>
          <a:xfrm>
            <a:off x="428596" y="2071678"/>
            <a:ext cx="8248649" cy="838199"/>
          </a:xfrm>
          <a:prstGeom prst="rect">
            <a:avLst/>
          </a:prstGeom>
        </p:spPr>
      </p:pic>
      <p:pic>
        <p:nvPicPr>
          <p:cNvPr id="4" name="object 4"/>
          <p:cNvPicPr/>
          <p:nvPr/>
        </p:nvPicPr>
        <p:blipFill>
          <a:blip r:embed="rId3" cstate="print"/>
          <a:stretch>
            <a:fillRect/>
          </a:stretch>
        </p:blipFill>
        <p:spPr>
          <a:xfrm>
            <a:off x="1528738" y="3214686"/>
            <a:ext cx="5334000" cy="2895599"/>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305" rIns="0" bIns="0" rtlCol="0">
            <a:spAutoFit/>
          </a:bodyPr>
          <a:lstStyle/>
          <a:p>
            <a:pPr marL="1259840" marR="5080" indent="-294640">
              <a:lnSpc>
                <a:spcPts val="4730"/>
              </a:lnSpc>
              <a:spcBef>
                <a:spcPts val="215"/>
              </a:spcBef>
            </a:pPr>
            <a:r>
              <a:t>Création de </a:t>
            </a:r>
            <a:r>
              <a:rPr spc="-5"/>
              <a:t>processus </a:t>
            </a:r>
            <a:r>
              <a:rPr spc="-880"/>
              <a:t> </a:t>
            </a:r>
            <a:r>
              <a:rPr spc="-5"/>
              <a:t>Différence</a:t>
            </a:r>
            <a:r>
              <a:rPr spc="-10"/>
              <a:t> </a:t>
            </a:r>
            <a:r>
              <a:rPr spc="-5"/>
              <a:t>fils-pére</a:t>
            </a:r>
          </a:p>
        </p:txBody>
      </p:sp>
      <p:pic>
        <p:nvPicPr>
          <p:cNvPr id="3" name="object 3"/>
          <p:cNvPicPr/>
          <p:nvPr/>
        </p:nvPicPr>
        <p:blipFill>
          <a:blip r:embed="rId2" cstate="print"/>
          <a:stretch>
            <a:fillRect/>
          </a:stretch>
        </p:blipFill>
        <p:spPr>
          <a:xfrm>
            <a:off x="404813" y="1952640"/>
            <a:ext cx="8334375" cy="3438524"/>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66825" y="1347788"/>
            <a:ext cx="6115049" cy="4162424"/>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D705658-0EE8-2C5A-5191-B74E8EB9BADC}"/>
              </a:ext>
            </a:extLst>
          </p:cNvPr>
          <p:cNvSpPr/>
          <p:nvPr/>
        </p:nvSpPr>
        <p:spPr>
          <a:xfrm>
            <a:off x="489857" y="362000"/>
            <a:ext cx="8176999" cy="6047809"/>
          </a:xfrm>
          <a:prstGeom prst="rect">
            <a:avLst/>
          </a:prstGeom>
        </p:spPr>
        <p:txBody>
          <a:bodyPr wrap="square">
            <a:spAutoFit/>
          </a:bodyPr>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FR" b="1">
                <a:solidFill>
                  <a:srgbClr val="FF0000"/>
                </a:solidFill>
              </a:rPr>
              <a:t>Int fork() </a:t>
            </a:r>
            <a:r>
              <a:rPr lang="fr-FR"/>
              <a:t>:</a:t>
            </a:r>
          </a:p>
          <a:p>
            <a:pPr marL="285750" indent="-285750">
              <a:lnSpc>
                <a:spcPct val="200000"/>
              </a:lnSpc>
              <a:buFont typeface="Wingdings" panose="05000000000000000000" pitchFamily="2" charset="2"/>
              <a:buChar char="q"/>
            </a:pPr>
            <a:r>
              <a:rPr lang="fr-FR"/>
              <a:t>Crée un nouveau processus (</a:t>
            </a:r>
            <a:r>
              <a:rPr lang="fr-FR" b="1">
                <a:solidFill>
                  <a:srgbClr val="00B050"/>
                </a:solidFill>
              </a:rPr>
              <a:t>processus fils</a:t>
            </a:r>
            <a:r>
              <a:rPr lang="fr-FR"/>
              <a:t>) par duplication du processus courant (</a:t>
            </a:r>
            <a:r>
              <a:rPr lang="fr-FR" b="1">
                <a:solidFill>
                  <a:srgbClr val="00B050"/>
                </a:solidFill>
              </a:rPr>
              <a:t>processus père </a:t>
            </a:r>
            <a:r>
              <a:rPr lang="fr-FR"/>
              <a:t>)</a:t>
            </a:r>
          </a:p>
          <a:p>
            <a:pPr marL="285750" indent="-285750">
              <a:lnSpc>
                <a:spcPct val="200000"/>
              </a:lnSpc>
              <a:buFont typeface="Wingdings" panose="05000000000000000000" pitchFamily="2" charset="2"/>
              <a:buChar char="q"/>
            </a:pPr>
            <a:r>
              <a:rPr lang="fr-FR"/>
              <a:t> Copie les segments de données et de </a:t>
            </a:r>
            <a:r>
              <a:rPr lang="fr-FR" err="1"/>
              <a:t>stack</a:t>
            </a:r>
            <a:r>
              <a:rPr lang="fr-FR"/>
              <a:t> du processus père; le segment texte est partagé.</a:t>
            </a:r>
          </a:p>
          <a:p>
            <a:pPr marL="285750" indent="-285750">
              <a:lnSpc>
                <a:spcPct val="200000"/>
              </a:lnSpc>
              <a:buFont typeface="Wingdings" panose="05000000000000000000" pitchFamily="2" charset="2"/>
              <a:buChar char="q"/>
            </a:pPr>
            <a:r>
              <a:rPr lang="fr-FR"/>
              <a:t> Les ``pid'' du père et du fils diffèrent</a:t>
            </a:r>
          </a:p>
          <a:p>
            <a:pPr marL="285750" indent="-285750">
              <a:lnSpc>
                <a:spcPct val="200000"/>
              </a:lnSpc>
              <a:buFont typeface="Wingdings" panose="05000000000000000000" pitchFamily="2" charset="2"/>
              <a:buChar char="q"/>
            </a:pPr>
            <a:r>
              <a:rPr lang="fr-FR"/>
              <a:t>Le fils hérite en partie de l'environnement du père.</a:t>
            </a:r>
          </a:p>
          <a:p>
            <a:pPr marL="285750" indent="-285750">
              <a:buFont typeface="Wingdings" panose="05000000000000000000" pitchFamily="2" charset="2"/>
              <a:buChar char="q"/>
            </a:pPr>
            <a:endParaRPr lang="fr-FR"/>
          </a:p>
          <a:p>
            <a:pPr marL="285750" indent="-285750">
              <a:buFont typeface="Wingdings" panose="05000000000000000000" pitchFamily="2" charset="2"/>
              <a:buChar char="q"/>
            </a:pPr>
            <a:r>
              <a:rPr lang="fr-FR"/>
              <a:t>Les processus père et fils poursuivent l'exécution du </a:t>
            </a:r>
            <a:r>
              <a:rPr lang="fr-FR" b="1"/>
              <a:t>même programme</a:t>
            </a:r>
            <a:r>
              <a:rPr lang="fr-FR"/>
              <a:t>.</a:t>
            </a:r>
          </a:p>
          <a:p>
            <a:pPr marL="285750" indent="-285750">
              <a:lnSpc>
                <a:spcPct val="150000"/>
              </a:lnSpc>
              <a:buFont typeface="Wingdings" panose="05000000000000000000" pitchFamily="2" charset="2"/>
              <a:buChar char="q"/>
            </a:pPr>
            <a:r>
              <a:rPr lang="fr-FR"/>
              <a:t>La valeur retournée par </a:t>
            </a:r>
            <a:r>
              <a:rPr lang="fr-FR" b="1">
                <a:solidFill>
                  <a:srgbClr val="FF0000"/>
                </a:solidFill>
              </a:rPr>
              <a:t>fork</a:t>
            </a:r>
            <a:r>
              <a:rPr lang="fr-FR"/>
              <a:t> permet de distinguer entre </a:t>
            </a:r>
            <a:r>
              <a:rPr lang="fr-FR" b="1">
                <a:solidFill>
                  <a:srgbClr val="00B050"/>
                </a:solidFill>
              </a:rPr>
              <a:t>le père </a:t>
            </a:r>
            <a:r>
              <a:rPr lang="fr-FR"/>
              <a:t>et </a:t>
            </a:r>
            <a:r>
              <a:rPr lang="fr-FR" b="1">
                <a:solidFill>
                  <a:srgbClr val="00B050"/>
                </a:solidFill>
              </a:rPr>
              <a:t>le fils</a:t>
            </a:r>
            <a:r>
              <a:rPr lang="fr-FR">
                <a:solidFill>
                  <a:srgbClr val="00B050"/>
                </a:solidFill>
              </a:rPr>
              <a:t>.</a:t>
            </a:r>
          </a:p>
          <a:p>
            <a:pPr marL="285750" indent="-285750">
              <a:buFont typeface="Wingdings" panose="05000000000000000000" pitchFamily="2" charset="2"/>
              <a:buChar char="q"/>
            </a:pPr>
            <a:endParaRPr lang="fr-FR"/>
          </a:p>
          <a:p>
            <a:pPr marL="285750" indent="-285750">
              <a:buFont typeface="Wingdings" panose="05000000000000000000" pitchFamily="2" charset="2"/>
              <a:buChar char="q"/>
            </a:pPr>
            <a:r>
              <a:rPr lang="fr-FR"/>
              <a:t>Le </a:t>
            </a:r>
            <a:r>
              <a:rPr lang="fr-FR" b="1">
                <a:solidFill>
                  <a:srgbClr val="00B050"/>
                </a:solidFill>
              </a:rPr>
              <a:t>fils</a:t>
            </a:r>
            <a:r>
              <a:rPr lang="fr-FR"/>
              <a:t> continue son exécution a partir de cette primitives.</a:t>
            </a:r>
          </a:p>
          <a:p>
            <a:r>
              <a:rPr lang="fr-FR"/>
              <a:t> </a:t>
            </a:r>
          </a:p>
          <a:p>
            <a:pPr marL="285750" indent="-285750">
              <a:buFont typeface="Wingdings" panose="05000000000000000000" pitchFamily="2" charset="2"/>
              <a:buChar char="q"/>
            </a:pPr>
            <a:endParaRPr lang="fr-FR"/>
          </a:p>
          <a:p>
            <a:pPr marL="285750" indent="-285750">
              <a:buFont typeface="Wingdings" panose="05000000000000000000" pitchFamily="2" charset="2"/>
              <a:buChar char="q"/>
            </a:pPr>
            <a:endParaRPr lang="en-US"/>
          </a:p>
        </p:txBody>
      </p:sp>
    </p:spTree>
    <p:extLst>
      <p:ext uri="{BB962C8B-B14F-4D97-AF65-F5344CB8AC3E}">
        <p14:creationId xmlns:p14="http://schemas.microsoft.com/office/powerpoint/2010/main" val="21761267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11560" y="0"/>
            <a:ext cx="7391399" cy="5900399"/>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28596" y="2071677"/>
            <a:ext cx="8381999" cy="3590924"/>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68940" y="174214"/>
            <a:ext cx="8353424" cy="4438649"/>
          </a:xfrm>
          <a:prstGeom prst="rect">
            <a:avLst/>
          </a:prstGeom>
        </p:spPr>
      </p:pic>
      <p:pic>
        <p:nvPicPr>
          <p:cNvPr id="3" name="object 3"/>
          <p:cNvPicPr/>
          <p:nvPr/>
        </p:nvPicPr>
        <p:blipFill>
          <a:blip r:embed="rId3" cstate="print"/>
          <a:stretch>
            <a:fillRect/>
          </a:stretch>
        </p:blipFill>
        <p:spPr>
          <a:xfrm>
            <a:off x="211790" y="4673696"/>
            <a:ext cx="8410574" cy="2184302"/>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2844" y="129824"/>
            <a:ext cx="8339455" cy="6728459"/>
            <a:chOff x="142844" y="129824"/>
            <a:chExt cx="8339455" cy="6728459"/>
          </a:xfrm>
        </p:grpSpPr>
        <p:pic>
          <p:nvPicPr>
            <p:cNvPr id="3" name="object 3"/>
            <p:cNvPicPr/>
            <p:nvPr/>
          </p:nvPicPr>
          <p:blipFill>
            <a:blip r:embed="rId2" cstate="print"/>
            <a:stretch>
              <a:fillRect/>
            </a:stretch>
          </p:blipFill>
          <p:spPr>
            <a:xfrm>
              <a:off x="142844" y="129824"/>
              <a:ext cx="8324849" cy="4301506"/>
            </a:xfrm>
            <a:prstGeom prst="rect">
              <a:avLst/>
            </a:prstGeom>
          </p:spPr>
        </p:pic>
        <p:pic>
          <p:nvPicPr>
            <p:cNvPr id="4" name="object 4"/>
            <p:cNvPicPr/>
            <p:nvPr/>
          </p:nvPicPr>
          <p:blipFill>
            <a:blip r:embed="rId3" cstate="print"/>
            <a:stretch>
              <a:fillRect/>
            </a:stretch>
          </p:blipFill>
          <p:spPr>
            <a:xfrm>
              <a:off x="214282" y="4386265"/>
              <a:ext cx="8267699" cy="2471734"/>
            </a:xfrm>
            <a:prstGeom prst="rect">
              <a:avLst/>
            </a:prstGeom>
          </p:spPr>
        </p:pic>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854223" y="477711"/>
            <a:ext cx="7418705" cy="695960"/>
          </a:xfrm>
          <a:prstGeom prst="rect">
            <a:avLst/>
          </a:prstGeom>
        </p:spPr>
        <p:txBody>
          <a:bodyPr vert="horz" wrap="square" lIns="0" tIns="12700" rIns="0" bIns="0" rtlCol="0">
            <a:spAutoFit/>
          </a:bodyPr>
          <a:lstStyle/>
          <a:p>
            <a:pPr marL="12700">
              <a:lnSpc>
                <a:spcPct val="100000"/>
              </a:lnSpc>
              <a:spcBef>
                <a:spcPts val="100"/>
              </a:spcBef>
            </a:pPr>
            <a:r>
              <a:rPr sz="4400" spc="-10"/>
              <a:t>Indéterminisme</a:t>
            </a:r>
            <a:r>
              <a:rPr sz="4400" spc="-50"/>
              <a:t> </a:t>
            </a:r>
            <a:r>
              <a:rPr sz="4400" spc="-5"/>
              <a:t>du</a:t>
            </a:r>
            <a:r>
              <a:rPr sz="4400" spc="-45"/>
              <a:t> </a:t>
            </a:r>
            <a:r>
              <a:rPr sz="4400" spc="-5"/>
              <a:t>déroulement</a:t>
            </a:r>
            <a:endParaRPr sz="4400"/>
          </a:p>
        </p:txBody>
      </p:sp>
      <p:pic>
        <p:nvPicPr>
          <p:cNvPr id="3" name="object 3"/>
          <p:cNvPicPr/>
          <p:nvPr/>
        </p:nvPicPr>
        <p:blipFill>
          <a:blip r:embed="rId2" cstate="print"/>
          <a:stretch>
            <a:fillRect/>
          </a:stretch>
        </p:blipFill>
        <p:spPr>
          <a:xfrm>
            <a:off x="428596" y="1571611"/>
            <a:ext cx="8315324" cy="4810124"/>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540962" y="481256"/>
            <a:ext cx="5906135" cy="695960"/>
          </a:xfrm>
          <a:prstGeom prst="rect">
            <a:avLst/>
          </a:prstGeom>
        </p:spPr>
        <p:txBody>
          <a:bodyPr vert="horz" wrap="square" lIns="0" tIns="12700" rIns="0" bIns="0" rtlCol="0">
            <a:spAutoFit/>
          </a:bodyPr>
          <a:lstStyle/>
          <a:p>
            <a:pPr marL="12700">
              <a:lnSpc>
                <a:spcPct val="100000"/>
              </a:lnSpc>
              <a:spcBef>
                <a:spcPts val="100"/>
              </a:spcBef>
            </a:pPr>
            <a:r>
              <a:rPr sz="4400" spc="-5"/>
              <a:t>Terminaison</a:t>
            </a:r>
            <a:r>
              <a:rPr sz="4400" spc="-50"/>
              <a:t> </a:t>
            </a:r>
            <a:r>
              <a:rPr sz="4400" spc="-5"/>
              <a:t>de</a:t>
            </a:r>
            <a:r>
              <a:rPr sz="4400" spc="-45"/>
              <a:t> </a:t>
            </a:r>
            <a:r>
              <a:rPr sz="4400" spc="-5"/>
              <a:t>processus</a:t>
            </a:r>
            <a:endParaRPr sz="4400"/>
          </a:p>
        </p:txBody>
      </p:sp>
      <p:sp>
        <p:nvSpPr>
          <p:cNvPr id="3" name="object 3"/>
          <p:cNvSpPr txBox="1"/>
          <p:nvPr/>
        </p:nvSpPr>
        <p:spPr>
          <a:xfrm>
            <a:off x="306327" y="1393166"/>
            <a:ext cx="8480425" cy="5159375"/>
          </a:xfrm>
          <a:prstGeom prst="rect">
            <a:avLst/>
          </a:prstGeom>
        </p:spPr>
        <p:txBody>
          <a:bodyPr vert="horz" wrap="square" lIns="0" tIns="12700" rIns="0" bIns="0" rtlCol="0">
            <a:spAutoFit/>
          </a:bodyPr>
          <a:lstStyle/>
          <a:p>
            <a:pPr marL="309880" marR="139700" indent="-297815">
              <a:lnSpc>
                <a:spcPct val="150000"/>
              </a:lnSpc>
              <a:spcBef>
                <a:spcPts val="100"/>
              </a:spcBef>
              <a:buSzPct val="57500"/>
              <a:buFont typeface="Arial MT"/>
              <a:buChar char="●"/>
              <a:tabLst>
                <a:tab pos="309880" algn="l"/>
                <a:tab pos="310515" algn="l"/>
              </a:tabLst>
            </a:pPr>
            <a:r>
              <a:rPr sz="2000" spc="-5">
                <a:latin typeface="Times New Roman"/>
                <a:cs typeface="Times New Roman"/>
              </a:rPr>
              <a:t>Un </a:t>
            </a:r>
            <a:r>
              <a:rPr sz="2000">
                <a:latin typeface="Times New Roman"/>
                <a:cs typeface="Times New Roman"/>
              </a:rPr>
              <a:t>processus </a:t>
            </a:r>
            <a:r>
              <a:rPr sz="2000" spc="-5">
                <a:latin typeface="Times New Roman"/>
                <a:cs typeface="Times New Roman"/>
              </a:rPr>
              <a:t>se termine </a:t>
            </a:r>
            <a:r>
              <a:rPr sz="2000">
                <a:latin typeface="Times New Roman"/>
                <a:cs typeface="Times New Roman"/>
              </a:rPr>
              <a:t>par une demande d’arrêt volontaire </a:t>
            </a:r>
            <a:r>
              <a:rPr sz="2000" spc="-5">
                <a:latin typeface="Times New Roman"/>
                <a:cs typeface="Times New Roman"/>
              </a:rPr>
              <a:t>(</a:t>
            </a:r>
            <a:r>
              <a:rPr sz="2000" b="1" spc="-5">
                <a:latin typeface="Times New Roman"/>
                <a:cs typeface="Times New Roman"/>
              </a:rPr>
              <a:t>exit</a:t>
            </a:r>
            <a:r>
              <a:rPr sz="2000" spc="-5">
                <a:latin typeface="Times New Roman"/>
                <a:cs typeface="Times New Roman"/>
              </a:rPr>
              <a:t>)</a:t>
            </a:r>
            <a:r>
              <a:rPr sz="2000">
                <a:latin typeface="Times New Roman"/>
                <a:cs typeface="Times New Roman"/>
              </a:rPr>
              <a:t> ou par un </a:t>
            </a:r>
            <a:r>
              <a:rPr sz="2000" spc="5">
                <a:latin typeface="Times New Roman"/>
                <a:cs typeface="Times New Roman"/>
              </a:rPr>
              <a:t> </a:t>
            </a:r>
            <a:r>
              <a:rPr sz="2000" spc="-5">
                <a:latin typeface="Times New Roman"/>
                <a:cs typeface="Times New Roman"/>
              </a:rPr>
              <a:t>arrêt</a:t>
            </a:r>
            <a:r>
              <a:rPr sz="2000" spc="-15">
                <a:latin typeface="Times New Roman"/>
                <a:cs typeface="Times New Roman"/>
              </a:rPr>
              <a:t> </a:t>
            </a:r>
            <a:r>
              <a:rPr sz="2000">
                <a:latin typeface="Times New Roman"/>
                <a:cs typeface="Times New Roman"/>
              </a:rPr>
              <a:t>forcé</a:t>
            </a:r>
            <a:r>
              <a:rPr sz="2000" spc="-5">
                <a:latin typeface="Times New Roman"/>
                <a:cs typeface="Times New Roman"/>
              </a:rPr>
              <a:t> </a:t>
            </a:r>
            <a:r>
              <a:rPr sz="2000">
                <a:latin typeface="Times New Roman"/>
                <a:cs typeface="Times New Roman"/>
              </a:rPr>
              <a:t>provoqué</a:t>
            </a:r>
            <a:r>
              <a:rPr sz="2000" spc="-5">
                <a:latin typeface="Times New Roman"/>
                <a:cs typeface="Times New Roman"/>
              </a:rPr>
              <a:t> </a:t>
            </a:r>
            <a:r>
              <a:rPr sz="2000">
                <a:latin typeface="Times New Roman"/>
                <a:cs typeface="Times New Roman"/>
              </a:rPr>
              <a:t>par</a:t>
            </a:r>
            <a:r>
              <a:rPr sz="2000" spc="-5">
                <a:latin typeface="Times New Roman"/>
                <a:cs typeface="Times New Roman"/>
              </a:rPr>
              <a:t> </a:t>
            </a:r>
            <a:r>
              <a:rPr sz="2000">
                <a:latin typeface="Times New Roman"/>
                <a:cs typeface="Times New Roman"/>
              </a:rPr>
              <a:t>un</a:t>
            </a:r>
            <a:r>
              <a:rPr sz="2000" spc="-10">
                <a:latin typeface="Times New Roman"/>
                <a:cs typeface="Times New Roman"/>
              </a:rPr>
              <a:t> </a:t>
            </a:r>
            <a:r>
              <a:rPr sz="2000" spc="-5">
                <a:latin typeface="Times New Roman"/>
                <a:cs typeface="Times New Roman"/>
              </a:rPr>
              <a:t>autre</a:t>
            </a:r>
            <a:r>
              <a:rPr sz="2000" spc="-10">
                <a:latin typeface="Times New Roman"/>
                <a:cs typeface="Times New Roman"/>
              </a:rPr>
              <a:t> </a:t>
            </a:r>
            <a:r>
              <a:rPr sz="2000">
                <a:latin typeface="Times New Roman"/>
                <a:cs typeface="Times New Roman"/>
              </a:rPr>
              <a:t>processus</a:t>
            </a:r>
            <a:r>
              <a:rPr sz="2000" spc="-5">
                <a:latin typeface="Times New Roman"/>
                <a:cs typeface="Times New Roman"/>
              </a:rPr>
              <a:t> </a:t>
            </a:r>
            <a:r>
              <a:rPr sz="2000">
                <a:latin typeface="Times New Roman"/>
                <a:cs typeface="Times New Roman"/>
              </a:rPr>
              <a:t>(appel</a:t>
            </a:r>
            <a:r>
              <a:rPr sz="2000" spc="490">
                <a:latin typeface="Times New Roman"/>
                <a:cs typeface="Times New Roman"/>
              </a:rPr>
              <a:t> </a:t>
            </a:r>
            <a:r>
              <a:rPr sz="2000" spc="-5">
                <a:latin typeface="Times New Roman"/>
                <a:cs typeface="Times New Roman"/>
              </a:rPr>
              <a:t>système</a:t>
            </a:r>
            <a:r>
              <a:rPr sz="2000" spc="5">
                <a:latin typeface="Times New Roman"/>
                <a:cs typeface="Times New Roman"/>
              </a:rPr>
              <a:t> </a:t>
            </a:r>
            <a:r>
              <a:rPr sz="2000" b="1" spc="-5">
                <a:latin typeface="Times New Roman"/>
                <a:cs typeface="Times New Roman"/>
              </a:rPr>
              <a:t>kill</a:t>
            </a:r>
            <a:r>
              <a:rPr sz="2000" spc="-5">
                <a:latin typeface="Times New Roman"/>
                <a:cs typeface="Times New Roman"/>
              </a:rPr>
              <a:t>) </a:t>
            </a:r>
            <a:r>
              <a:rPr sz="2000">
                <a:latin typeface="Times New Roman"/>
                <a:cs typeface="Times New Roman"/>
              </a:rPr>
              <a:t>ou</a:t>
            </a:r>
            <a:r>
              <a:rPr sz="2000" spc="-5">
                <a:latin typeface="Times New Roman"/>
                <a:cs typeface="Times New Roman"/>
              </a:rPr>
              <a:t> </a:t>
            </a:r>
            <a:r>
              <a:rPr sz="2000">
                <a:latin typeface="Times New Roman"/>
                <a:cs typeface="Times New Roman"/>
              </a:rPr>
              <a:t>une</a:t>
            </a:r>
            <a:r>
              <a:rPr sz="2000" spc="-5">
                <a:latin typeface="Times New Roman"/>
                <a:cs typeface="Times New Roman"/>
              </a:rPr>
              <a:t> erreur.</a:t>
            </a:r>
            <a:endParaRPr sz="2000">
              <a:latin typeface="Times New Roman"/>
              <a:cs typeface="Times New Roman"/>
            </a:endParaRPr>
          </a:p>
          <a:p>
            <a:pPr marL="1173480">
              <a:lnSpc>
                <a:spcPct val="100000"/>
              </a:lnSpc>
              <a:spcBef>
                <a:spcPts val="1385"/>
              </a:spcBef>
            </a:pPr>
            <a:r>
              <a:rPr sz="2000">
                <a:latin typeface="Times New Roman"/>
                <a:cs typeface="Times New Roman"/>
              </a:rPr>
              <a:t>void</a:t>
            </a:r>
            <a:r>
              <a:rPr sz="2000" spc="-30">
                <a:latin typeface="Times New Roman"/>
                <a:cs typeface="Times New Roman"/>
              </a:rPr>
              <a:t> </a:t>
            </a:r>
            <a:r>
              <a:rPr sz="2000" spc="-5">
                <a:latin typeface="Times New Roman"/>
                <a:cs typeface="Times New Roman"/>
              </a:rPr>
              <a:t>exit(int</a:t>
            </a:r>
            <a:r>
              <a:rPr sz="2000" spc="-35">
                <a:latin typeface="Times New Roman"/>
                <a:cs typeface="Times New Roman"/>
              </a:rPr>
              <a:t> </a:t>
            </a:r>
            <a:r>
              <a:rPr sz="2000">
                <a:latin typeface="Times New Roman"/>
                <a:cs typeface="Times New Roman"/>
              </a:rPr>
              <a:t>vstatus);</a:t>
            </a:r>
          </a:p>
          <a:p>
            <a:pPr marL="304800" lvl="1" indent="-239395">
              <a:lnSpc>
                <a:spcPct val="100000"/>
              </a:lnSpc>
              <a:spcBef>
                <a:spcPts val="1165"/>
              </a:spcBef>
              <a:buFont typeface="Arial MT"/>
              <a:buChar char="•"/>
              <a:tabLst>
                <a:tab pos="304800" algn="l"/>
                <a:tab pos="305435" algn="l"/>
              </a:tabLst>
            </a:pPr>
            <a:r>
              <a:rPr sz="2000" spc="-5">
                <a:latin typeface="Times New Roman"/>
                <a:cs typeface="Times New Roman"/>
              </a:rPr>
              <a:t>Lorsqu’un</a:t>
            </a:r>
            <a:r>
              <a:rPr sz="2000" spc="-20">
                <a:latin typeface="Times New Roman"/>
                <a:cs typeface="Times New Roman"/>
              </a:rPr>
              <a:t> </a:t>
            </a:r>
            <a:r>
              <a:rPr sz="2000">
                <a:latin typeface="Times New Roman"/>
                <a:cs typeface="Times New Roman"/>
              </a:rPr>
              <a:t>processus</a:t>
            </a:r>
            <a:r>
              <a:rPr sz="2000" spc="-15">
                <a:latin typeface="Times New Roman"/>
                <a:cs typeface="Times New Roman"/>
              </a:rPr>
              <a:t> </a:t>
            </a:r>
            <a:r>
              <a:rPr sz="2000">
                <a:latin typeface="Times New Roman"/>
                <a:cs typeface="Times New Roman"/>
              </a:rPr>
              <a:t>fils</a:t>
            </a:r>
            <a:r>
              <a:rPr sz="2000" spc="-15">
                <a:latin typeface="Times New Roman"/>
                <a:cs typeface="Times New Roman"/>
              </a:rPr>
              <a:t> </a:t>
            </a:r>
            <a:r>
              <a:rPr sz="2000" spc="-5">
                <a:latin typeface="Times New Roman"/>
                <a:cs typeface="Times New Roman"/>
              </a:rPr>
              <a:t>se</a:t>
            </a:r>
            <a:r>
              <a:rPr sz="2000" spc="-15">
                <a:latin typeface="Times New Roman"/>
                <a:cs typeface="Times New Roman"/>
              </a:rPr>
              <a:t> </a:t>
            </a:r>
            <a:r>
              <a:rPr sz="2000" spc="-5">
                <a:latin typeface="Times New Roman"/>
                <a:cs typeface="Times New Roman"/>
              </a:rPr>
              <a:t>termine</a:t>
            </a:r>
            <a:r>
              <a:rPr sz="2000" spc="-20">
                <a:latin typeface="Times New Roman"/>
                <a:cs typeface="Times New Roman"/>
              </a:rPr>
              <a:t> </a:t>
            </a:r>
            <a:r>
              <a:rPr sz="2000">
                <a:latin typeface="Times New Roman"/>
                <a:cs typeface="Times New Roman"/>
              </a:rPr>
              <a:t>:</a:t>
            </a:r>
          </a:p>
          <a:p>
            <a:pPr marL="574675" lvl="2" indent="-258445">
              <a:lnSpc>
                <a:spcPct val="100000"/>
              </a:lnSpc>
              <a:spcBef>
                <a:spcPts val="1320"/>
              </a:spcBef>
              <a:buFont typeface="Arial MT"/>
              <a:buChar char="–"/>
              <a:tabLst>
                <a:tab pos="575310" algn="l"/>
              </a:tabLst>
            </a:pPr>
            <a:r>
              <a:rPr sz="2000" spc="-5">
                <a:latin typeface="Times New Roman"/>
                <a:cs typeface="Times New Roman"/>
              </a:rPr>
              <a:t>son</a:t>
            </a:r>
            <a:r>
              <a:rPr sz="2000" spc="-15">
                <a:latin typeface="Times New Roman"/>
                <a:cs typeface="Times New Roman"/>
              </a:rPr>
              <a:t> </a:t>
            </a:r>
            <a:r>
              <a:rPr sz="2000" spc="-5">
                <a:latin typeface="Times New Roman"/>
                <a:cs typeface="Times New Roman"/>
              </a:rPr>
              <a:t>état</a:t>
            </a:r>
            <a:r>
              <a:rPr sz="2000" spc="-10">
                <a:latin typeface="Times New Roman"/>
                <a:cs typeface="Times New Roman"/>
              </a:rPr>
              <a:t> </a:t>
            </a:r>
            <a:r>
              <a:rPr sz="2000">
                <a:latin typeface="Times New Roman"/>
                <a:cs typeface="Times New Roman"/>
              </a:rPr>
              <a:t>de</a:t>
            </a:r>
            <a:r>
              <a:rPr sz="2000" spc="-10">
                <a:latin typeface="Times New Roman"/>
                <a:cs typeface="Times New Roman"/>
              </a:rPr>
              <a:t> </a:t>
            </a:r>
            <a:r>
              <a:rPr sz="2000" spc="-5">
                <a:latin typeface="Times New Roman"/>
                <a:cs typeface="Times New Roman"/>
              </a:rPr>
              <a:t>terminaison</a:t>
            </a:r>
            <a:r>
              <a:rPr sz="2000" spc="-10">
                <a:latin typeface="Times New Roman"/>
                <a:cs typeface="Times New Roman"/>
              </a:rPr>
              <a:t> </a:t>
            </a:r>
            <a:r>
              <a:rPr sz="2000" spc="-5">
                <a:latin typeface="Times New Roman"/>
                <a:cs typeface="Times New Roman"/>
              </a:rPr>
              <a:t>est</a:t>
            </a:r>
            <a:r>
              <a:rPr sz="2000" spc="-15">
                <a:latin typeface="Times New Roman"/>
                <a:cs typeface="Times New Roman"/>
              </a:rPr>
              <a:t> </a:t>
            </a:r>
            <a:r>
              <a:rPr sz="2000" spc="-5">
                <a:latin typeface="Times New Roman"/>
                <a:cs typeface="Times New Roman"/>
              </a:rPr>
              <a:t>enregistré</a:t>
            </a:r>
            <a:r>
              <a:rPr sz="2000" spc="-10">
                <a:latin typeface="Times New Roman"/>
                <a:cs typeface="Times New Roman"/>
              </a:rPr>
              <a:t> </a:t>
            </a:r>
            <a:r>
              <a:rPr sz="2000">
                <a:latin typeface="Times New Roman"/>
                <a:cs typeface="Times New Roman"/>
              </a:rPr>
              <a:t>dans</a:t>
            </a:r>
            <a:r>
              <a:rPr sz="2000" spc="-10">
                <a:latin typeface="Times New Roman"/>
                <a:cs typeface="Times New Roman"/>
              </a:rPr>
              <a:t> </a:t>
            </a:r>
            <a:r>
              <a:rPr sz="2000" spc="-5">
                <a:latin typeface="Times New Roman"/>
                <a:cs typeface="Times New Roman"/>
              </a:rPr>
              <a:t>son</a:t>
            </a:r>
            <a:r>
              <a:rPr sz="2000" spc="-10">
                <a:latin typeface="Times New Roman"/>
                <a:cs typeface="Times New Roman"/>
              </a:rPr>
              <a:t> </a:t>
            </a:r>
            <a:r>
              <a:rPr sz="2000" spc="-5">
                <a:latin typeface="Times New Roman"/>
                <a:cs typeface="Times New Roman"/>
              </a:rPr>
              <a:t>PCB,</a:t>
            </a:r>
            <a:endParaRPr sz="2000">
              <a:latin typeface="Times New Roman"/>
              <a:cs typeface="Times New Roman"/>
            </a:endParaRPr>
          </a:p>
          <a:p>
            <a:pPr marL="570865" lvl="2" indent="-254000">
              <a:lnSpc>
                <a:spcPct val="100000"/>
              </a:lnSpc>
              <a:spcBef>
                <a:spcPts val="1675"/>
              </a:spcBef>
              <a:buFont typeface="Arial MT"/>
              <a:buChar char="–"/>
              <a:tabLst>
                <a:tab pos="571500" algn="l"/>
              </a:tabLst>
            </a:pPr>
            <a:r>
              <a:rPr sz="2000" spc="-5">
                <a:latin typeface="Times New Roman"/>
                <a:cs typeface="Times New Roman"/>
              </a:rPr>
              <a:t>la</a:t>
            </a:r>
            <a:r>
              <a:rPr sz="2000" spc="-15">
                <a:latin typeface="Times New Roman"/>
                <a:cs typeface="Times New Roman"/>
              </a:rPr>
              <a:t> </a:t>
            </a:r>
            <a:r>
              <a:rPr sz="2000">
                <a:latin typeface="Times New Roman"/>
                <a:cs typeface="Times New Roman"/>
              </a:rPr>
              <a:t>plupart</a:t>
            </a:r>
            <a:r>
              <a:rPr sz="2000" spc="-5">
                <a:latin typeface="Times New Roman"/>
                <a:cs typeface="Times New Roman"/>
              </a:rPr>
              <a:t> </a:t>
            </a:r>
            <a:r>
              <a:rPr sz="2000">
                <a:latin typeface="Times New Roman"/>
                <a:cs typeface="Times New Roman"/>
              </a:rPr>
              <a:t>des</a:t>
            </a:r>
            <a:r>
              <a:rPr sz="2000" spc="-5">
                <a:latin typeface="Times New Roman"/>
                <a:cs typeface="Times New Roman"/>
              </a:rPr>
              <a:t> autres</a:t>
            </a:r>
            <a:r>
              <a:rPr sz="2000" spc="-15">
                <a:latin typeface="Times New Roman"/>
                <a:cs typeface="Times New Roman"/>
              </a:rPr>
              <a:t> </a:t>
            </a:r>
            <a:r>
              <a:rPr sz="2000">
                <a:latin typeface="Times New Roman"/>
                <a:cs typeface="Times New Roman"/>
              </a:rPr>
              <a:t>ressources</a:t>
            </a:r>
            <a:r>
              <a:rPr sz="2000" spc="-5">
                <a:latin typeface="Times New Roman"/>
                <a:cs typeface="Times New Roman"/>
              </a:rPr>
              <a:t> allouées</a:t>
            </a:r>
            <a:r>
              <a:rPr sz="2000" spc="-10">
                <a:latin typeface="Times New Roman"/>
                <a:cs typeface="Times New Roman"/>
              </a:rPr>
              <a:t> </a:t>
            </a:r>
            <a:r>
              <a:rPr sz="2000" spc="-5">
                <a:latin typeface="Times New Roman"/>
                <a:cs typeface="Times New Roman"/>
              </a:rPr>
              <a:t>au</a:t>
            </a:r>
            <a:r>
              <a:rPr sz="2000" spc="-15">
                <a:latin typeface="Times New Roman"/>
                <a:cs typeface="Times New Roman"/>
              </a:rPr>
              <a:t> </a:t>
            </a:r>
            <a:r>
              <a:rPr sz="2000">
                <a:latin typeface="Times New Roman"/>
                <a:cs typeface="Times New Roman"/>
              </a:rPr>
              <a:t>processus</a:t>
            </a:r>
            <a:r>
              <a:rPr sz="2000" spc="-5">
                <a:latin typeface="Times New Roman"/>
                <a:cs typeface="Times New Roman"/>
              </a:rPr>
              <a:t> sont</a:t>
            </a:r>
            <a:r>
              <a:rPr sz="2000" spc="480">
                <a:latin typeface="Times New Roman"/>
                <a:cs typeface="Times New Roman"/>
              </a:rPr>
              <a:t> </a:t>
            </a:r>
            <a:r>
              <a:rPr sz="2000" spc="-5">
                <a:latin typeface="Times New Roman"/>
                <a:cs typeface="Times New Roman"/>
              </a:rPr>
              <a:t>libérées,</a:t>
            </a:r>
            <a:endParaRPr sz="2000">
              <a:latin typeface="Times New Roman"/>
              <a:cs typeface="Times New Roman"/>
            </a:endParaRPr>
          </a:p>
          <a:p>
            <a:pPr marL="574675" lvl="2" indent="-258445">
              <a:lnSpc>
                <a:spcPct val="100000"/>
              </a:lnSpc>
              <a:spcBef>
                <a:spcPts val="1305"/>
              </a:spcBef>
              <a:buFont typeface="Arial MT"/>
              <a:buChar char="–"/>
              <a:tabLst>
                <a:tab pos="575310" algn="l"/>
              </a:tabLst>
            </a:pPr>
            <a:r>
              <a:rPr sz="2000" spc="-5">
                <a:latin typeface="Times New Roman"/>
                <a:cs typeface="Times New Roman"/>
              </a:rPr>
              <a:t>le</a:t>
            </a:r>
            <a:r>
              <a:rPr sz="2000" spc="-20">
                <a:latin typeface="Times New Roman"/>
                <a:cs typeface="Times New Roman"/>
              </a:rPr>
              <a:t> </a:t>
            </a:r>
            <a:r>
              <a:rPr sz="2000">
                <a:latin typeface="Times New Roman"/>
                <a:cs typeface="Times New Roman"/>
              </a:rPr>
              <a:t>processus</a:t>
            </a:r>
            <a:r>
              <a:rPr sz="2000" spc="-10">
                <a:latin typeface="Times New Roman"/>
                <a:cs typeface="Times New Roman"/>
              </a:rPr>
              <a:t> </a:t>
            </a:r>
            <a:r>
              <a:rPr sz="2000">
                <a:latin typeface="Times New Roman"/>
                <a:cs typeface="Times New Roman"/>
              </a:rPr>
              <a:t>passe</a:t>
            </a:r>
            <a:r>
              <a:rPr sz="2000" spc="-10">
                <a:latin typeface="Times New Roman"/>
                <a:cs typeface="Times New Roman"/>
              </a:rPr>
              <a:t> </a:t>
            </a:r>
            <a:r>
              <a:rPr sz="2000">
                <a:latin typeface="Times New Roman"/>
                <a:cs typeface="Times New Roman"/>
              </a:rPr>
              <a:t>à</a:t>
            </a:r>
            <a:r>
              <a:rPr sz="2000" spc="-20">
                <a:latin typeface="Times New Roman"/>
                <a:cs typeface="Times New Roman"/>
              </a:rPr>
              <a:t> </a:t>
            </a:r>
            <a:r>
              <a:rPr sz="2000" spc="-5">
                <a:latin typeface="Times New Roman"/>
                <a:cs typeface="Times New Roman"/>
              </a:rPr>
              <a:t>l’état</a:t>
            </a:r>
            <a:r>
              <a:rPr sz="2000" spc="-15">
                <a:latin typeface="Times New Roman"/>
                <a:cs typeface="Times New Roman"/>
              </a:rPr>
              <a:t> </a:t>
            </a:r>
            <a:r>
              <a:rPr sz="2000" spc="-5">
                <a:latin typeface="Times New Roman"/>
                <a:cs typeface="Times New Roman"/>
              </a:rPr>
              <a:t>zombie</a:t>
            </a:r>
            <a:r>
              <a:rPr sz="2000" spc="-15">
                <a:latin typeface="Times New Roman"/>
                <a:cs typeface="Times New Roman"/>
              </a:rPr>
              <a:t> </a:t>
            </a:r>
            <a:r>
              <a:rPr sz="2000">
                <a:latin typeface="Times New Roman"/>
                <a:cs typeface="Times New Roman"/>
              </a:rPr>
              <a:t>(&lt;defunct&gt;).</a:t>
            </a:r>
          </a:p>
          <a:p>
            <a:pPr marL="309880" marR="666750" lvl="1" indent="-244475">
              <a:lnSpc>
                <a:spcPts val="3600"/>
              </a:lnSpc>
              <a:spcBef>
                <a:spcPts val="300"/>
              </a:spcBef>
              <a:buFont typeface="Arial MT"/>
              <a:buChar char="•"/>
              <a:tabLst>
                <a:tab pos="309880" algn="l"/>
                <a:tab pos="310515" algn="l"/>
              </a:tabLst>
            </a:pPr>
            <a:r>
              <a:rPr sz="2000" spc="-5">
                <a:latin typeface="Times New Roman"/>
                <a:cs typeface="Times New Roman"/>
              </a:rPr>
              <a:t>Son PCB et son PID sont conservés jusqu’à ce </a:t>
            </a:r>
            <a:r>
              <a:rPr sz="2000">
                <a:latin typeface="Times New Roman"/>
                <a:cs typeface="Times New Roman"/>
              </a:rPr>
              <a:t>que </a:t>
            </a:r>
            <a:r>
              <a:rPr sz="2000" spc="-5">
                <a:latin typeface="Times New Roman"/>
                <a:cs typeface="Times New Roman"/>
              </a:rPr>
              <a:t>son </a:t>
            </a:r>
            <a:r>
              <a:rPr sz="2000">
                <a:latin typeface="Times New Roman"/>
                <a:cs typeface="Times New Roman"/>
              </a:rPr>
              <a:t>processus</a:t>
            </a:r>
            <a:r>
              <a:rPr sz="2000" spc="5">
                <a:latin typeface="Times New Roman"/>
                <a:cs typeface="Times New Roman"/>
              </a:rPr>
              <a:t> </a:t>
            </a:r>
            <a:r>
              <a:rPr sz="2000">
                <a:latin typeface="Times New Roman"/>
                <a:cs typeface="Times New Roman"/>
              </a:rPr>
              <a:t>père </a:t>
            </a:r>
            <a:r>
              <a:rPr sz="2000" spc="-5">
                <a:latin typeface="Times New Roman"/>
                <a:cs typeface="Times New Roman"/>
              </a:rPr>
              <a:t>ait </a:t>
            </a:r>
            <a:r>
              <a:rPr sz="2000" spc="-484">
                <a:latin typeface="Times New Roman"/>
                <a:cs typeface="Times New Roman"/>
              </a:rPr>
              <a:t> </a:t>
            </a:r>
            <a:r>
              <a:rPr sz="2000">
                <a:latin typeface="Times New Roman"/>
                <a:cs typeface="Times New Roman"/>
              </a:rPr>
              <a:t>récupéré</a:t>
            </a:r>
            <a:r>
              <a:rPr sz="2000" spc="-5">
                <a:latin typeface="Times New Roman"/>
                <a:cs typeface="Times New Roman"/>
              </a:rPr>
              <a:t> cet état </a:t>
            </a:r>
            <a:r>
              <a:rPr sz="2000">
                <a:latin typeface="Times New Roman"/>
                <a:cs typeface="Times New Roman"/>
              </a:rPr>
              <a:t>de</a:t>
            </a:r>
            <a:r>
              <a:rPr sz="2000" spc="-5">
                <a:latin typeface="Times New Roman"/>
                <a:cs typeface="Times New Roman"/>
              </a:rPr>
              <a:t> terminaison. </a:t>
            </a:r>
            <a:r>
              <a:rPr sz="2000">
                <a:latin typeface="Times New Roman"/>
                <a:cs typeface="Times New Roman"/>
              </a:rPr>
              <a:t>Il</a:t>
            </a:r>
            <a:r>
              <a:rPr sz="2000" spc="-5">
                <a:latin typeface="Times New Roman"/>
                <a:cs typeface="Times New Roman"/>
              </a:rPr>
              <a:t> est alors </a:t>
            </a:r>
            <a:r>
              <a:rPr sz="2000">
                <a:latin typeface="Times New Roman"/>
                <a:cs typeface="Times New Roman"/>
              </a:rPr>
              <a:t>détruit.</a:t>
            </a:r>
          </a:p>
          <a:p>
            <a:pPr marL="309880" marR="5080" lvl="1" indent="-244475">
              <a:lnSpc>
                <a:spcPts val="3600"/>
              </a:lnSpc>
              <a:buFont typeface="Arial MT"/>
              <a:buChar char="•"/>
              <a:tabLst>
                <a:tab pos="309880" algn="l"/>
                <a:tab pos="310515" algn="l"/>
              </a:tabLst>
            </a:pPr>
            <a:r>
              <a:rPr sz="2000" spc="-5">
                <a:latin typeface="Times New Roman"/>
                <a:cs typeface="Times New Roman"/>
              </a:rPr>
              <a:t>Les appels système wait(&amp;status) et waitpid(pid, &amp;status, </a:t>
            </a:r>
            <a:r>
              <a:rPr sz="2000">
                <a:latin typeface="Times New Roman"/>
                <a:cs typeface="Times New Roman"/>
              </a:rPr>
              <a:t>option)</a:t>
            </a:r>
            <a:r>
              <a:rPr sz="2000" spc="5">
                <a:latin typeface="Times New Roman"/>
                <a:cs typeface="Times New Roman"/>
              </a:rPr>
              <a:t> </a:t>
            </a:r>
            <a:r>
              <a:rPr sz="2000">
                <a:latin typeface="Times New Roman"/>
                <a:cs typeface="Times New Roman"/>
              </a:rPr>
              <a:t>permettent </a:t>
            </a:r>
            <a:r>
              <a:rPr sz="2000" spc="-5">
                <a:latin typeface="Times New Roman"/>
                <a:cs typeface="Times New Roman"/>
              </a:rPr>
              <a:t>au </a:t>
            </a:r>
            <a:r>
              <a:rPr sz="2000" spc="-484">
                <a:latin typeface="Times New Roman"/>
                <a:cs typeface="Times New Roman"/>
              </a:rPr>
              <a:t> </a:t>
            </a:r>
            <a:r>
              <a:rPr sz="2000">
                <a:latin typeface="Times New Roman"/>
                <a:cs typeface="Times New Roman"/>
              </a:rPr>
              <a:t>processus</a:t>
            </a:r>
            <a:r>
              <a:rPr sz="2000" spc="-5">
                <a:latin typeface="Times New Roman"/>
                <a:cs typeface="Times New Roman"/>
              </a:rPr>
              <a:t> </a:t>
            </a:r>
            <a:r>
              <a:rPr sz="2000">
                <a:latin typeface="Times New Roman"/>
                <a:cs typeface="Times New Roman"/>
              </a:rPr>
              <a:t>père de</a:t>
            </a:r>
            <a:r>
              <a:rPr sz="2000" spc="-5">
                <a:latin typeface="Times New Roman"/>
                <a:cs typeface="Times New Roman"/>
              </a:rPr>
              <a:t> </a:t>
            </a:r>
            <a:r>
              <a:rPr sz="2000">
                <a:latin typeface="Times New Roman"/>
                <a:cs typeface="Times New Roman"/>
              </a:rPr>
              <a:t>récupérer, dans</a:t>
            </a:r>
            <a:r>
              <a:rPr sz="2000" spc="-5">
                <a:latin typeface="Times New Roman"/>
                <a:cs typeface="Times New Roman"/>
              </a:rPr>
              <a:t> status, cet</a:t>
            </a:r>
            <a:r>
              <a:rPr sz="2000" spc="-10">
                <a:latin typeface="Times New Roman"/>
                <a:cs typeface="Times New Roman"/>
              </a:rPr>
              <a:t> </a:t>
            </a:r>
            <a:r>
              <a:rPr sz="2000" spc="-5">
                <a:latin typeface="Times New Roman"/>
                <a:cs typeface="Times New Roman"/>
              </a:rPr>
              <a:t>état </a:t>
            </a:r>
            <a:r>
              <a:rPr sz="2000">
                <a:latin typeface="Times New Roman"/>
                <a:cs typeface="Times New Roman"/>
              </a:rPr>
              <a:t>de</a:t>
            </a:r>
            <a:r>
              <a:rPr sz="2000" spc="495">
                <a:latin typeface="Times New Roman"/>
                <a:cs typeface="Times New Roman"/>
              </a:rPr>
              <a:t> </a:t>
            </a:r>
            <a:r>
              <a:rPr sz="2000" spc="-5">
                <a:latin typeface="Times New Roman"/>
                <a:cs typeface="Times New Roman"/>
              </a:rPr>
              <a:t>terminaison.</a:t>
            </a:r>
            <a:endParaRPr sz="2000">
              <a:latin typeface="Times New Roman"/>
              <a:cs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742431" y="477711"/>
            <a:ext cx="3656329" cy="695960"/>
          </a:xfrm>
          <a:prstGeom prst="rect">
            <a:avLst/>
          </a:prstGeom>
        </p:spPr>
        <p:txBody>
          <a:bodyPr vert="horz" wrap="square" lIns="0" tIns="12700" rIns="0" bIns="0" rtlCol="0">
            <a:spAutoFit/>
          </a:bodyPr>
          <a:lstStyle/>
          <a:p>
            <a:pPr marL="12700">
              <a:lnSpc>
                <a:spcPct val="100000"/>
              </a:lnSpc>
              <a:spcBef>
                <a:spcPts val="100"/>
              </a:spcBef>
            </a:pPr>
            <a:r>
              <a:rPr sz="4400" spc="-5"/>
              <a:t>Synchronisation</a:t>
            </a:r>
            <a:endParaRPr sz="4400"/>
          </a:p>
        </p:txBody>
      </p:sp>
      <p:pic>
        <p:nvPicPr>
          <p:cNvPr id="3" name="object 3"/>
          <p:cNvPicPr/>
          <p:nvPr/>
        </p:nvPicPr>
        <p:blipFill>
          <a:blip r:embed="rId2" cstate="print"/>
          <a:stretch>
            <a:fillRect/>
          </a:stretch>
        </p:blipFill>
        <p:spPr>
          <a:xfrm>
            <a:off x="285720" y="1571612"/>
            <a:ext cx="8410574" cy="4648199"/>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8073" y="477711"/>
            <a:ext cx="6217920" cy="695960"/>
          </a:xfrm>
          <a:prstGeom prst="rect">
            <a:avLst/>
          </a:prstGeom>
        </p:spPr>
        <p:txBody>
          <a:bodyPr vert="horz" wrap="square" lIns="0" tIns="12700" rIns="0" bIns="0" rtlCol="0">
            <a:spAutoFit/>
          </a:bodyPr>
          <a:lstStyle/>
          <a:p>
            <a:pPr marL="12700">
              <a:lnSpc>
                <a:spcPct val="100000"/>
              </a:lnSpc>
              <a:spcBef>
                <a:spcPts val="100"/>
              </a:spcBef>
            </a:pPr>
            <a:r>
              <a:rPr sz="4400" spc="-10"/>
              <a:t>Appels</a:t>
            </a:r>
            <a:r>
              <a:rPr sz="4400" spc="-30"/>
              <a:t> </a:t>
            </a:r>
            <a:r>
              <a:rPr sz="4400" spc="-5"/>
              <a:t>système</a:t>
            </a:r>
            <a:r>
              <a:rPr sz="4400" spc="-20"/>
              <a:t> </a:t>
            </a:r>
            <a:r>
              <a:rPr sz="4400" spc="-10"/>
              <a:t>wait</a:t>
            </a:r>
            <a:r>
              <a:rPr sz="4400" spc="-30"/>
              <a:t> </a:t>
            </a:r>
            <a:r>
              <a:rPr sz="4400" spc="-5"/>
              <a:t>et</a:t>
            </a:r>
            <a:r>
              <a:rPr sz="4400" spc="-25"/>
              <a:t> </a:t>
            </a:r>
            <a:r>
              <a:rPr sz="4400" spc="-5"/>
              <a:t>exit</a:t>
            </a:r>
            <a:endParaRPr sz="4400"/>
          </a:p>
        </p:txBody>
      </p:sp>
      <p:pic>
        <p:nvPicPr>
          <p:cNvPr id="3" name="object 3"/>
          <p:cNvPicPr/>
          <p:nvPr/>
        </p:nvPicPr>
        <p:blipFill>
          <a:blip r:embed="rId2" cstate="print"/>
          <a:stretch>
            <a:fillRect/>
          </a:stretch>
        </p:blipFill>
        <p:spPr>
          <a:xfrm>
            <a:off x="318100" y="1417638"/>
            <a:ext cx="8372474" cy="5143499"/>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58073" y="477711"/>
            <a:ext cx="6217920" cy="695960"/>
          </a:xfrm>
          <a:prstGeom prst="rect">
            <a:avLst/>
          </a:prstGeom>
        </p:spPr>
        <p:txBody>
          <a:bodyPr vert="horz" wrap="square" lIns="0" tIns="12700" rIns="0" bIns="0" rtlCol="0">
            <a:spAutoFit/>
          </a:bodyPr>
          <a:lstStyle/>
          <a:p>
            <a:pPr marL="12700">
              <a:lnSpc>
                <a:spcPct val="100000"/>
              </a:lnSpc>
              <a:spcBef>
                <a:spcPts val="100"/>
              </a:spcBef>
            </a:pPr>
            <a:r>
              <a:rPr sz="4400" spc="-10"/>
              <a:t>Appels</a:t>
            </a:r>
            <a:r>
              <a:rPr sz="4400" spc="-30"/>
              <a:t> </a:t>
            </a:r>
            <a:r>
              <a:rPr sz="4400" spc="-5"/>
              <a:t>système</a:t>
            </a:r>
            <a:r>
              <a:rPr sz="4400" spc="-20"/>
              <a:t> </a:t>
            </a:r>
            <a:r>
              <a:rPr sz="4400" spc="-10"/>
              <a:t>wait</a:t>
            </a:r>
            <a:r>
              <a:rPr sz="4400" spc="-30"/>
              <a:t> </a:t>
            </a:r>
            <a:r>
              <a:rPr sz="4400" spc="-5"/>
              <a:t>et</a:t>
            </a:r>
            <a:r>
              <a:rPr sz="4400" spc="-25"/>
              <a:t> </a:t>
            </a:r>
            <a:r>
              <a:rPr sz="4400" spc="-5"/>
              <a:t>exit</a:t>
            </a:r>
            <a:endParaRPr sz="4400"/>
          </a:p>
        </p:txBody>
      </p:sp>
      <p:pic>
        <p:nvPicPr>
          <p:cNvPr id="3" name="object 3"/>
          <p:cNvPicPr/>
          <p:nvPr/>
        </p:nvPicPr>
        <p:blipFill>
          <a:blip r:embed="rId2" cstate="print"/>
          <a:stretch>
            <a:fillRect/>
          </a:stretch>
        </p:blipFill>
        <p:spPr>
          <a:xfrm>
            <a:off x="624173" y="1967227"/>
            <a:ext cx="7920872" cy="4460004"/>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305" rIns="0" bIns="0" rtlCol="0">
            <a:spAutoFit/>
          </a:bodyPr>
          <a:lstStyle/>
          <a:p>
            <a:pPr marL="1603375" marR="5080" indent="-904240">
              <a:lnSpc>
                <a:spcPts val="4730"/>
              </a:lnSpc>
              <a:spcBef>
                <a:spcPts val="215"/>
              </a:spcBef>
            </a:pPr>
            <a:r>
              <a:t>Création</a:t>
            </a:r>
            <a:r>
              <a:rPr spc="-30"/>
              <a:t> </a:t>
            </a:r>
            <a:r>
              <a:t>de</a:t>
            </a:r>
            <a:r>
              <a:rPr spc="-35"/>
              <a:t> </a:t>
            </a:r>
            <a:r>
              <a:t>processus</a:t>
            </a:r>
            <a:r>
              <a:rPr spc="-30"/>
              <a:t> </a:t>
            </a:r>
            <a:r>
              <a:rPr spc="-5"/>
              <a:t>et </a:t>
            </a:r>
            <a:r>
              <a:rPr spc="-880"/>
              <a:t> </a:t>
            </a:r>
            <a:r>
              <a:rPr spc="-5"/>
              <a:t>synchronisation</a:t>
            </a:r>
          </a:p>
        </p:txBody>
      </p:sp>
      <p:pic>
        <p:nvPicPr>
          <p:cNvPr id="3" name="object 3"/>
          <p:cNvPicPr/>
          <p:nvPr/>
        </p:nvPicPr>
        <p:blipFill>
          <a:blip r:embed="rId2" cstate="print"/>
          <a:stretch>
            <a:fillRect/>
          </a:stretch>
        </p:blipFill>
        <p:spPr>
          <a:xfrm>
            <a:off x="1066800" y="1643051"/>
            <a:ext cx="7010399" cy="4143403"/>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14282" y="571480"/>
            <a:ext cx="8572560" cy="5929353"/>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1938" y="477711"/>
            <a:ext cx="6864984" cy="695960"/>
          </a:xfrm>
          <a:prstGeom prst="rect">
            <a:avLst/>
          </a:prstGeom>
        </p:spPr>
        <p:txBody>
          <a:bodyPr vert="horz" wrap="square" lIns="0" tIns="12700" rIns="0" bIns="0" rtlCol="0">
            <a:spAutoFit/>
          </a:bodyPr>
          <a:lstStyle/>
          <a:p>
            <a:pPr marL="12700">
              <a:lnSpc>
                <a:spcPct val="100000"/>
              </a:lnSpc>
              <a:spcBef>
                <a:spcPts val="100"/>
              </a:spcBef>
            </a:pPr>
            <a:r>
              <a:rPr sz="4400" spc="-10"/>
              <a:t>Recouvrement</a:t>
            </a:r>
            <a:r>
              <a:rPr sz="4400" spc="-50"/>
              <a:t> </a:t>
            </a:r>
            <a:r>
              <a:rPr sz="4400" spc="-5"/>
              <a:t>d’un</a:t>
            </a:r>
            <a:r>
              <a:rPr sz="4400" spc="-45"/>
              <a:t> </a:t>
            </a:r>
            <a:r>
              <a:rPr sz="4400" spc="-5"/>
              <a:t>processus</a:t>
            </a:r>
            <a:endParaRPr sz="4400"/>
          </a:p>
        </p:txBody>
      </p:sp>
      <p:pic>
        <p:nvPicPr>
          <p:cNvPr id="3" name="object 3"/>
          <p:cNvPicPr/>
          <p:nvPr/>
        </p:nvPicPr>
        <p:blipFill>
          <a:blip r:embed="rId2" cstate="print"/>
          <a:stretch>
            <a:fillRect/>
          </a:stretch>
        </p:blipFill>
        <p:spPr>
          <a:xfrm>
            <a:off x="361950" y="1485922"/>
            <a:ext cx="8420099" cy="5229224"/>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1938" y="477711"/>
            <a:ext cx="6864984" cy="695960"/>
          </a:xfrm>
          <a:prstGeom prst="rect">
            <a:avLst/>
          </a:prstGeom>
        </p:spPr>
        <p:txBody>
          <a:bodyPr vert="horz" wrap="square" lIns="0" tIns="12700" rIns="0" bIns="0" rtlCol="0">
            <a:spAutoFit/>
          </a:bodyPr>
          <a:lstStyle/>
          <a:p>
            <a:pPr marL="12700">
              <a:lnSpc>
                <a:spcPct val="100000"/>
              </a:lnSpc>
              <a:spcBef>
                <a:spcPts val="100"/>
              </a:spcBef>
            </a:pPr>
            <a:r>
              <a:rPr sz="4400" spc="-10"/>
              <a:t>Recouvrement</a:t>
            </a:r>
            <a:r>
              <a:rPr sz="4400" spc="-50"/>
              <a:t> </a:t>
            </a:r>
            <a:r>
              <a:rPr sz="4400" spc="-5"/>
              <a:t>d’un</a:t>
            </a:r>
            <a:r>
              <a:rPr sz="4400" spc="-45"/>
              <a:t> </a:t>
            </a:r>
            <a:r>
              <a:rPr sz="4400" spc="-5"/>
              <a:t>processus</a:t>
            </a:r>
            <a:endParaRPr sz="4400"/>
          </a:p>
        </p:txBody>
      </p:sp>
      <p:pic>
        <p:nvPicPr>
          <p:cNvPr id="3" name="object 3"/>
          <p:cNvPicPr/>
          <p:nvPr/>
        </p:nvPicPr>
        <p:blipFill>
          <a:blip r:embed="rId2" cstate="print"/>
          <a:stretch>
            <a:fillRect/>
          </a:stretch>
        </p:blipFill>
        <p:spPr>
          <a:xfrm>
            <a:off x="428625" y="1533549"/>
            <a:ext cx="8286749" cy="532445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1938" y="477711"/>
            <a:ext cx="6864984" cy="695960"/>
          </a:xfrm>
          <a:prstGeom prst="rect">
            <a:avLst/>
          </a:prstGeom>
        </p:spPr>
        <p:txBody>
          <a:bodyPr vert="horz" wrap="square" lIns="0" tIns="12700" rIns="0" bIns="0" rtlCol="0">
            <a:spAutoFit/>
          </a:bodyPr>
          <a:lstStyle/>
          <a:p>
            <a:pPr marL="12700">
              <a:lnSpc>
                <a:spcPct val="100000"/>
              </a:lnSpc>
              <a:spcBef>
                <a:spcPts val="100"/>
              </a:spcBef>
            </a:pPr>
            <a:r>
              <a:rPr sz="4400" spc="-10"/>
              <a:t>Recouvrement</a:t>
            </a:r>
            <a:r>
              <a:rPr sz="4400" spc="-50"/>
              <a:t> </a:t>
            </a:r>
            <a:r>
              <a:rPr sz="4400" spc="-5"/>
              <a:t>d’un</a:t>
            </a:r>
            <a:r>
              <a:rPr sz="4400" spc="-45"/>
              <a:t> </a:t>
            </a:r>
            <a:r>
              <a:rPr sz="4400" spc="-5"/>
              <a:t>processus</a:t>
            </a:r>
            <a:endParaRPr sz="4400"/>
          </a:p>
        </p:txBody>
      </p:sp>
      <p:pic>
        <p:nvPicPr>
          <p:cNvPr id="3" name="object 3"/>
          <p:cNvPicPr/>
          <p:nvPr/>
        </p:nvPicPr>
        <p:blipFill>
          <a:blip r:embed="rId2" cstate="print"/>
          <a:stretch>
            <a:fillRect/>
          </a:stretch>
        </p:blipFill>
        <p:spPr>
          <a:xfrm>
            <a:off x="423863" y="2428875"/>
            <a:ext cx="8296275" cy="1685924"/>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305" rIns="0" bIns="0" rtlCol="0">
            <a:spAutoFit/>
          </a:bodyPr>
          <a:lstStyle/>
          <a:p>
            <a:pPr marL="849630" marR="5080" indent="-837565">
              <a:lnSpc>
                <a:spcPts val="4730"/>
              </a:lnSpc>
              <a:spcBef>
                <a:spcPts val="215"/>
              </a:spcBef>
            </a:pPr>
            <a:r>
              <a:rPr spc="-5"/>
              <a:t>Recouvrement</a:t>
            </a:r>
            <a:r>
              <a:rPr spc="-40"/>
              <a:t> </a:t>
            </a:r>
            <a:r>
              <a:t>d’un</a:t>
            </a:r>
            <a:r>
              <a:rPr spc="-30"/>
              <a:t> </a:t>
            </a:r>
            <a:r>
              <a:t>processus</a:t>
            </a:r>
            <a:r>
              <a:rPr spc="-35"/>
              <a:t> </a:t>
            </a:r>
            <a:r>
              <a:t>: </a:t>
            </a:r>
            <a:r>
              <a:rPr spc="-875"/>
              <a:t> </a:t>
            </a:r>
            <a:r>
              <a:t>remplacement</a:t>
            </a:r>
            <a:r>
              <a:rPr spc="-15"/>
              <a:t> </a:t>
            </a:r>
            <a:r>
              <a:t>du</a:t>
            </a:r>
            <a:r>
              <a:rPr spc="-10"/>
              <a:t> </a:t>
            </a:r>
            <a:r>
              <a:rPr spc="-5"/>
              <a:t>code</a:t>
            </a:r>
          </a:p>
        </p:txBody>
      </p:sp>
      <p:pic>
        <p:nvPicPr>
          <p:cNvPr id="3" name="object 3"/>
          <p:cNvPicPr/>
          <p:nvPr/>
        </p:nvPicPr>
        <p:blipFill>
          <a:blip r:embed="rId2" cstate="print"/>
          <a:stretch>
            <a:fillRect/>
          </a:stretch>
        </p:blipFill>
        <p:spPr>
          <a:xfrm>
            <a:off x="409575" y="1428736"/>
            <a:ext cx="8324849" cy="5353049"/>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7305" rIns="0" bIns="0" rtlCol="0">
            <a:spAutoFit/>
          </a:bodyPr>
          <a:lstStyle/>
          <a:p>
            <a:pPr marL="1603375" marR="5080" indent="-1557655">
              <a:lnSpc>
                <a:spcPts val="4730"/>
              </a:lnSpc>
              <a:spcBef>
                <a:spcPts val="215"/>
              </a:spcBef>
            </a:pPr>
            <a:r>
              <a:t>Création</a:t>
            </a:r>
            <a:r>
              <a:rPr spc="-30"/>
              <a:t> </a:t>
            </a:r>
            <a:r>
              <a:t>puis</a:t>
            </a:r>
            <a:r>
              <a:rPr spc="-30"/>
              <a:t> </a:t>
            </a:r>
            <a:r>
              <a:rPr spc="-5"/>
              <a:t>Recouvrement</a:t>
            </a:r>
            <a:r>
              <a:rPr spc="-35"/>
              <a:t> </a:t>
            </a:r>
            <a:r>
              <a:rPr spc="-5"/>
              <a:t>et </a:t>
            </a:r>
            <a:r>
              <a:rPr spc="-880"/>
              <a:t> </a:t>
            </a:r>
            <a:r>
              <a:rPr spc="-5"/>
              <a:t>synchronisation</a:t>
            </a:r>
          </a:p>
        </p:txBody>
      </p:sp>
      <p:pic>
        <p:nvPicPr>
          <p:cNvPr id="3" name="object 3"/>
          <p:cNvPicPr/>
          <p:nvPr/>
        </p:nvPicPr>
        <p:blipFill>
          <a:blip r:embed="rId2" cstate="print"/>
          <a:stretch>
            <a:fillRect/>
          </a:stretch>
        </p:blipFill>
        <p:spPr>
          <a:xfrm>
            <a:off x="357188" y="1471636"/>
            <a:ext cx="8429625" cy="5314949"/>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319819" y="477711"/>
            <a:ext cx="2503805" cy="695960"/>
          </a:xfrm>
          <a:prstGeom prst="rect">
            <a:avLst/>
          </a:prstGeom>
        </p:spPr>
        <p:txBody>
          <a:bodyPr vert="horz" wrap="square" lIns="0" tIns="12700" rIns="0" bIns="0" rtlCol="0">
            <a:spAutoFit/>
          </a:bodyPr>
          <a:lstStyle/>
          <a:p>
            <a:pPr marL="12700">
              <a:lnSpc>
                <a:spcPct val="100000"/>
              </a:lnSpc>
              <a:spcBef>
                <a:spcPts val="100"/>
              </a:spcBef>
            </a:pPr>
            <a:r>
              <a:rPr sz="4400" spc="-5"/>
              <a:t>Conclusion</a:t>
            </a:r>
            <a:endParaRPr sz="4400"/>
          </a:p>
        </p:txBody>
      </p:sp>
      <p:pic>
        <p:nvPicPr>
          <p:cNvPr id="3" name="object 3"/>
          <p:cNvPicPr/>
          <p:nvPr/>
        </p:nvPicPr>
        <p:blipFill>
          <a:blip r:embed="rId2" cstate="print"/>
          <a:stretch>
            <a:fillRect/>
          </a:stretch>
        </p:blipFill>
        <p:spPr>
          <a:xfrm>
            <a:off x="214282" y="3395686"/>
            <a:ext cx="8643997" cy="3390899"/>
          </a:xfrm>
          <a:prstGeom prst="rect">
            <a:avLst/>
          </a:prstGeom>
        </p:spPr>
      </p:pic>
      <p:pic>
        <p:nvPicPr>
          <p:cNvPr id="4" name="object 4"/>
          <p:cNvPicPr/>
          <p:nvPr/>
        </p:nvPicPr>
        <p:blipFill>
          <a:blip r:embed="rId3" cstate="print"/>
          <a:stretch>
            <a:fillRect/>
          </a:stretch>
        </p:blipFill>
        <p:spPr>
          <a:xfrm>
            <a:off x="57191" y="1552574"/>
            <a:ext cx="8819795" cy="1685924"/>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2412" y="1557338"/>
            <a:ext cx="8524558" cy="4586305"/>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5373215"/>
            <a:ext cx="2991663" cy="550539"/>
          </a:xfrm>
          <a:prstGeom prst="rect">
            <a:avLst/>
          </a:prstGeom>
        </p:spPr>
      </p:pic>
      <p:pic>
        <p:nvPicPr>
          <p:cNvPr id="3" name="object 3"/>
          <p:cNvPicPr/>
          <p:nvPr/>
        </p:nvPicPr>
        <p:blipFill>
          <a:blip r:embed="rId3" cstate="print"/>
          <a:stretch>
            <a:fillRect/>
          </a:stretch>
        </p:blipFill>
        <p:spPr>
          <a:xfrm>
            <a:off x="228600" y="274638"/>
            <a:ext cx="8686799" cy="3791159"/>
          </a:xfrm>
          <a:prstGeom prst="rect">
            <a:avLst/>
          </a:prstGeom>
        </p:spPr>
      </p:pic>
      <p:pic>
        <p:nvPicPr>
          <p:cNvPr id="4" name="object 4"/>
          <p:cNvPicPr/>
          <p:nvPr/>
        </p:nvPicPr>
        <p:blipFill>
          <a:blip r:embed="rId4" cstate="print"/>
          <a:stretch>
            <a:fillRect/>
          </a:stretch>
        </p:blipFill>
        <p:spPr>
          <a:xfrm>
            <a:off x="4067944" y="5377355"/>
            <a:ext cx="3419474" cy="677665"/>
          </a:xfrm>
          <a:prstGeom prst="rect">
            <a:avLst/>
          </a:prstGeom>
        </p:spPr>
      </p:pic>
      <p:pic>
        <p:nvPicPr>
          <p:cNvPr id="5" name="object 5"/>
          <p:cNvPicPr/>
          <p:nvPr/>
        </p:nvPicPr>
        <p:blipFill>
          <a:blip r:embed="rId5" cstate="print"/>
          <a:stretch>
            <a:fillRect/>
          </a:stretch>
        </p:blipFill>
        <p:spPr>
          <a:xfrm>
            <a:off x="2195736" y="4343899"/>
            <a:ext cx="3133724" cy="390524"/>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1520" y="12830"/>
            <a:ext cx="7632847" cy="4588668"/>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FF0000"/>
                </a:solidFill>
              </a:rPr>
              <a:t>Chapitre 4: Communication interprocessus </a:t>
            </a:r>
            <a:endParaRPr b="1" dirty="0">
              <a:solidFill>
                <a:srgbClr val="FF0000"/>
              </a:solidFil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Introduction </a:t>
            </a:r>
            <a:endParaRPr dirty="0">
              <a:solidFill>
                <a:srgbClr val="00B0F0"/>
              </a:solidFill>
            </a:endParaRPr>
          </a:p>
        </p:txBody>
      </p:sp>
      <p:sp>
        <p:nvSpPr>
          <p:cNvPr id="96" name="Google Shape;96;p14"/>
          <p:cNvSpPr/>
          <p:nvPr/>
        </p:nvSpPr>
        <p:spPr>
          <a:xfrm>
            <a:off x="457200" y="1705451"/>
            <a:ext cx="8049986" cy="341632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400"/>
              <a:buFont typeface="Arial"/>
              <a:buNone/>
            </a:pPr>
            <a:r>
              <a:rPr lang="fr-FR" sz="2400" b="0" i="0" u="none" strike="noStrike" cap="none" dirty="0">
                <a:solidFill>
                  <a:srgbClr val="000000"/>
                </a:solidFill>
                <a:latin typeface="Times New Roman"/>
                <a:ea typeface="Times New Roman"/>
                <a:cs typeface="Times New Roman"/>
                <a:sym typeface="Times New Roman"/>
              </a:rPr>
              <a:t>Les processus coopèrent souvent pour traiter un même problème. Ces processus s'exécutent en parallèle sur un même ordinateur (monoprocesseur ou multiprocesseurs) ou bien sur des ordinateurs différents. Ils doivent alors s'échanger des informations (</a:t>
            </a:r>
            <a:r>
              <a:rPr lang="fr-FR" sz="2400" b="1" i="0" u="none" strike="noStrike" cap="none" dirty="0">
                <a:solidFill>
                  <a:srgbClr val="000000"/>
                </a:solidFill>
                <a:latin typeface="Times New Roman"/>
                <a:ea typeface="Times New Roman"/>
                <a:cs typeface="Times New Roman"/>
                <a:sym typeface="Times New Roman"/>
              </a:rPr>
              <a:t>communication interprocessus</a:t>
            </a:r>
            <a:r>
              <a:rPr lang="fr-FR" sz="2400" b="0" i="0" u="none" strike="noStrike" cap="none" dirty="0">
                <a:solidFill>
                  <a:srgbClr val="000000"/>
                </a:solidFill>
                <a:latin typeface="Times New Roman"/>
                <a:ea typeface="Times New Roman"/>
                <a:cs typeface="Times New Roman"/>
                <a:sym typeface="Times New Roman"/>
              </a:rPr>
              <a:t>). Il existe plusieurs moyens de communication interprocessus. Nous pouvons citer, entre autres, les variables communes, les fichiers communs, les signaux, les messages et les tubes de communication</a:t>
            </a:r>
            <a:endParaRPr sz="2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1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entrées-sorties</a:t>
            </a:r>
            <a:endParaRPr dirty="0">
              <a:solidFill>
                <a:srgbClr val="00B0F0"/>
              </a:solidFill>
            </a:endParaRPr>
          </a:p>
        </p:txBody>
      </p:sp>
      <p:pic>
        <p:nvPicPr>
          <p:cNvPr id="103" name="Google Shape;103;p15"/>
          <p:cNvPicPr preferRelativeResize="0"/>
          <p:nvPr/>
        </p:nvPicPr>
        <p:blipFill rotWithShape="1">
          <a:blip r:embed="rId3">
            <a:alphaModFix/>
          </a:blip>
          <a:srcRect/>
          <a:stretch/>
        </p:blipFill>
        <p:spPr>
          <a:xfrm>
            <a:off x="414338" y="1366838"/>
            <a:ext cx="8315325" cy="4491054"/>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7793E-5FA2-71A5-0071-C37933859E9E}"/>
              </a:ext>
            </a:extLst>
          </p:cNvPr>
          <p:cNvSpPr>
            <a:spLocks noGrp="1"/>
          </p:cNvSpPr>
          <p:nvPr>
            <p:ph type="title"/>
          </p:nvPr>
        </p:nvSpPr>
        <p:spPr>
          <a:xfrm>
            <a:off x="457200" y="2286000"/>
            <a:ext cx="8229600" cy="1143000"/>
          </a:xfrm>
        </p:spPr>
        <p:txBody>
          <a:bodyPr>
            <a:normAutofit fontScale="90000"/>
          </a:bodyPr>
          <a:lstStyle/>
          <a:p>
            <a:br>
              <a:rPr lang="en-CA" dirty="0"/>
            </a:br>
            <a:br>
              <a:rPr lang="en-CA" dirty="0"/>
            </a:br>
            <a:r>
              <a:rPr lang="en-CA" b="1" u="sng" dirty="0">
                <a:solidFill>
                  <a:srgbClr val="FF0000"/>
                </a:solidFill>
              </a:rPr>
              <a:t>Les </a:t>
            </a:r>
            <a:r>
              <a:rPr lang="fr-FR" b="1" u="sng" dirty="0">
                <a:solidFill>
                  <a:srgbClr val="FF0000"/>
                </a:solidFill>
              </a:rPr>
              <a:t>Descripteurs</a:t>
            </a:r>
            <a:r>
              <a:rPr lang="en-CA" b="1" u="sng" dirty="0">
                <a:solidFill>
                  <a:srgbClr val="FF0000"/>
                </a:solidFill>
              </a:rPr>
              <a:t>:</a:t>
            </a:r>
            <a:br>
              <a:rPr lang="en-CA" u="sng" dirty="0">
                <a:solidFill>
                  <a:srgbClr val="FF0000"/>
                </a:solidFill>
              </a:rPr>
            </a:br>
            <a:br>
              <a:rPr lang="en-CA" u="sng" dirty="0"/>
            </a:br>
            <a:endParaRPr lang="fr-TN" u="sng" dirty="0"/>
          </a:p>
        </p:txBody>
      </p:sp>
    </p:spTree>
    <p:extLst>
      <p:ext uri="{BB962C8B-B14F-4D97-AF65-F5344CB8AC3E}">
        <p14:creationId xmlns:p14="http://schemas.microsoft.com/office/powerpoint/2010/main" val="301679901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Descripteurs</a:t>
            </a:r>
            <a:endParaRPr dirty="0">
              <a:solidFill>
                <a:srgbClr val="00B0F0"/>
              </a:solidFill>
            </a:endParaRPr>
          </a:p>
        </p:txBody>
      </p:sp>
      <p:pic>
        <p:nvPicPr>
          <p:cNvPr id="110" name="Google Shape;110;p16"/>
          <p:cNvPicPr preferRelativeResize="0"/>
          <p:nvPr/>
        </p:nvPicPr>
        <p:blipFill rotWithShape="1">
          <a:blip r:embed="rId3">
            <a:alphaModFix/>
          </a:blip>
          <a:srcRect/>
          <a:stretch/>
        </p:blipFill>
        <p:spPr>
          <a:xfrm>
            <a:off x="323850" y="1508124"/>
            <a:ext cx="8362950" cy="3667139"/>
          </a:xfrm>
          <a:prstGeom prst="rect">
            <a:avLst/>
          </a:prstGeom>
          <a:noFill/>
          <a:ln>
            <a:noFill/>
          </a:ln>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19"/>
          <p:cNvSpPr txBox="1">
            <a:spLocks noGrp="1"/>
          </p:cNvSpPr>
          <p:nvPr>
            <p:ph type="title"/>
          </p:nvPr>
        </p:nvSpPr>
        <p:spPr>
          <a:xfrm>
            <a:off x="457200" y="-4"/>
            <a:ext cx="8229600" cy="769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Descripteurs</a:t>
            </a:r>
            <a:endParaRPr dirty="0">
              <a:solidFill>
                <a:srgbClr val="00B0F0"/>
              </a:solidFill>
            </a:endParaRPr>
          </a:p>
        </p:txBody>
      </p:sp>
      <p:sp>
        <p:nvSpPr>
          <p:cNvPr id="130" name="Google Shape;130;p19"/>
          <p:cNvSpPr/>
          <p:nvPr/>
        </p:nvSpPr>
        <p:spPr>
          <a:xfrm>
            <a:off x="146250" y="769196"/>
            <a:ext cx="8851500" cy="114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fr-FR" sz="1500" b="1" i="0" u="none" strike="noStrike" cap="none">
                <a:solidFill>
                  <a:srgbClr val="002424"/>
                </a:solidFill>
                <a:latin typeface="Times New Roman"/>
                <a:ea typeface="Times New Roman"/>
                <a:cs typeface="Times New Roman"/>
                <a:sym typeface="Times New Roman"/>
              </a:rPr>
              <a:t>Un fichier est accessible à travers un descripteur local à un processus qui permet de le référencer indépendamment de son nom physique. Ce descripteur permet d'accéder à une table qui indique l'ensemble des fichiers ouverts. Plus exactement, chaque processus possède une table de descripteurs, un pour chaque fichier ouvert, selon le schéma:</a:t>
            </a:r>
            <a:endParaRPr sz="1500" b="1" i="0" u="none" strike="noStrike" cap="none">
              <a:solidFill>
                <a:srgbClr val="000000"/>
              </a:solidFill>
              <a:latin typeface="Arial"/>
              <a:ea typeface="Arial"/>
              <a:cs typeface="Arial"/>
              <a:sym typeface="Arial"/>
            </a:endParaRPr>
          </a:p>
        </p:txBody>
      </p:sp>
      <p:pic>
        <p:nvPicPr>
          <p:cNvPr id="131" name="Google Shape;131;p19"/>
          <p:cNvPicPr preferRelativeResize="0"/>
          <p:nvPr/>
        </p:nvPicPr>
        <p:blipFill>
          <a:blip r:embed="rId3">
            <a:alphaModFix/>
          </a:blip>
          <a:stretch>
            <a:fillRect/>
          </a:stretch>
        </p:blipFill>
        <p:spPr>
          <a:xfrm>
            <a:off x="533400" y="2103452"/>
            <a:ext cx="8065899" cy="4705375"/>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Descripteurs</a:t>
            </a:r>
            <a:endParaRPr dirty="0">
              <a:solidFill>
                <a:srgbClr val="00B0F0"/>
              </a:solidFill>
            </a:endParaRPr>
          </a:p>
        </p:txBody>
      </p:sp>
      <p:pic>
        <p:nvPicPr>
          <p:cNvPr id="117" name="Google Shape;117;p17"/>
          <p:cNvPicPr preferRelativeResize="0"/>
          <p:nvPr/>
        </p:nvPicPr>
        <p:blipFill rotWithShape="1">
          <a:blip r:embed="rId3">
            <a:alphaModFix/>
          </a:blip>
          <a:srcRect/>
          <a:stretch/>
        </p:blipFill>
        <p:spPr>
          <a:xfrm>
            <a:off x="352425" y="1556792"/>
            <a:ext cx="8334375" cy="4014802"/>
          </a:xfrm>
          <a:prstGeom prst="rect">
            <a:avLst/>
          </a:prstGeom>
          <a:noFill/>
          <a:ln>
            <a:noFill/>
          </a:ln>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3" name="Google Shape;123;p18" descr="http://liris.cnrs.fr/~pchampin/enseignement/se/_images/es_filedescriptors.png"/>
          <p:cNvPicPr preferRelativeResize="0"/>
          <p:nvPr/>
        </p:nvPicPr>
        <p:blipFill rotWithShape="1">
          <a:blip r:embed="rId3">
            <a:alphaModFix/>
          </a:blip>
          <a:srcRect/>
          <a:stretch/>
        </p:blipFill>
        <p:spPr>
          <a:xfrm>
            <a:off x="750067" y="1712493"/>
            <a:ext cx="7643866" cy="4286280"/>
          </a:xfrm>
          <a:prstGeom prst="rect">
            <a:avLst/>
          </a:prstGeom>
          <a:noFill/>
          <a:ln>
            <a:noFill/>
          </a:ln>
        </p:spPr>
      </p:pic>
      <p:sp>
        <p:nvSpPr>
          <p:cNvPr id="2" name="Google Shape;116;p17">
            <a:extLst>
              <a:ext uri="{FF2B5EF4-FFF2-40B4-BE49-F238E27FC236}">
                <a16:creationId xmlns:a16="http://schemas.microsoft.com/office/drawing/2014/main" id="{90354F18-94D0-E9B0-1162-136990BA6425}"/>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Descripteurs</a:t>
            </a:r>
            <a:endParaRPr dirty="0">
              <a:solidFill>
                <a:srgbClr val="00B0F0"/>
              </a:solidFil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2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pic>
        <p:nvPicPr>
          <p:cNvPr id="138" name="Google Shape;138;p20"/>
          <p:cNvPicPr preferRelativeResize="0"/>
          <p:nvPr/>
        </p:nvPicPr>
        <p:blipFill rotWithShape="1">
          <a:blip r:embed="rId3">
            <a:alphaModFix/>
          </a:blip>
          <a:srcRect/>
          <a:stretch/>
        </p:blipFill>
        <p:spPr>
          <a:xfrm>
            <a:off x="428596" y="1428736"/>
            <a:ext cx="8358245" cy="5214974"/>
          </a:xfrm>
          <a:prstGeom prst="rect">
            <a:avLst/>
          </a:prstGeom>
          <a:noFill/>
          <a:ln>
            <a:noFill/>
          </a:ln>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F7793E-5FA2-71A5-0071-C37933859E9E}"/>
              </a:ext>
            </a:extLst>
          </p:cNvPr>
          <p:cNvSpPr>
            <a:spLocks noGrp="1"/>
          </p:cNvSpPr>
          <p:nvPr>
            <p:ph type="title"/>
          </p:nvPr>
        </p:nvSpPr>
        <p:spPr>
          <a:xfrm>
            <a:off x="457200" y="2286000"/>
            <a:ext cx="8229600" cy="1143000"/>
          </a:xfrm>
        </p:spPr>
        <p:txBody>
          <a:bodyPr>
            <a:normAutofit fontScale="90000"/>
          </a:bodyPr>
          <a:lstStyle/>
          <a:p>
            <a:br>
              <a:rPr lang="en-CA" dirty="0"/>
            </a:br>
            <a:br>
              <a:rPr lang="en-CA" dirty="0"/>
            </a:br>
            <a:r>
              <a:rPr lang="en-CA" b="1" dirty="0">
                <a:solidFill>
                  <a:srgbClr val="FF0000"/>
                </a:solidFill>
              </a:rPr>
              <a:t>Communication Inter-processus:</a:t>
            </a:r>
            <a:br>
              <a:rPr lang="en-CA" dirty="0">
                <a:solidFill>
                  <a:srgbClr val="FF0000"/>
                </a:solidFill>
              </a:rPr>
            </a:br>
            <a:r>
              <a:rPr lang="fr-FR" sz="4000" dirty="0">
                <a:solidFill>
                  <a:srgbClr val="00B050"/>
                </a:solidFill>
              </a:rPr>
              <a:t>Les tubes anonymes</a:t>
            </a:r>
            <a:br>
              <a:rPr lang="en-CA" dirty="0"/>
            </a:br>
            <a:endParaRPr lang="fr-TN" dirty="0"/>
          </a:p>
        </p:txBody>
      </p:sp>
    </p:spTree>
    <p:extLst>
      <p:ext uri="{BB962C8B-B14F-4D97-AF65-F5344CB8AC3E}">
        <p14:creationId xmlns:p14="http://schemas.microsoft.com/office/powerpoint/2010/main" val="30910894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pic>
        <p:nvPicPr>
          <p:cNvPr id="145" name="Google Shape;145;p21"/>
          <p:cNvPicPr preferRelativeResize="0"/>
          <p:nvPr/>
        </p:nvPicPr>
        <p:blipFill rotWithShape="1">
          <a:blip r:embed="rId3">
            <a:alphaModFix/>
          </a:blip>
          <a:srcRect/>
          <a:stretch/>
        </p:blipFill>
        <p:spPr>
          <a:xfrm>
            <a:off x="357158" y="1609724"/>
            <a:ext cx="8358246" cy="4748233"/>
          </a:xfrm>
          <a:prstGeom prst="rect">
            <a:avLst/>
          </a:prstGeom>
          <a:noFill/>
          <a:ln>
            <a:noFill/>
          </a:ln>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pic>
        <p:nvPicPr>
          <p:cNvPr id="152" name="Google Shape;152;p22"/>
          <p:cNvPicPr preferRelativeResize="0"/>
          <p:nvPr/>
        </p:nvPicPr>
        <p:blipFill rotWithShape="1">
          <a:blip r:embed="rId3">
            <a:alphaModFix/>
          </a:blip>
          <a:srcRect/>
          <a:stretch/>
        </p:blipFill>
        <p:spPr>
          <a:xfrm>
            <a:off x="642910" y="1576388"/>
            <a:ext cx="7572428" cy="4567256"/>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pic>
        <p:nvPicPr>
          <p:cNvPr id="159" name="Google Shape;159;p23"/>
          <p:cNvPicPr preferRelativeResize="0"/>
          <p:nvPr/>
        </p:nvPicPr>
        <p:blipFill rotWithShape="1">
          <a:blip r:embed="rId3">
            <a:alphaModFix/>
          </a:blip>
          <a:srcRect/>
          <a:stretch/>
        </p:blipFill>
        <p:spPr>
          <a:xfrm>
            <a:off x="428596" y="1571612"/>
            <a:ext cx="8215370" cy="4857784"/>
          </a:xfrm>
          <a:prstGeom prst="rect">
            <a:avLst/>
          </a:prstGeom>
          <a:noFill/>
          <a:ln>
            <a:noFill/>
          </a:ln>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pic>
        <p:nvPicPr>
          <p:cNvPr id="171" name="Google Shape;171;p25"/>
          <p:cNvPicPr preferRelativeResize="0"/>
          <p:nvPr/>
        </p:nvPicPr>
        <p:blipFill rotWithShape="1">
          <a:blip r:embed="rId3">
            <a:alphaModFix/>
          </a:blip>
          <a:srcRect/>
          <a:stretch/>
        </p:blipFill>
        <p:spPr>
          <a:xfrm>
            <a:off x="642910" y="1571612"/>
            <a:ext cx="8072494" cy="4929222"/>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pic>
        <p:nvPicPr>
          <p:cNvPr id="165" name="Google Shape;165;p24"/>
          <p:cNvPicPr preferRelativeResize="0"/>
          <p:nvPr/>
        </p:nvPicPr>
        <p:blipFill rotWithShape="1">
          <a:blip r:embed="rId3">
            <a:alphaModFix/>
          </a:blip>
          <a:srcRect/>
          <a:stretch/>
        </p:blipFill>
        <p:spPr>
          <a:xfrm>
            <a:off x="357158" y="1357299"/>
            <a:ext cx="8501121" cy="5500702"/>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undefined">
            <a:extLst>
              <a:ext uri="{FF2B5EF4-FFF2-40B4-BE49-F238E27FC236}">
                <a16:creationId xmlns:a16="http://schemas.microsoft.com/office/drawing/2014/main" id="{41898470-EF18-30B9-CF94-5A06C9433A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417638"/>
            <a:ext cx="9144000" cy="4508501"/>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64;p24">
            <a:extLst>
              <a:ext uri="{FF2B5EF4-FFF2-40B4-BE49-F238E27FC236}">
                <a16:creationId xmlns:a16="http://schemas.microsoft.com/office/drawing/2014/main" id="{FCBCF489-8FE7-74BE-A1F7-85D3096E96A2}"/>
              </a:ext>
            </a:extLst>
          </p:cNvPr>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spTree>
    <p:extLst>
      <p:ext uri="{BB962C8B-B14F-4D97-AF65-F5344CB8AC3E}">
        <p14:creationId xmlns:p14="http://schemas.microsoft.com/office/powerpoint/2010/main" val="618285731"/>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txBox="1">
            <a:spLocks noGrp="1"/>
          </p:cNvSpPr>
          <p:nvPr>
            <p:ph type="title"/>
          </p:nvPr>
        </p:nvSpPr>
        <p:spPr>
          <a:xfrm>
            <a:off x="274320" y="-9112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sp>
        <p:nvSpPr>
          <p:cNvPr id="3" name="Rectangle 2">
            <a:extLst>
              <a:ext uri="{FF2B5EF4-FFF2-40B4-BE49-F238E27FC236}">
                <a16:creationId xmlns:a16="http://schemas.microsoft.com/office/drawing/2014/main" id="{E1BE6148-139D-189F-9A85-2228CEDFC34F}"/>
              </a:ext>
            </a:extLst>
          </p:cNvPr>
          <p:cNvSpPr/>
          <p:nvPr/>
        </p:nvSpPr>
        <p:spPr>
          <a:xfrm>
            <a:off x="127000" y="802799"/>
            <a:ext cx="8890000" cy="60552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just">
              <a:buFont typeface="+mj-lt"/>
              <a:buAutoNum type="arabicPeriod"/>
            </a:pPr>
            <a:r>
              <a:rPr lang="fr-FR" sz="2400" b="1" dirty="0">
                <a:solidFill>
                  <a:srgbClr val="FF0000"/>
                </a:solidFill>
                <a:latin typeface="Calibri" panose="020F0502020204030204" pitchFamily="34" charset="0"/>
                <a:ea typeface="Calibri" panose="020F0502020204030204" pitchFamily="34" charset="0"/>
                <a:cs typeface="Calibri" panose="020F0502020204030204" pitchFamily="34" charset="0"/>
              </a:rPr>
              <a:t>pipe(descripteur) </a:t>
            </a:r>
            <a:r>
              <a:rPr lang="fr-FR" sz="1600" b="1" dirty="0">
                <a:solidFill>
                  <a:schemeClr val="tx1"/>
                </a:solidFill>
                <a:latin typeface="Calibri" panose="020F0502020204030204" pitchFamily="34" charset="0"/>
                <a:ea typeface="Calibri" panose="020F0502020204030204" pitchFamily="34" charset="0"/>
                <a:cs typeface="Calibri" panose="020F0502020204030204" pitchFamily="34" charset="0"/>
              </a:rPr>
              <a:t>:</a:t>
            </a:r>
          </a:p>
          <a:p>
            <a:pPr algn="just"/>
            <a:endParaRPr lang="fr-FR"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fr-FR" sz="1900" dirty="0">
                <a:solidFill>
                  <a:schemeClr val="tx1"/>
                </a:solidFill>
                <a:latin typeface="Calibri" panose="020F0502020204030204" pitchFamily="34" charset="0"/>
                <a:ea typeface="Calibri" panose="020F0502020204030204" pitchFamily="34" charset="0"/>
                <a:cs typeface="Calibri" panose="020F0502020204030204" pitchFamily="34" charset="0"/>
              </a:rPr>
              <a:t>Crée un tube (un canal de communication unidirectionnel) et retourne 0 en cas de succès, ou -1 en cas d'échec.</a:t>
            </a:r>
          </a:p>
          <a:p>
            <a:pPr algn="ctr"/>
            <a:r>
              <a:rPr lang="en-CA" sz="2400" b="1" dirty="0">
                <a:solidFill>
                  <a:srgbClr val="569CD6"/>
                </a:solidFill>
                <a:effectLst/>
                <a:latin typeface="Calibri" panose="020F0502020204030204" pitchFamily="34" charset="0"/>
                <a:ea typeface="Calibri" panose="020F0502020204030204" pitchFamily="34" charset="0"/>
                <a:cs typeface="Calibri" panose="020F0502020204030204" pitchFamily="34" charset="0"/>
              </a:rPr>
              <a:t>int</a:t>
            </a:r>
            <a:r>
              <a:rPr lang="en-CA"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 </a:t>
            </a:r>
            <a:r>
              <a:rPr lang="en-CA" sz="2400" b="1" dirty="0" err="1">
                <a:solidFill>
                  <a:srgbClr val="9CDCFE"/>
                </a:solidFill>
                <a:effectLst/>
                <a:latin typeface="Calibri" panose="020F0502020204030204" pitchFamily="34" charset="0"/>
                <a:ea typeface="Calibri" panose="020F0502020204030204" pitchFamily="34" charset="0"/>
                <a:cs typeface="Calibri" panose="020F0502020204030204" pitchFamily="34" charset="0"/>
              </a:rPr>
              <a:t>fd</a:t>
            </a:r>
            <a:r>
              <a:rPr lang="en-CA"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r>
              <a:rPr lang="en-CA" sz="2400" b="1" dirty="0">
                <a:solidFill>
                  <a:srgbClr val="B5CEA8"/>
                </a:solidFill>
                <a:effectLst/>
                <a:latin typeface="Calibri" panose="020F0502020204030204" pitchFamily="34" charset="0"/>
                <a:ea typeface="Calibri" panose="020F0502020204030204" pitchFamily="34" charset="0"/>
                <a:cs typeface="Calibri" panose="020F0502020204030204" pitchFamily="34" charset="0"/>
              </a:rPr>
              <a:t>2</a:t>
            </a:r>
            <a:r>
              <a:rPr lang="en-CA"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p>
          <a:p>
            <a:pPr algn="ctr"/>
            <a:r>
              <a:rPr lang="en-CA" sz="2400" b="1" dirty="0">
                <a:solidFill>
                  <a:srgbClr val="DCDCAA"/>
                </a:solidFill>
                <a:effectLst/>
                <a:latin typeface="Calibri" panose="020F0502020204030204" pitchFamily="34" charset="0"/>
                <a:ea typeface="Calibri" panose="020F0502020204030204" pitchFamily="34" charset="0"/>
                <a:cs typeface="Calibri" panose="020F0502020204030204" pitchFamily="34" charset="0"/>
              </a:rPr>
              <a:t>pipe</a:t>
            </a:r>
            <a:r>
              <a:rPr lang="en-CA"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r>
              <a:rPr lang="en-CA" sz="2400" b="1" dirty="0" err="1">
                <a:solidFill>
                  <a:srgbClr val="9CDCFE"/>
                </a:solidFill>
                <a:effectLst/>
                <a:latin typeface="Calibri" panose="020F0502020204030204" pitchFamily="34" charset="0"/>
                <a:ea typeface="Calibri" panose="020F0502020204030204" pitchFamily="34" charset="0"/>
                <a:cs typeface="Calibri" panose="020F0502020204030204" pitchFamily="34" charset="0"/>
              </a:rPr>
              <a:t>fd</a:t>
            </a:r>
            <a:r>
              <a:rPr lang="en-CA"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endParaRPr lang="fr-FR" sz="18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fr-FR" b="1" dirty="0">
                <a:solidFill>
                  <a:schemeClr val="tx1"/>
                </a:solidFill>
                <a:latin typeface="Calibri" panose="020F0502020204030204" pitchFamily="34" charset="0"/>
                <a:ea typeface="Calibri" panose="020F0502020204030204" pitchFamily="34" charset="0"/>
                <a:cs typeface="Calibri" panose="020F0502020204030204" pitchFamily="34" charset="0"/>
              </a:rPr>
              <a:t>Après un appel réussi :</a:t>
            </a:r>
          </a:p>
          <a:p>
            <a:pPr marL="285750" indent="-285750" algn="just">
              <a:buFont typeface="Wingdings" panose="05000000000000000000" pitchFamily="2" charset="2"/>
              <a:buChar char="q"/>
            </a:pPr>
            <a:r>
              <a:rPr lang="fr-FR" b="1" dirty="0" err="1">
                <a:solidFill>
                  <a:srgbClr val="00B050"/>
                </a:solidFill>
                <a:latin typeface="Calibri" panose="020F0502020204030204" pitchFamily="34" charset="0"/>
                <a:ea typeface="Calibri" panose="020F0502020204030204" pitchFamily="34" charset="0"/>
                <a:cs typeface="Calibri" panose="020F0502020204030204" pitchFamily="34" charset="0"/>
              </a:rPr>
              <a:t>fd</a:t>
            </a:r>
            <a:r>
              <a:rPr lang="fr-FR" b="1" dirty="0">
                <a:solidFill>
                  <a:srgbClr val="00B050"/>
                </a:solidFill>
                <a:latin typeface="Calibri" panose="020F0502020204030204" pitchFamily="34" charset="0"/>
                <a:ea typeface="Calibri" panose="020F0502020204030204" pitchFamily="34" charset="0"/>
                <a:cs typeface="Calibri" panose="020F0502020204030204" pitchFamily="34" charset="0"/>
              </a:rPr>
              <a:t>[0]:  </a:t>
            </a:r>
            <a:r>
              <a:rPr lang="fr-FR" b="1" dirty="0">
                <a:solidFill>
                  <a:schemeClr val="tx1"/>
                </a:solidFill>
                <a:latin typeface="Calibri" panose="020F0502020204030204" pitchFamily="34" charset="0"/>
                <a:ea typeface="Calibri" panose="020F0502020204030204" pitchFamily="34" charset="0"/>
                <a:cs typeface="Calibri" panose="020F0502020204030204" pitchFamily="34" charset="0"/>
              </a:rPr>
              <a:t>est utilisé pour la lecture depuis le tube.</a:t>
            </a:r>
          </a:p>
          <a:p>
            <a:pPr marL="285750" indent="-285750" algn="just">
              <a:buFont typeface="Wingdings" panose="05000000000000000000" pitchFamily="2" charset="2"/>
              <a:buChar char="q"/>
            </a:pPr>
            <a:r>
              <a:rPr lang="fr-FR" b="1" dirty="0" err="1">
                <a:solidFill>
                  <a:srgbClr val="00B050"/>
                </a:solidFill>
                <a:latin typeface="Calibri" panose="020F0502020204030204" pitchFamily="34" charset="0"/>
                <a:ea typeface="Calibri" panose="020F0502020204030204" pitchFamily="34" charset="0"/>
                <a:cs typeface="Calibri" panose="020F0502020204030204" pitchFamily="34" charset="0"/>
              </a:rPr>
              <a:t>fd</a:t>
            </a:r>
            <a:r>
              <a:rPr lang="fr-FR" b="1" dirty="0">
                <a:solidFill>
                  <a:srgbClr val="00B050"/>
                </a:solidFill>
                <a:latin typeface="Calibri" panose="020F0502020204030204" pitchFamily="34" charset="0"/>
                <a:ea typeface="Calibri" panose="020F0502020204030204" pitchFamily="34" charset="0"/>
                <a:cs typeface="Calibri" panose="020F0502020204030204" pitchFamily="34" charset="0"/>
              </a:rPr>
              <a:t>[1]: </a:t>
            </a:r>
            <a:r>
              <a:rPr lang="fr-FR" b="1" dirty="0">
                <a:solidFill>
                  <a:schemeClr val="tx1"/>
                </a:solidFill>
                <a:latin typeface="Calibri" panose="020F0502020204030204" pitchFamily="34" charset="0"/>
                <a:ea typeface="Calibri" panose="020F0502020204030204" pitchFamily="34" charset="0"/>
                <a:cs typeface="Calibri" panose="020F0502020204030204" pitchFamily="34" charset="0"/>
              </a:rPr>
              <a:t>est utilisé pour l'écriture dans le tube.</a:t>
            </a:r>
          </a:p>
          <a:p>
            <a:pPr algn="just"/>
            <a:endParaRPr lang="fr-FR"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marL="457200" indent="-457200" algn="just">
              <a:buFont typeface="+mj-lt"/>
              <a:buAutoNum type="arabicPeriod" startAt="2"/>
            </a:pPr>
            <a:r>
              <a:rPr lang="fr-FR" sz="2400" b="1" dirty="0" err="1">
                <a:solidFill>
                  <a:srgbClr val="FF0000"/>
                </a:solidFill>
                <a:latin typeface="Calibri" panose="020F0502020204030204" pitchFamily="34" charset="0"/>
                <a:ea typeface="Calibri" panose="020F0502020204030204" pitchFamily="34" charset="0"/>
                <a:cs typeface="Calibri" panose="020F0502020204030204" pitchFamily="34" charset="0"/>
              </a:rPr>
              <a:t>write</a:t>
            </a:r>
            <a:r>
              <a:rPr lang="fr-FR" sz="2400" b="1" dirty="0">
                <a:solidFill>
                  <a:srgbClr val="FF0000"/>
                </a:solidFill>
                <a:latin typeface="Calibri" panose="020F0502020204030204" pitchFamily="34" charset="0"/>
                <a:ea typeface="Calibri" panose="020F0502020204030204" pitchFamily="34" charset="0"/>
                <a:cs typeface="Calibri" panose="020F0502020204030204" pitchFamily="34" charset="0"/>
              </a:rPr>
              <a:t>(descripteur, buffer, longueur) :</a:t>
            </a:r>
          </a:p>
          <a:p>
            <a:pPr algn="just"/>
            <a:endParaRPr lang="fr-FR"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just"/>
            <a:r>
              <a:rPr lang="fr-FR" sz="1900" dirty="0">
                <a:solidFill>
                  <a:schemeClr val="tx1"/>
                </a:solidFill>
                <a:latin typeface="Calibri" panose="020F0502020204030204" pitchFamily="34" charset="0"/>
                <a:ea typeface="Calibri" panose="020F0502020204030204" pitchFamily="34" charset="0"/>
                <a:cs typeface="Calibri" panose="020F0502020204030204" pitchFamily="34" charset="0"/>
              </a:rPr>
              <a:t>Écrit un certain nombre d'octets (défini par longueur) à partir de la zone mémoire pointée par buffer dans le fichier ou le tube désigné par le descripteur de fichier descripteur.</a:t>
            </a:r>
          </a:p>
          <a:p>
            <a:pPr algn="just"/>
            <a:r>
              <a:rPr lang="fr-FR" sz="1900" dirty="0">
                <a:solidFill>
                  <a:schemeClr val="tx1"/>
                </a:solidFill>
                <a:latin typeface="Calibri" panose="020F0502020204030204" pitchFamily="34" charset="0"/>
                <a:ea typeface="Calibri" panose="020F0502020204030204" pitchFamily="34" charset="0"/>
                <a:cs typeface="Calibri" panose="020F0502020204030204" pitchFamily="34" charset="0"/>
              </a:rPr>
              <a:t>Dans le contexte des tubes, si le descripteur pour l'écriture est p[1] (où p est le tableau créé par l'appel à pipe), on peut écrire une valeur dans le tube en utilisant ce descripteur.</a:t>
            </a:r>
          </a:p>
          <a:p>
            <a:pPr algn="just"/>
            <a:endParaRPr lang="fr-FR"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a:p>
            <a:pPr algn="ctr"/>
            <a:r>
              <a:rPr lang="en-US" sz="2400" b="1" dirty="0">
                <a:solidFill>
                  <a:srgbClr val="DCDCAA"/>
                </a:solidFill>
                <a:effectLst/>
                <a:latin typeface="Calibri" panose="020F0502020204030204" pitchFamily="34" charset="0"/>
                <a:ea typeface="Calibri" panose="020F0502020204030204" pitchFamily="34" charset="0"/>
                <a:cs typeface="Calibri" panose="020F0502020204030204" pitchFamily="34" charset="0"/>
              </a:rPr>
              <a:t>write</a:t>
            </a:r>
            <a:r>
              <a:rPr lang="en-US"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r>
              <a:rPr lang="en-US" sz="2400" b="1" dirty="0" err="1">
                <a:solidFill>
                  <a:srgbClr val="9CDCFE"/>
                </a:solidFill>
                <a:latin typeface="Calibri" panose="020F0502020204030204" pitchFamily="34" charset="0"/>
                <a:ea typeface="Calibri" panose="020F0502020204030204" pitchFamily="34" charset="0"/>
                <a:cs typeface="Calibri" panose="020F0502020204030204" pitchFamily="34" charset="0"/>
              </a:rPr>
              <a:t>fd</a:t>
            </a:r>
            <a:r>
              <a:rPr lang="en-US"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r>
              <a:rPr lang="en-US" sz="2400" b="1" dirty="0">
                <a:solidFill>
                  <a:srgbClr val="B5CEA8"/>
                </a:solidFill>
                <a:effectLst/>
                <a:latin typeface="Calibri" panose="020F0502020204030204" pitchFamily="34" charset="0"/>
                <a:ea typeface="Calibri" panose="020F0502020204030204" pitchFamily="34" charset="0"/>
                <a:cs typeface="Calibri" panose="020F0502020204030204" pitchFamily="34" charset="0"/>
              </a:rPr>
              <a:t>1</a:t>
            </a:r>
            <a:r>
              <a:rPr lang="en-US"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a:solidFill>
                  <a:srgbClr val="D4D4D4"/>
                </a:solidFill>
                <a:effectLst/>
                <a:latin typeface="Calibri" panose="020F0502020204030204" pitchFamily="34" charset="0"/>
                <a:ea typeface="Calibri" panose="020F0502020204030204" pitchFamily="34" charset="0"/>
                <a:cs typeface="Calibri" panose="020F0502020204030204" pitchFamily="34" charset="0"/>
              </a:rPr>
              <a:t>&amp;</a:t>
            </a:r>
            <a:r>
              <a:rPr lang="en-US" sz="2400" b="1" dirty="0">
                <a:solidFill>
                  <a:srgbClr val="9CDCFE"/>
                </a:solidFill>
                <a:effectLst/>
                <a:latin typeface="Calibri" panose="020F0502020204030204" pitchFamily="34" charset="0"/>
                <a:ea typeface="Calibri" panose="020F0502020204030204" pitchFamily="34" charset="0"/>
                <a:cs typeface="Calibri" panose="020F0502020204030204" pitchFamily="34" charset="0"/>
              </a:rPr>
              <a:t>v</a:t>
            </a:r>
            <a:r>
              <a:rPr lang="en-US"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 </a:t>
            </a:r>
            <a:r>
              <a:rPr lang="en-US" sz="2400" b="1" dirty="0" err="1">
                <a:solidFill>
                  <a:srgbClr val="569CD6"/>
                </a:solidFill>
                <a:effectLst/>
                <a:latin typeface="Calibri" panose="020F0502020204030204" pitchFamily="34" charset="0"/>
                <a:ea typeface="Calibri" panose="020F0502020204030204" pitchFamily="34" charset="0"/>
                <a:cs typeface="Calibri" panose="020F0502020204030204" pitchFamily="34" charset="0"/>
              </a:rPr>
              <a:t>sizeof</a:t>
            </a:r>
            <a:r>
              <a:rPr lang="en-US"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r>
              <a:rPr lang="en-US" sz="2400" b="1" dirty="0">
                <a:solidFill>
                  <a:srgbClr val="569CD6"/>
                </a:solidFill>
                <a:effectLst/>
                <a:latin typeface="Calibri" panose="020F0502020204030204" pitchFamily="34" charset="0"/>
                <a:ea typeface="Calibri" panose="020F0502020204030204" pitchFamily="34" charset="0"/>
                <a:cs typeface="Calibri" panose="020F0502020204030204" pitchFamily="34" charset="0"/>
              </a:rPr>
              <a:t>float</a:t>
            </a:r>
            <a:r>
              <a:rPr lang="en-US" sz="2400" b="1" dirty="0">
                <a:solidFill>
                  <a:srgbClr val="CCCCCC"/>
                </a:solidFill>
                <a:effectLst/>
                <a:latin typeface="Calibri" panose="020F0502020204030204" pitchFamily="34" charset="0"/>
                <a:ea typeface="Calibri" panose="020F0502020204030204" pitchFamily="34" charset="0"/>
                <a:cs typeface="Calibri" panose="020F0502020204030204" pitchFamily="34" charset="0"/>
              </a:rPr>
              <a:t>));</a:t>
            </a:r>
          </a:p>
          <a:p>
            <a:pPr marL="171450" indent="-171450">
              <a:buFont typeface="Arial" panose="020B0604020202020204" pitchFamily="34" charset="0"/>
              <a:buChar char="•"/>
            </a:pPr>
            <a:r>
              <a:rPr lang="fr-FR" b="1" dirty="0">
                <a:solidFill>
                  <a:schemeClr val="tx1"/>
                </a:solidFill>
                <a:latin typeface="Calibri" panose="020F0502020204030204" pitchFamily="34" charset="0"/>
                <a:ea typeface="Calibri" panose="020F0502020204030204" pitchFamily="34" charset="0"/>
                <a:cs typeface="Calibri" panose="020F0502020204030204" pitchFamily="34" charset="0"/>
              </a:rPr>
              <a:t>La fonction retourne le nombre d'octets écrits ou -1 en cas d'erreur</a:t>
            </a:r>
            <a:r>
              <a:rPr lang="fr-FR" dirty="0">
                <a:solidFill>
                  <a:schemeClr val="tx1"/>
                </a:solidFill>
                <a:latin typeface="Calibri" panose="020F0502020204030204" pitchFamily="34" charset="0"/>
                <a:ea typeface="Calibri" panose="020F0502020204030204" pitchFamily="34" charset="0"/>
                <a:cs typeface="Calibri" panose="020F0502020204030204" pitchFamily="34" charset="0"/>
              </a:rPr>
              <a:t>.</a:t>
            </a:r>
            <a:endParaRPr lang="en-US" b="1" dirty="0">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lgn="just"/>
            <a:endParaRPr lang="fr-TN" sz="18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6"/>
          <p:cNvSpPr txBox="1">
            <a:spLocks noGrp="1"/>
          </p:cNvSpPr>
          <p:nvPr>
            <p:ph type="title"/>
          </p:nvPr>
        </p:nvSpPr>
        <p:spPr>
          <a:xfrm>
            <a:off x="274320" y="-9112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B0F0"/>
                </a:solidFill>
              </a:rPr>
              <a:t>Les tubes anonymes</a:t>
            </a:r>
            <a:endParaRPr dirty="0">
              <a:solidFill>
                <a:srgbClr val="00B0F0"/>
              </a:solidFill>
            </a:endParaRPr>
          </a:p>
        </p:txBody>
      </p:sp>
      <p:sp>
        <p:nvSpPr>
          <p:cNvPr id="3" name="Rectangle 2">
            <a:extLst>
              <a:ext uri="{FF2B5EF4-FFF2-40B4-BE49-F238E27FC236}">
                <a16:creationId xmlns:a16="http://schemas.microsoft.com/office/drawing/2014/main" id="{E1BE6148-139D-189F-9A85-2228CEDFC34F}"/>
              </a:ext>
            </a:extLst>
          </p:cNvPr>
          <p:cNvSpPr/>
          <p:nvPr/>
        </p:nvSpPr>
        <p:spPr>
          <a:xfrm>
            <a:off x="127000" y="802799"/>
            <a:ext cx="8890000" cy="605520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457200" indent="-457200" algn="just">
              <a:buFont typeface="+mj-lt"/>
              <a:buAutoNum type="arabicPeriod" startAt="3"/>
            </a:pPr>
            <a:r>
              <a:rPr lang="en-CA" sz="2800" b="1" dirty="0">
                <a:solidFill>
                  <a:srgbClr val="FF0000"/>
                </a:solidFill>
                <a:latin typeface="Calibri" panose="020F0502020204030204" pitchFamily="34" charset="0"/>
                <a:ea typeface="Calibri" panose="020F0502020204030204" pitchFamily="34" charset="0"/>
                <a:cs typeface="Calibri" panose="020F0502020204030204" pitchFamily="34" charset="0"/>
              </a:rPr>
              <a:t>read(</a:t>
            </a:r>
            <a:r>
              <a:rPr lang="en-CA" sz="2800" b="1" dirty="0" err="1">
                <a:solidFill>
                  <a:srgbClr val="FF0000"/>
                </a:solidFill>
                <a:latin typeface="Calibri" panose="020F0502020204030204" pitchFamily="34" charset="0"/>
                <a:ea typeface="Calibri" panose="020F0502020204030204" pitchFamily="34" charset="0"/>
                <a:cs typeface="Calibri" panose="020F0502020204030204" pitchFamily="34" charset="0"/>
              </a:rPr>
              <a:t>descripteur</a:t>
            </a:r>
            <a:r>
              <a:rPr lang="en-CA" sz="2800" b="1" dirty="0">
                <a:solidFill>
                  <a:srgbClr val="FF0000"/>
                </a:solidFill>
                <a:latin typeface="Calibri" panose="020F0502020204030204" pitchFamily="34" charset="0"/>
                <a:ea typeface="Calibri" panose="020F0502020204030204" pitchFamily="34" charset="0"/>
                <a:cs typeface="Calibri" panose="020F0502020204030204" pitchFamily="34" charset="0"/>
              </a:rPr>
              <a:t>, buffer, longueur)</a:t>
            </a:r>
            <a:r>
              <a:rPr lang="fr-FR" sz="2800" b="1" dirty="0">
                <a:solidFill>
                  <a:srgbClr val="FF0000"/>
                </a:solidFill>
                <a:latin typeface="Calibri" panose="020F0502020204030204" pitchFamily="34" charset="0"/>
                <a:ea typeface="Calibri" panose="020F0502020204030204" pitchFamily="34" charset="0"/>
                <a:cs typeface="Calibri" panose="020F0502020204030204" pitchFamily="34" charset="0"/>
              </a:rPr>
              <a:t>:</a:t>
            </a:r>
          </a:p>
          <a:p>
            <a:pPr algn="just"/>
            <a:endParaRPr lang="fr-FR" dirty="0">
              <a:solidFill>
                <a:schemeClr val="tx1"/>
              </a:solidFill>
            </a:endParaRPr>
          </a:p>
          <a:p>
            <a:pPr algn="just"/>
            <a:r>
              <a:rPr lang="fr-FR" sz="2000" dirty="0">
                <a:solidFill>
                  <a:schemeClr val="tx1"/>
                </a:solidFill>
                <a:latin typeface="Calibri" panose="020F0502020204030204" pitchFamily="34" charset="0"/>
                <a:ea typeface="Calibri" panose="020F0502020204030204" pitchFamily="34" charset="0"/>
                <a:cs typeface="Calibri" panose="020F0502020204030204" pitchFamily="34" charset="0"/>
              </a:rPr>
              <a:t>Lit jusqu'à longueur octets dans le tube associé au descripteur en lecture et place les octets dans la mémoire pointée par buffer.</a:t>
            </a:r>
          </a:p>
          <a:p>
            <a:pPr algn="just"/>
            <a:endParaRPr lang="fr-FR" sz="1800" b="1" dirty="0">
              <a:solidFill>
                <a:schemeClr val="tx1"/>
              </a:solidFill>
            </a:endParaRPr>
          </a:p>
          <a:p>
            <a:pPr algn="ctr"/>
            <a:r>
              <a:rPr lang="en-US" sz="2400" b="1" dirty="0">
                <a:solidFill>
                  <a:srgbClr val="DCDCAA"/>
                </a:solidFill>
                <a:effectLst/>
                <a:latin typeface="Consolas" panose="020B0609020204030204" pitchFamily="49" charset="0"/>
              </a:rPr>
              <a:t>read</a:t>
            </a:r>
            <a:r>
              <a:rPr lang="en-US" sz="2400" b="1" dirty="0">
                <a:solidFill>
                  <a:srgbClr val="CCCCCC"/>
                </a:solidFill>
                <a:effectLst/>
                <a:latin typeface="Consolas" panose="020B0609020204030204" pitchFamily="49" charset="0"/>
              </a:rPr>
              <a:t>(</a:t>
            </a:r>
            <a:r>
              <a:rPr lang="en-US" sz="2400" b="1" dirty="0" err="1">
                <a:solidFill>
                  <a:srgbClr val="9CDCFE"/>
                </a:solidFill>
                <a:latin typeface="Consolas" panose="020B0609020204030204" pitchFamily="49" charset="0"/>
              </a:rPr>
              <a:t>fd</a:t>
            </a:r>
            <a:r>
              <a:rPr lang="en-US" sz="2400" b="1" dirty="0">
                <a:solidFill>
                  <a:srgbClr val="CCCCCC"/>
                </a:solidFill>
                <a:effectLst/>
                <a:latin typeface="Consolas" panose="020B0609020204030204" pitchFamily="49" charset="0"/>
              </a:rPr>
              <a:t>[</a:t>
            </a:r>
            <a:r>
              <a:rPr lang="en-US" sz="2400" b="1" dirty="0">
                <a:solidFill>
                  <a:srgbClr val="B5CEA8"/>
                </a:solidFill>
                <a:effectLst/>
                <a:latin typeface="Consolas" panose="020B0609020204030204" pitchFamily="49" charset="0"/>
              </a:rPr>
              <a:t>0</a:t>
            </a:r>
            <a:r>
              <a:rPr lang="en-US" sz="2400" b="1" dirty="0">
                <a:solidFill>
                  <a:srgbClr val="CCCCCC"/>
                </a:solidFill>
                <a:effectLst/>
                <a:latin typeface="Consolas" panose="020B0609020204030204" pitchFamily="49" charset="0"/>
              </a:rPr>
              <a:t>], </a:t>
            </a:r>
            <a:r>
              <a:rPr lang="en-US" sz="2400" b="1" dirty="0">
                <a:solidFill>
                  <a:srgbClr val="D4D4D4"/>
                </a:solidFill>
                <a:effectLst/>
                <a:latin typeface="Consolas" panose="020B0609020204030204" pitchFamily="49" charset="0"/>
              </a:rPr>
              <a:t>&amp;</a:t>
            </a:r>
            <a:r>
              <a:rPr lang="en-US" sz="2400" b="1" dirty="0">
                <a:solidFill>
                  <a:srgbClr val="9CDCFE"/>
                </a:solidFill>
                <a:effectLst/>
                <a:latin typeface="Consolas" panose="020B0609020204030204" pitchFamily="49" charset="0"/>
              </a:rPr>
              <a:t>v</a:t>
            </a:r>
            <a:r>
              <a:rPr lang="en-US" sz="2400" b="1" dirty="0">
                <a:solidFill>
                  <a:srgbClr val="CCCCCC"/>
                </a:solidFill>
                <a:effectLst/>
                <a:latin typeface="Consolas" panose="020B0609020204030204" pitchFamily="49" charset="0"/>
              </a:rPr>
              <a:t>, </a:t>
            </a:r>
            <a:r>
              <a:rPr lang="en-US" sz="2400" b="1" dirty="0" err="1">
                <a:solidFill>
                  <a:srgbClr val="569CD6"/>
                </a:solidFill>
                <a:effectLst/>
                <a:latin typeface="Consolas" panose="020B0609020204030204" pitchFamily="49" charset="0"/>
              </a:rPr>
              <a:t>sizeof</a:t>
            </a:r>
            <a:r>
              <a:rPr lang="en-US" sz="2400" b="1" dirty="0">
                <a:solidFill>
                  <a:srgbClr val="CCCCCC"/>
                </a:solidFill>
                <a:effectLst/>
                <a:latin typeface="Consolas" panose="020B0609020204030204" pitchFamily="49" charset="0"/>
              </a:rPr>
              <a:t>(</a:t>
            </a:r>
            <a:r>
              <a:rPr lang="en-US" sz="2400" b="1" dirty="0">
                <a:solidFill>
                  <a:srgbClr val="569CD6"/>
                </a:solidFill>
                <a:effectLst/>
                <a:latin typeface="Consolas" panose="020B0609020204030204" pitchFamily="49" charset="0"/>
              </a:rPr>
              <a:t>float</a:t>
            </a:r>
            <a:r>
              <a:rPr lang="en-US" sz="2400" b="1" dirty="0">
                <a:solidFill>
                  <a:srgbClr val="CCCCCC"/>
                </a:solidFill>
                <a:effectLst/>
                <a:latin typeface="Consolas" panose="020B0609020204030204" pitchFamily="49" charset="0"/>
              </a:rPr>
              <a:t>));</a:t>
            </a:r>
          </a:p>
          <a:p>
            <a:pPr algn="ctr"/>
            <a:endParaRPr lang="en-US" sz="2400" b="0" dirty="0">
              <a:solidFill>
                <a:srgbClr val="CCCCCC"/>
              </a:solidFill>
              <a:effectLst/>
              <a:latin typeface="Consolas" panose="020B0609020204030204" pitchFamily="49" charset="0"/>
            </a:endParaRPr>
          </a:p>
          <a:p>
            <a:pPr marL="171450" indent="-171450" algn="just">
              <a:buFont typeface="Arial" panose="020B0604020202020204" pitchFamily="34" charset="0"/>
              <a:buChar char="•"/>
            </a:pPr>
            <a:r>
              <a:rPr lang="fr-FR" b="1" dirty="0">
                <a:solidFill>
                  <a:schemeClr val="tx1"/>
                </a:solidFill>
                <a:latin typeface="Calibri" panose="020F0502020204030204" pitchFamily="34" charset="0"/>
                <a:ea typeface="Calibri" panose="020F0502020204030204" pitchFamily="34" charset="0"/>
                <a:cs typeface="Calibri" panose="020F0502020204030204" pitchFamily="34" charset="0"/>
              </a:rPr>
              <a:t>La fonction renvoie le nombre d'octets lus, ou 0 si le tube est vide et qu'il n'y a plus d'écrivains, ou encore -1 en cas d'erreur</a:t>
            </a:r>
          </a:p>
          <a:p>
            <a:pPr algn="just"/>
            <a:endParaRPr lang="fr-FR" dirty="0">
              <a:solidFill>
                <a:schemeClr val="tx1"/>
              </a:solidFill>
            </a:endParaRPr>
          </a:p>
          <a:p>
            <a:pPr marL="457200" indent="-457200" algn="just">
              <a:buFont typeface="+mj-lt"/>
              <a:buAutoNum type="arabicPeriod" startAt="4"/>
            </a:pPr>
            <a:r>
              <a:rPr lang="en-CA" sz="2800" b="1" dirty="0">
                <a:solidFill>
                  <a:srgbClr val="FF0000"/>
                </a:solidFill>
                <a:latin typeface="Calibri" panose="020F0502020204030204" pitchFamily="34" charset="0"/>
                <a:ea typeface="Calibri" panose="020F0502020204030204" pitchFamily="34" charset="0"/>
                <a:cs typeface="Calibri" panose="020F0502020204030204" pitchFamily="34" charset="0"/>
              </a:rPr>
              <a:t>close(</a:t>
            </a:r>
            <a:r>
              <a:rPr lang="en-CA" sz="2800" b="1" dirty="0" err="1">
                <a:solidFill>
                  <a:srgbClr val="FF0000"/>
                </a:solidFill>
                <a:latin typeface="Calibri" panose="020F0502020204030204" pitchFamily="34" charset="0"/>
                <a:ea typeface="Calibri" panose="020F0502020204030204" pitchFamily="34" charset="0"/>
                <a:cs typeface="Calibri" panose="020F0502020204030204" pitchFamily="34" charset="0"/>
              </a:rPr>
              <a:t>descripteur</a:t>
            </a:r>
            <a:r>
              <a:rPr lang="en-CA" sz="2800" b="1" dirty="0">
                <a:solidFill>
                  <a:srgbClr val="FF0000"/>
                </a:solidFill>
                <a:latin typeface="Calibri" panose="020F0502020204030204" pitchFamily="34" charset="0"/>
                <a:ea typeface="Calibri" panose="020F0502020204030204" pitchFamily="34" charset="0"/>
                <a:cs typeface="Calibri" panose="020F0502020204030204" pitchFamily="34" charset="0"/>
              </a:rPr>
              <a:t>)</a:t>
            </a:r>
            <a:r>
              <a:rPr lang="fr-FR" sz="2800" b="1" dirty="0">
                <a:solidFill>
                  <a:srgbClr val="FF0000"/>
                </a:solidFill>
                <a:latin typeface="Calibri" panose="020F0502020204030204" pitchFamily="34" charset="0"/>
                <a:ea typeface="Calibri" panose="020F0502020204030204" pitchFamily="34" charset="0"/>
                <a:cs typeface="Calibri" panose="020F0502020204030204" pitchFamily="34" charset="0"/>
              </a:rPr>
              <a:t>:</a:t>
            </a:r>
          </a:p>
          <a:p>
            <a:pPr algn="just"/>
            <a:endParaRPr lang="fr-FR" dirty="0">
              <a:solidFill>
                <a:schemeClr val="tx1"/>
              </a:solidFill>
            </a:endParaRPr>
          </a:p>
          <a:p>
            <a:pPr algn="just"/>
            <a:r>
              <a:rPr lang="fr-FR" sz="2000" dirty="0">
                <a:solidFill>
                  <a:schemeClr val="tx1"/>
                </a:solidFill>
                <a:latin typeface="Calibri" panose="020F0502020204030204" pitchFamily="34" charset="0"/>
                <a:ea typeface="Calibri" panose="020F0502020204030204" pitchFamily="34" charset="0"/>
                <a:cs typeface="Calibri" panose="020F0502020204030204" pitchFamily="34" charset="0"/>
              </a:rPr>
              <a:t>ferme le descripteur de tube en lecture ou en écriture, selon celui passé en argument, pour le processus qui a appelé close.</a:t>
            </a:r>
          </a:p>
          <a:p>
            <a:pPr algn="just"/>
            <a:endParaRPr lang="fr-FR" sz="1800" dirty="0">
              <a:solidFill>
                <a:schemeClr val="tx1"/>
              </a:solidFill>
            </a:endParaRPr>
          </a:p>
          <a:p>
            <a:pPr algn="ctr"/>
            <a:r>
              <a:rPr lang="en-CA" sz="2400" b="1" dirty="0">
                <a:solidFill>
                  <a:srgbClr val="DCDCAA"/>
                </a:solidFill>
                <a:effectLst/>
                <a:latin typeface="Consolas" panose="020B0609020204030204" pitchFamily="49" charset="0"/>
              </a:rPr>
              <a:t>close</a:t>
            </a:r>
            <a:r>
              <a:rPr lang="en-CA" sz="2400" b="1" dirty="0">
                <a:solidFill>
                  <a:srgbClr val="CCCCCC"/>
                </a:solidFill>
                <a:effectLst/>
                <a:latin typeface="Consolas" panose="020B0609020204030204" pitchFamily="49" charset="0"/>
              </a:rPr>
              <a:t> (</a:t>
            </a:r>
            <a:r>
              <a:rPr lang="en-CA" sz="2400" b="1" dirty="0" err="1">
                <a:solidFill>
                  <a:srgbClr val="9CDCFE"/>
                </a:solidFill>
                <a:effectLst/>
                <a:latin typeface="Consolas" panose="020B0609020204030204" pitchFamily="49" charset="0"/>
              </a:rPr>
              <a:t>fd</a:t>
            </a:r>
            <a:r>
              <a:rPr lang="en-CA" sz="2400" b="1" dirty="0">
                <a:solidFill>
                  <a:srgbClr val="CCCCCC"/>
                </a:solidFill>
                <a:effectLst/>
                <a:latin typeface="Consolas" panose="020B0609020204030204" pitchFamily="49" charset="0"/>
              </a:rPr>
              <a:t>[</a:t>
            </a:r>
            <a:r>
              <a:rPr lang="en-CA" sz="2400" b="1" dirty="0">
                <a:solidFill>
                  <a:srgbClr val="B5CEA8"/>
                </a:solidFill>
                <a:effectLst/>
                <a:latin typeface="Consolas" panose="020B0609020204030204" pitchFamily="49" charset="0"/>
              </a:rPr>
              <a:t>0</a:t>
            </a:r>
            <a:r>
              <a:rPr lang="en-CA" sz="2400" b="1" dirty="0">
                <a:solidFill>
                  <a:srgbClr val="CCCCCC"/>
                </a:solidFill>
                <a:effectLst/>
                <a:latin typeface="Consolas" panose="020B0609020204030204" pitchFamily="49" charset="0"/>
              </a:rPr>
              <a:t>]);</a:t>
            </a:r>
            <a:endParaRPr lang="fr-FR" sz="1800" b="1" dirty="0">
              <a:solidFill>
                <a:schemeClr val="tx1"/>
              </a:solidFill>
            </a:endParaRPr>
          </a:p>
          <a:p>
            <a:pPr algn="just"/>
            <a:endParaRPr lang="fr-FR" sz="1800" dirty="0">
              <a:solidFill>
                <a:schemeClr val="tx1"/>
              </a:solidFill>
            </a:endParaRPr>
          </a:p>
          <a:p>
            <a:pPr marL="171450" indent="-171450" algn="just">
              <a:buFont typeface="Arial" panose="020B0604020202020204" pitchFamily="34" charset="0"/>
              <a:buChar char="•"/>
            </a:pPr>
            <a:r>
              <a:rPr lang="fr-FR" b="1" dirty="0">
                <a:solidFill>
                  <a:schemeClr val="tx1"/>
                </a:solidFill>
                <a:latin typeface="Calibri" panose="020F0502020204030204" pitchFamily="34" charset="0"/>
                <a:ea typeface="Calibri" panose="020F0502020204030204" pitchFamily="34" charset="0"/>
                <a:cs typeface="Calibri" panose="020F0502020204030204" pitchFamily="34" charset="0"/>
              </a:rPr>
              <a:t>La fonction renvoie 0 en cas de succès ou -1 en cas d'échec.</a:t>
            </a:r>
            <a:endParaRPr lang="fr-TN"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89651845"/>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title"/>
          </p:nvPr>
        </p:nvSpPr>
        <p:spPr>
          <a:xfrm>
            <a:off x="325120" y="-50226"/>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dirty="0">
                <a:solidFill>
                  <a:srgbClr val="0070C0"/>
                </a:solidFill>
              </a:rPr>
              <a:t>Exemple 1</a:t>
            </a:r>
            <a:endParaRPr dirty="0">
              <a:solidFill>
                <a:srgbClr val="0070C0"/>
              </a:solidFill>
            </a:endParaRPr>
          </a:p>
        </p:txBody>
      </p:sp>
      <p:pic>
        <p:nvPicPr>
          <p:cNvPr id="3" name="Image 2">
            <a:extLst>
              <a:ext uri="{FF2B5EF4-FFF2-40B4-BE49-F238E27FC236}">
                <a16:creationId xmlns:a16="http://schemas.microsoft.com/office/drawing/2014/main" id="{F20FF073-9FFB-0040-4D7B-8232508C415A}"/>
              </a:ext>
            </a:extLst>
          </p:cNvPr>
          <p:cNvPicPr>
            <a:picLocks noChangeAspect="1"/>
          </p:cNvPicPr>
          <p:nvPr/>
        </p:nvPicPr>
        <p:blipFill>
          <a:blip r:embed="rId3"/>
          <a:stretch>
            <a:fillRect/>
          </a:stretch>
        </p:blipFill>
        <p:spPr>
          <a:xfrm>
            <a:off x="965176" y="1437958"/>
            <a:ext cx="7213648" cy="4901882"/>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p2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dirty="0">
                <a:solidFill>
                  <a:srgbClr val="0070C0"/>
                </a:solidFill>
              </a:rPr>
              <a:t>Exemple 2</a:t>
            </a:r>
            <a:endParaRPr dirty="0">
              <a:solidFill>
                <a:srgbClr val="0070C0"/>
              </a:solidFill>
            </a:endParaRPr>
          </a:p>
        </p:txBody>
      </p:sp>
      <p:pic>
        <p:nvPicPr>
          <p:cNvPr id="6" name="Image 5">
            <a:extLst>
              <a:ext uri="{FF2B5EF4-FFF2-40B4-BE49-F238E27FC236}">
                <a16:creationId xmlns:a16="http://schemas.microsoft.com/office/drawing/2014/main" id="{370FDF5D-7A22-7B79-3DB6-30602668E166}"/>
              </a:ext>
            </a:extLst>
          </p:cNvPr>
          <p:cNvPicPr>
            <a:picLocks noChangeAspect="1"/>
          </p:cNvPicPr>
          <p:nvPr/>
        </p:nvPicPr>
        <p:blipFill>
          <a:blip r:embed="rId3"/>
          <a:stretch>
            <a:fillRect/>
          </a:stretch>
        </p:blipFill>
        <p:spPr>
          <a:xfrm>
            <a:off x="1513840" y="1110262"/>
            <a:ext cx="5080000" cy="5633156"/>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3" name="Google Shape;203;p30"/>
          <p:cNvSpPr/>
          <p:nvPr/>
        </p:nvSpPr>
        <p:spPr>
          <a:xfrm>
            <a:off x="428596" y="1762205"/>
            <a:ext cx="8501122" cy="452431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400" b="0" i="0" u="none" strike="noStrike" cap="none" dirty="0">
              <a:solidFill>
                <a:srgbClr val="000000"/>
              </a:solidFill>
              <a:latin typeface="Arial"/>
              <a:ea typeface="Arial"/>
              <a:cs typeface="Arial"/>
              <a:sym typeface="Arial"/>
            </a:endParaRPr>
          </a:p>
        </p:txBody>
      </p:sp>
      <p:pic>
        <p:nvPicPr>
          <p:cNvPr id="7" name="Image 6">
            <a:extLst>
              <a:ext uri="{FF2B5EF4-FFF2-40B4-BE49-F238E27FC236}">
                <a16:creationId xmlns:a16="http://schemas.microsoft.com/office/drawing/2014/main" id="{922F6FCE-46E1-E2C0-04DB-D5D6832AFFAF}"/>
              </a:ext>
            </a:extLst>
          </p:cNvPr>
          <p:cNvPicPr>
            <a:picLocks noChangeAspect="1"/>
          </p:cNvPicPr>
          <p:nvPr/>
        </p:nvPicPr>
        <p:blipFill>
          <a:blip r:embed="rId3"/>
          <a:stretch>
            <a:fillRect/>
          </a:stretch>
        </p:blipFill>
        <p:spPr>
          <a:xfrm>
            <a:off x="1099505" y="1219198"/>
            <a:ext cx="6599550" cy="5638802"/>
          </a:xfrm>
          <a:prstGeom prst="rect">
            <a:avLst/>
          </a:prstGeom>
        </p:spPr>
      </p:pic>
      <p:sp>
        <p:nvSpPr>
          <p:cNvPr id="4" name="Google Shape;195;p29">
            <a:extLst>
              <a:ext uri="{FF2B5EF4-FFF2-40B4-BE49-F238E27FC236}">
                <a16:creationId xmlns:a16="http://schemas.microsoft.com/office/drawing/2014/main" id="{6099CD1D-F771-2725-7EE4-8CDAA138F492}"/>
              </a:ext>
            </a:extLst>
          </p:cNvPr>
          <p:cNvSpPr txBox="1">
            <a:spLocks noGrp="1"/>
          </p:cNvSpPr>
          <p:nvPr>
            <p:ph type="title"/>
          </p:nvPr>
        </p:nvSpPr>
        <p:spPr>
          <a:xfrm>
            <a:off x="428596" y="47725"/>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dirty="0">
                <a:solidFill>
                  <a:srgbClr val="0070C0"/>
                </a:solidFill>
              </a:rPr>
              <a:t>Exemple 2-suite </a:t>
            </a:r>
            <a:endParaRPr dirty="0">
              <a:solidFill>
                <a:srgbClr val="0070C0"/>
              </a:solidFil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219"/>
        <p:cNvGrpSpPr/>
        <p:nvPr/>
      </p:nvGrpSpPr>
      <p:grpSpPr>
        <a:xfrm>
          <a:off x="0" y="0"/>
          <a:ext cx="0" cy="0"/>
          <a:chOff x="0" y="0"/>
          <a:chExt cx="0" cy="0"/>
        </a:xfrm>
      </p:grpSpPr>
      <p:pic>
        <p:nvPicPr>
          <p:cNvPr id="2" name="Image 1">
            <a:extLst>
              <a:ext uri="{FF2B5EF4-FFF2-40B4-BE49-F238E27FC236}">
                <a16:creationId xmlns:a16="http://schemas.microsoft.com/office/drawing/2014/main" id="{FB4E90EE-C4D0-50DD-EC8D-496955EBDB89}"/>
              </a:ext>
            </a:extLst>
          </p:cNvPr>
          <p:cNvPicPr>
            <a:picLocks noChangeAspect="1"/>
          </p:cNvPicPr>
          <p:nvPr/>
        </p:nvPicPr>
        <p:blipFill>
          <a:blip r:embed="rId3"/>
          <a:stretch>
            <a:fillRect/>
          </a:stretch>
        </p:blipFill>
        <p:spPr>
          <a:xfrm>
            <a:off x="320552" y="1686560"/>
            <a:ext cx="8823448" cy="4297680"/>
          </a:xfrm>
          <a:prstGeom prst="rect">
            <a:avLst/>
          </a:prstGeom>
        </p:spPr>
      </p:pic>
      <p:sp>
        <p:nvSpPr>
          <p:cNvPr id="5" name="Google Shape;195;p29">
            <a:extLst>
              <a:ext uri="{FF2B5EF4-FFF2-40B4-BE49-F238E27FC236}">
                <a16:creationId xmlns:a16="http://schemas.microsoft.com/office/drawing/2014/main" id="{F7675E34-9892-CD55-D4B7-28336F851D4E}"/>
              </a:ext>
            </a:extLst>
          </p:cNvPr>
          <p:cNvSpPr txBox="1">
            <a:spLocks noGrp="1"/>
          </p:cNvSpPr>
          <p:nvPr>
            <p:ph type="title"/>
          </p:nvPr>
        </p:nvSpPr>
        <p:spPr>
          <a:xfrm>
            <a:off x="428596" y="47725"/>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dirty="0">
                <a:solidFill>
                  <a:srgbClr val="0070C0"/>
                </a:solidFill>
              </a:rPr>
              <a:t>Exemple 3</a:t>
            </a:r>
            <a:endParaRPr dirty="0">
              <a:solidFill>
                <a:srgbClr val="0070C0"/>
              </a:solidFil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ZoneTexte 3">
            <a:extLst>
              <a:ext uri="{FF2B5EF4-FFF2-40B4-BE49-F238E27FC236}">
                <a16:creationId xmlns:a16="http://schemas.microsoft.com/office/drawing/2014/main" id="{A2F2CD62-DA45-CF62-1ABA-F8E00F163728}"/>
              </a:ext>
            </a:extLst>
          </p:cNvPr>
          <p:cNvSpPr txBox="1"/>
          <p:nvPr/>
        </p:nvSpPr>
        <p:spPr>
          <a:xfrm>
            <a:off x="1280160" y="2395230"/>
            <a:ext cx="8107680" cy="1261884"/>
          </a:xfrm>
          <a:prstGeom prst="rect">
            <a:avLst/>
          </a:prstGeom>
          <a:noFill/>
        </p:spPr>
        <p:txBody>
          <a:bodyPr wrap="square">
            <a:spAutoFit/>
          </a:bodyPr>
          <a:lstStyle/>
          <a:p>
            <a:r>
              <a:rPr lang="fr-FR" sz="4000" b="1" dirty="0">
                <a:solidFill>
                  <a:srgbClr val="FF0000"/>
                </a:solidFill>
                <a:latin typeface="Calibri"/>
                <a:ea typeface="Calibri"/>
                <a:cs typeface="Calibri"/>
                <a:sym typeface="Calibri"/>
              </a:rPr>
              <a:t>Les tubes anonymes </a:t>
            </a:r>
            <a:r>
              <a:rPr lang="fr-FR" sz="4000" b="1" dirty="0">
                <a:solidFill>
                  <a:srgbClr val="FF0000"/>
                </a:solidFill>
                <a:latin typeface="Calibri"/>
                <a:ea typeface="Calibri"/>
                <a:cs typeface="Calibri"/>
              </a:rPr>
              <a:t>:</a:t>
            </a:r>
            <a:br>
              <a:rPr lang="fr-FR" b="1" dirty="0"/>
            </a:br>
            <a:r>
              <a:rPr lang="fr-FR" sz="3600" dirty="0">
                <a:solidFill>
                  <a:srgbClr val="00B050"/>
                </a:solidFill>
                <a:latin typeface="Calibri"/>
                <a:ea typeface="Calibri"/>
                <a:cs typeface="Calibri"/>
                <a:sym typeface="Calibri"/>
              </a:rPr>
              <a:t>Redirection de </a:t>
            </a:r>
            <a:r>
              <a:rPr lang="fr-FR" sz="3600" dirty="0" err="1">
                <a:solidFill>
                  <a:srgbClr val="00B050"/>
                </a:solidFill>
                <a:latin typeface="Calibri"/>
                <a:ea typeface="Calibri"/>
                <a:cs typeface="Calibri"/>
                <a:sym typeface="Calibri"/>
              </a:rPr>
              <a:t>stdin</a:t>
            </a:r>
            <a:r>
              <a:rPr lang="fr-FR" sz="3600" dirty="0">
                <a:solidFill>
                  <a:srgbClr val="00B050"/>
                </a:solidFill>
                <a:latin typeface="Calibri"/>
                <a:ea typeface="Calibri"/>
                <a:cs typeface="Calibri"/>
                <a:sym typeface="Calibri"/>
              </a:rPr>
              <a:t> et </a:t>
            </a:r>
            <a:r>
              <a:rPr lang="fr-FR" sz="3600" dirty="0" err="1">
                <a:solidFill>
                  <a:srgbClr val="00B050"/>
                </a:solidFill>
                <a:latin typeface="Calibri"/>
                <a:ea typeface="Calibri"/>
                <a:cs typeface="Calibri"/>
                <a:sym typeface="Calibri"/>
              </a:rPr>
              <a:t>stdout</a:t>
            </a:r>
            <a:endParaRPr lang="fr-TN" sz="3600" dirty="0">
              <a:solidFill>
                <a:srgbClr val="00B050"/>
              </a:solidFill>
              <a:latin typeface="Calibri"/>
              <a:ea typeface="Calibri"/>
              <a:cs typeface="Calibri"/>
              <a:sym typeface="Calibri"/>
            </a:endParaRPr>
          </a:p>
        </p:txBody>
      </p:sp>
    </p:spTree>
    <p:extLst>
      <p:ext uri="{BB962C8B-B14F-4D97-AF65-F5344CB8AC3E}">
        <p14:creationId xmlns:p14="http://schemas.microsoft.com/office/powerpoint/2010/main" val="388398937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227" name="Google Shape;227;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ct val="100000"/>
              <a:buFont typeface="Calibri"/>
              <a:buNone/>
            </a:pPr>
            <a:r>
              <a:rPr lang="fr-FR" b="1" dirty="0">
                <a:solidFill>
                  <a:srgbClr val="00B0F0"/>
                </a:solidFill>
              </a:rPr>
              <a:t>Redirection de </a:t>
            </a:r>
            <a:r>
              <a:rPr lang="fr-FR" b="1" dirty="0" err="1">
                <a:solidFill>
                  <a:srgbClr val="00B0F0"/>
                </a:solidFill>
              </a:rPr>
              <a:t>stdin</a:t>
            </a:r>
            <a:r>
              <a:rPr lang="fr-FR" b="1" dirty="0">
                <a:solidFill>
                  <a:srgbClr val="00B0F0"/>
                </a:solidFill>
              </a:rPr>
              <a:t> et </a:t>
            </a:r>
            <a:r>
              <a:rPr lang="fr-FR" b="1" dirty="0" err="1">
                <a:solidFill>
                  <a:srgbClr val="00B0F0"/>
                </a:solidFill>
              </a:rPr>
              <a:t>stdout</a:t>
            </a:r>
            <a:endParaRPr dirty="0">
              <a:solidFill>
                <a:srgbClr val="00B0F0"/>
              </a:solidFill>
            </a:endParaRPr>
          </a:p>
        </p:txBody>
      </p:sp>
      <p:sp>
        <p:nvSpPr>
          <p:cNvPr id="4" name="ZoneTexte 3">
            <a:extLst>
              <a:ext uri="{FF2B5EF4-FFF2-40B4-BE49-F238E27FC236}">
                <a16:creationId xmlns:a16="http://schemas.microsoft.com/office/drawing/2014/main" id="{9C3B5D6D-DFFD-AFD3-00BA-26C3FC25EA3A}"/>
              </a:ext>
            </a:extLst>
          </p:cNvPr>
          <p:cNvSpPr txBox="1"/>
          <p:nvPr/>
        </p:nvSpPr>
        <p:spPr>
          <a:xfrm>
            <a:off x="81280" y="1417638"/>
            <a:ext cx="9062720" cy="969496"/>
          </a:xfrm>
          <a:prstGeom prst="rect">
            <a:avLst/>
          </a:prstGeom>
          <a:noFill/>
        </p:spPr>
        <p:txBody>
          <a:bodyPr wrap="square">
            <a:spAutoFit/>
          </a:bodyPr>
          <a:lstStyle/>
          <a:p>
            <a:r>
              <a:rPr lang="fr-TN" sz="1900" dirty="0">
                <a:latin typeface="Calibri" panose="020F0502020204030204" pitchFamily="34" charset="0"/>
                <a:ea typeface="Calibri" panose="020F0502020204030204" pitchFamily="34" charset="0"/>
                <a:cs typeface="Calibri" panose="020F0502020204030204" pitchFamily="34" charset="0"/>
              </a:rPr>
              <a:t>La duplication de descripteur, réalisée à l'aide des appels systèmes </a:t>
            </a:r>
            <a:r>
              <a:rPr lang="fr-TN" sz="1900" b="1" dirty="0" err="1">
                <a:solidFill>
                  <a:srgbClr val="00B050"/>
                </a:solidFill>
                <a:latin typeface="Calibri" panose="020F0502020204030204" pitchFamily="34" charset="0"/>
                <a:ea typeface="Calibri" panose="020F0502020204030204" pitchFamily="34" charset="0"/>
                <a:cs typeface="Calibri" panose="020F0502020204030204" pitchFamily="34" charset="0"/>
              </a:rPr>
              <a:t>dup</a:t>
            </a:r>
            <a:r>
              <a:rPr lang="fr-TN" sz="1900" dirty="0">
                <a:latin typeface="Calibri" panose="020F0502020204030204" pitchFamily="34" charset="0"/>
                <a:ea typeface="Calibri" panose="020F0502020204030204" pitchFamily="34" charset="0"/>
                <a:cs typeface="Calibri" panose="020F0502020204030204" pitchFamily="34" charset="0"/>
              </a:rPr>
              <a:t> et </a:t>
            </a:r>
            <a:r>
              <a:rPr lang="fr-TN" sz="1900" b="1" dirty="0">
                <a:solidFill>
                  <a:srgbClr val="00B050"/>
                </a:solidFill>
                <a:latin typeface="Calibri" panose="020F0502020204030204" pitchFamily="34" charset="0"/>
                <a:ea typeface="Calibri" panose="020F0502020204030204" pitchFamily="34" charset="0"/>
                <a:cs typeface="Calibri" panose="020F0502020204030204" pitchFamily="34" charset="0"/>
              </a:rPr>
              <a:t>dup2</a:t>
            </a:r>
            <a:r>
              <a:rPr lang="fr-TN" sz="1900" dirty="0">
                <a:latin typeface="Calibri" panose="020F0502020204030204" pitchFamily="34" charset="0"/>
                <a:ea typeface="Calibri" panose="020F0502020204030204" pitchFamily="34" charset="0"/>
                <a:cs typeface="Calibri" panose="020F0502020204030204" pitchFamily="34" charset="0"/>
              </a:rPr>
              <a:t>, permet à un processus de créer un nouveau descripteur de fichier qui est en fait un synonyme d'un descripteur déjà existant.</a:t>
            </a:r>
          </a:p>
        </p:txBody>
      </p:sp>
      <p:sp>
        <p:nvSpPr>
          <p:cNvPr id="6" name="ZoneTexte 5">
            <a:extLst>
              <a:ext uri="{FF2B5EF4-FFF2-40B4-BE49-F238E27FC236}">
                <a16:creationId xmlns:a16="http://schemas.microsoft.com/office/drawing/2014/main" id="{98A1EAC6-04FD-64CD-53A8-FEF186B13C91}"/>
              </a:ext>
            </a:extLst>
          </p:cNvPr>
          <p:cNvSpPr txBox="1"/>
          <p:nvPr/>
        </p:nvSpPr>
        <p:spPr>
          <a:xfrm>
            <a:off x="81280" y="2406749"/>
            <a:ext cx="9062720" cy="1338828"/>
          </a:xfrm>
          <a:prstGeom prst="rect">
            <a:avLst/>
          </a:prstGeom>
          <a:noFill/>
        </p:spPr>
        <p:txBody>
          <a:bodyPr wrap="square">
            <a:spAutoFit/>
          </a:bodyPr>
          <a:lstStyle/>
          <a:p>
            <a:pPr marL="342900" indent="-342900">
              <a:buFont typeface="Arial" panose="020B0604020202020204" pitchFamily="34" charset="0"/>
              <a:buChar char="•"/>
            </a:pPr>
            <a:r>
              <a:rPr lang="en-CA" sz="2400" b="1" dirty="0">
                <a:solidFill>
                  <a:srgbClr val="00B050"/>
                </a:solidFill>
                <a:latin typeface="Calibri" panose="020F0502020204030204" pitchFamily="34" charset="0"/>
                <a:ea typeface="Calibri" panose="020F0502020204030204" pitchFamily="34" charset="0"/>
                <a:cs typeface="Calibri" panose="020F0502020204030204" pitchFamily="34" charset="0"/>
              </a:rPr>
              <a:t>Dup():</a:t>
            </a:r>
          </a:p>
          <a:p>
            <a:pPr algn="just"/>
            <a:r>
              <a:rPr lang="fr-FR" sz="1900" dirty="0">
                <a:latin typeface="Calibri" panose="020F0502020204030204" pitchFamily="34" charset="0"/>
                <a:ea typeface="Calibri" panose="020F0502020204030204" pitchFamily="34" charset="0"/>
                <a:cs typeface="Calibri" panose="020F0502020204030204" pitchFamily="34" charset="0"/>
              </a:rPr>
              <a:t>Créer et retourne un descripteur synonyme de </a:t>
            </a:r>
            <a:r>
              <a:rPr lang="fr-FR" sz="1900" b="1" dirty="0" err="1">
                <a:latin typeface="Calibri" panose="020F0502020204030204" pitchFamily="34" charset="0"/>
                <a:ea typeface="Calibri" panose="020F0502020204030204" pitchFamily="34" charset="0"/>
                <a:cs typeface="Calibri" panose="020F0502020204030204" pitchFamily="34" charset="0"/>
              </a:rPr>
              <a:t>desc</a:t>
            </a:r>
            <a:r>
              <a:rPr lang="fr-FR" sz="1900" dirty="0">
                <a:latin typeface="Calibri" panose="020F0502020204030204" pitchFamily="34" charset="0"/>
                <a:ea typeface="Calibri" panose="020F0502020204030204" pitchFamily="34" charset="0"/>
                <a:cs typeface="Calibri" panose="020F0502020204030204" pitchFamily="34" charset="0"/>
              </a:rPr>
              <a:t>. Le numéro associé au descripteur créé est le plus petit descripteur disponible dans la table des descripteurs de fichiers du processus.</a:t>
            </a:r>
            <a:endParaRPr lang="fr-TN" sz="1900" dirty="0">
              <a:latin typeface="Calibri" panose="020F0502020204030204" pitchFamily="34" charset="0"/>
              <a:ea typeface="Calibri" panose="020F0502020204030204" pitchFamily="34" charset="0"/>
              <a:cs typeface="Calibri" panose="020F0502020204030204" pitchFamily="34" charset="0"/>
            </a:endParaRPr>
          </a:p>
        </p:txBody>
      </p:sp>
      <p:sp>
        <p:nvSpPr>
          <p:cNvPr id="9" name="ZoneTexte 8">
            <a:extLst>
              <a:ext uri="{FF2B5EF4-FFF2-40B4-BE49-F238E27FC236}">
                <a16:creationId xmlns:a16="http://schemas.microsoft.com/office/drawing/2014/main" id="{996FD1A6-C06B-3903-F36C-F90390833113}"/>
              </a:ext>
            </a:extLst>
          </p:cNvPr>
          <p:cNvSpPr txBox="1"/>
          <p:nvPr/>
        </p:nvSpPr>
        <p:spPr>
          <a:xfrm>
            <a:off x="2862580" y="3765192"/>
            <a:ext cx="4607560" cy="646331"/>
          </a:xfrm>
          <a:prstGeom prst="rect">
            <a:avLst/>
          </a:prstGeom>
          <a:noFill/>
        </p:spPr>
        <p:txBody>
          <a:bodyPr wrap="square">
            <a:spAutoFit/>
          </a:bodyPr>
          <a:lstStyle/>
          <a:p>
            <a:r>
              <a:rPr lang="en-CA" sz="1800" b="1" dirty="0">
                <a:solidFill>
                  <a:srgbClr val="C586C0"/>
                </a:solidFill>
                <a:effectLst/>
                <a:latin typeface="Consolas" panose="020B0609020204030204" pitchFamily="49" charset="0"/>
              </a:rPr>
              <a:t>#include</a:t>
            </a:r>
            <a:r>
              <a:rPr lang="en-CA" sz="1800" b="1" dirty="0">
                <a:solidFill>
                  <a:srgbClr val="569CD6"/>
                </a:solidFill>
                <a:effectLst/>
                <a:latin typeface="Consolas" panose="020B0609020204030204" pitchFamily="49" charset="0"/>
              </a:rPr>
              <a:t> </a:t>
            </a:r>
            <a:r>
              <a:rPr lang="en-CA" sz="1800" b="1" dirty="0">
                <a:solidFill>
                  <a:srgbClr val="CE9178"/>
                </a:solidFill>
                <a:effectLst/>
                <a:latin typeface="Consolas" panose="020B0609020204030204" pitchFamily="49" charset="0"/>
              </a:rPr>
              <a:t>&lt;</a:t>
            </a:r>
            <a:r>
              <a:rPr lang="en-CA" sz="1800" b="1" dirty="0" err="1">
                <a:solidFill>
                  <a:srgbClr val="CE9178"/>
                </a:solidFill>
                <a:effectLst/>
                <a:latin typeface="Consolas" panose="020B0609020204030204" pitchFamily="49" charset="0"/>
              </a:rPr>
              <a:t>unistd.h</a:t>
            </a:r>
            <a:r>
              <a:rPr lang="en-CA" sz="1800" b="1" dirty="0">
                <a:solidFill>
                  <a:srgbClr val="CE9178"/>
                </a:solidFill>
                <a:effectLst/>
                <a:latin typeface="Consolas" panose="020B0609020204030204" pitchFamily="49" charset="0"/>
              </a:rPr>
              <a:t>&gt;</a:t>
            </a:r>
            <a:endParaRPr lang="en-CA" sz="1800" b="1" dirty="0">
              <a:solidFill>
                <a:srgbClr val="CCCCCC"/>
              </a:solidFill>
              <a:effectLst/>
              <a:latin typeface="Consolas" panose="020B0609020204030204" pitchFamily="49" charset="0"/>
            </a:endParaRPr>
          </a:p>
          <a:p>
            <a:r>
              <a:rPr lang="en-CA" sz="1800" b="1" dirty="0">
                <a:solidFill>
                  <a:srgbClr val="569CD6"/>
                </a:solidFill>
                <a:effectLst/>
                <a:latin typeface="Consolas" panose="020B0609020204030204" pitchFamily="49" charset="0"/>
              </a:rPr>
              <a:t>int</a:t>
            </a:r>
            <a:r>
              <a:rPr lang="en-CA" sz="1800" b="1" dirty="0">
                <a:solidFill>
                  <a:srgbClr val="CCCCCC"/>
                </a:solidFill>
                <a:effectLst/>
                <a:latin typeface="Consolas" panose="020B0609020204030204" pitchFamily="49" charset="0"/>
              </a:rPr>
              <a:t> </a:t>
            </a:r>
            <a:r>
              <a:rPr lang="en-CA" sz="1800" b="1" dirty="0">
                <a:solidFill>
                  <a:srgbClr val="DCDCAA"/>
                </a:solidFill>
                <a:effectLst/>
                <a:latin typeface="Consolas" panose="020B0609020204030204" pitchFamily="49" charset="0"/>
              </a:rPr>
              <a:t>dup</a:t>
            </a:r>
            <a:r>
              <a:rPr lang="en-CA" sz="1800" b="1" dirty="0">
                <a:solidFill>
                  <a:srgbClr val="CCCCCC"/>
                </a:solidFill>
                <a:effectLst/>
                <a:latin typeface="Consolas" panose="020B0609020204030204" pitchFamily="49" charset="0"/>
              </a:rPr>
              <a:t>(</a:t>
            </a:r>
            <a:r>
              <a:rPr lang="en-CA" sz="1800" b="1" dirty="0">
                <a:solidFill>
                  <a:srgbClr val="569CD6"/>
                </a:solidFill>
                <a:effectLst/>
                <a:latin typeface="Consolas" panose="020B0609020204030204" pitchFamily="49" charset="0"/>
              </a:rPr>
              <a:t>int</a:t>
            </a:r>
            <a:r>
              <a:rPr lang="en-CA" sz="1800" b="1" dirty="0">
                <a:solidFill>
                  <a:srgbClr val="CCCCCC"/>
                </a:solidFill>
                <a:effectLst/>
                <a:latin typeface="Consolas" panose="020B0609020204030204" pitchFamily="49" charset="0"/>
              </a:rPr>
              <a:t> </a:t>
            </a:r>
            <a:r>
              <a:rPr lang="en-CA" sz="1800" b="1" dirty="0">
                <a:solidFill>
                  <a:srgbClr val="9CDCFE"/>
                </a:solidFill>
                <a:effectLst/>
                <a:latin typeface="Consolas" panose="020B0609020204030204" pitchFamily="49" charset="0"/>
              </a:rPr>
              <a:t>desc</a:t>
            </a:r>
            <a:r>
              <a:rPr lang="en-CA" sz="1800" b="1" dirty="0">
                <a:solidFill>
                  <a:srgbClr val="CCCCCC"/>
                </a:solidFill>
                <a:effectLst/>
                <a:latin typeface="Consolas" panose="020B0609020204030204" pitchFamily="49" charset="0"/>
              </a:rPr>
              <a:t>);</a:t>
            </a:r>
          </a:p>
        </p:txBody>
      </p:sp>
      <p:sp>
        <p:nvSpPr>
          <p:cNvPr id="11" name="ZoneTexte 10">
            <a:extLst>
              <a:ext uri="{FF2B5EF4-FFF2-40B4-BE49-F238E27FC236}">
                <a16:creationId xmlns:a16="http://schemas.microsoft.com/office/drawing/2014/main" id="{45D821E6-6599-6926-283C-F3F245D252B2}"/>
              </a:ext>
            </a:extLst>
          </p:cNvPr>
          <p:cNvSpPr txBox="1"/>
          <p:nvPr/>
        </p:nvSpPr>
        <p:spPr>
          <a:xfrm>
            <a:off x="0" y="4517033"/>
            <a:ext cx="8940800" cy="1046440"/>
          </a:xfrm>
          <a:prstGeom prst="rect">
            <a:avLst/>
          </a:prstGeom>
          <a:noFill/>
        </p:spPr>
        <p:txBody>
          <a:bodyPr wrap="square">
            <a:spAutoFit/>
          </a:bodyPr>
          <a:lstStyle/>
          <a:p>
            <a:pPr marL="285750" indent="-285750">
              <a:buFont typeface="Arial" panose="020B0604020202020204" pitchFamily="34" charset="0"/>
              <a:buChar char="•"/>
            </a:pPr>
            <a:r>
              <a:rPr lang="en-CA" sz="2400" b="1" dirty="0">
                <a:solidFill>
                  <a:srgbClr val="00B050"/>
                </a:solidFill>
                <a:latin typeface="Calibri" panose="020F0502020204030204" pitchFamily="34" charset="0"/>
                <a:ea typeface="Calibri" panose="020F0502020204030204" pitchFamily="34" charset="0"/>
                <a:cs typeface="Calibri" panose="020F0502020204030204" pitchFamily="34" charset="0"/>
              </a:rPr>
              <a:t>Dup2():</a:t>
            </a:r>
          </a:p>
          <a:p>
            <a:r>
              <a:rPr lang="fr-FR" sz="1900" dirty="0">
                <a:latin typeface="Calibri" panose="020F0502020204030204" pitchFamily="34" charset="0"/>
                <a:ea typeface="Calibri" panose="020F0502020204030204" pitchFamily="34" charset="0"/>
                <a:cs typeface="Calibri" panose="020F0502020204030204" pitchFamily="34" charset="0"/>
              </a:rPr>
              <a:t>P</a:t>
            </a:r>
            <a:r>
              <a:rPr lang="fr-TN" sz="1900" dirty="0" err="1">
                <a:latin typeface="Calibri" panose="020F0502020204030204" pitchFamily="34" charset="0"/>
                <a:ea typeface="Calibri" panose="020F0502020204030204" pitchFamily="34" charset="0"/>
                <a:cs typeface="Calibri" panose="020F0502020204030204" pitchFamily="34" charset="0"/>
              </a:rPr>
              <a:t>ermet</a:t>
            </a:r>
            <a:r>
              <a:rPr lang="fr-TN" sz="1900" dirty="0">
                <a:latin typeface="Calibri" panose="020F0502020204030204" pitchFamily="34" charset="0"/>
                <a:ea typeface="Calibri" panose="020F0502020204030204" pitchFamily="34" charset="0"/>
                <a:cs typeface="Calibri" panose="020F0502020204030204" pitchFamily="34" charset="0"/>
              </a:rPr>
              <a:t> également de dupliquer un descripteur de fichier, mais avec plus de contrôle</a:t>
            </a:r>
            <a:r>
              <a:rPr lang="fr-FR" sz="1900" dirty="0">
                <a:latin typeface="Calibri" panose="020F0502020204030204" pitchFamily="34" charset="0"/>
                <a:ea typeface="Calibri" panose="020F0502020204030204" pitchFamily="34" charset="0"/>
                <a:cs typeface="Calibri" panose="020F0502020204030204" pitchFamily="34" charset="0"/>
              </a:rPr>
              <a:t>.</a:t>
            </a:r>
          </a:p>
          <a:p>
            <a:r>
              <a:rPr lang="fr-FR" sz="1900" dirty="0">
                <a:latin typeface="Calibri" panose="020F0502020204030204" pitchFamily="34" charset="0"/>
                <a:ea typeface="Calibri" panose="020F0502020204030204" pitchFamily="34" charset="0"/>
                <a:cs typeface="Calibri" panose="020F0502020204030204" pitchFamily="34" charset="0"/>
              </a:rPr>
              <a:t>Dup2 transforme </a:t>
            </a:r>
            <a:r>
              <a:rPr lang="fr-FR" sz="1900" b="1" dirty="0">
                <a:latin typeface="Calibri" panose="020F0502020204030204" pitchFamily="34" charset="0"/>
                <a:ea typeface="Calibri" panose="020F0502020204030204" pitchFamily="34" charset="0"/>
                <a:cs typeface="Calibri" panose="020F0502020204030204" pitchFamily="34" charset="0"/>
              </a:rPr>
              <a:t>desc2 </a:t>
            </a:r>
            <a:r>
              <a:rPr lang="fr-FR" sz="1900" dirty="0">
                <a:latin typeface="Calibri" panose="020F0502020204030204" pitchFamily="34" charset="0"/>
                <a:ea typeface="Calibri" panose="020F0502020204030204" pitchFamily="34" charset="0"/>
                <a:cs typeface="Calibri" panose="020F0502020204030204" pitchFamily="34" charset="0"/>
              </a:rPr>
              <a:t>en un descripteur synonyme a </a:t>
            </a:r>
            <a:r>
              <a:rPr lang="fr-FR" sz="1900" b="1" dirty="0">
                <a:latin typeface="Calibri" panose="020F0502020204030204" pitchFamily="34" charset="0"/>
                <a:ea typeface="Calibri" panose="020F0502020204030204" pitchFamily="34" charset="0"/>
                <a:cs typeface="Calibri" panose="020F0502020204030204" pitchFamily="34" charset="0"/>
              </a:rPr>
              <a:t>desc1</a:t>
            </a:r>
            <a:endParaRPr lang="fr-TN" sz="1900" b="1" dirty="0">
              <a:latin typeface="Calibri" panose="020F0502020204030204" pitchFamily="34" charset="0"/>
              <a:ea typeface="Calibri" panose="020F0502020204030204" pitchFamily="34" charset="0"/>
              <a:cs typeface="Calibri" panose="020F0502020204030204" pitchFamily="34" charset="0"/>
            </a:endParaRPr>
          </a:p>
        </p:txBody>
      </p:sp>
      <p:sp>
        <p:nvSpPr>
          <p:cNvPr id="13" name="ZoneTexte 12">
            <a:extLst>
              <a:ext uri="{FF2B5EF4-FFF2-40B4-BE49-F238E27FC236}">
                <a16:creationId xmlns:a16="http://schemas.microsoft.com/office/drawing/2014/main" id="{F3EBF2C0-5F4B-F675-5F77-F79A1CB22BC2}"/>
              </a:ext>
            </a:extLst>
          </p:cNvPr>
          <p:cNvSpPr txBox="1"/>
          <p:nvPr/>
        </p:nvSpPr>
        <p:spPr>
          <a:xfrm>
            <a:off x="3027680" y="5629255"/>
            <a:ext cx="4632960" cy="1077218"/>
          </a:xfrm>
          <a:prstGeom prst="rect">
            <a:avLst/>
          </a:prstGeom>
          <a:noFill/>
        </p:spPr>
        <p:txBody>
          <a:bodyPr wrap="square">
            <a:spAutoFit/>
          </a:bodyPr>
          <a:lstStyle/>
          <a:p>
            <a:r>
              <a:rPr lang="en-CA" sz="1800" b="1" dirty="0">
                <a:solidFill>
                  <a:srgbClr val="C586C0"/>
                </a:solidFill>
                <a:effectLst/>
                <a:latin typeface="Consolas" panose="020B0609020204030204" pitchFamily="49" charset="0"/>
              </a:rPr>
              <a:t>#include</a:t>
            </a:r>
            <a:r>
              <a:rPr lang="en-CA" sz="1800" b="1" dirty="0">
                <a:solidFill>
                  <a:srgbClr val="569CD6"/>
                </a:solidFill>
                <a:effectLst/>
                <a:latin typeface="Consolas" panose="020B0609020204030204" pitchFamily="49" charset="0"/>
              </a:rPr>
              <a:t> </a:t>
            </a:r>
            <a:r>
              <a:rPr lang="en-CA" sz="1800" b="1" dirty="0">
                <a:solidFill>
                  <a:srgbClr val="CE9178"/>
                </a:solidFill>
                <a:effectLst/>
                <a:latin typeface="Consolas" panose="020B0609020204030204" pitchFamily="49" charset="0"/>
              </a:rPr>
              <a:t>&lt;</a:t>
            </a:r>
            <a:r>
              <a:rPr lang="en-CA" sz="1800" b="1" dirty="0" err="1">
                <a:solidFill>
                  <a:srgbClr val="CE9178"/>
                </a:solidFill>
                <a:effectLst/>
                <a:latin typeface="Consolas" panose="020B0609020204030204" pitchFamily="49" charset="0"/>
              </a:rPr>
              <a:t>unistd.h</a:t>
            </a:r>
            <a:r>
              <a:rPr lang="en-CA" sz="1800" b="1" dirty="0">
                <a:solidFill>
                  <a:srgbClr val="CE9178"/>
                </a:solidFill>
                <a:effectLst/>
                <a:latin typeface="Consolas" panose="020B0609020204030204" pitchFamily="49" charset="0"/>
              </a:rPr>
              <a:t>&gt;</a:t>
            </a:r>
            <a:endParaRPr lang="en-CA" sz="1800" b="1" dirty="0">
              <a:solidFill>
                <a:srgbClr val="CCCCCC"/>
              </a:solidFill>
              <a:effectLst/>
              <a:latin typeface="Consolas" panose="020B0609020204030204" pitchFamily="49" charset="0"/>
            </a:endParaRPr>
          </a:p>
          <a:p>
            <a:r>
              <a:rPr lang="en-CA" sz="1800" b="1" dirty="0">
                <a:solidFill>
                  <a:srgbClr val="569CD6"/>
                </a:solidFill>
                <a:effectLst/>
                <a:latin typeface="Consolas" panose="020B0609020204030204" pitchFamily="49" charset="0"/>
              </a:rPr>
              <a:t>int</a:t>
            </a:r>
            <a:r>
              <a:rPr lang="en-CA" sz="1800" b="1" dirty="0">
                <a:solidFill>
                  <a:srgbClr val="CCCCCC"/>
                </a:solidFill>
                <a:effectLst/>
                <a:latin typeface="Consolas" panose="020B0609020204030204" pitchFamily="49" charset="0"/>
              </a:rPr>
              <a:t> </a:t>
            </a:r>
            <a:r>
              <a:rPr lang="en-CA" sz="1800" b="1" dirty="0">
                <a:solidFill>
                  <a:srgbClr val="DCDCAA"/>
                </a:solidFill>
                <a:effectLst/>
                <a:latin typeface="Consolas" panose="020B0609020204030204" pitchFamily="49" charset="0"/>
              </a:rPr>
              <a:t>dup2</a:t>
            </a:r>
            <a:r>
              <a:rPr lang="en-CA" sz="1800" b="1" dirty="0">
                <a:solidFill>
                  <a:srgbClr val="CCCCCC"/>
                </a:solidFill>
                <a:effectLst/>
                <a:latin typeface="Consolas" panose="020B0609020204030204" pitchFamily="49" charset="0"/>
              </a:rPr>
              <a:t>(</a:t>
            </a:r>
            <a:r>
              <a:rPr lang="en-CA" sz="1800" b="1" dirty="0">
                <a:solidFill>
                  <a:srgbClr val="569CD6"/>
                </a:solidFill>
                <a:effectLst/>
                <a:latin typeface="Consolas" panose="020B0609020204030204" pitchFamily="49" charset="0"/>
              </a:rPr>
              <a:t>int</a:t>
            </a:r>
            <a:r>
              <a:rPr lang="en-CA" sz="1800" b="1" dirty="0">
                <a:solidFill>
                  <a:srgbClr val="CCCCCC"/>
                </a:solidFill>
                <a:effectLst/>
                <a:latin typeface="Consolas" panose="020B0609020204030204" pitchFamily="49" charset="0"/>
              </a:rPr>
              <a:t> </a:t>
            </a:r>
            <a:r>
              <a:rPr lang="en-CA" sz="1800" b="1" dirty="0">
                <a:solidFill>
                  <a:srgbClr val="9CDCFE"/>
                </a:solidFill>
                <a:effectLst/>
                <a:latin typeface="Consolas" panose="020B0609020204030204" pitchFamily="49" charset="0"/>
              </a:rPr>
              <a:t>desc1</a:t>
            </a:r>
            <a:r>
              <a:rPr lang="en-CA" sz="1800" b="1" dirty="0">
                <a:solidFill>
                  <a:srgbClr val="CCCCCC"/>
                </a:solidFill>
                <a:effectLst/>
                <a:latin typeface="Consolas" panose="020B0609020204030204" pitchFamily="49" charset="0"/>
              </a:rPr>
              <a:t>,</a:t>
            </a:r>
            <a:r>
              <a:rPr lang="en-CA" sz="1800" b="1" dirty="0">
                <a:solidFill>
                  <a:srgbClr val="569CD6"/>
                </a:solidFill>
                <a:effectLst/>
                <a:latin typeface="Consolas" panose="020B0609020204030204" pitchFamily="49" charset="0"/>
              </a:rPr>
              <a:t>int</a:t>
            </a:r>
            <a:r>
              <a:rPr lang="en-CA" sz="1800" b="1" dirty="0">
                <a:solidFill>
                  <a:srgbClr val="CCCCCC"/>
                </a:solidFill>
                <a:effectLst/>
                <a:latin typeface="Consolas" panose="020B0609020204030204" pitchFamily="49" charset="0"/>
              </a:rPr>
              <a:t> </a:t>
            </a:r>
            <a:r>
              <a:rPr lang="en-CA" sz="1800" b="1" dirty="0">
                <a:solidFill>
                  <a:srgbClr val="9CDCFE"/>
                </a:solidFill>
                <a:effectLst/>
                <a:latin typeface="Consolas" panose="020B0609020204030204" pitchFamily="49" charset="0"/>
              </a:rPr>
              <a:t>desc2</a:t>
            </a:r>
            <a:r>
              <a:rPr lang="en-CA" sz="1800" b="1" dirty="0">
                <a:solidFill>
                  <a:srgbClr val="CCCCCC"/>
                </a:solidFill>
                <a:effectLst/>
                <a:latin typeface="Consolas" panose="020B0609020204030204" pitchFamily="49" charset="0"/>
              </a:rPr>
              <a:t>);</a:t>
            </a:r>
          </a:p>
          <a:p>
            <a:br>
              <a:rPr lang="en-CA" b="0" dirty="0">
                <a:solidFill>
                  <a:srgbClr val="CCCCCC"/>
                </a:solidFill>
                <a:effectLst/>
                <a:latin typeface="Consolas" panose="020B0609020204030204" pitchFamily="49" charset="0"/>
              </a:rPr>
            </a:br>
            <a:endParaRPr lang="en-CA" b="0" dirty="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1795800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70C0"/>
                </a:solidFill>
              </a:rPr>
              <a:t>Exercice</a:t>
            </a:r>
            <a:endParaRPr b="1" dirty="0">
              <a:solidFill>
                <a:srgbClr val="0070C0"/>
              </a:solidFill>
            </a:endParaRPr>
          </a:p>
        </p:txBody>
      </p:sp>
      <p:sp>
        <p:nvSpPr>
          <p:cNvPr id="234" name="Google Shape;234;p35"/>
          <p:cNvSpPr/>
          <p:nvPr/>
        </p:nvSpPr>
        <p:spPr>
          <a:xfrm>
            <a:off x="142844" y="1714488"/>
            <a:ext cx="8786874" cy="3724096"/>
          </a:xfrm>
          <a:prstGeom prst="rect">
            <a:avLst/>
          </a:prstGeom>
          <a:noFill/>
          <a:ln>
            <a:noFill/>
          </a:ln>
        </p:spPr>
        <p:txBody>
          <a:bodyPr spcFirstLastPara="1" wrap="square" lIns="91425" tIns="45700" rIns="91425" bIns="45700" anchor="ctr" anchorCtr="0">
            <a:noAutofit/>
          </a:bodyPr>
          <a:lstStyle/>
          <a:p>
            <a:pPr marL="73660" marR="74930" algn="just">
              <a:lnSpc>
                <a:spcPct val="106000"/>
              </a:lnSpc>
              <a:spcBef>
                <a:spcPts val="825"/>
              </a:spcBef>
              <a:spcAft>
                <a:spcPts val="0"/>
              </a:spcAft>
            </a:pPr>
            <a:r>
              <a:rPr lang="fr-TN" sz="1800" dirty="0">
                <a:effectLst/>
                <a:latin typeface="Times New Roman" panose="02020603050405020304" pitchFamily="18" charset="0"/>
                <a:ea typeface="Times New Roman" panose="02020603050405020304" pitchFamily="18" charset="0"/>
              </a:rPr>
              <a:t>Écrire un programme en langage C qui simule le comportement de la commande </a:t>
            </a:r>
            <a:r>
              <a:rPr lang="fr-TN" sz="1800" b="1" dirty="0">
                <a:solidFill>
                  <a:srgbClr val="00B0F0"/>
                </a:solidFill>
                <a:effectLst/>
                <a:latin typeface="Times New Roman" panose="02020603050405020304" pitchFamily="18" charset="0"/>
                <a:ea typeface="Times New Roman" panose="02020603050405020304" pitchFamily="18" charset="0"/>
              </a:rPr>
              <a:t>ls -al | </a:t>
            </a:r>
            <a:r>
              <a:rPr lang="fr-TN" sz="1800" b="1" dirty="0" err="1">
                <a:solidFill>
                  <a:srgbClr val="00B0F0"/>
                </a:solidFill>
                <a:effectLst/>
                <a:latin typeface="Times New Roman" panose="02020603050405020304" pitchFamily="18" charset="0"/>
                <a:ea typeface="Times New Roman" panose="02020603050405020304" pitchFamily="18" charset="0"/>
              </a:rPr>
              <a:t>wc</a:t>
            </a:r>
            <a:r>
              <a:rPr lang="fr-TN" sz="1800" b="1" dirty="0">
                <a:solidFill>
                  <a:srgbClr val="00B0F0"/>
                </a:solidFill>
                <a:effectLst/>
                <a:latin typeface="Times New Roman" panose="02020603050405020304" pitchFamily="18" charset="0"/>
                <a:ea typeface="Times New Roman" panose="02020603050405020304" pitchFamily="18" charset="0"/>
              </a:rPr>
              <a:t> -l</a:t>
            </a:r>
            <a:r>
              <a:rPr lang="fr-TN" sz="1800" dirty="0">
                <a:effectLst/>
                <a:latin typeface="Times New Roman" panose="02020603050405020304" pitchFamily="18" charset="0"/>
                <a:ea typeface="Times New Roman" panose="02020603050405020304" pitchFamily="18" charset="0"/>
              </a:rPr>
              <a:t> en utilisant deux processus qui communiquent à travers un tube. Le processus parent exécutera ls -al et enverra sa sortie au processus enfant, qui exécutera </a:t>
            </a:r>
            <a:r>
              <a:rPr lang="fr-TN" sz="1800" b="1" dirty="0" err="1">
                <a:solidFill>
                  <a:srgbClr val="00B0F0"/>
                </a:solidFill>
                <a:effectLst/>
                <a:latin typeface="Times New Roman" panose="02020603050405020304" pitchFamily="18" charset="0"/>
                <a:ea typeface="Times New Roman" panose="02020603050405020304" pitchFamily="18" charset="0"/>
              </a:rPr>
              <a:t>wc</a:t>
            </a:r>
            <a:r>
              <a:rPr lang="fr-TN" sz="1800" b="1" dirty="0">
                <a:solidFill>
                  <a:srgbClr val="00B0F0"/>
                </a:solidFill>
                <a:effectLst/>
                <a:latin typeface="Times New Roman" panose="02020603050405020304" pitchFamily="18" charset="0"/>
                <a:ea typeface="Times New Roman" panose="02020603050405020304" pitchFamily="18" charset="0"/>
              </a:rPr>
              <a:t> -l</a:t>
            </a:r>
            <a:r>
              <a:rPr lang="fr-TN" sz="1800" dirty="0">
                <a:solidFill>
                  <a:srgbClr val="00B0F0"/>
                </a:solidFill>
                <a:effectLst/>
                <a:latin typeface="Times New Roman" panose="02020603050405020304" pitchFamily="18" charset="0"/>
                <a:ea typeface="Times New Roman" panose="02020603050405020304" pitchFamily="18" charset="0"/>
              </a:rPr>
              <a:t> </a:t>
            </a:r>
            <a:r>
              <a:rPr lang="fr-TN" sz="1800" dirty="0">
                <a:effectLst/>
                <a:latin typeface="Times New Roman" panose="02020603050405020304" pitchFamily="18" charset="0"/>
                <a:ea typeface="Times New Roman" panose="02020603050405020304" pitchFamily="18" charset="0"/>
              </a:rPr>
              <a:t>pour compter le nombre total de lignes.</a:t>
            </a:r>
          </a:p>
          <a:p>
            <a:pPr marL="73660" marR="74930" algn="just">
              <a:lnSpc>
                <a:spcPct val="106000"/>
              </a:lnSpc>
              <a:spcBef>
                <a:spcPts val="825"/>
              </a:spcBef>
              <a:spcAft>
                <a:spcPts val="0"/>
              </a:spcAft>
            </a:pPr>
            <a:r>
              <a:rPr lang="fr-TN" sz="1800" dirty="0">
                <a:effectLst/>
                <a:latin typeface="Times New Roman" panose="02020603050405020304" pitchFamily="18" charset="0"/>
                <a:ea typeface="Times New Roman" panose="02020603050405020304" pitchFamily="18" charset="0"/>
              </a:rPr>
              <a:t>Pour réaliser cela, le processus parent devra rediriger sa sortie standard vers l'entrée du tube avant d'exécuter ls -al, tandis que le processus enfant devra rediriger son entrée standard depuis le tube avant d'exécuter </a:t>
            </a:r>
            <a:r>
              <a:rPr lang="fr-TN" sz="1800" b="1" dirty="0" err="1">
                <a:solidFill>
                  <a:srgbClr val="00B0F0"/>
                </a:solidFill>
                <a:effectLst/>
                <a:latin typeface="Times New Roman" panose="02020603050405020304" pitchFamily="18" charset="0"/>
                <a:ea typeface="Times New Roman" panose="02020603050405020304" pitchFamily="18" charset="0"/>
              </a:rPr>
              <a:t>wc</a:t>
            </a:r>
            <a:r>
              <a:rPr lang="fr-TN" sz="1800" b="1" dirty="0">
                <a:solidFill>
                  <a:srgbClr val="00B0F0"/>
                </a:solidFill>
                <a:effectLst/>
                <a:latin typeface="Times New Roman" panose="02020603050405020304" pitchFamily="18" charset="0"/>
                <a:ea typeface="Times New Roman" panose="02020603050405020304" pitchFamily="18" charset="0"/>
              </a:rPr>
              <a:t> -l</a:t>
            </a:r>
            <a:r>
              <a:rPr lang="fr-TN" sz="1800" dirty="0">
                <a:effectLst/>
                <a:latin typeface="Times New Roman" panose="02020603050405020304" pitchFamily="18" charset="0"/>
                <a:ea typeface="Times New Roman" panose="02020603050405020304" pitchFamily="18" charset="0"/>
              </a:rPr>
              <a:t>. Utilisez la primitive </a:t>
            </a:r>
            <a:r>
              <a:rPr lang="fr-TN" sz="1800" b="1" dirty="0" err="1">
                <a:solidFill>
                  <a:srgbClr val="00B0F0"/>
                </a:solidFill>
                <a:effectLst/>
                <a:latin typeface="Times New Roman" panose="02020603050405020304" pitchFamily="18" charset="0"/>
                <a:ea typeface="Times New Roman" panose="02020603050405020304" pitchFamily="18" charset="0"/>
              </a:rPr>
              <a:t>execlp</a:t>
            </a:r>
            <a:r>
              <a:rPr lang="fr-TN" sz="1800" dirty="0">
                <a:effectLst/>
                <a:latin typeface="Times New Roman" panose="02020603050405020304" pitchFamily="18" charset="0"/>
                <a:ea typeface="Times New Roman" panose="02020603050405020304" pitchFamily="18" charset="0"/>
              </a:rPr>
              <a:t> pour exécuter les commandes </a:t>
            </a:r>
            <a:r>
              <a:rPr lang="fr-TN" sz="1800" b="1" dirty="0">
                <a:solidFill>
                  <a:srgbClr val="00B0F0"/>
                </a:solidFill>
                <a:effectLst/>
                <a:latin typeface="Times New Roman" panose="02020603050405020304" pitchFamily="18" charset="0"/>
                <a:ea typeface="Times New Roman" panose="02020603050405020304" pitchFamily="18" charset="0"/>
              </a:rPr>
              <a:t>ls</a:t>
            </a:r>
            <a:r>
              <a:rPr lang="fr-TN" sz="1800" dirty="0">
                <a:effectLst/>
                <a:latin typeface="Times New Roman" panose="02020603050405020304" pitchFamily="18" charset="0"/>
                <a:ea typeface="Times New Roman" panose="02020603050405020304" pitchFamily="18" charset="0"/>
              </a:rPr>
              <a:t> et </a:t>
            </a:r>
            <a:r>
              <a:rPr lang="fr-TN" sz="1800" b="1" dirty="0" err="1">
                <a:solidFill>
                  <a:srgbClr val="00B0F0"/>
                </a:solidFill>
                <a:latin typeface="Times New Roman" panose="02020603050405020304" pitchFamily="18" charset="0"/>
              </a:rPr>
              <a:t>wc</a:t>
            </a:r>
            <a:r>
              <a:rPr lang="fr-TN" sz="1800" dirty="0">
                <a:latin typeface="Times New Roman" panose="02020603050405020304" pitchFamily="18" charset="0"/>
              </a:rPr>
              <a:t> respectivement.</a:t>
            </a:r>
          </a:p>
          <a:p>
            <a:pPr marL="73660" marR="74930" algn="just">
              <a:lnSpc>
                <a:spcPct val="106000"/>
              </a:lnSpc>
              <a:spcBef>
                <a:spcPts val="825"/>
              </a:spcBef>
              <a:spcAft>
                <a:spcPts val="0"/>
              </a:spcAft>
            </a:pPr>
            <a:r>
              <a:rPr lang="fr-TN" sz="1800" dirty="0">
                <a:effectLst/>
                <a:latin typeface="Times New Roman" panose="02020603050405020304" pitchFamily="18" charset="0"/>
                <a:ea typeface="Times New Roman" panose="02020603050405020304" pitchFamily="18" charset="0"/>
              </a:rPr>
              <a:t>Assurez-vous que votre programme produit le même résultat que </a:t>
            </a:r>
            <a:r>
              <a:rPr lang="fr-TN" sz="1800" b="1" dirty="0">
                <a:solidFill>
                  <a:srgbClr val="00B0F0"/>
                </a:solidFill>
                <a:effectLst/>
                <a:latin typeface="Times New Roman" panose="02020603050405020304" pitchFamily="18" charset="0"/>
                <a:ea typeface="Times New Roman" panose="02020603050405020304" pitchFamily="18" charset="0"/>
              </a:rPr>
              <a:t>ls -al | </a:t>
            </a:r>
            <a:r>
              <a:rPr lang="fr-TN" sz="1800" b="1" dirty="0" err="1">
                <a:solidFill>
                  <a:srgbClr val="00B0F0"/>
                </a:solidFill>
                <a:effectLst/>
                <a:latin typeface="Times New Roman" panose="02020603050405020304" pitchFamily="18" charset="0"/>
                <a:ea typeface="Times New Roman" panose="02020603050405020304" pitchFamily="18" charset="0"/>
              </a:rPr>
              <a:t>wc</a:t>
            </a:r>
            <a:r>
              <a:rPr lang="fr-TN" sz="1800" b="1" dirty="0">
                <a:solidFill>
                  <a:srgbClr val="00B0F0"/>
                </a:solidFill>
                <a:effectLst/>
                <a:latin typeface="Times New Roman" panose="02020603050405020304" pitchFamily="18" charset="0"/>
                <a:ea typeface="Times New Roman" panose="02020603050405020304" pitchFamily="18" charset="0"/>
              </a:rPr>
              <a:t> -l</a:t>
            </a:r>
            <a:r>
              <a:rPr lang="fr-TN" sz="1800" dirty="0">
                <a:effectLst/>
                <a:latin typeface="Times New Roman" panose="02020603050405020304" pitchFamily="18" charset="0"/>
                <a:ea typeface="Times New Roman" panose="02020603050405020304" pitchFamily="18" charset="0"/>
              </a:rPr>
              <a:t>, c'est-à-dire le nombre total de fichiers et de répertoires répertoriés dans le répertoire courant.</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6"/>
          <p:cNvSpPr txBox="1">
            <a:spLocks noGrp="1"/>
          </p:cNvSpPr>
          <p:nvPr>
            <p:ph type="title"/>
          </p:nvPr>
        </p:nvSpPr>
        <p:spPr>
          <a:xfrm>
            <a:off x="243840" y="477711"/>
            <a:ext cx="7753082" cy="695960"/>
          </a:xfrm>
          <a:prstGeom prst="rect">
            <a:avLst/>
          </a:prstGeom>
          <a:noFill/>
          <a:ln>
            <a:noFill/>
          </a:ln>
        </p:spPr>
        <p:txBody>
          <a:bodyPr spcFirstLastPara="1" wrap="square" lIns="0" tIns="12700" rIns="0" bIns="0" anchor="ctr" anchorCtr="0">
            <a:spAutoFit/>
          </a:bodyPr>
          <a:lstStyle/>
          <a:p>
            <a:pPr marL="12700" lvl="0" indent="0" algn="ctr" rtl="0">
              <a:lnSpc>
                <a:spcPct val="100000"/>
              </a:lnSpc>
              <a:spcBef>
                <a:spcPts val="100"/>
              </a:spcBef>
              <a:spcAft>
                <a:spcPts val="0"/>
              </a:spcAft>
              <a:buSzPts val="1800"/>
              <a:buNone/>
            </a:pPr>
            <a:r>
              <a:rPr lang="fr-FR" sz="4400" b="1" dirty="0">
                <a:solidFill>
                  <a:srgbClr val="00B0F0"/>
                </a:solidFill>
              </a:rPr>
              <a:t>Recouvrement d’un processus</a:t>
            </a:r>
            <a:endParaRPr sz="4400" b="1" dirty="0">
              <a:solidFill>
                <a:srgbClr val="00B0F0"/>
              </a:solidFill>
            </a:endParaRPr>
          </a:p>
        </p:txBody>
      </p:sp>
      <p:sp>
        <p:nvSpPr>
          <p:cNvPr id="240" name="Google Shape;240;p36"/>
          <p:cNvSpPr/>
          <p:nvPr/>
        </p:nvSpPr>
        <p:spPr>
          <a:xfrm>
            <a:off x="381000" y="1762542"/>
            <a:ext cx="8382000" cy="409342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fr-FR" sz="2000" b="0" i="0" u="none" strike="noStrike" cap="none" dirty="0">
                <a:solidFill>
                  <a:srgbClr val="000000"/>
                </a:solidFill>
                <a:latin typeface="Times New Roman"/>
                <a:ea typeface="Times New Roman"/>
                <a:cs typeface="Times New Roman"/>
                <a:sym typeface="Times New Roman"/>
              </a:rPr>
              <a:t>La création d’un nouveau processus ne peut se faire que par le « recouvrement » du code d’un processus existant. Cela se fait à l’aide d’une des fonctions de la famille </a:t>
            </a:r>
            <a:r>
              <a:rPr lang="fr-FR" sz="2000" b="1" i="0" u="none" strike="noStrike" cap="none" dirty="0" err="1">
                <a:solidFill>
                  <a:srgbClr val="000000"/>
                </a:solidFill>
                <a:latin typeface="Times New Roman"/>
                <a:ea typeface="Times New Roman"/>
                <a:cs typeface="Times New Roman"/>
                <a:sym typeface="Times New Roman"/>
              </a:rPr>
              <a:t>exec</a:t>
            </a:r>
            <a:r>
              <a:rPr lang="fr-FR" sz="2000" b="0" i="0" u="none" strike="noStrike" cap="none" dirty="0">
                <a:solidFill>
                  <a:srgbClr val="000000"/>
                </a:solidFill>
                <a:latin typeface="Times New Roman"/>
                <a:ea typeface="Times New Roman"/>
                <a:cs typeface="Times New Roman"/>
                <a:sym typeface="Times New Roman"/>
              </a:rPr>
              <a:t> qui permet de faire exécuter par un processus un autre programme que celui d’origine. Lorsqu'un processus exécute un appel </a:t>
            </a:r>
            <a:r>
              <a:rPr lang="fr-FR" sz="2000" b="1" i="0" u="none" strike="noStrike" cap="none" dirty="0" err="1">
                <a:solidFill>
                  <a:srgbClr val="000000"/>
                </a:solidFill>
                <a:latin typeface="Times New Roman"/>
                <a:ea typeface="Times New Roman"/>
                <a:cs typeface="Times New Roman"/>
                <a:sym typeface="Times New Roman"/>
              </a:rPr>
              <a:t>exec</a:t>
            </a:r>
            <a:r>
              <a:rPr lang="fr-FR" sz="2000" b="0" i="0" u="none" strike="noStrike" cap="none" dirty="0">
                <a:solidFill>
                  <a:srgbClr val="000000"/>
                </a:solidFill>
                <a:latin typeface="Times New Roman"/>
                <a:ea typeface="Times New Roman"/>
                <a:cs typeface="Times New Roman"/>
                <a:sym typeface="Times New Roman"/>
              </a:rPr>
              <a:t>, il charge un autre programme exécutable en conservant le même environnement système :</a:t>
            </a:r>
            <a:endParaRPr dirty="0"/>
          </a:p>
          <a:p>
            <a:pPr marL="0" marR="0" lvl="0" indent="0" algn="l" rtl="0">
              <a:lnSpc>
                <a:spcPct val="100000"/>
              </a:lnSpc>
              <a:spcBef>
                <a:spcPts val="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fr-FR" sz="2000" b="0" i="0" u="none" strike="noStrike" cap="none" dirty="0">
                <a:solidFill>
                  <a:srgbClr val="000000"/>
                </a:solidFill>
                <a:latin typeface="Times New Roman"/>
                <a:ea typeface="Times New Roman"/>
                <a:cs typeface="Times New Roman"/>
                <a:sym typeface="Times New Roman"/>
              </a:rPr>
              <a:t> • </a:t>
            </a:r>
            <a:r>
              <a:rPr lang="fr-FR" sz="2000" b="1" i="0" u="none" strike="noStrike" cap="none" dirty="0">
                <a:solidFill>
                  <a:srgbClr val="000000"/>
                </a:solidFill>
                <a:latin typeface="Times New Roman"/>
                <a:ea typeface="Times New Roman"/>
                <a:cs typeface="Times New Roman"/>
                <a:sym typeface="Times New Roman"/>
              </a:rPr>
              <a:t>Du point de vue du système</a:t>
            </a:r>
            <a:r>
              <a:rPr lang="fr-FR" sz="2000" b="0" i="0" u="none" strike="noStrike" cap="none" dirty="0">
                <a:solidFill>
                  <a:srgbClr val="000000"/>
                </a:solidFill>
                <a:latin typeface="Times New Roman"/>
                <a:ea typeface="Times New Roman"/>
                <a:cs typeface="Times New Roman"/>
                <a:sym typeface="Times New Roman"/>
              </a:rPr>
              <a:t>, il s'agit toujours du même processus : il a conservé le même </a:t>
            </a:r>
            <a:r>
              <a:rPr lang="fr-FR" sz="2000" b="0" i="0" u="none" strike="noStrike" cap="none" dirty="0" err="1">
                <a:solidFill>
                  <a:srgbClr val="000000"/>
                </a:solidFill>
                <a:latin typeface="Times New Roman"/>
                <a:ea typeface="Times New Roman"/>
                <a:cs typeface="Times New Roman"/>
                <a:sym typeface="Times New Roman"/>
              </a:rPr>
              <a:t>pid</a:t>
            </a:r>
            <a:r>
              <a:rPr lang="fr-FR" sz="2000" b="0" i="0" u="none" strike="noStrike" cap="none" dirty="0">
                <a:solidFill>
                  <a:srgbClr val="000000"/>
                </a:solidFill>
                <a:latin typeface="Times New Roman"/>
                <a:ea typeface="Times New Roman"/>
                <a:cs typeface="Times New Roman"/>
                <a:sym typeface="Times New Roman"/>
              </a:rPr>
              <a:t>.</a:t>
            </a:r>
            <a:endParaRPr dirty="0"/>
          </a:p>
          <a:p>
            <a:pPr marL="0" marR="0" lvl="0" indent="0" algn="l" rtl="0">
              <a:lnSpc>
                <a:spcPct val="100000"/>
              </a:lnSpc>
              <a:spcBef>
                <a:spcPts val="0"/>
              </a:spcBef>
              <a:spcAft>
                <a:spcPts val="0"/>
              </a:spcAft>
              <a:buNone/>
            </a:pPr>
            <a:endParaRPr sz="20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fr-FR" sz="2000" b="0" i="0" u="none" strike="noStrike" cap="none" dirty="0">
                <a:solidFill>
                  <a:srgbClr val="000000"/>
                </a:solidFill>
                <a:latin typeface="Times New Roman"/>
                <a:ea typeface="Times New Roman"/>
                <a:cs typeface="Times New Roman"/>
                <a:sym typeface="Times New Roman"/>
              </a:rPr>
              <a:t> • </a:t>
            </a:r>
            <a:r>
              <a:rPr lang="fr-FR" sz="2000" b="1" i="0" u="none" strike="noStrike" cap="none" dirty="0">
                <a:solidFill>
                  <a:srgbClr val="000000"/>
                </a:solidFill>
                <a:latin typeface="Times New Roman"/>
                <a:ea typeface="Times New Roman"/>
                <a:cs typeface="Times New Roman"/>
                <a:sym typeface="Times New Roman"/>
              </a:rPr>
              <a:t>Du point de vue de l'utilisateur</a:t>
            </a:r>
            <a:r>
              <a:rPr lang="fr-FR" sz="2000" b="0" i="0" u="none" strike="noStrike" cap="none" dirty="0">
                <a:solidFill>
                  <a:srgbClr val="000000"/>
                </a:solidFill>
                <a:latin typeface="Times New Roman"/>
                <a:ea typeface="Times New Roman"/>
                <a:cs typeface="Times New Roman"/>
                <a:sym typeface="Times New Roman"/>
              </a:rPr>
              <a:t>, le processus qui exécute </a:t>
            </a:r>
            <a:r>
              <a:rPr lang="fr-FR" sz="2000" b="1" i="0" u="none" strike="noStrike" cap="none" dirty="0" err="1">
                <a:solidFill>
                  <a:srgbClr val="000000"/>
                </a:solidFill>
                <a:latin typeface="Times New Roman"/>
                <a:ea typeface="Times New Roman"/>
                <a:cs typeface="Times New Roman"/>
                <a:sym typeface="Times New Roman"/>
              </a:rPr>
              <a:t>exec</a:t>
            </a:r>
            <a:r>
              <a:rPr lang="fr-FR" sz="2000" b="0" i="0" u="none" strike="noStrike" cap="none" dirty="0">
                <a:solidFill>
                  <a:srgbClr val="000000"/>
                </a:solidFill>
                <a:latin typeface="Times New Roman"/>
                <a:ea typeface="Times New Roman"/>
                <a:cs typeface="Times New Roman"/>
                <a:sym typeface="Times New Roman"/>
              </a:rPr>
              <a:t> disparaît, au profit d’un nouveau processus disposant du même environnement système et qui débute alors son exécution</a:t>
            </a:r>
            <a:r>
              <a:rPr lang="fr-FR" sz="1400" b="0" i="0" u="none" strike="noStrike" cap="none" dirty="0">
                <a:solidFill>
                  <a:srgbClr val="000000"/>
                </a:solidFill>
                <a:latin typeface="Times New Roman"/>
                <a:ea typeface="Times New Roman"/>
                <a:cs typeface="Times New Roman"/>
                <a:sym typeface="Times New Roman"/>
              </a:rPr>
              <a:t>.</a:t>
            </a:r>
            <a:endParaRPr sz="14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244"/>
        <p:cNvGrpSpPr/>
        <p:nvPr/>
      </p:nvGrpSpPr>
      <p:grpSpPr>
        <a:xfrm>
          <a:off x="0" y="0"/>
          <a:ext cx="0" cy="0"/>
          <a:chOff x="0" y="0"/>
          <a:chExt cx="0" cy="0"/>
        </a:xfrm>
      </p:grpSpPr>
      <p:pic>
        <p:nvPicPr>
          <p:cNvPr id="245" name="Google Shape;245;p37"/>
          <p:cNvPicPr preferRelativeResize="0"/>
          <p:nvPr/>
        </p:nvPicPr>
        <p:blipFill rotWithShape="1">
          <a:blip r:embed="rId3">
            <a:alphaModFix/>
          </a:blip>
          <a:srcRect/>
          <a:stretch/>
        </p:blipFill>
        <p:spPr>
          <a:xfrm>
            <a:off x="32412" y="818866"/>
            <a:ext cx="8524558" cy="5445456"/>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pic>
        <p:nvPicPr>
          <p:cNvPr id="250" name="Google Shape;250;p38"/>
          <p:cNvPicPr preferRelativeResize="0"/>
          <p:nvPr/>
        </p:nvPicPr>
        <p:blipFill rotWithShape="1">
          <a:blip r:embed="rId3">
            <a:alphaModFix/>
          </a:blip>
          <a:srcRect/>
          <a:stretch/>
        </p:blipFill>
        <p:spPr>
          <a:xfrm>
            <a:off x="401330" y="594535"/>
            <a:ext cx="8286749" cy="5324450"/>
          </a:xfrm>
          <a:prstGeom prst="rect">
            <a:avLst/>
          </a:prstGeom>
          <a:noFill/>
          <a:ln>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5" name="Google Shape;255;p39"/>
          <p:cNvSpPr/>
          <p:nvPr/>
        </p:nvSpPr>
        <p:spPr>
          <a:xfrm>
            <a:off x="197768" y="1315113"/>
            <a:ext cx="8748464" cy="480090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fr-FR" sz="3200" b="0" i="0" u="none" strike="noStrike" cap="none" dirty="0">
                <a:solidFill>
                  <a:schemeClr val="dk1"/>
                </a:solidFill>
                <a:latin typeface="Calibri"/>
                <a:ea typeface="Calibri"/>
                <a:cs typeface="Calibri"/>
                <a:sym typeface="Calibri"/>
              </a:rPr>
              <a:t>Donner l’organisation et </a:t>
            </a:r>
            <a:r>
              <a:rPr lang="fr-FR" sz="3200" dirty="0">
                <a:solidFill>
                  <a:schemeClr val="dk1"/>
                </a:solidFill>
                <a:latin typeface="Calibri"/>
                <a:ea typeface="Calibri"/>
                <a:cs typeface="Calibri"/>
                <a:sym typeface="Calibri"/>
              </a:rPr>
              <a:t>écrire</a:t>
            </a:r>
            <a:r>
              <a:rPr lang="fr-FR" sz="3200" b="0" i="0" u="none" strike="noStrike" cap="none" dirty="0">
                <a:solidFill>
                  <a:schemeClr val="dk1"/>
                </a:solidFill>
                <a:latin typeface="Calibri"/>
                <a:ea typeface="Calibri"/>
                <a:cs typeface="Calibri"/>
                <a:sym typeface="Calibri"/>
              </a:rPr>
              <a:t> et le programme C d’une application de transmission bidirectionnelle d’informations entre un processus père et un de ses fils via des tubes : </a:t>
            </a:r>
          </a:p>
          <a:p>
            <a:pPr marL="0" marR="0" lvl="0" indent="0" algn="l" rtl="0">
              <a:lnSpc>
                <a:spcPct val="100000"/>
              </a:lnSpc>
              <a:spcBef>
                <a:spcPts val="0"/>
              </a:spcBef>
              <a:spcAft>
                <a:spcPts val="0"/>
              </a:spcAft>
              <a:buClr>
                <a:srgbClr val="000000"/>
              </a:buClr>
              <a:buSzPts val="2400"/>
              <a:buFont typeface="Arial"/>
              <a:buNone/>
            </a:pPr>
            <a:endParaRPr lang="fr-FR" sz="3200" b="0" i="0" u="none" strike="noStrike" cap="none" dirty="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fr-FR" sz="3200" b="0" i="0" u="none" strike="noStrike" cap="none" dirty="0">
                <a:solidFill>
                  <a:schemeClr val="dk1"/>
                </a:solidFill>
                <a:latin typeface="Calibri"/>
                <a:ea typeface="Calibri"/>
                <a:cs typeface="Calibri"/>
                <a:sym typeface="Calibri"/>
              </a:rPr>
              <a:t>le père envoie 5 entiers au fils qui les affiche et renvoie ces entiers multipliés par 2. </a:t>
            </a:r>
            <a:r>
              <a:rPr lang="fr-FR" sz="3200" dirty="0">
                <a:solidFill>
                  <a:schemeClr val="dk1"/>
                </a:solidFill>
                <a:latin typeface="Calibri"/>
                <a:ea typeface="Calibri"/>
                <a:cs typeface="Calibri"/>
                <a:sym typeface="Calibri"/>
              </a:rPr>
              <a:t>Ensuite </a:t>
            </a:r>
            <a:r>
              <a:rPr lang="fr-FR" sz="3200" b="0" i="0" u="none" strike="noStrike" cap="none" dirty="0">
                <a:solidFill>
                  <a:schemeClr val="dk1"/>
                </a:solidFill>
                <a:latin typeface="Calibri"/>
                <a:ea typeface="Calibri"/>
                <a:cs typeface="Calibri"/>
                <a:sym typeface="Calibri"/>
              </a:rPr>
              <a:t>Le père affiche ces doubles. correspondant.</a:t>
            </a:r>
            <a:endParaRPr sz="32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fr-FR" sz="3200" b="0" i="0" u="none" strike="noStrike" cap="none" dirty="0">
                <a:solidFill>
                  <a:schemeClr val="dk1"/>
                </a:solidFill>
                <a:latin typeface="Calibri"/>
                <a:ea typeface="Calibri"/>
                <a:cs typeface="Calibri"/>
                <a:sym typeface="Calibri"/>
              </a:rPr>
              <a:t> </a:t>
            </a:r>
            <a:endParaRPr sz="3200" b="0" i="0" u="none" strike="noStrike" cap="none" dirty="0">
              <a:solidFill>
                <a:srgbClr val="000000"/>
              </a:solidFill>
              <a:latin typeface="Arial"/>
              <a:ea typeface="Arial"/>
              <a:cs typeface="Arial"/>
              <a:sym typeface="Arial"/>
            </a:endParaRPr>
          </a:p>
        </p:txBody>
      </p:sp>
      <p:sp>
        <p:nvSpPr>
          <p:cNvPr id="257" name="Google Shape;257;p39"/>
          <p:cNvSpPr txBox="1">
            <a:spLocks noGrp="1"/>
          </p:cNvSpPr>
          <p:nvPr>
            <p:ph type="title"/>
          </p:nvPr>
        </p:nvSpPr>
        <p:spPr>
          <a:xfrm>
            <a:off x="395536" y="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fr-FR" b="1" dirty="0">
                <a:solidFill>
                  <a:srgbClr val="0070C0"/>
                </a:solidFill>
              </a:rPr>
              <a:t>Exercice</a:t>
            </a:r>
            <a:endParaRPr b="1" dirty="0">
              <a:solidFill>
                <a:srgbClr val="0070C0"/>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3CEDE9F2ED40ED4DA309234531099FC2" ma:contentTypeVersion="6" ma:contentTypeDescription="Crée un document." ma:contentTypeScope="" ma:versionID="cfdce3fd7ac4e31d33c68ae7fc1ff970">
  <xsd:schema xmlns:xsd="http://www.w3.org/2001/XMLSchema" xmlns:xs="http://www.w3.org/2001/XMLSchema" xmlns:p="http://schemas.microsoft.com/office/2006/metadata/properties" xmlns:ns2="9907f2ed-efe2-49dd-be41-190096c3426b" xmlns:ns3="5ecb3a7a-d89a-4795-b218-ab7d36e137f4" targetNamespace="http://schemas.microsoft.com/office/2006/metadata/properties" ma:root="true" ma:fieldsID="eef376839e0bb3d843c7edb282cc4c1a" ns2:_="" ns3:_="">
    <xsd:import namespace="9907f2ed-efe2-49dd-be41-190096c3426b"/>
    <xsd:import namespace="5ecb3a7a-d89a-4795-b218-ab7d36e137f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07f2ed-efe2-49dd-be41-190096c342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ecb3a7a-d89a-4795-b218-ab7d36e137f4" elementFormDefault="qualified">
    <xsd:import namespace="http://schemas.microsoft.com/office/2006/documentManagement/types"/>
    <xsd:import namespace="http://schemas.microsoft.com/office/infopath/2007/PartnerControls"/>
    <xsd:element name="SharedWithUsers" ma:index="12"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EDFF0D-913A-45C0-8632-F06C1CB3AD47}">
  <ds:schemaRefs>
    <ds:schemaRef ds:uri="http://schemas.microsoft.com/sharepoint/v3/contenttype/forms"/>
  </ds:schemaRefs>
</ds:datastoreItem>
</file>

<file path=customXml/itemProps2.xml><?xml version="1.0" encoding="utf-8"?>
<ds:datastoreItem xmlns:ds="http://schemas.openxmlformats.org/officeDocument/2006/customXml" ds:itemID="{C13507B7-24C9-4D07-B301-C72C17A1129C}">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FA2E484-3841-45AE-B500-D19AF995569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907f2ed-efe2-49dd-be41-190096c3426b"/>
    <ds:schemaRef ds:uri="5ecb3a7a-d89a-4795-b218-ab7d36e137f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TotalTime>
  <Words>7594</Words>
  <Application>Microsoft Office PowerPoint</Application>
  <PresentationFormat>Affichage à l'écran (4:3)</PresentationFormat>
  <Paragraphs>1682</Paragraphs>
  <Slides>139</Slides>
  <Notes>96</Notes>
  <HiddenSlides>0</HiddenSlides>
  <MMClips>0</MMClips>
  <ScaleCrop>false</ScaleCrop>
  <HeadingPairs>
    <vt:vector size="6" baseType="variant">
      <vt:variant>
        <vt:lpstr>Polices utilisées</vt:lpstr>
      </vt:variant>
      <vt:variant>
        <vt:i4>13</vt:i4>
      </vt:variant>
      <vt:variant>
        <vt:lpstr>Thème</vt:lpstr>
      </vt:variant>
      <vt:variant>
        <vt:i4>1</vt:i4>
      </vt:variant>
      <vt:variant>
        <vt:lpstr>Titres des diapositives</vt:lpstr>
      </vt:variant>
      <vt:variant>
        <vt:i4>139</vt:i4>
      </vt:variant>
    </vt:vector>
  </HeadingPairs>
  <TitlesOfParts>
    <vt:vector size="153" baseType="lpstr">
      <vt:lpstr>Wingdings</vt:lpstr>
      <vt:lpstr>Calibri</vt:lpstr>
      <vt:lpstr>Söhne</vt:lpstr>
      <vt:lpstr>Arial</vt:lpstr>
      <vt:lpstr>Noto Sans Symbols</vt:lpstr>
      <vt:lpstr>Arial MT</vt:lpstr>
      <vt:lpstr>Georgia</vt:lpstr>
      <vt:lpstr>Times New Roman</vt:lpstr>
      <vt:lpstr>Century Schoolbook</vt:lpstr>
      <vt:lpstr>Helvetica Neue</vt:lpstr>
      <vt:lpstr>Courier New</vt:lpstr>
      <vt:lpstr>Consolas</vt:lpstr>
      <vt:lpstr>Lucida Sans</vt:lpstr>
      <vt:lpstr>Office Theme</vt:lpstr>
      <vt:lpstr>Présentation PowerPoint</vt:lpstr>
      <vt:lpstr>Plan</vt:lpstr>
      <vt:lpstr>Présentation PowerPoint</vt:lpstr>
      <vt:lpstr>Présentation PowerPoint</vt:lpstr>
      <vt:lpstr>Présentation PowerPoint</vt:lpstr>
      <vt:lpstr>Présentation PowerPoint</vt:lpstr>
      <vt:lpstr>Présentation PowerPoint</vt:lpstr>
      <vt:lpstr>Historique</vt:lpstr>
      <vt:lpstr>Historique: La première génération (1945-1955).  </vt:lpstr>
      <vt:lpstr>Historique: Deuxième génération (1955-1965)   </vt:lpstr>
      <vt:lpstr>Historique: La Troisième génération (1965-1980)     </vt:lpstr>
      <vt:lpstr>Historique: La quatrième génération (après les années 1980)</vt:lpstr>
      <vt:lpstr>Les Etapes de la compilation</vt:lpstr>
      <vt:lpstr>Compilation</vt:lpstr>
      <vt:lpstr>Compilation</vt:lpstr>
      <vt:lpstr>Compilation</vt:lpstr>
      <vt:lpstr>Compilation</vt:lpstr>
      <vt:lpstr>Présentation PowerPoint</vt:lpstr>
      <vt:lpstr>Chapitre 2:La gestion des processus</vt:lpstr>
      <vt:lpstr>Plan May7ebouch el party</vt:lpstr>
      <vt:lpstr>Définition : processus </vt:lpstr>
      <vt:lpstr>Définition : processus  </vt:lpstr>
      <vt:lpstr>              Image mémoire d’un processus</vt:lpstr>
      <vt:lpstr>Bloc de contrôle de processus</vt:lpstr>
      <vt:lpstr> Contexte d’un Processus </vt:lpstr>
      <vt:lpstr> Arborescence des processus</vt:lpstr>
      <vt:lpstr>Arborescence des processus unix</vt:lpstr>
      <vt:lpstr> états  d’un  processus </vt:lpstr>
      <vt:lpstr> Transitions</vt:lpstr>
      <vt:lpstr> Commutation de contexte</vt:lpstr>
      <vt:lpstr>Commutation de contexte</vt:lpstr>
      <vt:lpstr>table de processus :    </vt:lpstr>
      <vt:lpstr>Ordonnancement </vt:lpstr>
      <vt:lpstr>Ordonnancement des processus</vt:lpstr>
      <vt:lpstr>Les entités responsables de l’ordonnancement</vt:lpstr>
      <vt:lpstr>Critères d’Ordonnancement</vt:lpstr>
      <vt:lpstr>Critères d’optimisation: max/min</vt:lpstr>
      <vt:lpstr>Avec/Sans réquisition</vt:lpstr>
      <vt:lpstr>Présentation PowerPoint</vt:lpstr>
      <vt:lpstr>Présentation PowerPoint</vt:lpstr>
      <vt:lpstr>   3ème Cas : FCFS (Premier arrivé, premier servi )</vt:lpstr>
      <vt:lpstr> 3ème Cas : FCFS (Premier arrivé, premier servi )</vt:lpstr>
      <vt:lpstr>3ème Cas : FCFS (Premier arrivé, premier servi )</vt:lpstr>
      <vt:lpstr> 3ème Cas : FCFS (Premier arrivé, premier servi )</vt:lpstr>
      <vt:lpstr>Inconvénients FIFO</vt:lpstr>
      <vt:lpstr>Présentation PowerPoint</vt:lpstr>
      <vt:lpstr>Présentation PowerPoint</vt:lpstr>
      <vt:lpstr> SRTF (temps restant le plus court d'abord)</vt:lpstr>
      <vt:lpstr> SRTF (temps restant le plus court d'abord)</vt:lpstr>
      <vt:lpstr> SRTF (temps restant le plus court d'abord)</vt:lpstr>
      <vt:lpstr> SRTF (temps restant le plus court d'abord)</vt:lpstr>
      <vt:lpstr> SRTF (temps restant le plus court d'abord)</vt:lpstr>
      <vt:lpstr>Algorithme du Tourniquet (Round Robin)</vt:lpstr>
      <vt:lpstr> </vt:lpstr>
      <vt:lpstr>Présentation PowerPoint</vt:lpstr>
      <vt:lpstr>Algorithme du Tourniquet (Round Robin)</vt:lpstr>
      <vt:lpstr>Algorithme du Tourniquet (Round Robin)</vt:lpstr>
      <vt:lpstr> Algorithme du Tourniquet (Round Robin)</vt:lpstr>
      <vt:lpstr>Algorithme du Tourniquet (Round Robin)</vt:lpstr>
      <vt:lpstr>Algorithme du Tourniquet (Round Robin)</vt:lpstr>
      <vt:lpstr> Ordonnancement avec priorité</vt:lpstr>
      <vt:lpstr>Présentation PowerPoint</vt:lpstr>
      <vt:lpstr>Présentation PowerPoint</vt:lpstr>
      <vt:lpstr>Tableau récapitulatif</vt:lpstr>
      <vt:lpstr>Exercices </vt:lpstr>
      <vt:lpstr>SOLUTION </vt:lpstr>
      <vt:lpstr>SOLUTION </vt:lpstr>
      <vt:lpstr>Exercices </vt:lpstr>
      <vt:lpstr>SOLUTION </vt:lpstr>
      <vt:lpstr>Exercices </vt:lpstr>
      <vt:lpstr>SOLUTION </vt:lpstr>
      <vt:lpstr>SOLUTION </vt:lpstr>
      <vt:lpstr>Chapitre3 : Les Processus :  Création et synchronisation</vt:lpstr>
      <vt:lpstr>Les processus</vt:lpstr>
      <vt:lpstr>Différence entre programme et processus</vt:lpstr>
      <vt:lpstr>Les processus</vt:lpstr>
      <vt:lpstr>Etats d’un processus</vt:lpstr>
      <vt:lpstr>Présentation PowerPoint</vt:lpstr>
      <vt:lpstr>Image</vt:lpstr>
      <vt:lpstr>Processus en mémoire</vt:lpstr>
      <vt:lpstr>Processus en mémoire</vt:lpstr>
      <vt:lpstr>Création de processus  Clonage</vt:lpstr>
      <vt:lpstr>Création de processus</vt:lpstr>
      <vt:lpstr>Création de processus</vt:lpstr>
      <vt:lpstr>Création de processus Déroulement de  l’exécution</vt:lpstr>
      <vt:lpstr>Présentation PowerPoint</vt:lpstr>
      <vt:lpstr>Création de processus  Arborescence</vt:lpstr>
      <vt:lpstr>Création de processus  Différence fils-pére</vt:lpstr>
      <vt:lpstr>Présentation PowerPoint</vt:lpstr>
      <vt:lpstr>Présentation PowerPoint</vt:lpstr>
      <vt:lpstr>Présentation PowerPoint</vt:lpstr>
      <vt:lpstr>Présentation PowerPoint</vt:lpstr>
      <vt:lpstr>Présentation PowerPoint</vt:lpstr>
      <vt:lpstr>Présentation PowerPoint</vt:lpstr>
      <vt:lpstr>Indéterminisme du déroulement</vt:lpstr>
      <vt:lpstr>Terminaison de processus</vt:lpstr>
      <vt:lpstr>Synchronisation</vt:lpstr>
      <vt:lpstr>Appels système wait et exit</vt:lpstr>
      <vt:lpstr>Appels système wait et exit</vt:lpstr>
      <vt:lpstr>Création de processus et  synchronisation</vt:lpstr>
      <vt:lpstr>Présentation PowerPoint</vt:lpstr>
      <vt:lpstr>Recouvrement d’un processus</vt:lpstr>
      <vt:lpstr>Recouvrement d’un processus</vt:lpstr>
      <vt:lpstr>Recouvrement d’un processus</vt:lpstr>
      <vt:lpstr>Recouvrement d’un processus :  remplacement du code</vt:lpstr>
      <vt:lpstr>Création puis Recouvrement et  synchronisation</vt:lpstr>
      <vt:lpstr>Conclusion</vt:lpstr>
      <vt:lpstr>Présentation PowerPoint</vt:lpstr>
      <vt:lpstr>Présentation PowerPoint</vt:lpstr>
      <vt:lpstr>Présentation PowerPoint</vt:lpstr>
      <vt:lpstr>Chapitre 4: Communication interprocessus </vt:lpstr>
      <vt:lpstr>Introduction </vt:lpstr>
      <vt:lpstr>Les entrées-sorties</vt:lpstr>
      <vt:lpstr>  Les Descripteurs:  </vt:lpstr>
      <vt:lpstr>Descripteurs</vt:lpstr>
      <vt:lpstr>Descripteurs</vt:lpstr>
      <vt:lpstr>Descripteurs</vt:lpstr>
      <vt:lpstr>Descripteurs</vt:lpstr>
      <vt:lpstr>Les tubes anonymes</vt:lpstr>
      <vt:lpstr>  Communication Inter-processus: Les tubes anonymes </vt:lpstr>
      <vt:lpstr>Les tubes anonymes</vt:lpstr>
      <vt:lpstr>Les tubes anonymes</vt:lpstr>
      <vt:lpstr>Les tubes anonymes</vt:lpstr>
      <vt:lpstr>Les tubes anonymes</vt:lpstr>
      <vt:lpstr>Les tubes anonymes</vt:lpstr>
      <vt:lpstr>Les tubes anonymes</vt:lpstr>
      <vt:lpstr>Les tubes anonymes</vt:lpstr>
      <vt:lpstr>Les tubes anonymes</vt:lpstr>
      <vt:lpstr>Exemple 1</vt:lpstr>
      <vt:lpstr>Exemple 2</vt:lpstr>
      <vt:lpstr>Exemple 2-suite </vt:lpstr>
      <vt:lpstr>Exemple 3</vt:lpstr>
      <vt:lpstr>Présentation PowerPoint</vt:lpstr>
      <vt:lpstr>Redirection de stdin et stdout</vt:lpstr>
      <vt:lpstr>Exercice</vt:lpstr>
      <vt:lpstr>Recouvrement d’un processus</vt:lpstr>
      <vt:lpstr>Présentation PowerPoint</vt:lpstr>
      <vt:lpstr>Présentation PowerPoint</vt:lpstr>
      <vt:lpstr>Exercice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Mnassri Aymen</dc:creator>
  <cp:lastModifiedBy>aymen mnasri</cp:lastModifiedBy>
  <cp:revision>4</cp:revision>
  <dcterms:modified xsi:type="dcterms:W3CDTF">2024-10-28T21:31:33Z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0x0101003CEDE9F2ED40ED4DA309234531099FC2</vt:lpwstr>
  </property>
</Properties>
</file>